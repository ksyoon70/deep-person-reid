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9" r:id="rId1"/>
  </p:sldMasterIdLst>
  <p:notesMasterIdLst>
    <p:notesMasterId r:id="rId21"/>
  </p:notesMasterIdLst>
  <p:sldIdLst>
    <p:sldId id="489" r:id="rId2"/>
    <p:sldId id="553" r:id="rId3"/>
    <p:sldId id="554" r:id="rId4"/>
    <p:sldId id="536" r:id="rId5"/>
    <p:sldId id="550" r:id="rId6"/>
    <p:sldId id="539" r:id="rId7"/>
    <p:sldId id="545" r:id="rId8"/>
    <p:sldId id="544" r:id="rId9"/>
    <p:sldId id="546" r:id="rId10"/>
    <p:sldId id="552" r:id="rId11"/>
    <p:sldId id="551" r:id="rId12"/>
    <p:sldId id="541" r:id="rId13"/>
    <p:sldId id="542" r:id="rId14"/>
    <p:sldId id="540" r:id="rId15"/>
    <p:sldId id="543" r:id="rId16"/>
    <p:sldId id="547" r:id="rId17"/>
    <p:sldId id="548" r:id="rId18"/>
    <p:sldId id="549" r:id="rId19"/>
    <p:sldId id="493" r:id="rId20"/>
  </p:sldIdLst>
  <p:sldSz cx="10691813" cy="7559675"/>
  <p:notesSz cx="9926638" cy="6797675"/>
  <p:embeddedFontLst>
    <p:embeddedFont>
      <p:font typeface="KoPub돋움체 Medium" panose="02020603020101020101" pitchFamily="18" charset="-127"/>
      <p:regular r:id="rId22"/>
    </p:embeddedFont>
    <p:embeddedFont>
      <p:font typeface="Cascadia Code" panose="020B0609020000020004" pitchFamily="49" charset="0"/>
      <p:regular r:id="rId23"/>
      <p:bold r:id="rId24"/>
      <p:italic r:id="rId25"/>
      <p:boldItalic r:id="rId26"/>
    </p:embeddedFont>
    <p:embeddedFont>
      <p:font typeface="Candara" panose="020E0502030303020204" pitchFamily="34" charset="0"/>
      <p:regular r:id="rId27"/>
      <p:bold r:id="rId28"/>
      <p:italic r:id="rId29"/>
      <p:boldItalic r:id="rId30"/>
    </p:embeddedFont>
    <p:embeddedFont>
      <p:font typeface="맑은 고딕" panose="020B0503020000020004" pitchFamily="50" charset="-127"/>
      <p:regular r:id="rId31"/>
      <p:bold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KoPub돋움체 Bold" panose="02020603020101020101" pitchFamily="18" charset="-127"/>
      <p:regular r:id="rId37"/>
    </p:embeddedFont>
    <p:embeddedFont>
      <p:font typeface="Cambria Math" panose="02040503050406030204" pitchFamily="18" charset="0"/>
      <p:regular r:id="rId38"/>
    </p:embeddedFont>
    <p:embeddedFont>
      <p:font typeface="경기천년바탕 Regular" panose="02020503020101020101" pitchFamily="18" charset="-127"/>
      <p:regular r:id="rId39"/>
    </p:embeddedFont>
  </p:embeddedFontLst>
  <p:defaultTextStyle>
    <a:defPPr>
      <a:defRPr lang="ko-KR"/>
    </a:defPPr>
    <a:lvl1pPr marL="0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1pPr>
    <a:lvl2pPr marL="521437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2pPr>
    <a:lvl3pPr marL="1042873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3pPr>
    <a:lvl4pPr marL="1564310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4pPr>
    <a:lvl5pPr marL="2085746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5pPr>
    <a:lvl6pPr marL="2607183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6pPr>
    <a:lvl7pPr marL="3128620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7pPr>
    <a:lvl8pPr marL="3650056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8pPr>
    <a:lvl9pPr marL="4171493" algn="l" defTabSz="1042873" rtl="0" eaLnBrk="1" latinLnBrk="1" hangingPunct="1">
      <a:defRPr sz="20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8" orient="horz" pos="2358" userDrawn="1">
          <p15:clr>
            <a:srgbClr val="A4A3A4"/>
          </p15:clr>
        </p15:guide>
        <p15:guide id="9" pos="3345" userDrawn="1">
          <p15:clr>
            <a:srgbClr val="A4A3A4"/>
          </p15:clr>
        </p15:guide>
        <p15:guide id="10" pos="782" userDrawn="1">
          <p15:clr>
            <a:srgbClr val="A4A3A4"/>
          </p15:clr>
        </p15:guide>
        <p15:guide id="11" pos="1349" userDrawn="1">
          <p15:clr>
            <a:srgbClr val="A4A3A4"/>
          </p15:clr>
        </p15:guide>
        <p15:guide id="12" pos="2438" userDrawn="1">
          <p15:clr>
            <a:srgbClr val="A4A3A4"/>
          </p15:clr>
        </p15:guide>
        <p15:guide id="13" pos="5704" userDrawn="1">
          <p15:clr>
            <a:srgbClr val="A4A3A4"/>
          </p15:clr>
        </p15:guide>
        <p15:guide id="14" pos="5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575A"/>
    <a:srgbClr val="AA3030"/>
    <a:srgbClr val="FF66FF"/>
    <a:srgbClr val="FF898F"/>
    <a:srgbClr val="FF353E"/>
    <a:srgbClr val="FF0D30"/>
    <a:srgbClr val="C4001B"/>
    <a:srgbClr val="D60093"/>
    <a:srgbClr val="CC0099"/>
    <a:srgbClr val="CC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41" autoAdjust="0"/>
    <p:restoredTop sz="93184" autoAdjust="0"/>
  </p:normalViewPr>
  <p:slideViewPr>
    <p:cSldViewPr snapToGrid="0" showGuides="1">
      <p:cViewPr varScale="1">
        <p:scale>
          <a:sx n="120" d="100"/>
          <a:sy n="120" d="100"/>
        </p:scale>
        <p:origin x="462" y="102"/>
      </p:cViewPr>
      <p:guideLst>
        <p:guide orient="horz" pos="2358"/>
        <p:guide pos="3345"/>
        <p:guide pos="782"/>
        <p:guide pos="1349"/>
        <p:guide pos="2438"/>
        <p:guide pos="5704"/>
        <p:guide pos="533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5676"/>
    </p:cViewPr>
  </p:sorterViewPr>
  <p:notesViewPr>
    <p:cSldViewPr snapToGrid="0">
      <p:cViewPr varScale="1">
        <p:scale>
          <a:sx n="93" d="100"/>
          <a:sy n="93" d="100"/>
        </p:scale>
        <p:origin x="90" y="3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font" Target="fonts/font18.fntdata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font" Target="fonts/font1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1385" cy="340835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083" y="1"/>
            <a:ext cx="4302970" cy="340835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>
              <a:defRPr sz="1200"/>
            </a:lvl1pPr>
          </a:lstStyle>
          <a:p>
            <a:fld id="{4BBBCA84-884A-4990-B4B7-7C892AB4BE20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849313"/>
            <a:ext cx="3243262" cy="2293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505" y="3272015"/>
            <a:ext cx="7941628" cy="2675950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841"/>
            <a:ext cx="4301385" cy="3408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083" y="6456841"/>
            <a:ext cx="4302970" cy="340834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r">
              <a:defRPr sz="1200"/>
            </a:lvl1pPr>
          </a:lstStyle>
          <a:p>
            <a:fld id="{B27341C3-77BA-4E20-A2DA-6C31421BF4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5672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7341C3-77BA-4E20-A2DA-6C31421BF4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287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7341C3-77BA-4E20-A2DA-6C31421BF43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13471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bg>
      <p:bgPr>
        <a:gradFill flip="none" rotWithShape="1">
          <a:gsLst>
            <a:gs pos="0">
              <a:schemeClr val="bg1"/>
            </a:gs>
            <a:gs pos="48000">
              <a:schemeClr val="bg1">
                <a:lumMod val="95000"/>
              </a:schemeClr>
            </a:gs>
            <a:gs pos="100000">
              <a:schemeClr val="accent3">
                <a:lumMod val="105000"/>
                <a:satMod val="109000"/>
                <a:tint val="81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813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35013" y="2012950"/>
            <a:ext cx="9221787" cy="479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568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0250" y="1884363"/>
            <a:ext cx="9220200" cy="31448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0250" y="5059363"/>
            <a:ext cx="9220200" cy="16525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15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735013" y="2012950"/>
            <a:ext cx="4533900" cy="479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421313" y="2012950"/>
            <a:ext cx="4535487" cy="4795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459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403225"/>
            <a:ext cx="9221788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36600" y="1852613"/>
            <a:ext cx="4522788" cy="908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36600" y="2760663"/>
            <a:ext cx="4522788" cy="40624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413375" y="1852613"/>
            <a:ext cx="4545013" cy="90805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413375" y="2760663"/>
            <a:ext cx="4545013" cy="40624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75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511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5446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8050" cy="1765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45013" y="1089025"/>
            <a:ext cx="5413375" cy="5372100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8538"/>
            <a:ext cx="3448050" cy="420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633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6600" y="503238"/>
            <a:ext cx="3448050" cy="17653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545013" y="1089025"/>
            <a:ext cx="5413375" cy="5372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36600" y="2268538"/>
            <a:ext cx="3448050" cy="42005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8550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35013" y="403225"/>
            <a:ext cx="9221787" cy="14605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2012950"/>
            <a:ext cx="9221787" cy="4795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182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651750" y="403225"/>
            <a:ext cx="2305050" cy="6405563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35013" y="403225"/>
            <a:ext cx="6764337" cy="6405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735013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07719A32-527B-4108-A498-F4E1C0CFB8F3}" type="datetimeFigureOut">
              <a:rPr lang="ko-KR" altLang="en-US" smtClean="0"/>
              <a:t>2025-10-21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541713" y="7007225"/>
            <a:ext cx="3608387" cy="401638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551738" y="7007225"/>
            <a:ext cx="2405062" cy="401638"/>
          </a:xfrm>
          <a:prstGeom prst="rect">
            <a:avLst/>
          </a:prstGeom>
        </p:spPr>
        <p:txBody>
          <a:bodyPr/>
          <a:lstStyle/>
          <a:p>
            <a:fld id="{40A0C479-B11F-49F7-96C5-CDED81805E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4760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021244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74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 userDrawn="1"/>
        </p:nvGrpSpPr>
        <p:grpSpPr>
          <a:xfrm>
            <a:off x="5" y="971562"/>
            <a:ext cx="10241689" cy="142875"/>
            <a:chOff x="5" y="971562"/>
            <a:chExt cx="10241689" cy="142875"/>
          </a:xfrm>
        </p:grpSpPr>
        <p:sp>
          <p:nvSpPr>
            <p:cNvPr id="6" name="양쪽 모서리가 둥근 사각형 5"/>
            <p:cNvSpPr/>
            <p:nvPr/>
          </p:nvSpPr>
          <p:spPr>
            <a:xfrm rot="5400000">
              <a:off x="9982319" y="855061"/>
              <a:ext cx="142866" cy="37588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rgbClr val="102B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 rot="16200000" flipH="1">
              <a:off x="4861470" y="-3889903"/>
              <a:ext cx="142875" cy="986580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7019" y="7110561"/>
            <a:ext cx="601760" cy="17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772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673" r:id="rId12"/>
    <p:sldLayoutId id="2147483688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7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7" Type="http://schemas.openxmlformats.org/officeDocument/2006/relationships/slide" Target="slide11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slide" Target="slide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slide" Target="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0.png"/><Relationship Id="rId4" Type="http://schemas.openxmlformats.org/officeDocument/2006/relationships/image" Target="../media/image8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6328" y="1875652"/>
            <a:ext cx="10691814" cy="4543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749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sz="4749" b="1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BoostTrack</a:t>
            </a:r>
            <a:r>
              <a:rPr lang="en-US" altLang="ko-KR" sz="4749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r>
              <a:rPr lang="ko-KR" altLang="en-US" sz="4749" b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구조와 이해</a:t>
            </a:r>
            <a:endParaRPr lang="en-US" altLang="ko-KR" sz="3022" b="1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smtClean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smtClean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 smtClean="0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r>
              <a:rPr lang="ko-KR" altLang="en-US" sz="3022" b="1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작성자 </a:t>
            </a:r>
            <a:r>
              <a:rPr lang="en-US" altLang="ko-KR" sz="3022" b="1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: </a:t>
            </a:r>
            <a:r>
              <a:rPr lang="ko-KR" altLang="en-US" sz="3022" b="1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윤경섭</a:t>
            </a:r>
            <a:endParaRPr lang="en-US" altLang="ko-KR" sz="3022" b="1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endParaRPr lang="en-US" altLang="ko-KR" sz="3022" b="1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  <a:p>
            <a:pPr algn="ctr"/>
            <a:r>
              <a:rPr lang="en-US" altLang="ko-KR" sz="3022" b="1" smtClean="0">
                <a:solidFill>
                  <a:prstClr val="white">
                    <a:lumMod val="50000"/>
                  </a:prstClr>
                </a:solidFill>
                <a:latin typeface="Arial" pitchFamily="34" charset="0"/>
              </a:rPr>
              <a:t>2025. 9. 24.</a:t>
            </a:r>
            <a:endParaRPr lang="en-US" altLang="ko-KR" sz="3022" b="1">
              <a:solidFill>
                <a:prstClr val="white">
                  <a:lumMod val="50000"/>
                </a:prstClr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815278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모서리가 둥근 직사각형 91"/>
          <p:cNvSpPr/>
          <p:nvPr/>
        </p:nvSpPr>
        <p:spPr>
          <a:xfrm>
            <a:off x="4449873" y="1270524"/>
            <a:ext cx="5992855" cy="3691404"/>
          </a:xfrm>
          <a:prstGeom prst="roundRect">
            <a:avLst>
              <a:gd name="adj" fmla="val 1047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708045" y="422371"/>
            <a:ext cx="290611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altLang="ko-KR" sz="2400" b="1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start-of-Document</a:t>
            </a:r>
          </a:p>
        </p:txBody>
      </p:sp>
      <p:cxnSp>
        <p:nvCxnSpPr>
          <p:cNvPr id="72" name="직선 연결선 71"/>
          <p:cNvCxnSpPr/>
          <p:nvPr/>
        </p:nvCxnSpPr>
        <p:spPr>
          <a:xfrm flipV="1">
            <a:off x="11670974" y="1369270"/>
            <a:ext cx="0" cy="5736096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582597" y="1081852"/>
            <a:ext cx="21332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8288" indent="-268288">
              <a:spcBef>
                <a:spcPts val="1200"/>
              </a:spcBef>
              <a:buFont typeface="Wingdings" pitchFamily="2" charset="2"/>
              <a:buChar char="l"/>
            </a:pPr>
            <a:r>
              <a:rPr lang="en-US" altLang="ko-KR" sz="2400" b="1" err="1" smtClean="0">
                <a:ln w="0"/>
                <a:solidFill>
                  <a:prstClr val="black"/>
                </a:solidFill>
                <a:latin typeface="Arial" pitchFamily="34" charset="0"/>
              </a:rPr>
              <a:t>BoostTrack</a:t>
            </a:r>
            <a:endParaRPr lang="en-US" altLang="ko-KR" sz="2400" b="1">
              <a:ln w="0"/>
              <a:solidFill>
                <a:prstClr val="black"/>
              </a:solidFill>
              <a:latin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92709" y="4658531"/>
            <a:ext cx="5709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Tracks</a:t>
            </a:r>
            <a:endParaRPr lang="ko-KR" altLang="en-US" sz="1000" b="1"/>
          </a:p>
        </p:txBody>
      </p:sp>
      <p:sp>
        <p:nvSpPr>
          <p:cNvPr id="5" name="모서리가 둥근 직사각형 4"/>
          <p:cNvSpPr/>
          <p:nvPr/>
        </p:nvSpPr>
        <p:spPr>
          <a:xfrm>
            <a:off x="1159033" y="4619547"/>
            <a:ext cx="1084133" cy="32418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</a:rPr>
              <a:t>Kalman Filter</a:t>
            </a:r>
          </a:p>
          <a:p>
            <a:pPr algn="ctr"/>
            <a:r>
              <a:rPr lang="en-US" altLang="ko-KR" sz="1000" b="1" smtClean="0">
                <a:solidFill>
                  <a:schemeClr val="tx1"/>
                </a:solidFill>
              </a:rPr>
              <a:t>Predict</a:t>
            </a:r>
            <a:endParaRPr lang="ko-KR" altLang="en-US" sz="1000" b="1">
              <a:solidFill>
                <a:schemeClr val="tx1"/>
              </a:solidFill>
            </a:endParaRPr>
          </a:p>
        </p:txBody>
      </p:sp>
      <p:cxnSp>
        <p:nvCxnSpPr>
          <p:cNvPr id="9" name="직선 화살표 연결선 8"/>
          <p:cNvCxnSpPr>
            <a:stCxn id="4" idx="3"/>
            <a:endCxn id="5" idx="1"/>
          </p:cNvCxnSpPr>
          <p:nvPr/>
        </p:nvCxnSpPr>
        <p:spPr>
          <a:xfrm flipV="1">
            <a:off x="863699" y="4781641"/>
            <a:ext cx="29533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왼쪽 중괄호 11"/>
          <p:cNvSpPr/>
          <p:nvPr/>
        </p:nvSpPr>
        <p:spPr>
          <a:xfrm>
            <a:off x="2243166" y="4314916"/>
            <a:ext cx="231304" cy="933450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576075" y="4191805"/>
            <a:ext cx="827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Confirmed</a:t>
            </a:r>
            <a:endParaRPr lang="ko-KR" altLang="en-US" sz="1000" b="1"/>
          </a:p>
        </p:txBody>
      </p:sp>
      <p:sp>
        <p:nvSpPr>
          <p:cNvPr id="15" name="TextBox 14"/>
          <p:cNvSpPr txBox="1"/>
          <p:nvPr/>
        </p:nvSpPr>
        <p:spPr>
          <a:xfrm>
            <a:off x="2566939" y="5125255"/>
            <a:ext cx="7521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Tentative</a:t>
            </a:r>
            <a:endParaRPr lang="ko-KR" altLang="en-US" sz="1000" b="1"/>
          </a:p>
        </p:txBody>
      </p:sp>
      <p:sp>
        <p:nvSpPr>
          <p:cNvPr id="16" name="TextBox 15"/>
          <p:cNvSpPr txBox="1"/>
          <p:nvPr/>
        </p:nvSpPr>
        <p:spPr>
          <a:xfrm>
            <a:off x="39821" y="2874736"/>
            <a:ext cx="837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Detections</a:t>
            </a:r>
            <a:endParaRPr lang="ko-KR" altLang="en-US" sz="1000" b="1"/>
          </a:p>
        </p:txBody>
      </p:sp>
      <p:sp>
        <p:nvSpPr>
          <p:cNvPr id="17" name="모서리가 둥근 직사각형 16"/>
          <p:cNvSpPr/>
          <p:nvPr/>
        </p:nvSpPr>
        <p:spPr>
          <a:xfrm>
            <a:off x="1710959" y="1591057"/>
            <a:ext cx="1084133" cy="324188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ReID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Embedding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cxnSp>
        <p:nvCxnSpPr>
          <p:cNvPr id="18" name="직선 화살표 연결선 17"/>
          <p:cNvCxnSpPr>
            <a:stCxn id="16" idx="3"/>
            <a:endCxn id="21" idx="1"/>
          </p:cNvCxnSpPr>
          <p:nvPr/>
        </p:nvCxnSpPr>
        <p:spPr>
          <a:xfrm>
            <a:off x="876910" y="2997847"/>
            <a:ext cx="537916" cy="152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꺾인 연결선 29"/>
          <p:cNvCxnSpPr>
            <a:stCxn id="14" idx="3"/>
            <a:endCxn id="21" idx="2"/>
          </p:cNvCxnSpPr>
          <p:nvPr/>
        </p:nvCxnSpPr>
        <p:spPr>
          <a:xfrm flipH="1" flipV="1">
            <a:off x="2253026" y="3800565"/>
            <a:ext cx="1150520" cy="514351"/>
          </a:xfrm>
          <a:prstGeom prst="bentConnector4">
            <a:avLst>
              <a:gd name="adj1" fmla="val -864"/>
              <a:gd name="adj2" fmla="val 6196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모서리가 둥근 직사각형 38"/>
          <p:cNvSpPr/>
          <p:nvPr/>
        </p:nvSpPr>
        <p:spPr>
          <a:xfrm>
            <a:off x="4554392" y="2725069"/>
            <a:ext cx="789164" cy="535723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0070C0"/>
                </a:solidFill>
              </a:rPr>
              <a:t>associate</a:t>
            </a:r>
            <a:endParaRPr lang="ko-KR" altLang="en-US" sz="1000" b="1">
              <a:solidFill>
                <a:srgbClr val="0070C0"/>
              </a:solidFill>
            </a:endParaRPr>
          </a:p>
        </p:txBody>
      </p:sp>
      <p:sp>
        <p:nvSpPr>
          <p:cNvPr id="41" name="모서리가 둥근 직사각형 40"/>
          <p:cNvSpPr/>
          <p:nvPr/>
        </p:nvSpPr>
        <p:spPr>
          <a:xfrm>
            <a:off x="5501501" y="2725069"/>
            <a:ext cx="682239" cy="53572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Cost Matrix</a:t>
            </a:r>
          </a:p>
        </p:txBody>
      </p:sp>
      <p:sp>
        <p:nvSpPr>
          <p:cNvPr id="21" name="모서리가 둥근 직사각형 20"/>
          <p:cNvSpPr/>
          <p:nvPr/>
        </p:nvSpPr>
        <p:spPr>
          <a:xfrm>
            <a:off x="1414826" y="2198175"/>
            <a:ext cx="1676400" cy="160239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모서리가 둥근 직사각형 21"/>
          <p:cNvSpPr/>
          <p:nvPr/>
        </p:nvSpPr>
        <p:spPr>
          <a:xfrm>
            <a:off x="1826664" y="2269650"/>
            <a:ext cx="796226" cy="324188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sbIoU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1742186" y="2677378"/>
            <a:ext cx="1004499" cy="3241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Appearance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24" name="모서리가 둥근 직사각형 23"/>
          <p:cNvSpPr/>
          <p:nvPr/>
        </p:nvSpPr>
        <p:spPr>
          <a:xfrm>
            <a:off x="1726811" y="3116684"/>
            <a:ext cx="1080738" cy="298665"/>
          </a:xfrm>
          <a:prstGeom prst="round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rgbClr val="C00000"/>
                </a:solidFill>
              </a:rPr>
              <a:t>Mh_similarity</a:t>
            </a:r>
            <a:endParaRPr lang="ko-KR" altLang="en-US" sz="1000" b="1">
              <a:solidFill>
                <a:srgbClr val="C0000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3057" y="3491206"/>
            <a:ext cx="23952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/>
              <a:t>S</a:t>
            </a:r>
            <a:r>
              <a:rPr lang="en-US" altLang="ko-KR" sz="1000" b="1" smtClean="0"/>
              <a:t>imilarity matrix for dets and tracks</a:t>
            </a:r>
            <a:endParaRPr lang="ko-KR" altLang="en-US" sz="1000" b="1"/>
          </a:p>
        </p:txBody>
      </p:sp>
      <p:cxnSp>
        <p:nvCxnSpPr>
          <p:cNvPr id="46" name="직선 화살표 연결선 45"/>
          <p:cNvCxnSpPr>
            <a:stCxn id="39" idx="3"/>
            <a:endCxn id="41" idx="1"/>
          </p:cNvCxnSpPr>
          <p:nvPr/>
        </p:nvCxnSpPr>
        <p:spPr>
          <a:xfrm>
            <a:off x="5343556" y="2992931"/>
            <a:ext cx="1579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왼쪽 중괄호 49"/>
          <p:cNvSpPr/>
          <p:nvPr/>
        </p:nvSpPr>
        <p:spPr>
          <a:xfrm>
            <a:off x="7257929" y="2099911"/>
            <a:ext cx="231304" cy="1787820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TextBox 50"/>
          <p:cNvSpPr txBox="1"/>
          <p:nvPr/>
        </p:nvSpPr>
        <p:spPr>
          <a:xfrm>
            <a:off x="7449477" y="1976800"/>
            <a:ext cx="885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smtClean="0"/>
              <a:t>Unmatched</a:t>
            </a:r>
          </a:p>
          <a:p>
            <a:pPr algn="ctr"/>
            <a:r>
              <a:rPr lang="en-US" altLang="ko-KR" sz="1000" b="1" smtClean="0"/>
              <a:t>Tracks</a:t>
            </a:r>
            <a:endParaRPr lang="ko-KR" altLang="en-US" sz="1000" b="1"/>
          </a:p>
        </p:txBody>
      </p:sp>
      <p:sp>
        <p:nvSpPr>
          <p:cNvPr id="52" name="TextBox 51"/>
          <p:cNvSpPr txBox="1"/>
          <p:nvPr/>
        </p:nvSpPr>
        <p:spPr>
          <a:xfrm>
            <a:off x="7398739" y="2835753"/>
            <a:ext cx="8851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smtClean="0"/>
              <a:t>Unmatched</a:t>
            </a:r>
          </a:p>
          <a:p>
            <a:pPr algn="ctr"/>
            <a:r>
              <a:rPr lang="en-US" altLang="ko-KR" sz="1000" b="1" smtClean="0"/>
              <a:t>Detections</a:t>
            </a:r>
            <a:endParaRPr lang="ko-KR" altLang="en-US" sz="1000" b="1"/>
          </a:p>
        </p:txBody>
      </p:sp>
      <p:sp>
        <p:nvSpPr>
          <p:cNvPr id="53" name="TextBox 52"/>
          <p:cNvSpPr txBox="1"/>
          <p:nvPr/>
        </p:nvSpPr>
        <p:spPr>
          <a:xfrm>
            <a:off x="7482095" y="3717685"/>
            <a:ext cx="7184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/>
              <a:t>M</a:t>
            </a:r>
            <a:r>
              <a:rPr lang="en-US" altLang="ko-KR" sz="1000" b="1" smtClean="0"/>
              <a:t>atched</a:t>
            </a:r>
          </a:p>
          <a:p>
            <a:pPr algn="ctr"/>
            <a:r>
              <a:rPr lang="en-US" altLang="ko-KR" sz="1000" b="1" smtClean="0"/>
              <a:t>Tracks</a:t>
            </a:r>
            <a:endParaRPr lang="ko-KR" altLang="en-US" sz="1000" b="1"/>
          </a:p>
        </p:txBody>
      </p:sp>
      <p:sp>
        <p:nvSpPr>
          <p:cNvPr id="54" name="왼쪽 중괄호 53"/>
          <p:cNvSpPr/>
          <p:nvPr/>
        </p:nvSpPr>
        <p:spPr>
          <a:xfrm>
            <a:off x="8314927" y="1626152"/>
            <a:ext cx="231304" cy="933450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/>
          <p:cNvSpPr txBox="1"/>
          <p:nvPr/>
        </p:nvSpPr>
        <p:spPr>
          <a:xfrm>
            <a:off x="8546231" y="1503041"/>
            <a:ext cx="7521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Tentative</a:t>
            </a:r>
            <a:endParaRPr lang="ko-KR" altLang="en-US" sz="1000" b="1"/>
          </a:p>
        </p:txBody>
      </p:sp>
      <p:sp>
        <p:nvSpPr>
          <p:cNvPr id="56" name="TextBox 55"/>
          <p:cNvSpPr txBox="1"/>
          <p:nvPr/>
        </p:nvSpPr>
        <p:spPr>
          <a:xfrm>
            <a:off x="8546231" y="2431731"/>
            <a:ext cx="827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Confirmed</a:t>
            </a:r>
            <a:endParaRPr lang="ko-KR" altLang="en-US" sz="1000" b="1"/>
          </a:p>
        </p:txBody>
      </p:sp>
      <p:sp>
        <p:nvSpPr>
          <p:cNvPr id="57" name="왼쪽 중괄호 56"/>
          <p:cNvSpPr/>
          <p:nvPr/>
        </p:nvSpPr>
        <p:spPr>
          <a:xfrm>
            <a:off x="9393985" y="2085921"/>
            <a:ext cx="231304" cy="933450"/>
          </a:xfrm>
          <a:prstGeom prst="leftBrac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TextBox 57"/>
          <p:cNvSpPr txBox="1"/>
          <p:nvPr/>
        </p:nvSpPr>
        <p:spPr>
          <a:xfrm>
            <a:off x="9444723" y="191524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smtClean="0"/>
              <a:t>time_since_update</a:t>
            </a:r>
          </a:p>
          <a:p>
            <a:pPr algn="ctr"/>
            <a:r>
              <a:rPr lang="en-US" altLang="ko-KR" sz="1000" b="1" smtClean="0"/>
              <a:t>&gt; max_age</a:t>
            </a:r>
            <a:endParaRPr lang="ko-KR" altLang="en-US" sz="1000" b="1"/>
          </a:p>
        </p:txBody>
      </p:sp>
      <p:sp>
        <p:nvSpPr>
          <p:cNvPr id="59" name="TextBox 58"/>
          <p:cNvSpPr txBox="1"/>
          <p:nvPr/>
        </p:nvSpPr>
        <p:spPr>
          <a:xfrm>
            <a:off x="9470745" y="2809155"/>
            <a:ext cx="10342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smtClean="0"/>
              <a:t>time_since_update</a:t>
            </a:r>
          </a:p>
          <a:p>
            <a:pPr algn="ctr"/>
            <a:r>
              <a:rPr lang="en-US" altLang="ko-KR" sz="1000" b="1"/>
              <a:t>&lt;</a:t>
            </a:r>
            <a:r>
              <a:rPr lang="en-US" altLang="ko-KR" sz="1000" b="1" smtClean="0"/>
              <a:t> max_age</a:t>
            </a:r>
            <a:endParaRPr lang="ko-KR" altLang="en-US" sz="1000" b="1"/>
          </a:p>
        </p:txBody>
      </p:sp>
      <p:cxnSp>
        <p:nvCxnSpPr>
          <p:cNvPr id="60" name="꺾인 연결선 59"/>
          <p:cNvCxnSpPr>
            <a:stCxn id="59" idx="2"/>
            <a:endCxn id="4" idx="2"/>
          </p:cNvCxnSpPr>
          <p:nvPr/>
        </p:nvCxnSpPr>
        <p:spPr>
          <a:xfrm rot="5400000">
            <a:off x="4419907" y="-663216"/>
            <a:ext cx="1726265" cy="9409670"/>
          </a:xfrm>
          <a:prstGeom prst="bentConnector3">
            <a:avLst>
              <a:gd name="adj1" fmla="val 22618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4727415" y="6869890"/>
            <a:ext cx="1487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smtClean="0"/>
              <a:t>time_since_update++</a:t>
            </a:r>
            <a:endParaRPr lang="ko-KR" altLang="en-US" sz="1000" b="1"/>
          </a:p>
        </p:txBody>
      </p:sp>
      <p:sp>
        <p:nvSpPr>
          <p:cNvPr id="65" name="TextBox 64"/>
          <p:cNvSpPr txBox="1"/>
          <p:nvPr/>
        </p:nvSpPr>
        <p:spPr>
          <a:xfrm>
            <a:off x="8580384" y="4381531"/>
            <a:ext cx="89159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smtClean="0"/>
              <a:t>New Tracks</a:t>
            </a:r>
          </a:p>
          <a:p>
            <a:pPr algn="ctr"/>
            <a:r>
              <a:rPr lang="en-US" altLang="ko-KR" sz="1000" b="1" smtClean="0"/>
              <a:t>(Tenative)</a:t>
            </a:r>
            <a:endParaRPr lang="ko-KR" altLang="en-US" sz="1000" b="1"/>
          </a:p>
        </p:txBody>
      </p:sp>
      <p:cxnSp>
        <p:nvCxnSpPr>
          <p:cNvPr id="66" name="꺾인 연결선 65"/>
          <p:cNvCxnSpPr>
            <a:stCxn id="52" idx="3"/>
            <a:endCxn id="65" idx="0"/>
          </p:cNvCxnSpPr>
          <p:nvPr/>
        </p:nvCxnSpPr>
        <p:spPr>
          <a:xfrm>
            <a:off x="8283918" y="3035808"/>
            <a:ext cx="742262" cy="134572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5" idx="2"/>
            <a:endCxn id="4" idx="2"/>
          </p:cNvCxnSpPr>
          <p:nvPr/>
        </p:nvCxnSpPr>
        <p:spPr>
          <a:xfrm rot="5400000">
            <a:off x="4740637" y="619208"/>
            <a:ext cx="123111" cy="8447976"/>
          </a:xfrm>
          <a:prstGeom prst="bentConnector3">
            <a:avLst>
              <a:gd name="adj1" fmla="val 135948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모서리가 둥근 직사각형 72"/>
          <p:cNvSpPr/>
          <p:nvPr/>
        </p:nvSpPr>
        <p:spPr>
          <a:xfrm>
            <a:off x="2161241" y="5429885"/>
            <a:ext cx="1619150" cy="32418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</a:rPr>
              <a:t>Kalman Filter Update</a:t>
            </a:r>
          </a:p>
        </p:txBody>
      </p:sp>
      <p:cxnSp>
        <p:nvCxnSpPr>
          <p:cNvPr id="74" name="꺾인 연결선 73"/>
          <p:cNvCxnSpPr>
            <a:stCxn id="53" idx="2"/>
            <a:endCxn id="4" idx="2"/>
          </p:cNvCxnSpPr>
          <p:nvPr/>
        </p:nvCxnSpPr>
        <p:spPr>
          <a:xfrm rot="5400000">
            <a:off x="3816288" y="879711"/>
            <a:ext cx="786957" cy="7263124"/>
          </a:xfrm>
          <a:prstGeom prst="bentConnector3">
            <a:avLst>
              <a:gd name="adj1" fmla="val 21998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5436103" y="5630962"/>
            <a:ext cx="15584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smtClean="0"/>
              <a:t>time_since_update = 0</a:t>
            </a:r>
            <a:endParaRPr lang="ko-KR" altLang="en-US" sz="1000" b="1"/>
          </a:p>
        </p:txBody>
      </p:sp>
      <p:sp>
        <p:nvSpPr>
          <p:cNvPr id="79" name="TextBox 78"/>
          <p:cNvSpPr txBox="1"/>
          <p:nvPr/>
        </p:nvSpPr>
        <p:spPr>
          <a:xfrm>
            <a:off x="702969" y="5852489"/>
            <a:ext cx="28071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smtClean="0"/>
              <a:t>3 consecutive hits : Tenative -&gt; Confirmed</a:t>
            </a:r>
            <a:endParaRPr lang="ko-KR" altLang="en-US" sz="1000" b="1"/>
          </a:p>
        </p:txBody>
      </p:sp>
      <p:sp>
        <p:nvSpPr>
          <p:cNvPr id="80" name="TextBox 79"/>
          <p:cNvSpPr txBox="1"/>
          <p:nvPr/>
        </p:nvSpPr>
        <p:spPr>
          <a:xfrm>
            <a:off x="283091" y="5183664"/>
            <a:ext cx="59022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000" b="1" smtClean="0"/>
              <a:t>age++</a:t>
            </a:r>
            <a:endParaRPr lang="ko-KR" altLang="en-US" sz="1000" b="1"/>
          </a:p>
        </p:txBody>
      </p:sp>
      <p:cxnSp>
        <p:nvCxnSpPr>
          <p:cNvPr id="61" name="꺾인 연결선 60"/>
          <p:cNvCxnSpPr>
            <a:stCxn id="16" idx="0"/>
            <a:endCxn id="17" idx="1"/>
          </p:cNvCxnSpPr>
          <p:nvPr/>
        </p:nvCxnSpPr>
        <p:spPr>
          <a:xfrm rot="5400000" flipH="1" flipV="1">
            <a:off x="523870" y="1687648"/>
            <a:ext cx="1121585" cy="125259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stCxn id="21" idx="3"/>
            <a:endCxn id="62" idx="1"/>
          </p:cNvCxnSpPr>
          <p:nvPr/>
        </p:nvCxnSpPr>
        <p:spPr>
          <a:xfrm flipV="1">
            <a:off x="3091226" y="2996966"/>
            <a:ext cx="206116" cy="240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stCxn id="62" idx="3"/>
            <a:endCxn id="39" idx="1"/>
          </p:cNvCxnSpPr>
          <p:nvPr/>
        </p:nvCxnSpPr>
        <p:spPr>
          <a:xfrm flipV="1">
            <a:off x="4381475" y="2992931"/>
            <a:ext cx="172917" cy="40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모서리가 둥근 직사각형 82"/>
          <p:cNvSpPr/>
          <p:nvPr/>
        </p:nvSpPr>
        <p:spPr>
          <a:xfrm>
            <a:off x="6321863" y="2786804"/>
            <a:ext cx="976369" cy="420754"/>
          </a:xfrm>
          <a:prstGeom prst="roundRect">
            <a:avLst/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linear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assignment</a:t>
            </a:r>
          </a:p>
        </p:txBody>
      </p:sp>
      <p:cxnSp>
        <p:nvCxnSpPr>
          <p:cNvPr id="84" name="직선 화살표 연결선 83"/>
          <p:cNvCxnSpPr>
            <a:stCxn id="41" idx="3"/>
            <a:endCxn id="83" idx="1"/>
          </p:cNvCxnSpPr>
          <p:nvPr/>
        </p:nvCxnSpPr>
        <p:spPr>
          <a:xfrm>
            <a:off x="6183740" y="2992931"/>
            <a:ext cx="138123" cy="42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5025229" y="3339914"/>
                <a:ext cx="1810688" cy="6588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US" altLang="ko-KR" sz="1050" b="0" smtClean="0">
                    <a:solidFill>
                      <a:srgbClr val="C0000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altLang="ko-KR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𝑜𝑠𝑡𝑀𝑎𝑡𝑟𝑖𝑥</m:t>
                    </m:r>
                    <m:r>
                      <a:rPr lang="en-US" altLang="ko-KR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05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𝑖𝑜𝑢</m:t>
                        </m:r>
                      </m:sub>
                    </m:sSub>
                    <m:r>
                      <a:rPr lang="en-US" altLang="ko-KR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𝑐𝑜𝑛𝑓</m:t>
                    </m:r>
                    <m:r>
                      <a:rPr lang="en-US" altLang="ko-KR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05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𝐼𝑜𝑈</m:t>
                    </m:r>
                  </m:oMath>
                </a14:m>
                <a:r>
                  <a:rPr lang="en-US" altLang="ko-KR" sz="1050" b="0" i="1" smtClean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altLang="ko-KR" sz="1050" b="0" i="1" smtClean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𝑀h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𝑆𝑖𝑚</m:t>
                      </m:r>
                    </m:oMath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𝑠h𝑎𝑝𝑒</m:t>
                          </m:r>
                        </m:sub>
                      </m:sSub>
                      <m:r>
                        <a:rPr lang="en-US" altLang="ko-KR" sz="105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𝑐𝑜𝑛𝑓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𝑆h𝑎𝑝𝑒</m:t>
                      </m:r>
                    </m:oMath>
                    <m:oMath xmlns:m="http://schemas.openxmlformats.org/officeDocument/2006/math"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05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05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𝑒𝑚𝑏</m:t>
                          </m:r>
                        </m:sub>
                      </m:sSub>
                      <m:r>
                        <a:rPr lang="en-US" altLang="ko-KR" sz="105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𝐸𝑚𝑏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ko-KR" sz="105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𝐶𝑜𝑠𝑡</m:t>
                      </m:r>
                    </m:oMath>
                  </m:oMathPara>
                </a14:m>
                <a:endParaRPr lang="ko-KR" altLang="en-US" sz="105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229" y="3339914"/>
                <a:ext cx="1810688" cy="658835"/>
              </a:xfrm>
              <a:prstGeom prst="rect">
                <a:avLst/>
              </a:prstGeom>
              <a:blipFill>
                <a:blip r:embed="rId3"/>
                <a:stretch>
                  <a:fillRect l="-4377" t="-7407" r="-1684" b="-37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5" name="모서리가 둥근 직사각형 94"/>
          <p:cNvSpPr/>
          <p:nvPr/>
        </p:nvSpPr>
        <p:spPr>
          <a:xfrm>
            <a:off x="3151517" y="1591057"/>
            <a:ext cx="1084133" cy="32418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</a:rPr>
              <a:t>Emb_Cost</a:t>
            </a:r>
          </a:p>
          <a:p>
            <a:pPr algn="ctr"/>
            <a:r>
              <a:rPr lang="en-US" altLang="ko-KR" sz="1000" b="1" smtClean="0">
                <a:solidFill>
                  <a:schemeClr val="tx1"/>
                </a:solidFill>
              </a:rPr>
              <a:t>cos distance</a:t>
            </a:r>
            <a:endParaRPr lang="ko-KR" altLang="en-US" sz="1000" b="1">
              <a:solidFill>
                <a:schemeClr val="tx1"/>
              </a:solidFill>
            </a:endParaRPr>
          </a:p>
        </p:txBody>
      </p:sp>
      <p:cxnSp>
        <p:nvCxnSpPr>
          <p:cNvPr id="96" name="직선 화살표 연결선 95"/>
          <p:cNvCxnSpPr>
            <a:stCxn id="17" idx="3"/>
            <a:endCxn id="95" idx="1"/>
          </p:cNvCxnSpPr>
          <p:nvPr/>
        </p:nvCxnSpPr>
        <p:spPr>
          <a:xfrm>
            <a:off x="2795092" y="1753151"/>
            <a:ext cx="3564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모서리가 둥근 직사각형 61"/>
          <p:cNvSpPr/>
          <p:nvPr/>
        </p:nvSpPr>
        <p:spPr>
          <a:xfrm>
            <a:off x="3297342" y="2834872"/>
            <a:ext cx="1084133" cy="324188"/>
          </a:xfrm>
          <a:prstGeom prst="roundRect">
            <a:avLst/>
          </a:prstGeom>
          <a:gradFill flip="none" rotWithShape="1">
            <a:gsLst>
              <a:gs pos="0">
                <a:srgbClr val="C00000"/>
              </a:gs>
              <a:gs pos="50000">
                <a:srgbClr val="AA3030"/>
              </a:gs>
              <a:gs pos="100000">
                <a:srgbClr val="DB575A"/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Detections</a:t>
            </a:r>
          </a:p>
          <a:p>
            <a:pPr algn="ctr"/>
            <a:r>
              <a:rPr lang="en-US" altLang="ko-KR" sz="1000" b="1" smtClean="0">
                <a:solidFill>
                  <a:schemeClr val="bg1"/>
                </a:solidFill>
              </a:rPr>
              <a:t>conf boost</a:t>
            </a:r>
            <a:endParaRPr lang="ko-KR" altLang="en-US" sz="1000" b="1">
              <a:solidFill>
                <a:schemeClr val="bg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218009" y="3166429"/>
            <a:ext cx="13997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000" b="1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Velocity-based </a:t>
            </a:r>
            <a:endParaRPr lang="en-US" altLang="ko-KR" sz="1000" b="1" smtClean="0">
              <a:ln w="0"/>
              <a:solidFill>
                <a:srgbClr val="C00000"/>
              </a:solidFill>
              <a:latin typeface="맑은 고딕" panose="020B0503020000020004" pitchFamily="50" charset="-127"/>
            </a:endParaRPr>
          </a:p>
          <a:p>
            <a:pPr algn="ctr"/>
            <a:r>
              <a:rPr lang="en-US" altLang="ko-KR" sz="1000" b="1" smtClean="0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threshold </a:t>
            </a:r>
            <a:r>
              <a:rPr lang="en-US" altLang="ko-KR" sz="1000" b="1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boosting </a:t>
            </a:r>
            <a:endParaRPr lang="ko-KR" altLang="en-US" sz="1000"/>
          </a:p>
        </p:txBody>
      </p:sp>
      <p:cxnSp>
        <p:nvCxnSpPr>
          <p:cNvPr id="102" name="꺾인 연결선 101"/>
          <p:cNvCxnSpPr>
            <a:stCxn id="95" idx="3"/>
            <a:endCxn id="39" idx="0"/>
          </p:cNvCxnSpPr>
          <p:nvPr/>
        </p:nvCxnSpPr>
        <p:spPr>
          <a:xfrm>
            <a:off x="4235650" y="1753151"/>
            <a:ext cx="713324" cy="97191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꺾인 연결선 104"/>
          <p:cNvCxnSpPr>
            <a:stCxn id="21" idx="3"/>
            <a:endCxn id="39" idx="0"/>
          </p:cNvCxnSpPr>
          <p:nvPr/>
        </p:nvCxnSpPr>
        <p:spPr>
          <a:xfrm flipV="1">
            <a:off x="3091226" y="2725069"/>
            <a:ext cx="1857748" cy="274301"/>
          </a:xfrm>
          <a:prstGeom prst="bentConnector4">
            <a:avLst>
              <a:gd name="adj1" fmla="val 3534"/>
              <a:gd name="adj2" fmla="val 226864"/>
            </a:avLst>
          </a:prstGeom>
          <a:ln>
            <a:solidFill>
              <a:schemeClr val="accent1">
                <a:lumMod val="75000"/>
              </a:schemeClr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3279847" y="1173948"/>
            <a:ext cx="8274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smtClean="0"/>
              <a:t>Confirmed</a:t>
            </a:r>
            <a:endParaRPr lang="ko-KR" altLang="en-US" sz="1000" b="1"/>
          </a:p>
        </p:txBody>
      </p:sp>
      <p:cxnSp>
        <p:nvCxnSpPr>
          <p:cNvPr id="112" name="직선 화살표 연결선 111"/>
          <p:cNvCxnSpPr>
            <a:stCxn id="111" idx="2"/>
            <a:endCxn id="95" idx="0"/>
          </p:cNvCxnSpPr>
          <p:nvPr/>
        </p:nvCxnSpPr>
        <p:spPr>
          <a:xfrm>
            <a:off x="3693583" y="1420169"/>
            <a:ext cx="1" cy="1708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 115"/>
          <p:cNvCxnSpPr>
            <a:stCxn id="14" idx="3"/>
            <a:endCxn id="39" idx="2"/>
          </p:cNvCxnSpPr>
          <p:nvPr/>
        </p:nvCxnSpPr>
        <p:spPr>
          <a:xfrm flipV="1">
            <a:off x="3403546" y="3260792"/>
            <a:ext cx="1545428" cy="10541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782787" y="6064787"/>
                <a:ext cx="259141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𝑒𝑚𝑏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ko-KR" alt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𝑒𝑚𝑏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+(1−</m:t>
                    </m:r>
                    <m:r>
                      <a:rPr lang="ko-KR" alt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200" smtClean="0">
                    <a:solidFill>
                      <a:srgbClr val="C00000"/>
                    </a:solidFill>
                  </a:rPr>
                  <a:t>)</a:t>
                </a:r>
                <a:r>
                  <a:rPr lang="ko-KR" altLang="en-US" sz="120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𝑒𝑚𝑏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𝑑𝑒𝑡</m:t>
                        </m:r>
                      </m:sub>
                    </m:sSub>
                  </m:oMath>
                </a14:m>
                <a:endParaRPr lang="ko-KR" altLang="en-US" sz="1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2787" y="6064787"/>
                <a:ext cx="2591415" cy="184666"/>
              </a:xfrm>
              <a:prstGeom prst="rect">
                <a:avLst/>
              </a:prstGeom>
              <a:blipFill>
                <a:blip r:embed="rId4"/>
                <a:stretch>
                  <a:fillRect l="-2113" t="-30000" b="-4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모서리가 둥근 직사각형 119"/>
          <p:cNvSpPr/>
          <p:nvPr/>
        </p:nvSpPr>
        <p:spPr>
          <a:xfrm>
            <a:off x="711511" y="5429884"/>
            <a:ext cx="1188004" cy="324188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tx1"/>
                </a:solidFill>
              </a:rPr>
              <a:t>Emb Update</a:t>
            </a:r>
          </a:p>
        </p:txBody>
      </p:sp>
      <p:cxnSp>
        <p:nvCxnSpPr>
          <p:cNvPr id="121" name="직선 화살표 연결선 120"/>
          <p:cNvCxnSpPr>
            <a:stCxn id="73" idx="1"/>
            <a:endCxn id="120" idx="3"/>
          </p:cNvCxnSpPr>
          <p:nvPr/>
        </p:nvCxnSpPr>
        <p:spPr>
          <a:xfrm flipH="1" flipV="1">
            <a:off x="1899515" y="5591978"/>
            <a:ext cx="261726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1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708045" y="422371"/>
            <a:ext cx="80021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ko-KR" altLang="en-US" sz="240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비교</a:t>
            </a:r>
            <a:endParaRPr lang="en-US" altLang="ko-KR" sz="240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2" name="직선 연결선 71"/>
          <p:cNvCxnSpPr/>
          <p:nvPr/>
        </p:nvCxnSpPr>
        <p:spPr>
          <a:xfrm flipV="1">
            <a:off x="11670974" y="1369270"/>
            <a:ext cx="0" cy="5736096"/>
          </a:xfrm>
          <a:prstGeom prst="line">
            <a:avLst/>
          </a:prstGeom>
          <a:ln w="28575">
            <a:solidFill>
              <a:schemeClr val="accent4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7"/>
          <p:cNvSpPr/>
          <p:nvPr/>
        </p:nvSpPr>
        <p:spPr>
          <a:xfrm>
            <a:off x="708045" y="1369270"/>
            <a:ext cx="206370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68288" indent="-268288">
              <a:spcBef>
                <a:spcPts val="1200"/>
              </a:spcBef>
              <a:buFont typeface="Wingdings" pitchFamily="2" charset="2"/>
              <a:buChar char="l"/>
            </a:pPr>
            <a:r>
              <a:rPr lang="en-US" altLang="ko-KR" sz="2400" b="1" err="1" smtClean="0">
                <a:ln w="0"/>
                <a:solidFill>
                  <a:prstClr val="black"/>
                </a:solidFill>
                <a:latin typeface="Arial" pitchFamily="34" charset="0"/>
              </a:rPr>
              <a:t>DeepSORT</a:t>
            </a:r>
            <a:endParaRPr lang="en-US" altLang="ko-KR" sz="2400" b="1">
              <a:ln w="0"/>
              <a:solidFill>
                <a:prstClr val="black"/>
              </a:solidFill>
              <a:latin typeface="Arial" pitchFamily="34" charset="0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182" y="2038183"/>
            <a:ext cx="6644859" cy="325187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989335" y="5633655"/>
            <a:ext cx="706739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1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SORT</a:t>
            </a:r>
            <a:endParaRPr lang="en-US" altLang="ko-KR" sz="1100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sz="110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motion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을 기반으로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tracking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하는 </a:t>
            </a:r>
            <a:r>
              <a:rPr lang="ko-KR" altLang="en-US" sz="110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방식이다</a:t>
            </a:r>
            <a:r>
              <a:rPr lang="en-US" altLang="ko-KR" sz="110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</a:p>
          <a:p>
            <a:r>
              <a:rPr lang="en-US" altLang="ko-KR" sz="1100" err="1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Kalman</a:t>
            </a:r>
            <a:r>
              <a:rPr lang="en-US" altLang="ko-KR" sz="110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Filter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와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IOU cost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만을 사용하기 때문이다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따라서 두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Track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 겹칠 때에도 이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2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가지만 사용하기 때문에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생김새가 다름에도 불구하고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ID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바뀌는 경우가 빈번히 일어난다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989335" y="6494081"/>
            <a:ext cx="692636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100" b="1" err="1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DeepSORT</a:t>
            </a:r>
            <a:endParaRPr lang="en-US" altLang="ko-KR" sz="1100" b="1"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r>
              <a:rPr lang="en-US" altLang="ko-KR" sz="110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SORT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과정 앞에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Appearance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를 기준으로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1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차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matching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을 한 다음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여기서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matching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이 안 되는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Track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과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Detection box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들에 대해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SORT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방식으로 진행한다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즉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Motion-based Tracker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SORT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에 </a:t>
            </a:r>
            <a:r>
              <a:rPr lang="en-US" altLang="ko-KR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Appearance-based Tracker </a:t>
            </a:r>
            <a:r>
              <a:rPr lang="ko-KR" altLang="en-US" sz="110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가 추가된 </a:t>
            </a:r>
            <a:r>
              <a:rPr lang="ko-KR" altLang="en-US" sz="1100" smtClean="0"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것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1310247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32372" y="352923"/>
            <a:ext cx="3559467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err="1" smtClean="0">
                <a:solidFill>
                  <a:srgbClr val="0E0585"/>
                </a:solidFill>
              </a:rPr>
              <a:t>BoostTrack</a:t>
            </a:r>
            <a:r>
              <a:rPr lang="ko-KR" altLang="en-US" sz="2400" b="1" smtClean="0">
                <a:solidFill>
                  <a:srgbClr val="0E0585"/>
                </a:solidFill>
              </a:rPr>
              <a:t>의 </a:t>
            </a:r>
            <a:r>
              <a:rPr lang="ko-KR" altLang="en-US" sz="2400" b="1">
                <a:solidFill>
                  <a:srgbClr val="0E0585"/>
                </a:solidFill>
              </a:rPr>
              <a:t>전체 구조</a:t>
            </a:r>
            <a:endParaRPr lang="en-US" altLang="ko-KR" sz="2400" b="1">
              <a:solidFill>
                <a:srgbClr val="0E0585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458927" y="1203322"/>
            <a:ext cx="142768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err="1" smtClean="0">
                <a:latin typeface="Consolas" panose="020B0609020204030204" pitchFamily="49" charset="0"/>
              </a:rPr>
              <a:t>BoostTrack</a:t>
            </a:r>
            <a:r>
              <a:rPr lang="en-US" altLang="ko-KR" sz="1100" smtClean="0">
                <a:latin typeface="Consolas" panose="020B0609020204030204" pitchFamily="49" charset="0"/>
              </a:rPr>
              <a:t> </a:t>
            </a:r>
            <a:r>
              <a:rPr lang="ko-KR" altLang="en-US" sz="11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초기화</a:t>
            </a:r>
            <a:endParaRPr lang="en-US" altLang="ko-KR" sz="11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507909" y="2193446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latin typeface="Consolas" panose="020B0609020204030204" pitchFamily="49" charset="0"/>
              </a:rPr>
              <a:t>yolo </a:t>
            </a:r>
            <a:r>
              <a:rPr lang="ko-KR" altLang="en-US" sz="11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영상검지</a:t>
            </a:r>
            <a:endParaRPr lang="en-US" altLang="ko-KR" sz="11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3" name="직선 화살표 연결선 12"/>
          <p:cNvCxnSpPr>
            <a:stCxn id="11" idx="2"/>
            <a:endCxn id="104" idx="0"/>
          </p:cNvCxnSpPr>
          <p:nvPr/>
        </p:nvCxnSpPr>
        <p:spPr>
          <a:xfrm>
            <a:off x="1172768" y="1486659"/>
            <a:ext cx="0" cy="233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/>
          <p:cNvSpPr/>
          <p:nvPr/>
        </p:nvSpPr>
        <p:spPr>
          <a:xfrm>
            <a:off x="507909" y="2659112"/>
            <a:ext cx="1333592" cy="28333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err="1" smtClean="0">
                <a:latin typeface="Consolas" panose="020B0609020204030204" pitchFamily="49" charset="0"/>
              </a:rPr>
              <a:t>tracker.update</a:t>
            </a:r>
            <a:endParaRPr lang="en-US" altLang="ko-KR" sz="11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6" name="직선 화살표 연결선 15"/>
          <p:cNvCxnSpPr>
            <a:stCxn id="12" idx="2"/>
            <a:endCxn id="15" idx="0"/>
          </p:cNvCxnSpPr>
          <p:nvPr/>
        </p:nvCxnSpPr>
        <p:spPr>
          <a:xfrm>
            <a:off x="1174705" y="2476783"/>
            <a:ext cx="0" cy="1823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1361560" y="2460226"/>
            <a:ext cx="244810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yolo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로 </a:t>
            </a:r>
            <a:r>
              <a:rPr lang="ko-KR" altLang="en-US" sz="80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검지한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좌표와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신뢰도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영상이 입력으로 들어감</a:t>
            </a:r>
            <a:endParaRPr lang="en-US" altLang="ko-KR" sz="800" smtClean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445309" y="3057045"/>
            <a:ext cx="1333592" cy="2833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영상 </a:t>
            </a:r>
            <a:r>
              <a:rPr lang="en-US" altLang="ko-KR" sz="11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feature</a:t>
            </a:r>
            <a:r>
              <a:rPr lang="ko-KR" altLang="en-US" sz="11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추출</a:t>
            </a:r>
            <a:endParaRPr lang="en-US" altLang="ko-KR" sz="11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2" name="꺾인 연결선 21"/>
          <p:cNvCxnSpPr>
            <a:stCxn id="15" idx="2"/>
            <a:endCxn id="21" idx="1"/>
          </p:cNvCxnSpPr>
          <p:nvPr/>
        </p:nvCxnSpPr>
        <p:spPr>
          <a:xfrm rot="16200000" flipH="1">
            <a:off x="1181875" y="2935279"/>
            <a:ext cx="256265" cy="2706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/>
          <p:cNvSpPr/>
          <p:nvPr/>
        </p:nvSpPr>
        <p:spPr>
          <a:xfrm>
            <a:off x="2283169" y="3454978"/>
            <a:ext cx="1333592" cy="28333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1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영상 </a:t>
            </a:r>
            <a:r>
              <a:rPr lang="en-US" altLang="ko-KR" sz="11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normalize</a:t>
            </a:r>
            <a:endParaRPr lang="en-US" altLang="ko-KR" sz="11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7" name="꺾인 연결선 26"/>
          <p:cNvCxnSpPr>
            <a:stCxn id="21" idx="2"/>
            <a:endCxn id="26" idx="1"/>
          </p:cNvCxnSpPr>
          <p:nvPr/>
        </p:nvCxnSpPr>
        <p:spPr>
          <a:xfrm rot="16200000" flipH="1">
            <a:off x="2069505" y="3382982"/>
            <a:ext cx="256265" cy="17106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2283169" y="3916411"/>
            <a:ext cx="1333592" cy="261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9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영상 </a:t>
            </a:r>
            <a:r>
              <a:rPr lang="en-US" altLang="ko-KR" sz="9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resize</a:t>
            </a:r>
          </a:p>
          <a:p>
            <a:pPr algn="ctr"/>
            <a:r>
              <a:rPr lang="en-US" altLang="ko-KR" sz="9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(64,128)</a:t>
            </a:r>
            <a:endParaRPr lang="en-US" altLang="ko-KR" sz="9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2" name="직선 화살표 연결선 31"/>
          <p:cNvCxnSpPr>
            <a:stCxn id="26" idx="2"/>
            <a:endCxn id="31" idx="0"/>
          </p:cNvCxnSpPr>
          <p:nvPr/>
        </p:nvCxnSpPr>
        <p:spPr>
          <a:xfrm>
            <a:off x="2949965" y="3738315"/>
            <a:ext cx="0" cy="178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2283169" y="4356396"/>
            <a:ext cx="1333592" cy="26188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err="1" smtClean="0">
                <a:solidFill>
                  <a:srgbClr val="C00000"/>
                </a:solidFill>
                <a:latin typeface="Consolas" panose="020B0609020204030204" pitchFamily="49" charset="0"/>
                <a:ea typeface="경기천년바탕 Regular" panose="02020503020101020101" pitchFamily="18" charset="-127"/>
              </a:rPr>
              <a:t>cnn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을 통해 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feature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추출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9" name="직선 화살표 연결선 38"/>
          <p:cNvCxnSpPr>
            <a:stCxn id="31" idx="2"/>
            <a:endCxn id="38" idx="0"/>
          </p:cNvCxnSpPr>
          <p:nvPr/>
        </p:nvCxnSpPr>
        <p:spPr>
          <a:xfrm>
            <a:off x="2949965" y="4178300"/>
            <a:ext cx="0" cy="1780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1415676" y="4835045"/>
            <a:ext cx="1333592" cy="2833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변환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3" name="꺾인 연결선 42"/>
          <p:cNvCxnSpPr>
            <a:stCxn id="38" idx="2"/>
            <a:endCxn id="42" idx="0"/>
          </p:cNvCxnSpPr>
          <p:nvPr/>
        </p:nvCxnSpPr>
        <p:spPr>
          <a:xfrm rot="5400000">
            <a:off x="2407839" y="4292919"/>
            <a:ext cx="216760" cy="86749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순서도: 판단 45"/>
          <p:cNvSpPr/>
          <p:nvPr/>
        </p:nvSpPr>
        <p:spPr>
          <a:xfrm>
            <a:off x="1415676" y="5287959"/>
            <a:ext cx="1333592" cy="283337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카메라 보정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47" name="직선 화살표 연결선 46"/>
          <p:cNvCxnSpPr>
            <a:stCxn id="42" idx="2"/>
            <a:endCxn id="46" idx="0"/>
          </p:cNvCxnSpPr>
          <p:nvPr/>
        </p:nvCxnSpPr>
        <p:spPr>
          <a:xfrm>
            <a:off x="2082472" y="5118382"/>
            <a:ext cx="0" cy="1695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표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011107"/>
              </p:ext>
            </p:extLst>
          </p:nvPr>
        </p:nvGraphicFramePr>
        <p:xfrm>
          <a:off x="3809666" y="4166144"/>
          <a:ext cx="3719511" cy="710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438">
                  <a:extLst>
                    <a:ext uri="{9D8B030D-6E8A-4147-A177-3AD203B41FA5}">
                      <a16:colId xmlns:a16="http://schemas.microsoft.com/office/drawing/2014/main" val="359523919"/>
                    </a:ext>
                  </a:extLst>
                </a:gridCol>
                <a:gridCol w="912364">
                  <a:extLst>
                    <a:ext uri="{9D8B030D-6E8A-4147-A177-3AD203B41FA5}">
                      <a16:colId xmlns:a16="http://schemas.microsoft.com/office/drawing/2014/main" val="3419193690"/>
                    </a:ext>
                  </a:extLst>
                </a:gridCol>
                <a:gridCol w="373770">
                  <a:extLst>
                    <a:ext uri="{9D8B030D-6E8A-4147-A177-3AD203B41FA5}">
                      <a16:colId xmlns:a16="http://schemas.microsoft.com/office/drawing/2014/main" val="3899152043"/>
                    </a:ext>
                  </a:extLst>
                </a:gridCol>
                <a:gridCol w="527282">
                  <a:extLst>
                    <a:ext uri="{9D8B030D-6E8A-4147-A177-3AD203B41FA5}">
                      <a16:colId xmlns:a16="http://schemas.microsoft.com/office/drawing/2014/main" val="1895129737"/>
                    </a:ext>
                  </a:extLst>
                </a:gridCol>
                <a:gridCol w="520607">
                  <a:extLst>
                    <a:ext uri="{9D8B030D-6E8A-4147-A177-3AD203B41FA5}">
                      <a16:colId xmlns:a16="http://schemas.microsoft.com/office/drawing/2014/main" val="1988827805"/>
                    </a:ext>
                  </a:extLst>
                </a:gridCol>
                <a:gridCol w="876050">
                  <a:extLst>
                    <a:ext uri="{9D8B030D-6E8A-4147-A177-3AD203B41FA5}">
                      <a16:colId xmlns:a16="http://schemas.microsoft.com/office/drawing/2014/main" val="771351522"/>
                    </a:ext>
                  </a:extLst>
                </a:gridCol>
              </a:tblGrid>
              <a:tr h="211644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900" smtClean="0">
                          <a:latin typeface="Consolas" panose="020B0609020204030204" pitchFamily="49" charset="0"/>
                          <a:ea typeface="경기천년바탕 Regular" panose="02020503020101020101" pitchFamily="18" charset="-127"/>
                        </a:rPr>
                        <a:t>Detections</a:t>
                      </a:r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</a:t>
                      </a:r>
                      <a:r>
                        <a:rPr lang="ko-KR" altLang="en-US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구조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81182"/>
                  </a:ext>
                </a:extLst>
              </a:tr>
              <a:tr h="2411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n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x1,y1,x2,y2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 smtClean="0">
                          <a:latin typeface="Consolas" panose="020B0609020204030204" pitchFamily="49" charset="0"/>
                          <a:ea typeface="경기천년바탕 Regular" panose="02020503020101020101" pitchFamily="18" charset="-127"/>
                        </a:rPr>
                        <a:t>Id</a:t>
                      </a:r>
                      <a:endParaRPr lang="ko-KR" altLang="en-US" sz="500">
                        <a:latin typeface="Consolas" panose="020B0609020204030204" pitchFamily="49" charset="0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신뢰도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class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det_ind 0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2370244"/>
                  </a:ext>
                </a:extLst>
              </a:tr>
              <a:tr h="2411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n+1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x1,y1,x2,y2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500" smtClean="0">
                          <a:latin typeface="Consolas" panose="020B0609020204030204" pitchFamily="49" charset="0"/>
                          <a:ea typeface="경기천년바탕 Regular" panose="02020503020101020101" pitchFamily="18" charset="-127"/>
                        </a:rPr>
                        <a:t>Id</a:t>
                      </a:r>
                      <a:endParaRPr lang="ko-KR" altLang="en-US" sz="500">
                        <a:latin typeface="Consolas" panose="020B0609020204030204" pitchFamily="49" charset="0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신뢰도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class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smtClean="0"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det_ind 1</a:t>
                      </a:r>
                      <a:endParaRPr lang="ko-KR" altLang="en-US" sz="900" smtClean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877648"/>
                  </a:ext>
                </a:extLst>
              </a:tr>
            </a:tbl>
          </a:graphicData>
        </a:graphic>
      </p:graphicFrame>
      <p:sp>
        <p:nvSpPr>
          <p:cNvPr id="52" name="직사각형 51"/>
          <p:cNvSpPr/>
          <p:nvPr/>
        </p:nvSpPr>
        <p:spPr>
          <a:xfrm>
            <a:off x="1415676" y="5822152"/>
            <a:ext cx="1333592" cy="2833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tracker.predict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(detections)</a:t>
            </a:r>
          </a:p>
          <a:p>
            <a:pPr algn="ctr"/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수행 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(k-1)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대한 예측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3" name="직선 화살표 연결선 52"/>
          <p:cNvCxnSpPr>
            <a:stCxn id="46" idx="2"/>
            <a:endCxn id="52" idx="0"/>
          </p:cNvCxnSpPr>
          <p:nvPr/>
        </p:nvCxnSpPr>
        <p:spPr>
          <a:xfrm>
            <a:off x="2082472" y="5558368"/>
            <a:ext cx="0" cy="263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1423202" y="6839804"/>
            <a:ext cx="1333592" cy="2833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trks_np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생성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7" name="구부러진 연결선 56"/>
          <p:cNvCxnSpPr>
            <a:stCxn id="42" idx="3"/>
            <a:endCxn id="51" idx="1"/>
          </p:cNvCxnSpPr>
          <p:nvPr/>
        </p:nvCxnSpPr>
        <p:spPr>
          <a:xfrm flipV="1">
            <a:off x="2749268" y="4521552"/>
            <a:ext cx="1060398" cy="455162"/>
          </a:xfrm>
          <a:prstGeom prst="curvedConnector3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 rot="5400000">
            <a:off x="-249553" y="2265188"/>
            <a:ext cx="692818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Application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2749268" y="6318415"/>
            <a:ext cx="1333592" cy="2833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track.predict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self.kf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)</a:t>
            </a:r>
          </a:p>
          <a:p>
            <a:pPr algn="ctr"/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수행 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(k-1)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대한 예측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2749268" y="6102971"/>
            <a:ext cx="162576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각 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에서 </a:t>
            </a:r>
            <a:r>
              <a:rPr lang="en-US" altLang="ko-KR" sz="80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kalman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predict 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계산</a:t>
            </a:r>
            <a:endParaRPr lang="en-US" altLang="ko-KR" sz="800" smtClean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4" name="꺾인 연결선 63"/>
          <p:cNvCxnSpPr>
            <a:stCxn id="52" idx="2"/>
            <a:endCxn id="62" idx="1"/>
          </p:cNvCxnSpPr>
          <p:nvPr/>
        </p:nvCxnSpPr>
        <p:spPr>
          <a:xfrm rot="16200000" flipH="1">
            <a:off x="2238573" y="5949388"/>
            <a:ext cx="354595" cy="66679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직사각형 66"/>
              <p:cNvSpPr/>
              <p:nvPr/>
            </p:nvSpPr>
            <p:spPr>
              <a:xfrm>
                <a:off x="3716704" y="6759730"/>
                <a:ext cx="1333592" cy="283337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80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sz="80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</m:sub>
                      <m:sup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</m:t>
                        </m:r>
                      </m:sup>
                    </m:sSubSup>
                    <m:r>
                      <a:rPr lang="en-US" altLang="ko-KR" sz="8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𝐹</m:t>
                        </m:r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</m:sub>
                    </m:sSub>
                    <m:sSubSup>
                      <m:sSubSupPr>
                        <m:ctrlP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sz="8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accPr>
                          <m:e>
                            <m:r>
                              <a:rPr lang="en-US" altLang="ko-KR" sz="8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</m:sub>
                      <m:sup>
                        <m:r>
                          <a:rPr lang="en-US" altLang="ko-KR" sz="8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ko-KR" sz="8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8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계산</a:t>
                </a:r>
                <a:endParaRPr lang="en-US" altLang="ko-KR" sz="80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67" name="직사각형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704" y="6759730"/>
                <a:ext cx="1333592" cy="2833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꺾인 연결선 67"/>
          <p:cNvCxnSpPr>
            <a:stCxn id="62" idx="2"/>
            <a:endCxn id="67" idx="1"/>
          </p:cNvCxnSpPr>
          <p:nvPr/>
        </p:nvCxnSpPr>
        <p:spPr>
          <a:xfrm rot="16200000" flipH="1">
            <a:off x="3416561" y="6601255"/>
            <a:ext cx="299647" cy="30064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직사각형 70"/>
              <p:cNvSpPr/>
              <p:nvPr/>
            </p:nvSpPr>
            <p:spPr>
              <a:xfrm>
                <a:off x="3716704" y="7219152"/>
                <a:ext cx="1333592" cy="283337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</m:sub>
                      <m:sup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</m:t>
                        </m:r>
                      </m:sup>
                    </m:sSubSup>
                    <m:r>
                      <a:rPr lang="en-US" altLang="ko-KR" sz="7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=</m:t>
                    </m:r>
                    <m:sSub>
                      <m:sSubPr>
                        <m:ctrlP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𝐹</m:t>
                        </m:r>
                      </m:e>
                      <m:sub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−1</m:t>
                        </m:r>
                      </m:sub>
                    </m:sSub>
                    <m:sSubSup>
                      <m:sSubSupPr>
                        <m:ctrlP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𝑃</m:t>
                        </m:r>
                      </m:e>
                      <m:sub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−1</m:t>
                        </m:r>
                      </m:sub>
                      <m:sup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+</m:t>
                        </m:r>
                      </m:sup>
                    </m:sSubSup>
                    <m:sSubSup>
                      <m:sSubSupPr>
                        <m:ctrlP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SupPr>
                      <m:e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𝐹</m:t>
                        </m:r>
                      </m:e>
                      <m:sub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−1</m:t>
                        </m:r>
                      </m:sub>
                      <m:sup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𝑇</m:t>
                        </m:r>
                      </m:sup>
                    </m:sSubSup>
                    <m:r>
                      <a:rPr lang="en-US" altLang="ko-KR" sz="7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+</m:t>
                    </m:r>
                    <m:sSub>
                      <m:sSubPr>
                        <m:ctrlP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bPr>
                      <m:e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𝑄</m:t>
                        </m:r>
                      </m:e>
                      <m:sub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𝑘</m:t>
                        </m:r>
                        <m:r>
                          <a:rPr lang="en-US" altLang="ko-KR" sz="7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ko-KR" sz="7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r>
                  <a:rPr lang="ko-KR" altLang="en-US" sz="7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계산</a:t>
                </a:r>
                <a:endParaRPr lang="en-US" altLang="ko-KR" sz="70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71" name="직사각형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6704" y="7219152"/>
                <a:ext cx="1333592" cy="283337"/>
              </a:xfrm>
              <a:prstGeom prst="rect">
                <a:avLst/>
              </a:prstGeom>
              <a:blipFill>
                <a:blip r:embed="rId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직선 화살표 연결선 71"/>
          <p:cNvCxnSpPr>
            <a:stCxn id="67" idx="2"/>
            <a:endCxn id="71" idx="0"/>
          </p:cNvCxnSpPr>
          <p:nvPr/>
        </p:nvCxnSpPr>
        <p:spPr>
          <a:xfrm>
            <a:off x="4383500" y="7043067"/>
            <a:ext cx="0" cy="1760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71" idx="1"/>
            <a:endCxn id="56" idx="3"/>
          </p:cNvCxnSpPr>
          <p:nvPr/>
        </p:nvCxnSpPr>
        <p:spPr>
          <a:xfrm rot="10800000">
            <a:off x="2756794" y="6981473"/>
            <a:ext cx="959910" cy="37934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직사각형 132"/>
          <p:cNvSpPr/>
          <p:nvPr/>
        </p:nvSpPr>
        <p:spPr>
          <a:xfrm>
            <a:off x="2006051" y="1588071"/>
            <a:ext cx="241536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 </a:t>
            </a:r>
            <a:r>
              <a:rPr lang="ko-KR" altLang="en-US" sz="80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구조도는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Yolo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에서 검지가 되었다고 가정하고 </a:t>
            </a:r>
            <a:r>
              <a:rPr lang="en-US" altLang="ko-KR" sz="80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BoostTrack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update 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함수의 내용을 주로 다룬다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update 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함수는 </a:t>
            </a:r>
            <a:r>
              <a:rPr lang="ko-KR" altLang="en-US" sz="80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검지된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하나의 영상에 대하여서 수행이 된다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</p:txBody>
      </p:sp>
      <p:sp>
        <p:nvSpPr>
          <p:cNvPr id="134" name="직사각형 133"/>
          <p:cNvSpPr/>
          <p:nvPr/>
        </p:nvSpPr>
        <p:spPr>
          <a:xfrm>
            <a:off x="2516219" y="5168378"/>
            <a:ext cx="3609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YES</a:t>
            </a:r>
          </a:p>
        </p:txBody>
      </p:sp>
      <p:cxnSp>
        <p:nvCxnSpPr>
          <p:cNvPr id="69" name="구부러진 연결선 68"/>
          <p:cNvCxnSpPr>
            <a:stCxn id="70" idx="2"/>
          </p:cNvCxnSpPr>
          <p:nvPr/>
        </p:nvCxnSpPr>
        <p:spPr>
          <a:xfrm rot="16200000" flipH="1">
            <a:off x="5835928" y="3343904"/>
            <a:ext cx="607106" cy="1648852"/>
          </a:xfrm>
          <a:prstGeom prst="curvedConnector2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4778690" y="3649333"/>
            <a:ext cx="107273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 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검지 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index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3087821" y="5286049"/>
            <a:ext cx="1333592" cy="28333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카메라 보정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74" name="직선 화살표 연결선 73"/>
          <p:cNvCxnSpPr>
            <a:stCxn id="46" idx="3"/>
            <a:endCxn id="73" idx="1"/>
          </p:cNvCxnSpPr>
          <p:nvPr/>
        </p:nvCxnSpPr>
        <p:spPr>
          <a:xfrm flipV="1">
            <a:off x="2749268" y="5427718"/>
            <a:ext cx="338553" cy="19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73" idx="2"/>
            <a:endCxn id="52" idx="0"/>
          </p:cNvCxnSpPr>
          <p:nvPr/>
        </p:nvCxnSpPr>
        <p:spPr>
          <a:xfrm rot="5400000">
            <a:off x="2792162" y="4859697"/>
            <a:ext cx="252766" cy="167214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직사각형 79"/>
          <p:cNvSpPr/>
          <p:nvPr/>
        </p:nvSpPr>
        <p:spPr>
          <a:xfrm>
            <a:off x="1633494" y="5545708"/>
            <a:ext cx="3209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NO</a:t>
            </a:r>
          </a:p>
        </p:txBody>
      </p:sp>
      <p:cxnSp>
        <p:nvCxnSpPr>
          <p:cNvPr id="86" name="직선 화살표 연결선 85"/>
          <p:cNvCxnSpPr>
            <a:stCxn id="56" idx="2"/>
          </p:cNvCxnSpPr>
          <p:nvPr/>
        </p:nvCxnSpPr>
        <p:spPr>
          <a:xfrm>
            <a:off x="2089998" y="7123141"/>
            <a:ext cx="0" cy="23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표 8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000327"/>
              </p:ext>
            </p:extLst>
          </p:nvPr>
        </p:nvGraphicFramePr>
        <p:xfrm>
          <a:off x="5469415" y="1211512"/>
          <a:ext cx="1949084" cy="71081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09438">
                  <a:extLst>
                    <a:ext uri="{9D8B030D-6E8A-4147-A177-3AD203B41FA5}">
                      <a16:colId xmlns:a16="http://schemas.microsoft.com/office/drawing/2014/main" val="359523919"/>
                    </a:ext>
                  </a:extLst>
                </a:gridCol>
                <a:gridCol w="912364">
                  <a:extLst>
                    <a:ext uri="{9D8B030D-6E8A-4147-A177-3AD203B41FA5}">
                      <a16:colId xmlns:a16="http://schemas.microsoft.com/office/drawing/2014/main" val="3419193690"/>
                    </a:ext>
                  </a:extLst>
                </a:gridCol>
                <a:gridCol w="527282">
                  <a:extLst>
                    <a:ext uri="{9D8B030D-6E8A-4147-A177-3AD203B41FA5}">
                      <a16:colId xmlns:a16="http://schemas.microsoft.com/office/drawing/2014/main" val="1895129737"/>
                    </a:ext>
                  </a:extLst>
                </a:gridCol>
              </a:tblGrid>
              <a:tr h="211644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 err="1" smtClean="0"/>
                        <a:t>trks_np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281182"/>
                  </a:ext>
                </a:extLst>
              </a:tr>
              <a:tr h="2411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/>
                        <a:t>n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/>
                        <a:t>x1,y1,x2,y2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/>
                        <a:t>신뢰도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370244"/>
                  </a:ext>
                </a:extLst>
              </a:tr>
              <a:tr h="2411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/>
                        <a:t>n+1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smtClean="0"/>
                        <a:t>x1,y1,x2,y2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smtClean="0"/>
                        <a:t>신뢰도</a:t>
                      </a:r>
                      <a:endParaRPr lang="ko-KR" altLang="en-US" sz="9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7877648"/>
                  </a:ext>
                </a:extLst>
              </a:tr>
            </a:tbl>
          </a:graphicData>
        </a:graphic>
      </p:graphicFrame>
      <p:sp>
        <p:nvSpPr>
          <p:cNvPr id="90" name="순서도: 판단 89"/>
          <p:cNvSpPr/>
          <p:nvPr/>
        </p:nvSpPr>
        <p:spPr>
          <a:xfrm>
            <a:off x="8261520" y="1348866"/>
            <a:ext cx="1333592" cy="283337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use </a:t>
            </a:r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dlo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boost?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8261520" y="1920949"/>
            <a:ext cx="1333592" cy="2833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4" action="ppaction://hlinksldjump"/>
              </a:rPr>
              <a:t>dlo_confidence_boost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4" action="ppaction://hlinksldjump"/>
              </a:rPr>
              <a:t>()</a:t>
            </a:r>
            <a:endParaRPr lang="en-US" altLang="ko-KR" sz="80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수행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8261520" y="2991977"/>
            <a:ext cx="1333592" cy="28333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5" action="ppaction://hlinksldjump"/>
              </a:rPr>
              <a:t>duo_confidence_boost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5" action="ppaction://hlinksldjump"/>
              </a:rPr>
              <a:t>()</a:t>
            </a:r>
            <a:endParaRPr lang="en-US" altLang="ko-KR" sz="80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수행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8509025" y="1638559"/>
            <a:ext cx="3609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YES</a:t>
            </a:r>
          </a:p>
        </p:txBody>
      </p:sp>
      <p:cxnSp>
        <p:nvCxnSpPr>
          <p:cNvPr id="97" name="직선 화살표 연결선 96"/>
          <p:cNvCxnSpPr>
            <a:stCxn id="90" idx="2"/>
            <a:endCxn id="91" idx="0"/>
          </p:cNvCxnSpPr>
          <p:nvPr/>
        </p:nvCxnSpPr>
        <p:spPr>
          <a:xfrm>
            <a:off x="8928316" y="1632203"/>
            <a:ext cx="0" cy="288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/>
          <p:nvPr/>
        </p:nvCxnSpPr>
        <p:spPr>
          <a:xfrm>
            <a:off x="8928316" y="1124327"/>
            <a:ext cx="0" cy="2376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순서도: 판단 53"/>
          <p:cNvSpPr/>
          <p:nvPr/>
        </p:nvSpPr>
        <p:spPr>
          <a:xfrm>
            <a:off x="8261520" y="2457040"/>
            <a:ext cx="1333592" cy="283337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use </a:t>
            </a:r>
            <a:r>
              <a:rPr lang="en-US" altLang="ko-KR" sz="800" err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dlo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boost?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65" name="직선 화살표 연결선 64"/>
          <p:cNvCxnSpPr>
            <a:stCxn id="91" idx="2"/>
            <a:endCxn id="54" idx="0"/>
          </p:cNvCxnSpPr>
          <p:nvPr/>
        </p:nvCxnSpPr>
        <p:spPr>
          <a:xfrm>
            <a:off x="8928316" y="2204286"/>
            <a:ext cx="0" cy="252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54" idx="2"/>
            <a:endCxn id="92" idx="0"/>
          </p:cNvCxnSpPr>
          <p:nvPr/>
        </p:nvCxnSpPr>
        <p:spPr>
          <a:xfrm>
            <a:off x="8928316" y="2740377"/>
            <a:ext cx="0" cy="2516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꺾인 연결선 75"/>
          <p:cNvCxnSpPr>
            <a:stCxn id="90" idx="3"/>
            <a:endCxn id="54" idx="3"/>
          </p:cNvCxnSpPr>
          <p:nvPr/>
        </p:nvCxnSpPr>
        <p:spPr>
          <a:xfrm>
            <a:off x="9595112" y="1490535"/>
            <a:ext cx="12700" cy="1108174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9492946" y="1542559"/>
            <a:ext cx="3209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NO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8460797" y="2713082"/>
            <a:ext cx="3609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YES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8261520" y="3520597"/>
            <a:ext cx="1333592" cy="5251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thresh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넘는 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 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feature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구함</a:t>
            </a:r>
            <a:endParaRPr lang="en-US" altLang="ko-KR" sz="80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dets_embs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82" name="직선 화살표 연결선 81"/>
          <p:cNvCxnSpPr>
            <a:stCxn id="92" idx="2"/>
            <a:endCxn id="81" idx="0"/>
          </p:cNvCxnSpPr>
          <p:nvPr/>
        </p:nvCxnSpPr>
        <p:spPr>
          <a:xfrm>
            <a:off x="8928316" y="3275314"/>
            <a:ext cx="0" cy="2452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/>
          <p:cNvSpPr/>
          <p:nvPr/>
        </p:nvSpPr>
        <p:spPr>
          <a:xfrm>
            <a:off x="8261520" y="4267887"/>
            <a:ext cx="1333592" cy="5251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dets_embs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와 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tracker_embs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와 내적을 구하여</a:t>
            </a:r>
            <a:endParaRPr lang="en-US" altLang="ko-KR" sz="80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emb_cost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구함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84" name="직선 화살표 연결선 83"/>
          <p:cNvCxnSpPr>
            <a:stCxn id="81" idx="2"/>
            <a:endCxn id="83" idx="0"/>
          </p:cNvCxnSpPr>
          <p:nvPr/>
        </p:nvCxnSpPr>
        <p:spPr>
          <a:xfrm>
            <a:off x="8928316" y="4045762"/>
            <a:ext cx="0" cy="2221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/>
          <p:cNvSpPr/>
          <p:nvPr/>
        </p:nvSpPr>
        <p:spPr>
          <a:xfrm>
            <a:off x="9147072" y="5591528"/>
            <a:ext cx="1333592" cy="376558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6" action="ppaction://hlinksldjump"/>
              </a:rPr>
              <a:t>associate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6" action="ppaction://hlinksldjump"/>
              </a:rPr>
              <a:t>함수 호출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88" name="직선 화살표 연결선 87"/>
          <p:cNvCxnSpPr>
            <a:stCxn id="83" idx="2"/>
            <a:endCxn id="98" idx="0"/>
          </p:cNvCxnSpPr>
          <p:nvPr/>
        </p:nvCxnSpPr>
        <p:spPr>
          <a:xfrm flipH="1">
            <a:off x="8927080" y="4793052"/>
            <a:ext cx="1236" cy="2142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7929249" y="5007264"/>
            <a:ext cx="1995661" cy="376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mh_dist_matrix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get_mh_dist_matrix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dets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ko-KR" altLang="en-US" sz="80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마할라노비스 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거리 거리 구함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en-US" altLang="ko-KR" sz="8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9" name="꺾인 연결선 88"/>
          <p:cNvCxnSpPr>
            <a:stCxn id="98" idx="2"/>
            <a:endCxn id="85" idx="1"/>
          </p:cNvCxnSpPr>
          <p:nvPr/>
        </p:nvCxnSpPr>
        <p:spPr>
          <a:xfrm rot="16200000" flipH="1">
            <a:off x="8839084" y="5471818"/>
            <a:ext cx="395985" cy="21999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7463628" y="6166533"/>
            <a:ext cx="2926902" cy="376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trust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= (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[:, </a:t>
            </a:r>
            <a:r>
              <a:rPr lang="en-US" altLang="ko-KR" sz="80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] - self.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det_thresh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) / (</a:t>
            </a:r>
            <a:r>
              <a:rPr lang="en-US" altLang="ko-KR" sz="80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- self.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det_thresh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algn="ctr"/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검지 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thresh 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값 대비 신뢰도를 구함 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0 ~ 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</a:p>
        </p:txBody>
      </p:sp>
      <p:cxnSp>
        <p:nvCxnSpPr>
          <p:cNvPr id="94" name="꺾인 연결선 93"/>
          <p:cNvCxnSpPr>
            <a:stCxn id="85" idx="2"/>
            <a:endCxn id="93" idx="0"/>
          </p:cNvCxnSpPr>
          <p:nvPr/>
        </p:nvCxnSpPr>
        <p:spPr>
          <a:xfrm rot="5400000">
            <a:off x="9271251" y="5623915"/>
            <a:ext cx="198447" cy="88678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직사각형 95"/>
          <p:cNvSpPr/>
          <p:nvPr/>
        </p:nvSpPr>
        <p:spPr>
          <a:xfrm>
            <a:off x="7803230" y="6765116"/>
            <a:ext cx="2247698" cy="376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신뢰도가 높으면 </a:t>
            </a:r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0.95</a:t>
            </a:r>
          </a:p>
          <a:p>
            <a:pPr algn="ctr"/>
            <a:r>
              <a:rPr lang="ko-KR" altLang="en-US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신뢰도가 낮으면 </a:t>
            </a:r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1.0</a:t>
            </a:r>
          </a:p>
          <a:p>
            <a:pPr algn="ctr"/>
            <a:r>
              <a:rPr lang="ko-KR" altLang="en-US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인 </a:t>
            </a:r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dets_alpha</a:t>
            </a:r>
            <a:r>
              <a:rPr lang="ko-KR" altLang="en-US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를 구함</a:t>
            </a:r>
            <a:endParaRPr lang="en-US" altLang="ko-KR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99" name="직선 화살표 연결선 98"/>
          <p:cNvCxnSpPr>
            <a:stCxn id="93" idx="2"/>
            <a:endCxn id="96" idx="0"/>
          </p:cNvCxnSpPr>
          <p:nvPr/>
        </p:nvCxnSpPr>
        <p:spPr>
          <a:xfrm>
            <a:off x="8927079" y="6543091"/>
            <a:ext cx="0" cy="222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/>
          <p:nvPr/>
        </p:nvCxnSpPr>
        <p:spPr>
          <a:xfrm>
            <a:off x="8929303" y="7141674"/>
            <a:ext cx="0" cy="222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/>
          <p:cNvSpPr/>
          <p:nvPr/>
        </p:nvSpPr>
        <p:spPr>
          <a:xfrm>
            <a:off x="2029781" y="1102964"/>
            <a:ext cx="3173960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7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</a:t>
            </a:r>
            <a:r>
              <a:rPr lang="en-US" altLang="ko-KR" sz="700">
                <a:latin typeface="Consolas" panose="020B0609020204030204" pitchFamily="49" charset="0"/>
              </a:rPr>
              <a:t> = </a:t>
            </a:r>
            <a:r>
              <a:rPr lang="en-US" altLang="ko-KR" sz="70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BoostTrack</a:t>
            </a:r>
            <a:r>
              <a:rPr lang="en-US" altLang="ko-KR" sz="700">
                <a:latin typeface="Consolas" panose="020B0609020204030204" pitchFamily="49" charset="0"/>
              </a:rPr>
              <a:t>(</a:t>
            </a:r>
            <a:r>
              <a:rPr lang="en-US" altLang="ko-KR" sz="7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reid_weights</a:t>
            </a:r>
            <a:r>
              <a:rPr lang="en-US" altLang="ko-KR" sz="700">
                <a:latin typeface="Consolas" panose="020B0609020204030204" pitchFamily="49" charset="0"/>
              </a:rPr>
              <a:t>=</a:t>
            </a:r>
            <a:r>
              <a:rPr lang="en-US" altLang="ko-KR" sz="7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Path</a:t>
            </a:r>
            <a:r>
              <a:rPr lang="en-US" altLang="ko-KR" sz="700">
                <a:latin typeface="Consolas" panose="020B0609020204030204" pitchFamily="49" charset="0"/>
              </a:rPr>
              <a:t>(</a:t>
            </a:r>
            <a:r>
              <a:rPr lang="en-US" altLang="ko-KR" sz="7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'osnet_x0_25_msmt17.pt'</a:t>
            </a:r>
            <a:r>
              <a:rPr lang="en-US" altLang="ko-KR" sz="700">
                <a:latin typeface="Consolas" panose="020B0609020204030204" pitchFamily="49" charset="0"/>
              </a:rPr>
              <a:t>), </a:t>
            </a:r>
            <a:r>
              <a:rPr lang="en-US" altLang="ko-KR" sz="7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device</a:t>
            </a:r>
            <a:r>
              <a:rPr lang="en-US" altLang="ko-KR" sz="700">
                <a:latin typeface="Consolas" panose="020B0609020204030204" pitchFamily="49" charset="0"/>
              </a:rPr>
              <a:t>=device, </a:t>
            </a:r>
            <a:r>
              <a:rPr lang="en-US" altLang="ko-KR" sz="7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half</a:t>
            </a:r>
            <a:r>
              <a:rPr lang="en-US" altLang="ko-KR" sz="700">
                <a:latin typeface="Consolas" panose="020B0609020204030204" pitchFamily="49" charset="0"/>
              </a:rPr>
              <a:t>=True)</a:t>
            </a:r>
            <a:endParaRPr lang="en-US" altLang="ko-KR" sz="700" b="0">
              <a:effectLst/>
              <a:latin typeface="Consolas" panose="020B0609020204030204" pitchFamily="49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4240429" y="3845098"/>
            <a:ext cx="317807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800"/>
              <a:t>np.hstack([dets, np.arange(len(dets)).reshape(-1, 1)])</a:t>
            </a:r>
          </a:p>
        </p:txBody>
      </p:sp>
      <p:cxnSp>
        <p:nvCxnSpPr>
          <p:cNvPr id="102" name="구부러진 연결선 101"/>
          <p:cNvCxnSpPr>
            <a:stCxn id="81" idx="3"/>
            <a:endCxn id="98" idx="3"/>
          </p:cNvCxnSpPr>
          <p:nvPr/>
        </p:nvCxnSpPr>
        <p:spPr>
          <a:xfrm>
            <a:off x="9595112" y="3783180"/>
            <a:ext cx="329798" cy="1412363"/>
          </a:xfrm>
          <a:prstGeom prst="curvedConnector3">
            <a:avLst>
              <a:gd name="adj1" fmla="val 169315"/>
            </a:avLst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9060951" y="4038024"/>
            <a:ext cx="1675311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800" smtClean="0"/>
              <a:t>thresh </a:t>
            </a:r>
            <a:r>
              <a:rPr lang="ko-KR" altLang="en-US" sz="800" smtClean="0"/>
              <a:t>넘는 </a:t>
            </a:r>
            <a:r>
              <a:rPr lang="en-US" altLang="ko-KR" sz="800" smtClean="0"/>
              <a:t>detection</a:t>
            </a:r>
            <a:r>
              <a:rPr lang="ko-KR" altLang="en-US" sz="800" smtClean="0"/>
              <a:t>에 대한 </a:t>
            </a:r>
            <a:endParaRPr lang="ko-KR" altLang="en-US" sz="800"/>
          </a:p>
        </p:txBody>
      </p:sp>
      <p:sp>
        <p:nvSpPr>
          <p:cNvPr id="5" name="오른쪽 화살표 4"/>
          <p:cNvSpPr/>
          <p:nvPr/>
        </p:nvSpPr>
        <p:spPr>
          <a:xfrm rot="5400000">
            <a:off x="-30540" y="2265188"/>
            <a:ext cx="572403" cy="215444"/>
          </a:xfrm>
          <a:prstGeom prst="rightArrow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직사각형 103"/>
          <p:cNvSpPr/>
          <p:nvPr/>
        </p:nvSpPr>
        <p:spPr>
          <a:xfrm>
            <a:off x="505972" y="1720253"/>
            <a:ext cx="1333592" cy="2833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latin typeface="Consolas" panose="020B0609020204030204" pitchFamily="49" charset="0"/>
              </a:rPr>
              <a:t>while()</a:t>
            </a:r>
            <a:endParaRPr lang="en-US" altLang="ko-KR" sz="11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05" name="직선 화살표 연결선 104"/>
          <p:cNvCxnSpPr>
            <a:stCxn id="104" idx="2"/>
            <a:endCxn id="12" idx="0"/>
          </p:cNvCxnSpPr>
          <p:nvPr/>
        </p:nvCxnSpPr>
        <p:spPr>
          <a:xfrm>
            <a:off x="1172768" y="2003590"/>
            <a:ext cx="1937" cy="189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직사각형 106"/>
          <p:cNvSpPr/>
          <p:nvPr/>
        </p:nvSpPr>
        <p:spPr>
          <a:xfrm>
            <a:off x="1066992" y="3360792"/>
            <a:ext cx="48603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Engine</a:t>
            </a:r>
          </a:p>
        </p:txBody>
      </p:sp>
    </p:spTree>
    <p:extLst>
      <p:ext uri="{BB962C8B-B14F-4D97-AF65-F5344CB8AC3E}">
        <p14:creationId xmlns:p14="http://schemas.microsoft.com/office/powerpoint/2010/main" val="389099826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57828" y="364991"/>
            <a:ext cx="4316084" cy="468990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2400" b="1" err="1" smtClean="0">
                <a:solidFill>
                  <a:srgbClr val="0E0585"/>
                </a:solidFill>
              </a:rPr>
              <a:t>BoostTrack</a:t>
            </a:r>
            <a:r>
              <a:rPr lang="ko-KR" altLang="en-US" sz="2400" b="1" smtClean="0">
                <a:solidFill>
                  <a:srgbClr val="0E0585"/>
                </a:solidFill>
              </a:rPr>
              <a:t>의 </a:t>
            </a:r>
            <a:r>
              <a:rPr lang="ko-KR" altLang="en-US" sz="2400" b="1">
                <a:solidFill>
                  <a:srgbClr val="0E0585"/>
                </a:solidFill>
              </a:rPr>
              <a:t>전체 </a:t>
            </a:r>
            <a:r>
              <a:rPr lang="ko-KR" altLang="en-US" sz="2400" b="1" smtClean="0">
                <a:solidFill>
                  <a:srgbClr val="0E0585"/>
                </a:solidFill>
              </a:rPr>
              <a:t>구조 </a:t>
            </a:r>
            <a:r>
              <a:rPr lang="en-US" altLang="ko-KR" sz="2400" b="1" smtClean="0">
                <a:solidFill>
                  <a:srgbClr val="0E0585"/>
                </a:solidFill>
              </a:rPr>
              <a:t>cont</a:t>
            </a:r>
            <a:endParaRPr lang="en-US" altLang="ko-KR" sz="2400" b="1">
              <a:solidFill>
                <a:srgbClr val="0E0585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71588" y="5196678"/>
            <a:ext cx="2926902" cy="37655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[m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].update_emb(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dets_embs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[m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], alpha=dets_alpha[m[0]])</a:t>
            </a:r>
          </a:p>
          <a:p>
            <a:pPr algn="ctr"/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alpha 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값을 가지고 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track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의 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emb 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값을 업데이트</a:t>
            </a:r>
            <a:endParaRPr lang="en-US" altLang="ko-KR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497417" y="5270864"/>
                <a:ext cx="259141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𝑒𝑚𝑏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 </m:t>
                    </m:r>
                    <m:r>
                      <a:rPr lang="ko-KR" alt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ko-KR" altLang="en-US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𝑒𝑚𝑏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+(1−</m:t>
                    </m:r>
                    <m:r>
                      <a:rPr lang="ko-KR" alt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sz="1200" smtClean="0">
                    <a:solidFill>
                      <a:srgbClr val="C00000"/>
                    </a:solidFill>
                  </a:rPr>
                  <a:t>)</a:t>
                </a:r>
                <a:r>
                  <a:rPr lang="ko-KR" altLang="en-US" sz="120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sz="12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altLang="ko-K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2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𝑒𝑚𝑏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𝑑𝑒𝑡</m:t>
                        </m:r>
                      </m:sub>
                    </m:sSub>
                  </m:oMath>
                </a14:m>
                <a:endParaRPr lang="ko-KR" altLang="en-US" sz="1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7417" y="5270864"/>
                <a:ext cx="2591415" cy="184666"/>
              </a:xfrm>
              <a:prstGeom prst="rect">
                <a:avLst/>
              </a:prstGeom>
              <a:blipFill>
                <a:blip r:embed="rId2"/>
                <a:stretch>
                  <a:fillRect l="-2353" t="-30000" b="-4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직사각형 101"/>
          <p:cNvSpPr/>
          <p:nvPr/>
        </p:nvSpPr>
        <p:spPr>
          <a:xfrm>
            <a:off x="893470" y="1842597"/>
            <a:ext cx="1890689" cy="65571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각 매칭 </a:t>
            </a:r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</a:t>
            </a:r>
            <a:r>
              <a:rPr lang="ko-KR" altLang="en-US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대하여</a:t>
            </a:r>
            <a:endParaRPr lang="en-US" altLang="ko-KR" sz="80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en-US" altLang="ko-KR" sz="800" err="1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track.update</a:t>
            </a:r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() </a:t>
            </a:r>
            <a:r>
              <a:rPr lang="ko-KR" altLang="en-US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수행</a:t>
            </a:r>
            <a:endParaRPr lang="en-US" altLang="ko-KR" sz="800" smtClean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algn="ctr"/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[m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].update(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[m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800">
                <a:solidFill>
                  <a:srgbClr val="C00000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:])</a:t>
            </a:r>
            <a:endParaRPr lang="en-US" altLang="ko-KR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2427454" y="2594280"/>
            <a:ext cx="1333592" cy="34526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err="1" smtClean="0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Kalman</a:t>
            </a:r>
            <a:r>
              <a:rPr lang="en-US" altLang="ko-KR" sz="800" smtClean="0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Filter</a:t>
            </a:r>
          </a:p>
          <a:p>
            <a:pPr algn="ctr"/>
            <a:r>
              <a:rPr lang="en-US" altLang="ko-KR" sz="800" smtClean="0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update() </a:t>
            </a:r>
            <a:r>
              <a:rPr lang="ko-KR" altLang="en-US" sz="800" smtClean="0">
                <a:solidFill>
                  <a:schemeClr val="tx1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함수 실행</a:t>
            </a:r>
            <a:endParaRPr lang="en-US" altLang="ko-KR" sz="800">
              <a:solidFill>
                <a:schemeClr val="tx1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104" name="꺾인 연결선 103"/>
          <p:cNvCxnSpPr>
            <a:stCxn id="102" idx="2"/>
            <a:endCxn id="103" idx="1"/>
          </p:cNvCxnSpPr>
          <p:nvPr/>
        </p:nvCxnSpPr>
        <p:spPr>
          <a:xfrm rot="16200000" flipH="1">
            <a:off x="1998834" y="2338293"/>
            <a:ext cx="268601" cy="58863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직사각형 104"/>
              <p:cNvSpPr/>
              <p:nvPr/>
            </p:nvSpPr>
            <p:spPr>
              <a:xfrm>
                <a:off x="3709758" y="3035513"/>
                <a:ext cx="1583429" cy="648224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 </m:t>
                      </m:r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US" altLang="ko-KR" sz="80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>
                                <m:sSubPr>
                                  <m:ctrlP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altLang="ko-KR" sz="8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b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altLang="ko-KR" sz="700" smtClean="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ko-KR" altLang="en-US" sz="7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칼만</a:t>
                </a:r>
                <a:r>
                  <a:rPr lang="en-US" altLang="ko-KR" sz="7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gain </a:t>
                </a:r>
                <a:r>
                  <a:rPr lang="ko-KR" altLang="en-US" sz="7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계산</a:t>
                </a:r>
                <a:endParaRPr lang="en-US" altLang="ko-KR" sz="70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105" name="직사각형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758" y="3035513"/>
                <a:ext cx="1583429" cy="64822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직사각형 105"/>
              <p:cNvSpPr/>
              <p:nvPr/>
            </p:nvSpPr>
            <p:spPr>
              <a:xfrm>
                <a:off x="3709758" y="3898703"/>
                <a:ext cx="1583429" cy="32082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ko-KR" sz="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06" name="직사각형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9758" y="3898703"/>
                <a:ext cx="1583429" cy="3208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직선 화살표 연결선 106"/>
          <p:cNvCxnSpPr>
            <a:stCxn id="105" idx="2"/>
            <a:endCxn id="106" idx="0"/>
          </p:cNvCxnSpPr>
          <p:nvPr/>
        </p:nvCxnSpPr>
        <p:spPr>
          <a:xfrm>
            <a:off x="4501473" y="3683737"/>
            <a:ext cx="0" cy="2149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직사각형 107"/>
              <p:cNvSpPr/>
              <p:nvPr/>
            </p:nvSpPr>
            <p:spPr>
              <a:xfrm>
                <a:off x="3713991" y="4466879"/>
                <a:ext cx="1583429" cy="320825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+</m:t>
                          </m:r>
                        </m:sup>
                      </m:sSubSup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=(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ko-KR" sz="8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sSub>
                        <m:sSub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ko-KR" sz="800"/>
                        <m:t>) </m:t>
                      </m:r>
                      <m:sSubSup>
                        <m:sSubSupPr>
                          <m:ctrlPr>
                            <a:rPr lang="en-US" altLang="ko-KR" sz="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ko-KR" sz="800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bSup>
                    </m:oMath>
                  </m:oMathPara>
                </a14:m>
                <a:endParaRPr lang="ko-KR" altLang="en-US" sz="800"/>
              </a:p>
            </p:txBody>
          </p:sp>
        </mc:Choice>
        <mc:Fallback xmlns="">
          <p:sp>
            <p:nvSpPr>
              <p:cNvPr id="108" name="직사각형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991" y="4466879"/>
                <a:ext cx="1583429" cy="3208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직선 화살표 연결선 108"/>
          <p:cNvCxnSpPr>
            <a:stCxn id="106" idx="2"/>
            <a:endCxn id="108" idx="0"/>
          </p:cNvCxnSpPr>
          <p:nvPr/>
        </p:nvCxnSpPr>
        <p:spPr>
          <a:xfrm>
            <a:off x="4501473" y="4219528"/>
            <a:ext cx="4233" cy="2473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 109"/>
          <p:cNvCxnSpPr>
            <a:stCxn id="103" idx="2"/>
            <a:endCxn id="105" idx="1"/>
          </p:cNvCxnSpPr>
          <p:nvPr/>
        </p:nvCxnSpPr>
        <p:spPr>
          <a:xfrm rot="16200000" flipH="1">
            <a:off x="3191965" y="2841832"/>
            <a:ext cx="420078" cy="6155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stCxn id="108" idx="2"/>
            <a:endCxn id="100" idx="0"/>
          </p:cNvCxnSpPr>
          <p:nvPr/>
        </p:nvCxnSpPr>
        <p:spPr>
          <a:xfrm rot="5400000">
            <a:off x="3015886" y="3706858"/>
            <a:ext cx="408974" cy="257066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직사각형 111"/>
          <p:cNvSpPr/>
          <p:nvPr/>
        </p:nvSpPr>
        <p:spPr>
          <a:xfrm>
            <a:off x="473441" y="6670561"/>
            <a:ext cx="2926902" cy="74855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        </a:t>
            </a:r>
            <a:r>
              <a:rPr lang="en-US" altLang="ko-KR" sz="8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KalmanBoxTracker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(dets[i, :],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max_obs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=self.max_obs,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emb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=dets_embs[i])</a:t>
            </a:r>
          </a:p>
          <a:p>
            <a:r>
              <a:rPr lang="en-US" altLang="ko-KR" sz="800">
                <a:solidFill>
                  <a:srgbClr val="CCCCCC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algn="ctr"/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신규 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detection tracker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에 추가</a:t>
            </a:r>
            <a:endParaRPr lang="en-US" altLang="ko-KR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3" name="직선 화살표 연결선 112"/>
          <p:cNvCxnSpPr>
            <a:stCxn id="100" idx="2"/>
            <a:endCxn id="66" idx="0"/>
          </p:cNvCxnSpPr>
          <p:nvPr/>
        </p:nvCxnSpPr>
        <p:spPr>
          <a:xfrm>
            <a:off x="1935039" y="5573236"/>
            <a:ext cx="0" cy="188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7168362" y="1532031"/>
            <a:ext cx="3423334" cy="19325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800">
                <a:solidFill>
                  <a:srgbClr val="CC0099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trk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800">
                <a:solidFill>
                  <a:srgbClr val="CC0099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self.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d =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trk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.get_state()[0]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800">
                <a:solidFill>
                  <a:srgbClr val="CC0099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(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trk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time_since_update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&lt; 1) and (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trk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hit_streak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&gt;=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min_hits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or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frame_count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 &lt;= self.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min_hits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):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    # Format: [x1, y1, x2, y2, id, confidence, cls, det_ind]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outputs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(np.array([d[0], d[1], d[2], d[3], trk.id, trk.conf, trk.cls, trk.det_ind]))</a:t>
            </a:r>
          </a:p>
          <a:p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active_tracks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append</a:t>
            </a:r>
            <a:r>
              <a:rPr lang="en-US" altLang="ko-KR" sz="800">
                <a:solidFill>
                  <a:schemeClr val="tx1"/>
                </a:solidFill>
                <a:latin typeface="Consolas" panose="020B0609020204030204" pitchFamily="49" charset="0"/>
              </a:rPr>
              <a:t>(trk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endParaRPr lang="en-US" altLang="ko-KR" sz="8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초기 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track 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중 최소 매칭 이상이거나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, frame_count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가 적은 것은 </a:t>
            </a:r>
            <a:r>
              <a:rPr lang="ko-KR" altLang="en-US" sz="800" smtClean="0">
                <a:solidFill>
                  <a:srgbClr val="C00000"/>
                </a:solidFill>
                <a:latin typeface="Consolas" panose="020B0609020204030204" pitchFamily="49" charset="0"/>
              </a:rPr>
              <a:t>화면에 표시한다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</a:p>
          <a:p>
            <a:r>
              <a:rPr lang="ko-KR" altLang="en-US" sz="8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즉 </a:t>
            </a:r>
            <a:r>
              <a:rPr lang="en-US" altLang="ko-KR" sz="800"/>
              <a:t>Confirmed (</a:t>
            </a:r>
            <a:r>
              <a:rPr lang="ko-KR" altLang="en-US" sz="800"/>
              <a:t>확정</a:t>
            </a:r>
            <a:r>
              <a:rPr lang="en-US" altLang="ko-KR" sz="800" smtClean="0"/>
              <a:t>)</a:t>
            </a:r>
            <a:r>
              <a:rPr lang="ko-KR" altLang="en-US" sz="800" smtClean="0"/>
              <a:t>와 </a:t>
            </a:r>
            <a:r>
              <a:rPr lang="en-US" altLang="ko-KR" sz="800"/>
              <a:t>Tentative (</a:t>
            </a:r>
            <a:r>
              <a:rPr lang="ko-KR" altLang="en-US" sz="800"/>
              <a:t>임시</a:t>
            </a:r>
            <a:r>
              <a:rPr lang="en-US" altLang="ko-KR" sz="800" smtClean="0"/>
              <a:t>)</a:t>
            </a:r>
            <a:r>
              <a:rPr lang="ko-KR" altLang="en-US" sz="800" smtClean="0"/>
              <a:t>를 표시</a:t>
            </a:r>
            <a:endParaRPr lang="en-US" altLang="ko-KR" sz="8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17" name="꺾인 연결선 116"/>
          <p:cNvCxnSpPr>
            <a:stCxn id="112" idx="3"/>
            <a:endCxn id="55" idx="6"/>
          </p:cNvCxnSpPr>
          <p:nvPr/>
        </p:nvCxnSpPr>
        <p:spPr>
          <a:xfrm flipV="1">
            <a:off x="3400343" y="5922668"/>
            <a:ext cx="3203093" cy="1122168"/>
          </a:xfrm>
          <a:prstGeom prst="bentConnector3">
            <a:avLst>
              <a:gd name="adj1" fmla="val 10713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직사각형 117"/>
          <p:cNvSpPr/>
          <p:nvPr/>
        </p:nvSpPr>
        <p:spPr>
          <a:xfrm>
            <a:off x="7720027" y="3719683"/>
            <a:ext cx="2320004" cy="3053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max_age</a:t>
            </a:r>
            <a:r>
              <a:rPr lang="ko-KR" altLang="en-US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보다 작은 </a:t>
            </a:r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</a:t>
            </a:r>
          </a:p>
          <a:p>
            <a:pPr algn="ctr"/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80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800" smtClean="0">
                <a:solidFill>
                  <a:schemeClr val="tx1"/>
                </a:solidFill>
                <a:latin typeface="Consolas" panose="020B0609020204030204" pitchFamily="49" charset="0"/>
              </a:rPr>
              <a:t>업데이트</a:t>
            </a:r>
            <a:endParaRPr lang="en-US" altLang="ko-KR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19" name="직선 화살표 연결선 118"/>
          <p:cNvCxnSpPr>
            <a:stCxn id="115" idx="2"/>
            <a:endCxn id="118" idx="0"/>
          </p:cNvCxnSpPr>
          <p:nvPr/>
        </p:nvCxnSpPr>
        <p:spPr>
          <a:xfrm>
            <a:off x="8880029" y="3464596"/>
            <a:ext cx="0" cy="2550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직사각형 119"/>
          <p:cNvSpPr/>
          <p:nvPr/>
        </p:nvSpPr>
        <p:spPr>
          <a:xfrm>
            <a:off x="7720027" y="4257191"/>
            <a:ext cx="2320004" cy="30535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filter_outputs </a:t>
            </a:r>
            <a:r>
              <a:rPr lang="ko-KR" altLang="en-US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함수</a:t>
            </a:r>
            <a:endParaRPr lang="en-US" altLang="ko-KR" sz="800" smtClean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pPr algn="ctr"/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box ratio</a:t>
            </a:r>
            <a:r>
              <a:rPr lang="ko-KR" altLang="en-US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와 넓이로 </a:t>
            </a:r>
            <a:r>
              <a:rPr lang="en-US" altLang="ko-KR" sz="8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filter</a:t>
            </a:r>
            <a:endParaRPr lang="en-US" altLang="ko-KR" sz="8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1" name="직선 화살표 연결선 120"/>
          <p:cNvCxnSpPr>
            <a:stCxn id="118" idx="2"/>
            <a:endCxn id="120" idx="0"/>
          </p:cNvCxnSpPr>
          <p:nvPr/>
        </p:nvCxnSpPr>
        <p:spPr>
          <a:xfrm>
            <a:off x="8880029" y="4025034"/>
            <a:ext cx="0" cy="232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모서리가 둥근 직사각형 121"/>
          <p:cNvSpPr/>
          <p:nvPr/>
        </p:nvSpPr>
        <p:spPr>
          <a:xfrm>
            <a:off x="8188705" y="4777356"/>
            <a:ext cx="1396449" cy="305351"/>
          </a:xfrm>
          <a:prstGeom prst="roundRect">
            <a:avLst>
              <a:gd name="adj" fmla="val 47269"/>
            </a:avLst>
          </a:prstGeom>
          <a:gradFill flip="none" rotWithShape="1">
            <a:gsLst>
              <a:gs pos="0">
                <a:srgbClr val="C00000"/>
              </a:gs>
              <a:gs pos="20000">
                <a:srgbClr val="FF0D30"/>
              </a:gs>
              <a:gs pos="100000">
                <a:srgbClr val="FF898F"/>
              </a:gs>
            </a:gsLst>
            <a:lin ang="10800000" scaled="1"/>
            <a:tileRect/>
          </a:gra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smtClean="0">
                <a:solidFill>
                  <a:schemeClr val="bg1"/>
                </a:solidFill>
                <a:latin typeface="Consolas" panose="020B0609020204030204" pitchFamily="49" charset="0"/>
              </a:rPr>
              <a:t>loop end</a:t>
            </a:r>
            <a:endParaRPr lang="en-US" altLang="ko-KR" sz="1000" b="1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cxnSp>
        <p:nvCxnSpPr>
          <p:cNvPr id="123" name="직선 화살표 연결선 122"/>
          <p:cNvCxnSpPr>
            <a:stCxn id="120" idx="2"/>
            <a:endCxn id="122" idx="0"/>
          </p:cNvCxnSpPr>
          <p:nvPr/>
        </p:nvCxnSpPr>
        <p:spPr>
          <a:xfrm>
            <a:off x="8880029" y="4562542"/>
            <a:ext cx="6901" cy="214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순서도: 판단 26"/>
          <p:cNvSpPr/>
          <p:nvPr/>
        </p:nvSpPr>
        <p:spPr>
          <a:xfrm>
            <a:off x="1172019" y="1366993"/>
            <a:ext cx="1333592" cy="283337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matched ?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50" name="직선 화살표 연결선 49"/>
          <p:cNvCxnSpPr>
            <a:stCxn id="27" idx="2"/>
            <a:endCxn id="102" idx="0"/>
          </p:cNvCxnSpPr>
          <p:nvPr/>
        </p:nvCxnSpPr>
        <p:spPr>
          <a:xfrm>
            <a:off x="1838815" y="1650330"/>
            <a:ext cx="0" cy="192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1442577" y="1624475"/>
            <a:ext cx="3609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YES</a:t>
            </a:r>
          </a:p>
        </p:txBody>
      </p:sp>
      <p:sp>
        <p:nvSpPr>
          <p:cNvPr id="66" name="순서도: 판단 65"/>
          <p:cNvSpPr/>
          <p:nvPr/>
        </p:nvSpPr>
        <p:spPr>
          <a:xfrm>
            <a:off x="1268243" y="5761282"/>
            <a:ext cx="1333592" cy="283337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unmatched</a:t>
            </a:r>
          </a:p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detections ?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72" name="순서도: 판단 71"/>
          <p:cNvSpPr/>
          <p:nvPr/>
        </p:nvSpPr>
        <p:spPr>
          <a:xfrm>
            <a:off x="1268243" y="6185395"/>
            <a:ext cx="1333592" cy="283337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8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conf &gt;= theshold</a:t>
            </a:r>
            <a:endParaRPr lang="en-US" altLang="ko-KR" sz="8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graphicFrame>
        <p:nvGraphicFramePr>
          <p:cNvPr id="73" name="표 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637053"/>
              </p:ext>
            </p:extLst>
          </p:nvPr>
        </p:nvGraphicFramePr>
        <p:xfrm>
          <a:off x="2303675" y="5964323"/>
          <a:ext cx="2387483" cy="251460"/>
        </p:xfrm>
        <a:graphic>
          <a:graphicData uri="http://schemas.openxmlformats.org/drawingml/2006/table">
            <a:tbl>
              <a:tblPr/>
              <a:tblGrid>
                <a:gridCol w="2387483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Unmatched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이고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thresh</a:t>
                      </a:r>
                      <a:r>
                        <a:rPr lang="en-US" altLang="ko-KR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old </a:t>
                      </a:r>
                      <a:r>
                        <a:rPr lang="ko-KR" altLang="en-US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보다 크면</a:t>
                      </a:r>
                      <a:endParaRPr lang="ko-KR" altLang="en-US" sz="105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cxnSp>
        <p:nvCxnSpPr>
          <p:cNvPr id="74" name="직선 화살표 연결선 73"/>
          <p:cNvCxnSpPr>
            <a:stCxn id="66" idx="2"/>
            <a:endCxn id="72" idx="0"/>
          </p:cNvCxnSpPr>
          <p:nvPr/>
        </p:nvCxnSpPr>
        <p:spPr>
          <a:xfrm>
            <a:off x="1935039" y="6044619"/>
            <a:ext cx="0" cy="1407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/>
          <p:cNvCxnSpPr>
            <a:stCxn id="72" idx="2"/>
            <a:endCxn id="112" idx="0"/>
          </p:cNvCxnSpPr>
          <p:nvPr/>
        </p:nvCxnSpPr>
        <p:spPr>
          <a:xfrm>
            <a:off x="1935039" y="6468732"/>
            <a:ext cx="1853" cy="2018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907247" y="1264772"/>
            <a:ext cx="3209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NO</a:t>
            </a:r>
          </a:p>
        </p:txBody>
      </p:sp>
      <p:cxnSp>
        <p:nvCxnSpPr>
          <p:cNvPr id="82" name="꺾인 연결선 81"/>
          <p:cNvCxnSpPr>
            <a:stCxn id="27" idx="1"/>
            <a:endCxn id="66" idx="1"/>
          </p:cNvCxnSpPr>
          <p:nvPr/>
        </p:nvCxnSpPr>
        <p:spPr>
          <a:xfrm rot="10800000" flipH="1" flipV="1">
            <a:off x="1172019" y="1508661"/>
            <a:ext cx="96224" cy="4394289"/>
          </a:xfrm>
          <a:prstGeom prst="bentConnector3">
            <a:avLst>
              <a:gd name="adj1" fmla="val -104927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타원 54"/>
          <p:cNvSpPr/>
          <p:nvPr/>
        </p:nvSpPr>
        <p:spPr>
          <a:xfrm>
            <a:off x="6557717" y="5899808"/>
            <a:ext cx="45719" cy="45719"/>
          </a:xfrm>
          <a:prstGeom prst="ellipse">
            <a:avLst/>
          </a:prstGeom>
          <a:noFill/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7" name="직선 화살표 연결선 86"/>
          <p:cNvCxnSpPr>
            <a:stCxn id="66" idx="3"/>
            <a:endCxn id="55" idx="2"/>
          </p:cNvCxnSpPr>
          <p:nvPr/>
        </p:nvCxnSpPr>
        <p:spPr>
          <a:xfrm>
            <a:off x="2601835" y="5902951"/>
            <a:ext cx="3955882" cy="197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꺾인 연결선 91"/>
          <p:cNvCxnSpPr>
            <a:stCxn id="72" idx="3"/>
            <a:endCxn id="55" idx="4"/>
          </p:cNvCxnSpPr>
          <p:nvPr/>
        </p:nvCxnSpPr>
        <p:spPr>
          <a:xfrm flipV="1">
            <a:off x="2601835" y="5945527"/>
            <a:ext cx="3978742" cy="38153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꺾인 연결선 94"/>
          <p:cNvCxnSpPr>
            <a:stCxn id="55" idx="0"/>
            <a:endCxn id="115" idx="1"/>
          </p:cNvCxnSpPr>
          <p:nvPr/>
        </p:nvCxnSpPr>
        <p:spPr>
          <a:xfrm rot="5400000" flipH="1" flipV="1">
            <a:off x="5173722" y="3905169"/>
            <a:ext cx="3401494" cy="58778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직사각형 97"/>
          <p:cNvSpPr/>
          <p:nvPr/>
        </p:nvSpPr>
        <p:spPr>
          <a:xfrm>
            <a:off x="1487217" y="6007285"/>
            <a:ext cx="3609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YES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1463758" y="6424558"/>
            <a:ext cx="36099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YES</a:t>
            </a:r>
          </a:p>
        </p:txBody>
      </p:sp>
      <p:sp>
        <p:nvSpPr>
          <p:cNvPr id="101" name="직사각형 100"/>
          <p:cNvSpPr/>
          <p:nvPr/>
        </p:nvSpPr>
        <p:spPr>
          <a:xfrm>
            <a:off x="2499361" y="5645841"/>
            <a:ext cx="3209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NO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2478571" y="6138620"/>
            <a:ext cx="32092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NO</a:t>
            </a:r>
          </a:p>
        </p:txBody>
      </p:sp>
      <p:cxnSp>
        <p:nvCxnSpPr>
          <p:cNvPr id="125" name="직선 화살표 연결선 124"/>
          <p:cNvCxnSpPr/>
          <p:nvPr/>
        </p:nvCxnSpPr>
        <p:spPr>
          <a:xfrm>
            <a:off x="1848213" y="1174726"/>
            <a:ext cx="0" cy="1922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6" name="표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4293190"/>
              </p:ext>
            </p:extLst>
          </p:nvPr>
        </p:nvGraphicFramePr>
        <p:xfrm>
          <a:off x="9774749" y="4277548"/>
          <a:ext cx="917064" cy="251460"/>
        </p:xfrm>
        <a:graphic>
          <a:graphicData uri="http://schemas.openxmlformats.org/drawingml/2006/table">
            <a:tbl>
              <a:tblPr/>
              <a:tblGrid>
                <a:gridCol w="917064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화면</a:t>
                      </a:r>
                      <a:r>
                        <a:rPr lang="ko-KR" altLang="en-US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표시용</a:t>
                      </a:r>
                      <a:endParaRPr lang="ko-KR" altLang="en-US" sz="105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06847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5525838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BoostTrack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::</a:t>
            </a:r>
            <a:r>
              <a:rPr lang="en-US" altLang="ko-KR" sz="259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dlo_confidence_boost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362007" y="2295225"/>
            <a:ext cx="7367082" cy="6225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err="1" smtClean="0"/>
              <a:t>sbiou_matrix</a:t>
            </a:r>
            <a:r>
              <a:rPr lang="en-US" altLang="ko-KR" smtClean="0"/>
              <a:t> </a:t>
            </a:r>
            <a:r>
              <a:rPr lang="en-US" altLang="ko-KR"/>
              <a:t>= </a:t>
            </a:r>
            <a:r>
              <a:rPr lang="en-US" altLang="ko-KR" err="1" smtClean="0"/>
              <a:t>self.get_iou_matrix</a:t>
            </a:r>
            <a:r>
              <a:rPr lang="en-US" altLang="ko-KR" smtClean="0"/>
              <a:t>(detections, </a:t>
            </a:r>
            <a:r>
              <a:rPr lang="en-US" altLang="ko-KR" smtClean="0">
                <a:solidFill>
                  <a:srgbClr val="C00000"/>
                </a:solidFill>
              </a:rPr>
              <a:t>True</a:t>
            </a:r>
            <a:r>
              <a:rPr lang="en-US" altLang="ko-KR" smtClean="0"/>
              <a:t>)</a:t>
            </a:r>
            <a:endParaRPr lang="en-US" altLang="ko-KR"/>
          </a:p>
        </p:txBody>
      </p:sp>
      <p:cxnSp>
        <p:nvCxnSpPr>
          <p:cNvPr id="7" name="꺾인 연결선 6"/>
          <p:cNvCxnSpPr>
            <a:stCxn id="9" idx="1"/>
            <a:endCxn id="4" idx="1"/>
          </p:cNvCxnSpPr>
          <p:nvPr/>
        </p:nvCxnSpPr>
        <p:spPr>
          <a:xfrm rot="10800000" flipH="1" flipV="1">
            <a:off x="583593" y="1438602"/>
            <a:ext cx="778414" cy="1167907"/>
          </a:xfrm>
          <a:prstGeom prst="bentConnector3">
            <a:avLst>
              <a:gd name="adj1" fmla="val -2936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83593" y="1184283"/>
            <a:ext cx="9110408" cy="5086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 </a:t>
            </a:r>
            <a:r>
              <a:rPr lang="en-US" altLang="ko-KR" sz="18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dlo_confidence_boost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) -&gt; </a:t>
            </a:r>
            <a:r>
              <a:rPr lang="en-US" altLang="ko-KR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8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endParaRPr lang="en-US" altLang="ko-KR" sz="18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68128" y="3315900"/>
            <a:ext cx="5554836" cy="62256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600" smtClean="0"/>
              <a:t>trackers[t] = [ x1, y1,x2,y2, 0, trk.time_since_update -1]</a:t>
            </a:r>
            <a:endParaRPr lang="en-US" altLang="ko-KR" sz="1600"/>
          </a:p>
        </p:txBody>
      </p:sp>
      <p:cxnSp>
        <p:nvCxnSpPr>
          <p:cNvPr id="14" name="직선 화살표 연결선 13"/>
          <p:cNvCxnSpPr>
            <a:stCxn id="4" idx="2"/>
            <a:endCxn id="12" idx="0"/>
          </p:cNvCxnSpPr>
          <p:nvPr/>
        </p:nvCxnSpPr>
        <p:spPr>
          <a:xfrm flipH="1">
            <a:off x="5045546" y="2917794"/>
            <a:ext cx="2" cy="39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2" idx="2"/>
            <a:endCxn id="15" idx="0"/>
          </p:cNvCxnSpPr>
          <p:nvPr/>
        </p:nvCxnSpPr>
        <p:spPr>
          <a:xfrm>
            <a:off x="5045546" y="3938469"/>
            <a:ext cx="0" cy="309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순서도: 판단 14"/>
          <p:cNvSpPr/>
          <p:nvPr/>
        </p:nvSpPr>
        <p:spPr>
          <a:xfrm>
            <a:off x="3874180" y="4247953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use_rich_s?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3660597" y="5081718"/>
            <a:ext cx="2769897" cy="5381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hlinkClick r:id="rId2" action="ppaction://hlinksldjump"/>
              </a:rPr>
              <a:t>MhDist_similarity(…)</a:t>
            </a:r>
            <a:endParaRPr lang="en-US" altLang="ko-KR" sz="1600"/>
          </a:p>
        </p:txBody>
      </p:sp>
      <p:cxnSp>
        <p:nvCxnSpPr>
          <p:cNvPr id="27" name="직선 화살표 연결선 26"/>
          <p:cNvCxnSpPr>
            <a:stCxn id="15" idx="2"/>
            <a:endCxn id="24" idx="0"/>
          </p:cNvCxnSpPr>
          <p:nvPr/>
        </p:nvCxnSpPr>
        <p:spPr>
          <a:xfrm>
            <a:off x="5045546" y="4772234"/>
            <a:ext cx="0" cy="309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3660597" y="5834819"/>
            <a:ext cx="2769897" cy="5381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hlinkClick r:id="rId3" action="ppaction://hlinksldjump"/>
              </a:rPr>
              <a:t>shape_similarity(…)</a:t>
            </a:r>
            <a:endParaRPr lang="en-US" altLang="ko-KR" sz="1600"/>
          </a:p>
        </p:txBody>
      </p:sp>
      <p:sp>
        <p:nvSpPr>
          <p:cNvPr id="33" name="직사각형 32"/>
          <p:cNvSpPr/>
          <p:nvPr/>
        </p:nvSpPr>
        <p:spPr>
          <a:xfrm>
            <a:off x="3660596" y="6587920"/>
            <a:ext cx="2769897" cy="6021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ko-KR" altLang="en-US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마할라노비스 거리 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+ shape </a:t>
            </a:r>
            <a:r>
              <a:rPr lang="ko-KR" altLang="en-US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유사도 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+ iou matrix) /3 </a:t>
            </a:r>
            <a:endParaRPr lang="en-US" altLang="ko-KR" sz="1600"/>
          </a:p>
        </p:txBody>
      </p:sp>
      <p:cxnSp>
        <p:nvCxnSpPr>
          <p:cNvPr id="34" name="직선 화살표 연결선 33"/>
          <p:cNvCxnSpPr>
            <a:stCxn id="24" idx="2"/>
            <a:endCxn id="32" idx="0"/>
          </p:cNvCxnSpPr>
          <p:nvPr/>
        </p:nvCxnSpPr>
        <p:spPr>
          <a:xfrm>
            <a:off x="5045546" y="5619889"/>
            <a:ext cx="0" cy="214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/>
          <p:cNvCxnSpPr>
            <a:stCxn id="32" idx="2"/>
            <a:endCxn id="33" idx="0"/>
          </p:cNvCxnSpPr>
          <p:nvPr/>
        </p:nvCxnSpPr>
        <p:spPr>
          <a:xfrm flipH="1">
            <a:off x="5045545" y="6372990"/>
            <a:ext cx="1" cy="214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직사각형 40"/>
          <p:cNvSpPr/>
          <p:nvPr/>
        </p:nvSpPr>
        <p:spPr>
          <a:xfrm>
            <a:off x="6928082" y="4235981"/>
            <a:ext cx="3650925" cy="5381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4" action="ppaction://hlinksldjump"/>
              </a:rPr>
              <a:t>self.get_iou_matrix(detection, </a:t>
            </a:r>
            <a:r>
              <a:rPr lang="en-US" altLang="ko-KR" sz="16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4" action="ppaction://hlinksldjump"/>
              </a:rPr>
              <a:t>False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4" action="ppaction://hlinksldjump"/>
              </a:rPr>
              <a:t>)</a:t>
            </a:r>
            <a:endParaRPr lang="en-US" altLang="ko-KR" sz="1600"/>
          </a:p>
        </p:txBody>
      </p:sp>
      <p:cxnSp>
        <p:nvCxnSpPr>
          <p:cNvPr id="42" name="직선 화살표 연결선 41"/>
          <p:cNvCxnSpPr>
            <a:stCxn id="15" idx="3"/>
            <a:endCxn id="41" idx="1"/>
          </p:cNvCxnSpPr>
          <p:nvPr/>
        </p:nvCxnSpPr>
        <p:spPr>
          <a:xfrm flipV="1">
            <a:off x="6216912" y="4505067"/>
            <a:ext cx="711170" cy="50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/>
          <p:cNvSpPr/>
          <p:nvPr/>
        </p:nvSpPr>
        <p:spPr>
          <a:xfrm>
            <a:off x="4098867" y="4711532"/>
            <a:ext cx="41710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YES</a:t>
            </a:r>
          </a:p>
        </p:txBody>
      </p:sp>
      <p:sp>
        <p:nvSpPr>
          <p:cNvPr id="46" name="직사각형 45"/>
          <p:cNvSpPr/>
          <p:nvPr/>
        </p:nvSpPr>
        <p:spPr>
          <a:xfrm>
            <a:off x="6155395" y="4115969"/>
            <a:ext cx="364202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7196395" y="4973996"/>
                <a:ext cx="1953420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=[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𝑐𝑒𝑛𝑡𝑒𝑟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𝑐𝑒𝑛𝑡𝑒𝑟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140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95" y="4973996"/>
                <a:ext cx="1953420" cy="215444"/>
              </a:xfrm>
              <a:prstGeom prst="rect">
                <a:avLst/>
              </a:prstGeom>
              <a:blipFill>
                <a:blip r:embed="rId5"/>
                <a:stretch>
                  <a:fillRect l="-313" r="-2500" b="-40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직사각형 4"/>
          <p:cNvSpPr/>
          <p:nvPr/>
        </p:nvSpPr>
        <p:spPr>
          <a:xfrm>
            <a:off x="7124067" y="5227692"/>
            <a:ext cx="208262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중심 좌표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박스 </a:t>
            </a:r>
            <a:r>
              <a:rPr lang="ko-KR" altLang="en-US" sz="1000" smtClean="0">
                <a:latin typeface="+mn-ea"/>
              </a:rPr>
              <a:t>높이</a:t>
            </a:r>
            <a:r>
              <a:rPr lang="en-US" altLang="ko-KR" sz="1000" smtClean="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종횡비 등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>
              <a:latin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7196395" y="5524581"/>
                <a:ext cx="2100896" cy="504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])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6395" y="5524581"/>
                <a:ext cx="2100896" cy="504112"/>
              </a:xfrm>
              <a:prstGeom prst="rect">
                <a:avLst/>
              </a:prstGeom>
              <a:blipFill>
                <a:blip r:embed="rId6"/>
                <a:stretch>
                  <a:fillRect l="-7558" t="-121687" r="-2035" b="-1843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/>
          <p:cNvSpPr/>
          <p:nvPr/>
        </p:nvSpPr>
        <p:spPr>
          <a:xfrm>
            <a:off x="7124067" y="6111380"/>
            <a:ext cx="256993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 smtClean="0">
                <a:latin typeface="Consolas" panose="020B0609020204030204" pitchFamily="49" charset="0"/>
                <a:hlinkClick r:id="rId7" action="ppaction://hlinksldjump"/>
              </a:rPr>
              <a:t>get_mh_dist_matrix</a:t>
            </a:r>
            <a:r>
              <a:rPr lang="en-US" altLang="ko-KR" sz="1100" smtClean="0">
                <a:latin typeface="Consolas" panose="020B0609020204030204" pitchFamily="49" charset="0"/>
              </a:rPr>
              <a:t> </a:t>
            </a:r>
            <a:r>
              <a:rPr lang="ko-KR" altLang="en-US" sz="1100" smtClean="0">
                <a:latin typeface="Consolas" panose="020B0609020204030204" pitchFamily="49" charset="0"/>
              </a:rPr>
              <a:t>함수의 계산식</a:t>
            </a:r>
            <a:endParaRPr lang="en-US" altLang="ko-KR" sz="1100" b="0"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77146"/>
              </p:ext>
            </p:extLst>
          </p:nvPr>
        </p:nvGraphicFramePr>
        <p:xfrm>
          <a:off x="7124067" y="6400938"/>
          <a:ext cx="3513829" cy="251460"/>
        </p:xfrm>
        <a:graphic>
          <a:graphicData uri="http://schemas.openxmlformats.org/drawingml/2006/table">
            <a:tbl>
              <a:tblPr/>
              <a:tblGrid>
                <a:gridCol w="35138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z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는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의 값이고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, x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는 칼만필터의 예측 상태벡터이다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.</a:t>
                      </a:r>
                      <a:endParaRPr lang="ko-KR" altLang="en-US" sz="105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cxnSp>
        <p:nvCxnSpPr>
          <p:cNvPr id="26" name="구부러진 연결선 25"/>
          <p:cNvCxnSpPr>
            <a:stCxn id="6" idx="1"/>
            <a:endCxn id="24" idx="3"/>
          </p:cNvCxnSpPr>
          <p:nvPr/>
        </p:nvCxnSpPr>
        <p:spPr>
          <a:xfrm rot="10800000">
            <a:off x="6430495" y="5350805"/>
            <a:ext cx="765901" cy="425833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277658"/>
              </p:ext>
            </p:extLst>
          </p:nvPr>
        </p:nvGraphicFramePr>
        <p:xfrm>
          <a:off x="6216912" y="343572"/>
          <a:ext cx="3513829" cy="731520"/>
        </p:xfrm>
        <a:graphic>
          <a:graphicData uri="http://schemas.openxmlformats.org/drawingml/2006/table">
            <a:tbl>
              <a:tblPr/>
              <a:tblGrid>
                <a:gridCol w="35138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이 함수는 단순히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tracker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와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의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iou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만 비교하던지</a:t>
                      </a:r>
                      <a:endParaRPr lang="en-US" altLang="ko-KR" sz="1050" smtClean="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Use_rich_s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옵션으로 마할로비스거리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+ box</a:t>
                      </a:r>
                      <a:r>
                        <a:rPr lang="en-US" altLang="ko-KR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</a:t>
                      </a:r>
                      <a:r>
                        <a:rPr lang="ko-KR" altLang="en-US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유사도 </a:t>
                      </a:r>
                      <a:r>
                        <a:rPr lang="en-US" altLang="ko-KR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+ buffered iou matrix </a:t>
                      </a:r>
                      <a:r>
                        <a:rPr lang="ko-KR" altLang="en-US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함께 고려하여 유사도를 구하는 함수이다</a:t>
                      </a:r>
                      <a:r>
                        <a:rPr lang="en-US" altLang="ko-KR" sz="105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.</a:t>
                      </a:r>
                      <a:endParaRPr lang="ko-KR" altLang="en-US" sz="105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544481" y="1721606"/>
            <a:ext cx="236955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solidFill>
                  <a:schemeClr val="accent5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Detection-Level Optimization (DLO)</a:t>
            </a:r>
            <a:endParaRPr lang="ko-KR" altLang="en-US" sz="1050">
              <a:solidFill>
                <a:schemeClr val="accent5">
                  <a:lumMod val="7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9409" y="6696104"/>
            <a:ext cx="4724477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pt-BR" altLang="ko-KR" sz="1100">
                <a:latin typeface="Consolas" panose="020B0609020204030204" pitchFamily="49" charset="0"/>
              </a:rPr>
              <a:t> = (</a:t>
            </a:r>
            <a:r>
              <a:rPr lang="pt-BR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mhd_sim</a:t>
            </a:r>
            <a:r>
              <a:rPr lang="pt-BR" altLang="ko-KR" sz="1100">
                <a:latin typeface="Consolas" panose="020B0609020204030204" pitchFamily="49" charset="0"/>
              </a:rPr>
              <a:t> + </a:t>
            </a:r>
            <a:r>
              <a:rPr lang="pt-BR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shape_sim</a:t>
            </a:r>
            <a:r>
              <a:rPr lang="pt-BR" altLang="ko-KR" sz="1100">
                <a:latin typeface="Consolas" panose="020B0609020204030204" pitchFamily="49" charset="0"/>
              </a:rPr>
              <a:t> + </a:t>
            </a:r>
            <a:r>
              <a:rPr lang="pt-BR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sbiou_matrix</a:t>
            </a:r>
            <a:r>
              <a:rPr lang="pt-BR" altLang="ko-KR" sz="1100">
                <a:latin typeface="Consolas" panose="020B0609020204030204" pitchFamily="49" charset="0"/>
              </a:rPr>
              <a:t>) / </a:t>
            </a:r>
            <a:r>
              <a:rPr lang="pt-BR" altLang="ko-KR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3</a:t>
            </a:r>
            <a:endParaRPr lang="pt-BR" altLang="ko-KR" sz="1100" b="0">
              <a:solidFill>
                <a:schemeClr val="accent2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22787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9169464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BoostTrack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::dlo_confidence_boost </a:t>
            </a:r>
            <a:r>
              <a:rPr lang="en-US" altLang="ko-KR" sz="2590" b="1" smtClean="0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Simple boot </a:t>
            </a:r>
            <a:r>
              <a:rPr lang="ko-KR" altLang="en-US" sz="2590" b="1" smtClean="0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모드 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cont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순서도: 판단 27"/>
          <p:cNvSpPr/>
          <p:nvPr/>
        </p:nvSpPr>
        <p:spPr>
          <a:xfrm>
            <a:off x="3854997" y="1755427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Simple boost </a:t>
            </a:r>
            <a:r>
              <a:rPr lang="ko-KR" altLang="en-US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모드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5026363" y="1445943"/>
            <a:ext cx="0" cy="3094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657689" y="2973979"/>
            <a:ext cx="6737347" cy="11205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not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use_sb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and not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use_vt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50" smtClean="0">
                <a:solidFill>
                  <a:srgbClr val="00B0F0"/>
                </a:solidFill>
                <a:latin typeface="Consolas" panose="020B0609020204030204" pitchFamily="49" charset="0"/>
              </a:rPr>
              <a:t>max_s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05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.max(</a:t>
            </a:r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50" smtClean="0">
                <a:solidFill>
                  <a:srgbClr val="00B0F0"/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[:, </a:t>
            </a:r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] = np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.maximum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[:, </a:t>
            </a:r>
            <a:r>
              <a:rPr lang="en-US" altLang="ko-KR" sz="105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max_s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* 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rgbClr val="00B0F0"/>
                </a:solidFill>
                <a:latin typeface="Consolas" panose="020B0609020204030204" pitchFamily="49" charset="0"/>
              </a:rPr>
              <a:t>dlo_boost_coef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50" smtClean="0">
                <a:solidFill>
                  <a:srgbClr val="FF66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 smtClean="0">
                <a:solidFill>
                  <a:srgbClr val="00B0F0"/>
                </a:solidFill>
                <a:latin typeface="Consolas" panose="020B0609020204030204" pitchFamily="49" charset="0"/>
              </a:rPr>
              <a:t>detections</a:t>
            </a:r>
            <a:endParaRPr lang="en-US" altLang="ko-KR" sz="1050">
              <a:solidFill>
                <a:srgbClr val="00B0F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617525"/>
              </p:ext>
            </p:extLst>
          </p:nvPr>
        </p:nvGraphicFramePr>
        <p:xfrm>
          <a:off x="1560707" y="4167567"/>
          <a:ext cx="5413181" cy="1051560"/>
        </p:xfrm>
        <a:graphic>
          <a:graphicData uri="http://schemas.openxmlformats.org/drawingml/2006/table">
            <a:tbl>
              <a:tblPr/>
              <a:tblGrid>
                <a:gridCol w="5413181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각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에 대해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tracker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들과의 최대 유사도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(max_s)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구하고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,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이를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dlo_boost_coef (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보정 계수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,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보통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0.5~1.0)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만큼 곱해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 confidence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가 그보다 낮으면 올려줌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.</a:t>
                      </a:r>
                    </a:p>
                    <a:p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예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b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</a:b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기존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 confidence = 0.4</a:t>
                      </a:r>
                    </a:p>
                    <a:p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max_s * dlo_boost_coef = 0.6 * 0.9 = 0.54</a:t>
                      </a:r>
                    </a:p>
                    <a:p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→ 0.4 &lt; 0.54 →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보정됨</a:t>
                      </a:r>
                      <a:endParaRPr lang="ko-KR" altLang="en-US" sz="105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1349426"/>
              </p:ext>
            </p:extLst>
          </p:nvPr>
        </p:nvGraphicFramePr>
        <p:xfrm>
          <a:off x="1781878" y="5872612"/>
          <a:ext cx="4671296" cy="8895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167824">
                  <a:extLst>
                    <a:ext uri="{9D8B030D-6E8A-4147-A177-3AD203B41FA5}">
                      <a16:colId xmlns:a16="http://schemas.microsoft.com/office/drawing/2014/main" val="2768728354"/>
                    </a:ext>
                  </a:extLst>
                </a:gridCol>
                <a:gridCol w="1167824">
                  <a:extLst>
                    <a:ext uri="{9D8B030D-6E8A-4147-A177-3AD203B41FA5}">
                      <a16:colId xmlns:a16="http://schemas.microsoft.com/office/drawing/2014/main" val="2452886859"/>
                    </a:ext>
                  </a:extLst>
                </a:gridCol>
                <a:gridCol w="1167824">
                  <a:extLst>
                    <a:ext uri="{9D8B030D-6E8A-4147-A177-3AD203B41FA5}">
                      <a16:colId xmlns:a16="http://schemas.microsoft.com/office/drawing/2014/main" val="4082212128"/>
                    </a:ext>
                  </a:extLst>
                </a:gridCol>
                <a:gridCol w="1167824">
                  <a:extLst>
                    <a:ext uri="{9D8B030D-6E8A-4147-A177-3AD203B41FA5}">
                      <a16:colId xmlns:a16="http://schemas.microsoft.com/office/drawing/2014/main" val="1298102385"/>
                    </a:ext>
                  </a:extLst>
                </a:gridCol>
              </a:tblGrid>
              <a:tr h="203140">
                <a:tc>
                  <a:txBody>
                    <a:bodyPr/>
                    <a:lstStyle/>
                    <a:p>
                      <a:endParaRPr lang="ko-KR" altLang="en-US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700"/>
                        <a:t>Tracker 1</a:t>
                      </a:r>
                      <a:endParaRPr lang="en-US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700"/>
                        <a:t>Tracker 2</a:t>
                      </a:r>
                      <a:endParaRPr lang="en-US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700"/>
                        <a:t>Tracker 3</a:t>
                      </a:r>
                      <a:endParaRPr lang="en-US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4560514"/>
                  </a:ext>
                </a:extLst>
              </a:tr>
              <a:tr h="203140">
                <a:tc>
                  <a:txBody>
                    <a:bodyPr/>
                    <a:lstStyle/>
                    <a:p>
                      <a:r>
                        <a:rPr lang="en-US" sz="700"/>
                        <a:t>Detection 1</a:t>
                      </a:r>
                      <a:endParaRPr lang="en-US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/>
                        <a:t>0.83</a:t>
                      </a:r>
                      <a:endParaRPr lang="en-US" altLang="ko-KR" sz="900" b="1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700"/>
                        <a:t>0.45</a:t>
                      </a:r>
                      <a:endParaRPr lang="en-US" altLang="ko-KR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700"/>
                        <a:t>0.60</a:t>
                      </a:r>
                      <a:endParaRPr lang="en-US" altLang="ko-KR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3769301"/>
                  </a:ext>
                </a:extLst>
              </a:tr>
              <a:tr h="229192">
                <a:tc>
                  <a:txBody>
                    <a:bodyPr/>
                    <a:lstStyle/>
                    <a:p>
                      <a:r>
                        <a:rPr lang="en-US" sz="700"/>
                        <a:t>Detection 2</a:t>
                      </a:r>
                      <a:endParaRPr lang="en-US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700"/>
                        <a:t>0.10</a:t>
                      </a:r>
                      <a:endParaRPr lang="en-US" altLang="ko-KR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/>
                        <a:t>0.95</a:t>
                      </a:r>
                      <a:endParaRPr lang="en-US" altLang="ko-KR" sz="900" b="1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700"/>
                        <a:t>0.05</a:t>
                      </a:r>
                      <a:endParaRPr lang="en-US" altLang="ko-KR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2589615"/>
                  </a:ext>
                </a:extLst>
              </a:tr>
              <a:tr h="203140">
                <a:tc>
                  <a:txBody>
                    <a:bodyPr/>
                    <a:lstStyle/>
                    <a:p>
                      <a:r>
                        <a:rPr lang="en-US" sz="700"/>
                        <a:t>Detection 3</a:t>
                      </a:r>
                      <a:endParaRPr lang="en-US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700"/>
                        <a:t>0.44</a:t>
                      </a:r>
                      <a:endParaRPr lang="en-US" altLang="ko-KR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 b="1"/>
                        <a:t>0.62</a:t>
                      </a:r>
                      <a:endParaRPr lang="en-US" altLang="ko-KR" sz="900" b="1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700"/>
                        <a:t>0.50</a:t>
                      </a:r>
                      <a:endParaRPr lang="en-US" altLang="ko-KR" sz="7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277899"/>
                  </a:ext>
                </a:extLst>
              </a:tr>
            </a:tbl>
          </a:graphicData>
        </a:graphic>
      </p:graphicFrame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846245"/>
              </p:ext>
            </p:extLst>
          </p:nvPr>
        </p:nvGraphicFramePr>
        <p:xfrm>
          <a:off x="1657689" y="5301112"/>
          <a:ext cx="5513298" cy="571500"/>
        </p:xfrm>
        <a:graphic>
          <a:graphicData uri="http://schemas.openxmlformats.org/drawingml/2006/table">
            <a:tbl>
              <a:tblPr/>
              <a:tblGrid>
                <a:gridCol w="5513298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S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는 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(detections × trackers)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형태의 유사도 행렬입니다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.</a:t>
                      </a:r>
                    </a:p>
                    <a:p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S.Max(1)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은 행 기준 으로 연산 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detection(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행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에 대하여 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trackers(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열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들 중 가장 큰 유사도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(max similarity)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선택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cxnSp>
        <p:nvCxnSpPr>
          <p:cNvPr id="43" name="구부러진 연결선 42"/>
          <p:cNvCxnSpPr>
            <a:stCxn id="20" idx="3"/>
          </p:cNvCxnSpPr>
          <p:nvPr/>
        </p:nvCxnSpPr>
        <p:spPr>
          <a:xfrm flipH="1" flipV="1">
            <a:off x="3249033" y="3452519"/>
            <a:ext cx="3204141" cy="2864859"/>
          </a:xfrm>
          <a:prstGeom prst="curvedConnector3">
            <a:avLst>
              <a:gd name="adj1" fmla="val -7135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/>
          <p:cNvSpPr/>
          <p:nvPr/>
        </p:nvSpPr>
        <p:spPr>
          <a:xfrm>
            <a:off x="1671038" y="6874471"/>
            <a:ext cx="1215397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/>
              <a:t>[0.83, 0.95, 0.62]</a:t>
            </a:r>
          </a:p>
        </p:txBody>
      </p:sp>
      <p:graphicFrame>
        <p:nvGraphicFramePr>
          <p:cNvPr id="47" name="표 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59411"/>
              </p:ext>
            </p:extLst>
          </p:nvPr>
        </p:nvGraphicFramePr>
        <p:xfrm>
          <a:off x="104567" y="1230425"/>
          <a:ext cx="4358417" cy="1371600"/>
        </p:xfrm>
        <a:graphic>
          <a:graphicData uri="http://schemas.openxmlformats.org/drawingml/2006/table">
            <a:tbl>
              <a:tblPr/>
              <a:tblGrid>
                <a:gridCol w="4358417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50" smtClean="0"/>
                        <a:t>💡 </a:t>
                      </a:r>
                      <a:r>
                        <a:rPr lang="ko-KR" altLang="en-US" sz="1050" b="1" smtClean="0"/>
                        <a:t>의도 </a:t>
                      </a:r>
                      <a:r>
                        <a:rPr lang="en-US" altLang="ko-KR" sz="1050" b="1" smtClean="0"/>
                        <a:t>(BoostTrack </a:t>
                      </a:r>
                      <a:r>
                        <a:rPr lang="ko-KR" altLang="en-US" sz="1050" b="1" smtClean="0"/>
                        <a:t>설계 목적</a:t>
                      </a:r>
                      <a:r>
                        <a:rPr lang="en-US" altLang="ko-KR" sz="1050" b="1" smtClean="0"/>
                        <a:t>)</a:t>
                      </a:r>
                    </a:p>
                    <a:p>
                      <a:r>
                        <a:rPr lang="en-US" altLang="ko-KR" sz="1050" smtClean="0"/>
                        <a:t>BoostTrack</a:t>
                      </a:r>
                      <a:r>
                        <a:rPr lang="ko-KR" altLang="en-US" sz="1050" smtClean="0"/>
                        <a:t>의 핵심 아이디어는</a:t>
                      </a:r>
                      <a:br>
                        <a:rPr lang="ko-KR" altLang="en-US" sz="1050" smtClean="0"/>
                      </a:br>
                      <a:r>
                        <a:rPr lang="ko-KR" altLang="en-US" sz="1050" b="1" smtClean="0"/>
                        <a:t>“</a:t>
                      </a:r>
                      <a:r>
                        <a:rPr lang="en-US" altLang="ko-KR" sz="1050" b="1" smtClean="0"/>
                        <a:t>tracking </a:t>
                      </a:r>
                      <a:r>
                        <a:rPr lang="ko-KR" altLang="en-US" sz="1050" b="1" smtClean="0"/>
                        <a:t>정보를 이용해 </a:t>
                      </a:r>
                      <a:r>
                        <a:rPr lang="en-US" altLang="ko-KR" sz="1050" b="1" smtClean="0"/>
                        <a:t>detection</a:t>
                      </a:r>
                      <a:r>
                        <a:rPr lang="ko-KR" altLang="en-US" sz="1050" b="1" smtClean="0"/>
                        <a:t>을 보정한다”</a:t>
                      </a:r>
                      <a:r>
                        <a:rPr lang="ko-KR" altLang="en-US" sz="1050" smtClean="0"/>
                        <a:t> 입니다</a:t>
                      </a:r>
                      <a:r>
                        <a:rPr lang="en-US" altLang="ko-KR" sz="1050" smtClean="0"/>
                        <a:t>.</a:t>
                      </a:r>
                    </a:p>
                    <a:p>
                      <a:r>
                        <a:rPr lang="ko-KR" altLang="en-US" sz="1050" smtClean="0"/>
                        <a:t>이 중 </a:t>
                      </a:r>
                      <a:r>
                        <a:rPr lang="en-US" altLang="ko-KR" sz="1050" smtClean="0"/>
                        <a:t>Simple Boost</a:t>
                      </a:r>
                      <a:r>
                        <a:rPr lang="ko-KR" altLang="en-US" sz="1050" smtClean="0"/>
                        <a:t>는 그 </a:t>
                      </a:r>
                      <a:r>
                        <a:rPr lang="ko-KR" altLang="en-US" sz="1050" b="1" smtClean="0"/>
                        <a:t>가장 기본형 </a:t>
                      </a:r>
                      <a:r>
                        <a:rPr lang="en-US" altLang="ko-KR" sz="1050" b="1" smtClean="0"/>
                        <a:t>(Minimal variant)</a:t>
                      </a:r>
                      <a:r>
                        <a:rPr lang="ko-KR" altLang="en-US" sz="1050" smtClean="0"/>
                        <a:t> 으로서</a:t>
                      </a:r>
                      <a:r>
                        <a:rPr lang="en-US" altLang="ko-KR" sz="1050" smtClean="0"/>
                        <a:t>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smtClean="0"/>
                        <a:t>추가적인 </a:t>
                      </a:r>
                      <a:r>
                        <a:rPr lang="en-US" altLang="ko-KR" sz="1050" smtClean="0"/>
                        <a:t>motion/velocity/shaping </a:t>
                      </a:r>
                      <a:r>
                        <a:rPr lang="ko-KR" altLang="en-US" sz="1050" smtClean="0"/>
                        <a:t>정보 없이도 작동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50" smtClean="0"/>
                        <a:t>계산량이 적고</a:t>
                      </a:r>
                      <a:r>
                        <a:rPr lang="en-US" altLang="ko-KR" sz="1050" smtClean="0"/>
                        <a:t>, </a:t>
                      </a:r>
                      <a:r>
                        <a:rPr lang="ko-KR" altLang="en-US" sz="1050" smtClean="0"/>
                        <a:t>빠름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smtClean="0"/>
                        <a:t>detection score</a:t>
                      </a:r>
                      <a:r>
                        <a:rPr lang="ko-KR" altLang="en-US" sz="1050" smtClean="0"/>
                        <a:t>가 낮아도 </a:t>
                      </a:r>
                      <a:r>
                        <a:rPr lang="en-US" altLang="ko-KR" sz="1050" smtClean="0"/>
                        <a:t>tracker</a:t>
                      </a:r>
                      <a:r>
                        <a:rPr lang="ko-KR" altLang="en-US" sz="1050" smtClean="0"/>
                        <a:t>와 강하게 겹치면 보정됨</a:t>
                      </a:r>
                      <a:br>
                        <a:rPr lang="ko-KR" altLang="en-US" sz="1050" smtClean="0"/>
                      </a:br>
                      <a:r>
                        <a:rPr lang="ko-KR" altLang="en-US" sz="1050" smtClean="0"/>
                        <a:t>→ </a:t>
                      </a:r>
                      <a:r>
                        <a:rPr lang="ko-KR" altLang="en-US" sz="1050" b="1" smtClean="0"/>
                        <a:t>탐지 실패나 </a:t>
                      </a:r>
                      <a:r>
                        <a:rPr lang="en-US" altLang="ko-KR" sz="1050" b="1" smtClean="0"/>
                        <a:t>confidence drop</a:t>
                      </a:r>
                      <a:r>
                        <a:rPr lang="ko-KR" altLang="en-US" sz="1050" b="1" smtClean="0"/>
                        <a:t>에 대한 복원 효과</a:t>
                      </a:r>
                      <a:endParaRPr lang="ko-KR" altLang="en-US" sz="105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320168"/>
              </p:ext>
            </p:extLst>
          </p:nvPr>
        </p:nvGraphicFramePr>
        <p:xfrm>
          <a:off x="4462984" y="2436769"/>
          <a:ext cx="550029" cy="251460"/>
        </p:xfrm>
        <a:graphic>
          <a:graphicData uri="http://schemas.openxmlformats.org/drawingml/2006/table">
            <a:tbl>
              <a:tblPr/>
              <a:tblGrid>
                <a:gridCol w="5500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YES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522897"/>
              </p:ext>
            </p:extLst>
          </p:nvPr>
        </p:nvGraphicFramePr>
        <p:xfrm>
          <a:off x="5861453" y="2095672"/>
          <a:ext cx="550029" cy="251460"/>
        </p:xfrm>
        <a:graphic>
          <a:graphicData uri="http://schemas.openxmlformats.org/drawingml/2006/table">
            <a:tbl>
              <a:tblPr/>
              <a:tblGrid>
                <a:gridCol w="5500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NO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cxnSp>
        <p:nvCxnSpPr>
          <p:cNvPr id="57" name="직선 화살표 연결선 56"/>
          <p:cNvCxnSpPr>
            <a:stCxn id="28" idx="2"/>
            <a:endCxn id="31" idx="0"/>
          </p:cNvCxnSpPr>
          <p:nvPr/>
        </p:nvCxnSpPr>
        <p:spPr>
          <a:xfrm>
            <a:off x="5026363" y="2279708"/>
            <a:ext cx="0" cy="694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28" idx="3"/>
            <a:endCxn id="21" idx="1"/>
          </p:cNvCxnSpPr>
          <p:nvPr/>
        </p:nvCxnSpPr>
        <p:spPr>
          <a:xfrm flipV="1">
            <a:off x="6197729" y="2012730"/>
            <a:ext cx="1022298" cy="48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순서도: 판단 20"/>
          <p:cNvSpPr/>
          <p:nvPr/>
        </p:nvSpPr>
        <p:spPr>
          <a:xfrm>
            <a:off x="7220027" y="1750589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Simple-based boost </a:t>
            </a:r>
            <a:r>
              <a:rPr lang="ko-KR" altLang="en-US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모드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9369683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10237961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BoostTrack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::dlo_confidence_boost </a:t>
            </a:r>
            <a:r>
              <a:rPr lang="en-US" altLang="ko-KR" sz="2590" b="1" smtClean="0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Simple-based boot </a:t>
            </a:r>
            <a:r>
              <a:rPr lang="ko-KR" altLang="en-US" sz="2590" b="1" smtClean="0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모드 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cont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순서도: 판단 27"/>
          <p:cNvSpPr/>
          <p:nvPr/>
        </p:nvSpPr>
        <p:spPr>
          <a:xfrm>
            <a:off x="3340224" y="1458031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Simple-based boost </a:t>
            </a:r>
            <a:r>
              <a:rPr lang="ko-KR" altLang="en-US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모드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2750197" y="1718871"/>
            <a:ext cx="590027" cy="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142916" y="2676583"/>
            <a:ext cx="6737347" cy="93144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>
                <a:solidFill>
                  <a:srgbClr val="C586C0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self.use_sb: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max_s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 S.max(1)</a:t>
            </a:r>
          </a:p>
          <a:p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alpha</a:t>
            </a:r>
            <a:r>
              <a:rPr lang="en-US" altLang="ko-KR" sz="105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0.65</a:t>
            </a:r>
          </a:p>
          <a:p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[:,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] =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maximum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      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[:,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],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alpha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[:,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+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-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alpha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) *</a:t>
            </a:r>
            <a:r>
              <a:rPr lang="en-US" altLang="ko-KR" sz="105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max_s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**</a:t>
            </a:r>
            <a:r>
              <a:rPr lang="en-US" altLang="ko-KR" sz="1050" smtClean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1.5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ko-KR" sz="105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24446"/>
              </p:ext>
            </p:extLst>
          </p:nvPr>
        </p:nvGraphicFramePr>
        <p:xfrm>
          <a:off x="1045934" y="3870171"/>
          <a:ext cx="5413181" cy="1051560"/>
        </p:xfrm>
        <a:graphic>
          <a:graphicData uri="http://schemas.openxmlformats.org/drawingml/2006/table">
            <a:tbl>
              <a:tblPr/>
              <a:tblGrid>
                <a:gridCol w="5413181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blending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방식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:</a:t>
                      </a:r>
                    </a:p>
                    <a:p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new_conf = max(old_conf,  α·old_conf + (1−α)·(max_s)**1.5 )</a:t>
                      </a:r>
                    </a:p>
                    <a:p>
                      <a:endParaRPr lang="en-US" altLang="ko-KR" sz="1050" smtClean="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α = 0.65: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과거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신뢰도 유지 비율</a:t>
                      </a:r>
                      <a:endParaRPr lang="en-US" altLang="ko-KR" sz="1050" smtClean="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(1−α): tracker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기반 유사도 반영 비율</a:t>
                      </a:r>
                      <a:endParaRPr lang="en-US" altLang="ko-KR" sz="1050" smtClean="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max_s**1.5: 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유사도가 높으면 더욱 강화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비선형 강조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</a:t>
                      </a:r>
                      <a:endParaRPr lang="ko-KR" altLang="en-US" sz="105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304854"/>
              </p:ext>
            </p:extLst>
          </p:nvPr>
        </p:nvGraphicFramePr>
        <p:xfrm>
          <a:off x="995875" y="4994744"/>
          <a:ext cx="5513298" cy="251460"/>
        </p:xfrm>
        <a:graphic>
          <a:graphicData uri="http://schemas.openxmlformats.org/drawingml/2006/table">
            <a:tbl>
              <a:tblPr/>
              <a:tblGrid>
                <a:gridCol w="5513298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050" smtClean="0"/>
                        <a:t>tracker</a:t>
                      </a:r>
                      <a:r>
                        <a:rPr lang="ko-KR" altLang="en-US" sz="1050" smtClean="0"/>
                        <a:t>와 잘 맞는 </a:t>
                      </a:r>
                      <a:r>
                        <a:rPr lang="en-US" altLang="ko-KR" sz="1050" smtClean="0"/>
                        <a:t>detection</a:t>
                      </a:r>
                      <a:r>
                        <a:rPr lang="ko-KR" altLang="en-US" sz="1050" smtClean="0"/>
                        <a:t>의 신뢰도를 부드럽게 상승시킴</a:t>
                      </a:r>
                      <a:r>
                        <a:rPr lang="en-US" altLang="ko-KR" sz="1050" smtClean="0"/>
                        <a:t>.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1658421"/>
              </p:ext>
            </p:extLst>
          </p:nvPr>
        </p:nvGraphicFramePr>
        <p:xfrm>
          <a:off x="3948211" y="2139373"/>
          <a:ext cx="550029" cy="251460"/>
        </p:xfrm>
        <a:graphic>
          <a:graphicData uri="http://schemas.openxmlformats.org/drawingml/2006/table">
            <a:tbl>
              <a:tblPr/>
              <a:tblGrid>
                <a:gridCol w="5500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YES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0238919"/>
              </p:ext>
            </p:extLst>
          </p:nvPr>
        </p:nvGraphicFramePr>
        <p:xfrm>
          <a:off x="5346680" y="1798276"/>
          <a:ext cx="550029" cy="251460"/>
        </p:xfrm>
        <a:graphic>
          <a:graphicData uri="http://schemas.openxmlformats.org/drawingml/2006/table">
            <a:tbl>
              <a:tblPr/>
              <a:tblGrid>
                <a:gridCol w="5500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NO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cxnSp>
        <p:nvCxnSpPr>
          <p:cNvPr id="57" name="직선 화살표 연결선 56"/>
          <p:cNvCxnSpPr>
            <a:stCxn id="28" idx="2"/>
            <a:endCxn id="31" idx="0"/>
          </p:cNvCxnSpPr>
          <p:nvPr/>
        </p:nvCxnSpPr>
        <p:spPr>
          <a:xfrm>
            <a:off x="4511590" y="1982312"/>
            <a:ext cx="0" cy="694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화살표 연결선 59"/>
          <p:cNvCxnSpPr>
            <a:stCxn id="28" idx="3"/>
          </p:cNvCxnSpPr>
          <p:nvPr/>
        </p:nvCxnSpPr>
        <p:spPr>
          <a:xfrm flipV="1">
            <a:off x="5682956" y="1720171"/>
            <a:ext cx="129852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순서도: 판단 63"/>
          <p:cNvSpPr/>
          <p:nvPr/>
        </p:nvSpPr>
        <p:spPr>
          <a:xfrm>
            <a:off x="6981477" y="1456730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Velocity based threshold boosting </a:t>
            </a:r>
            <a:r>
              <a:rPr lang="ko-KR" altLang="en-US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모드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4388658"/>
              </p:ext>
            </p:extLst>
          </p:nvPr>
        </p:nvGraphicFramePr>
        <p:xfrm>
          <a:off x="5346680" y="4178062"/>
          <a:ext cx="4640336" cy="1122260"/>
        </p:xfrm>
        <a:graphic>
          <a:graphicData uri="http://schemas.openxmlformats.org/drawingml/2006/table">
            <a:tbl>
              <a:tblPr>
                <a:tableStyleId>{69CF1AB2-1976-4502-BF36-3FF5EA218861}</a:tableStyleId>
              </a:tblPr>
              <a:tblGrid>
                <a:gridCol w="1160084">
                  <a:extLst>
                    <a:ext uri="{9D8B030D-6E8A-4147-A177-3AD203B41FA5}">
                      <a16:colId xmlns:a16="http://schemas.microsoft.com/office/drawing/2014/main" val="30169324"/>
                    </a:ext>
                  </a:extLst>
                </a:gridCol>
                <a:gridCol w="1160084">
                  <a:extLst>
                    <a:ext uri="{9D8B030D-6E8A-4147-A177-3AD203B41FA5}">
                      <a16:colId xmlns:a16="http://schemas.microsoft.com/office/drawing/2014/main" val="4109259295"/>
                    </a:ext>
                  </a:extLst>
                </a:gridCol>
                <a:gridCol w="1160084">
                  <a:extLst>
                    <a:ext uri="{9D8B030D-6E8A-4147-A177-3AD203B41FA5}">
                      <a16:colId xmlns:a16="http://schemas.microsoft.com/office/drawing/2014/main" val="2604340599"/>
                    </a:ext>
                  </a:extLst>
                </a:gridCol>
                <a:gridCol w="1160084">
                  <a:extLst>
                    <a:ext uri="{9D8B030D-6E8A-4147-A177-3AD203B41FA5}">
                      <a16:colId xmlns:a16="http://schemas.microsoft.com/office/drawing/2014/main" val="3462812643"/>
                    </a:ext>
                  </a:extLst>
                </a:gridCol>
              </a:tblGrid>
              <a:tr h="280565">
                <a:tc>
                  <a:txBody>
                    <a:bodyPr/>
                    <a:lstStyle/>
                    <a:p>
                      <a:r>
                        <a:rPr lang="en-US" sz="1050"/>
                        <a:t>max_s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(max_s)**1.0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(max_s)**1.5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050"/>
                        <a:t>(max_s)**2.0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154767"/>
                  </a:ext>
                </a:extLst>
              </a:tr>
              <a:tr h="280565">
                <a:tc>
                  <a:txBody>
                    <a:bodyPr/>
                    <a:lstStyle/>
                    <a:p>
                      <a:r>
                        <a:rPr lang="en-US" altLang="ko-KR" sz="1050"/>
                        <a:t>0.5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1065608"/>
                  </a:ext>
                </a:extLst>
              </a:tr>
              <a:tr h="280565">
                <a:tc>
                  <a:txBody>
                    <a:bodyPr/>
                    <a:lstStyle/>
                    <a:p>
                      <a:r>
                        <a:rPr lang="en-US" altLang="ko-KR" sz="1050"/>
                        <a:t>0.7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0.70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0.49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91551"/>
                  </a:ext>
                </a:extLst>
              </a:tr>
              <a:tr h="280565">
                <a:tc>
                  <a:txBody>
                    <a:bodyPr/>
                    <a:lstStyle/>
                    <a:p>
                      <a:r>
                        <a:rPr lang="en-US" altLang="ko-KR" sz="1050"/>
                        <a:t>0.9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0.81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5566328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5062462" y="5360394"/>
            <a:ext cx="5343525" cy="55399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10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왜 </a:t>
            </a:r>
            <a:r>
              <a:rPr lang="en-US" altLang="ko-KR" sz="10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(max_s)**1.5 </a:t>
            </a:r>
            <a:r>
              <a:rPr lang="ko-KR" altLang="en-US" sz="10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인가</a:t>
            </a:r>
            <a:r>
              <a:rPr lang="en-US" altLang="ko-KR" sz="1000">
                <a:solidFill>
                  <a:srgbClr val="C0000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? </a:t>
            </a:r>
            <a:r>
              <a:rPr lang="en-US" altLang="ko-KR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/>
            </a:r>
            <a:br>
              <a:rPr lang="en-US" altLang="ko-KR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→ </a:t>
            </a:r>
            <a:r>
              <a:rPr lang="en-US" altLang="ko-KR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1.5 </a:t>
            </a:r>
            <a: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제곱을 하면 </a:t>
            </a:r>
            <a:r>
              <a:rPr lang="ko-KR" altLang="en-US" sz="1000" b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높은 점수는 덜 깎이고</a:t>
            </a:r>
            <a:r>
              <a:rPr lang="en-US" altLang="ko-KR" sz="1000" b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000" b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낮은 점수는 더 깎이는 형태</a:t>
            </a:r>
            <a: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/>
            </a:r>
            <a:b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→ 즉</a:t>
            </a:r>
            <a:r>
              <a:rPr lang="en-US" altLang="ko-KR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“</a:t>
            </a:r>
            <a: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강한 신호는 더 강하게</a:t>
            </a:r>
            <a:r>
              <a:rPr lang="en-US" altLang="ko-KR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약한 신호는 더 약하게” 강조하는 </a:t>
            </a:r>
            <a:r>
              <a:rPr lang="en-US" altLang="ko-KR" sz="1000" b="1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contrast stretching</a:t>
            </a:r>
            <a:r>
              <a:rPr lang="ko-KR" altLang="en-US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역할입니다</a:t>
            </a:r>
            <a:r>
              <a:rPr lang="en-US" altLang="ko-KR" sz="10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en-US" sz="10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8322283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66945" y="336245"/>
            <a:ext cx="9743339" cy="407434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00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BoostTrack</a:t>
            </a:r>
            <a:r>
              <a:rPr lang="en-US" altLang="ko-KR" sz="200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::dlo_confidence_boost </a:t>
            </a:r>
            <a:r>
              <a:rPr lang="en-US" altLang="ko-KR" sz="2000" b="1" smtClean="0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Velocity-based threshold boosting </a:t>
            </a:r>
            <a:r>
              <a:rPr lang="ko-KR" altLang="en-US" sz="2000" b="1" smtClean="0">
                <a:ln w="0"/>
                <a:solidFill>
                  <a:srgbClr val="C00000"/>
                </a:solidFill>
                <a:latin typeface="맑은 고딕" panose="020B0503020000020004" pitchFamily="50" charset="-127"/>
              </a:rPr>
              <a:t>모드 </a:t>
            </a:r>
            <a:r>
              <a:rPr lang="en-US" altLang="ko-KR" sz="200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end</a:t>
            </a:r>
            <a:endParaRPr lang="en-US" altLang="ko-KR" sz="200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순서도: 판단 27"/>
          <p:cNvSpPr/>
          <p:nvPr/>
        </p:nvSpPr>
        <p:spPr>
          <a:xfrm>
            <a:off x="4268171" y="1216971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Velocity based threshold boosting </a:t>
            </a:r>
            <a:r>
              <a:rPr lang="ko-KR" altLang="en-US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모드</a:t>
            </a:r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3678144" y="1477811"/>
            <a:ext cx="590027" cy="13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1693932" y="2324056"/>
            <a:ext cx="7491209" cy="21461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if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use_vt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threshold_s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 0.95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threshold_e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 0.8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en-US" altLang="ko-KR" sz="1050" smtClean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n_steps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 20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#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alpha = (threshold_s - threshold_e) / n_steps # todo alpha is not being used probably a bug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050">
                <a:solidFill>
                  <a:srgbClr val="C00000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S &gt; np.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maximum</a:t>
            </a:r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threshold_s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- np.array([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trk.time_since_update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- 1 </a:t>
            </a:r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for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trk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in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]),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threshold_e</a:t>
            </a:r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50">
                <a:solidFill>
                  <a:srgbClr val="C00000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.max(1)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scores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[:, 4].copy()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scores</a:t>
            </a:r>
            <a:r>
              <a:rPr lang="en-US" altLang="ko-KR" sz="1050" smtClean="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] = np.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maximum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scores</a:t>
            </a:r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tmp</a:t>
            </a:r>
            <a:r>
              <a:rPr lang="en-US" altLang="ko-KR" sz="1050">
                <a:solidFill>
                  <a:srgbClr val="FF66FF"/>
                </a:solidFill>
                <a:latin typeface="Consolas" panose="020B0609020204030204" pitchFamily="49" charset="0"/>
              </a:rPr>
              <a:t>]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det_thresh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+ 1e-5)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[:, 4] = </a:t>
            </a:r>
            <a:r>
              <a:rPr lang="en-US" altLang="ko-KR" sz="105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scores</a:t>
            </a:r>
          </a:p>
          <a:p>
            <a:r>
              <a:rPr lang="en-US" altLang="ko-KR" sz="1050" smtClean="0">
                <a:solidFill>
                  <a:srgbClr val="C586C0"/>
                </a:solidFill>
                <a:latin typeface="Consolas" panose="020B0609020204030204" pitchFamily="49" charset="0"/>
              </a:rPr>
              <a:t>     </a:t>
            </a:r>
            <a:r>
              <a:rPr lang="en-US" altLang="ko-KR" sz="1050" smtClean="0">
                <a:solidFill>
                  <a:srgbClr val="FF66FF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5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05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detections</a:t>
            </a:r>
          </a:p>
          <a:p>
            <a:endParaRPr lang="en-US" altLang="ko-KR" sz="105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981073"/>
              </p:ext>
            </p:extLst>
          </p:nvPr>
        </p:nvGraphicFramePr>
        <p:xfrm>
          <a:off x="203328" y="1072315"/>
          <a:ext cx="3642054" cy="1211580"/>
        </p:xfrm>
        <a:graphic>
          <a:graphicData uri="http://schemas.openxmlformats.org/drawingml/2006/table">
            <a:tbl>
              <a:tblPr/>
              <a:tblGrid>
                <a:gridCol w="3642054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050" b="1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한 줄 요약</a:t>
                      </a:r>
                      <a:endParaRPr lang="en-US" altLang="ko-KR" sz="1050" b="1" smtClean="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tmp = (S &gt; np.maximum(...)).max(1)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은</a:t>
                      </a:r>
                      <a:endParaRPr lang="en-US" altLang="ko-KR" sz="1050" smtClean="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각 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이 “현재 프레임의 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tracker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중 하나라도 충분히 높은 유사도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(S &gt;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동적 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threshold)”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가지는지를 판단해</a:t>
                      </a:r>
                      <a:endParaRPr lang="en-US" altLang="ko-KR" sz="1050" smtClean="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  <a:p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True/False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배열로 반환하는 코드입니다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.</a:t>
                      </a:r>
                    </a:p>
                    <a:p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→ </a:t>
                      </a:r>
                      <a:r>
                        <a:rPr lang="en-US" altLang="ko-KR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True</a:t>
                      </a:r>
                      <a:r>
                        <a:rPr lang="ko-KR" altLang="en-US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인 </a:t>
                      </a:r>
                      <a:r>
                        <a:rPr lang="en-US" altLang="ko-KR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</a:t>
                      </a:r>
                      <a:r>
                        <a:rPr lang="ko-KR" altLang="en-US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은 이후 </a:t>
                      </a:r>
                      <a:r>
                        <a:rPr lang="en-US" altLang="ko-KR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confidence</a:t>
                      </a:r>
                      <a:r>
                        <a:rPr lang="ko-KR" altLang="en-US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강제로 상향</a:t>
                      </a:r>
                      <a:r>
                        <a:rPr lang="en-US" altLang="ko-KR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(boost)</a:t>
                      </a:r>
                      <a:r>
                        <a:rPr lang="ko-KR" altLang="en-US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시켜 추적 안정성을 높입니다</a:t>
                      </a:r>
                      <a:r>
                        <a:rPr lang="en-US" altLang="ko-KR" sz="1050" b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.</a:t>
                      </a:r>
                      <a:endParaRPr lang="ko-KR" altLang="en-US" sz="1050" b="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54" name="표 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3135000"/>
              </p:ext>
            </p:extLst>
          </p:nvPr>
        </p:nvGraphicFramePr>
        <p:xfrm>
          <a:off x="4680471" y="1940135"/>
          <a:ext cx="550029" cy="251460"/>
        </p:xfrm>
        <a:graphic>
          <a:graphicData uri="http://schemas.openxmlformats.org/drawingml/2006/table">
            <a:tbl>
              <a:tblPr/>
              <a:tblGrid>
                <a:gridCol w="5500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YES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55" name="표 5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0613401"/>
              </p:ext>
            </p:extLst>
          </p:nvPr>
        </p:nvGraphicFramePr>
        <p:xfrm>
          <a:off x="6274627" y="1557216"/>
          <a:ext cx="550029" cy="251460"/>
        </p:xfrm>
        <a:graphic>
          <a:graphicData uri="http://schemas.openxmlformats.org/drawingml/2006/table">
            <a:tbl>
              <a:tblPr/>
              <a:tblGrid>
                <a:gridCol w="5500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NO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cxnSp>
        <p:nvCxnSpPr>
          <p:cNvPr id="57" name="직선 화살표 연결선 56"/>
          <p:cNvCxnSpPr>
            <a:stCxn id="28" idx="2"/>
            <a:endCxn id="31" idx="0"/>
          </p:cNvCxnSpPr>
          <p:nvPr/>
        </p:nvCxnSpPr>
        <p:spPr>
          <a:xfrm>
            <a:off x="5439537" y="1741252"/>
            <a:ext cx="0" cy="5828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300894"/>
              </p:ext>
            </p:extLst>
          </p:nvPr>
        </p:nvGraphicFramePr>
        <p:xfrm>
          <a:off x="1406930" y="4550559"/>
          <a:ext cx="4420065" cy="853440"/>
        </p:xfrm>
        <a:graphic>
          <a:graphicData uri="http://schemas.openxmlformats.org/drawingml/2006/table">
            <a:tbl>
              <a:tblPr>
                <a:tableStyleId>{5DA37D80-6434-44D0-A028-1B22A696006F}</a:tableStyleId>
              </a:tblPr>
              <a:tblGrid>
                <a:gridCol w="1473355">
                  <a:extLst>
                    <a:ext uri="{9D8B030D-6E8A-4147-A177-3AD203B41FA5}">
                      <a16:colId xmlns:a16="http://schemas.microsoft.com/office/drawing/2014/main" val="1555167429"/>
                    </a:ext>
                  </a:extLst>
                </a:gridCol>
                <a:gridCol w="1473355">
                  <a:extLst>
                    <a:ext uri="{9D8B030D-6E8A-4147-A177-3AD203B41FA5}">
                      <a16:colId xmlns:a16="http://schemas.microsoft.com/office/drawing/2014/main" val="585855490"/>
                    </a:ext>
                  </a:extLst>
                </a:gridCol>
                <a:gridCol w="1473355">
                  <a:extLst>
                    <a:ext uri="{9D8B030D-6E8A-4147-A177-3AD203B41FA5}">
                      <a16:colId xmlns:a16="http://schemas.microsoft.com/office/drawing/2014/main" val="481053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time_since_update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time_since_update - 1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5928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182045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2274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213029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1596408" y="5455574"/>
            <a:ext cx="3084063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900"/>
              <a:t>[0.95 - 0,  0.95 - 1,  0.95 - 4]  =  [0.95, -0.05, -3.05]</a:t>
            </a: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358326"/>
              </p:ext>
            </p:extLst>
          </p:nvPr>
        </p:nvGraphicFramePr>
        <p:xfrm>
          <a:off x="6274627" y="4550559"/>
          <a:ext cx="4253202" cy="85344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417734">
                  <a:extLst>
                    <a:ext uri="{9D8B030D-6E8A-4147-A177-3AD203B41FA5}">
                      <a16:colId xmlns:a16="http://schemas.microsoft.com/office/drawing/2014/main" val="2000823733"/>
                    </a:ext>
                  </a:extLst>
                </a:gridCol>
                <a:gridCol w="1417734">
                  <a:extLst>
                    <a:ext uri="{9D8B030D-6E8A-4147-A177-3AD203B41FA5}">
                      <a16:colId xmlns:a16="http://schemas.microsoft.com/office/drawing/2014/main" val="976010418"/>
                    </a:ext>
                  </a:extLst>
                </a:gridCol>
                <a:gridCol w="1417734">
                  <a:extLst>
                    <a:ext uri="{9D8B030D-6E8A-4147-A177-3AD203B41FA5}">
                      <a16:colId xmlns:a16="http://schemas.microsoft.com/office/drawing/2014/main" val="24468596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time_since_update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Dynamic threshold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782348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>
                          <a:solidFill>
                            <a:srgbClr val="C00000"/>
                          </a:solidFill>
                        </a:rPr>
                        <a:t>0.95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5376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>
                          <a:solidFill>
                            <a:srgbClr val="C00000"/>
                          </a:solidFill>
                        </a:rPr>
                        <a:t>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480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800"/>
                        <a:t>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>
                          <a:solidFill>
                            <a:srgbClr val="C00000"/>
                          </a:solidFill>
                        </a:rPr>
                        <a:t>0.8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134103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050419"/>
              </p:ext>
            </p:extLst>
          </p:nvPr>
        </p:nvGraphicFramePr>
        <p:xfrm>
          <a:off x="1406930" y="5862170"/>
          <a:ext cx="4572000" cy="1019652"/>
        </p:xfrm>
        <a:graphic>
          <a:graphicData uri="http://schemas.openxmlformats.org/drawingml/2006/table">
            <a:tbl>
              <a:tblPr>
                <a:tableStyleId>{16D9F66E-5EB9-4882-86FB-DCBF35E3C3E4}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144368574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95696077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775592936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830337954"/>
                    </a:ext>
                  </a:extLst>
                </a:gridCol>
              </a:tblGrid>
              <a:tr h="254913">
                <a:tc>
                  <a:txBody>
                    <a:bodyPr/>
                    <a:lstStyle/>
                    <a:p>
                      <a:r>
                        <a:rPr lang="en-US" sz="800"/>
                        <a:t>Detection\Tracker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T1(0.95)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T2(0.8)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T3(0.8)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7181839"/>
                  </a:ext>
                </a:extLst>
              </a:tr>
              <a:tr h="254913">
                <a:tc>
                  <a:txBody>
                    <a:bodyPr/>
                    <a:lstStyle/>
                    <a:p>
                      <a:r>
                        <a:rPr lang="en-US" sz="800"/>
                        <a:t>D1 (</a:t>
                      </a:r>
                      <a:r>
                        <a:rPr lang="ko-KR" altLang="en-US" sz="800"/>
                        <a:t>유사도 </a:t>
                      </a:r>
                      <a:r>
                        <a:rPr lang="en-US" sz="800"/>
                        <a:t>S[0])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0.92&gt;0.95=False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0.83&gt;0.8=True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0.81&gt;0.8=True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8504"/>
                  </a:ext>
                </a:extLst>
              </a:tr>
              <a:tr h="254913">
                <a:tc>
                  <a:txBody>
                    <a:bodyPr/>
                    <a:lstStyle/>
                    <a:p>
                      <a:r>
                        <a:rPr lang="en-US" sz="8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0.97&gt;0.95=True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0.60&gt;0.8=False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0.70&gt;0.8=False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175810"/>
                  </a:ext>
                </a:extLst>
              </a:tr>
              <a:tr h="254913">
                <a:tc>
                  <a:txBody>
                    <a:bodyPr/>
                    <a:lstStyle/>
                    <a:p>
                      <a:r>
                        <a:rPr lang="en-US" sz="80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0.50&gt;0.95=False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0.81&gt;0.8=True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0.79&gt;0.8=False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6009065"/>
                  </a:ext>
                </a:extLst>
              </a:tr>
            </a:tbl>
          </a:graphicData>
        </a:graphic>
      </p:graphicFrame>
      <p:cxnSp>
        <p:nvCxnSpPr>
          <p:cNvPr id="18" name="직선 화살표 연결선 17"/>
          <p:cNvCxnSpPr>
            <a:stCxn id="5" idx="3"/>
            <a:endCxn id="7" idx="1"/>
          </p:cNvCxnSpPr>
          <p:nvPr/>
        </p:nvCxnSpPr>
        <p:spPr>
          <a:xfrm>
            <a:off x="5826995" y="4977279"/>
            <a:ext cx="4476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7" idx="2"/>
            <a:endCxn id="8" idx="1"/>
          </p:cNvCxnSpPr>
          <p:nvPr/>
        </p:nvCxnSpPr>
        <p:spPr>
          <a:xfrm rot="5400000">
            <a:off x="4420081" y="2390848"/>
            <a:ext cx="967997" cy="6994298"/>
          </a:xfrm>
          <a:prstGeom prst="bentConnector4">
            <a:avLst>
              <a:gd name="adj1" fmla="val 23666"/>
              <a:gd name="adj2" fmla="val 10326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294892" y="6870300"/>
            <a:ext cx="127791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100"/>
              <a:t>(...).max(1)</a:t>
            </a:r>
            <a:br>
              <a:rPr lang="en-US" altLang="ko-KR" sz="1100"/>
            </a:br>
            <a:r>
              <a:rPr lang="ko-KR" altLang="en-US" sz="1100" smtClean="0"/>
              <a:t>[</a:t>
            </a:r>
            <a:r>
              <a:rPr lang="ko-KR" altLang="en-US" sz="1100"/>
              <a:t>True, True, True]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7494921"/>
              </p:ext>
            </p:extLst>
          </p:nvPr>
        </p:nvGraphicFramePr>
        <p:xfrm>
          <a:off x="7791778" y="5704987"/>
          <a:ext cx="2786726" cy="251460"/>
        </p:xfrm>
        <a:graphic>
          <a:graphicData uri="http://schemas.openxmlformats.org/drawingml/2006/table">
            <a:tbl>
              <a:tblPr/>
              <a:tblGrid>
                <a:gridCol w="2786726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즉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,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임계값이 </a:t>
                      </a:r>
                      <a:r>
                        <a:rPr lang="en-US" altLang="ko-KR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0.8 </a:t>
                      </a:r>
                      <a:r>
                        <a:rPr lang="ko-KR" altLang="en-US" sz="1050" smtClean="0">
                          <a:solidFill>
                            <a:schemeClr val="tx1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이하로 내려가지 않게 보호</a:t>
                      </a:r>
                      <a:endParaRPr lang="ko-KR" altLang="en-US" sz="1050">
                        <a:solidFill>
                          <a:schemeClr val="tx1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sp>
        <p:nvSpPr>
          <p:cNvPr id="19" name="모서리가 둥근 직사각형 18"/>
          <p:cNvSpPr/>
          <p:nvPr/>
        </p:nvSpPr>
        <p:spPr>
          <a:xfrm>
            <a:off x="4806590" y="7057586"/>
            <a:ext cx="1743051" cy="44573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hlinkClick r:id="rId2" action="ppaction://hlinksldjump"/>
              </a:rPr>
              <a:t>return</a:t>
            </a:r>
            <a:endParaRPr lang="en-US" altLang="ko-KR" sz="1600"/>
          </a:p>
        </p:txBody>
      </p:sp>
    </p:spTree>
    <p:extLst>
      <p:ext uri="{BB962C8B-B14F-4D97-AF65-F5344CB8AC3E}">
        <p14:creationId xmlns:p14="http://schemas.microsoft.com/office/powerpoint/2010/main" val="340395130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434635" y="235742"/>
            <a:ext cx="4118114" cy="52301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b="1" smtClean="0">
                <a:ln w="0"/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마할로비스</a:t>
            </a:r>
            <a:r>
              <a:rPr lang="en-US" altLang="ko-KR" sz="2400" b="1" smtClean="0">
                <a:ln w="0"/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(Mahalanobis)</a:t>
            </a:r>
            <a:r>
              <a:rPr lang="ko-KR" altLang="en-US" sz="2400" b="1" smtClean="0">
                <a:ln w="0"/>
                <a:solidFill>
                  <a:prstClr val="black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거리</a:t>
            </a:r>
            <a:endParaRPr lang="en-US" altLang="ko-KR" sz="2400" b="1">
              <a:ln w="0"/>
              <a:solidFill>
                <a:prstClr val="black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62" y="2231643"/>
            <a:ext cx="6144421" cy="29200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직사각형 9"/>
              <p:cNvSpPr/>
              <p:nvPr/>
            </p:nvSpPr>
            <p:spPr>
              <a:xfrm>
                <a:off x="387351" y="5399965"/>
                <a:ext cx="8750634" cy="132831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여기서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식 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(7)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을 적용해 원시 데이터의 벡터 공간에서 원점과의 거리 </a:t>
                </a:r>
                <a:r>
                  <a:rPr lang="en-US" altLang="ko-KR" sz="1200" err="1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dz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를 구하면 다음과 같다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𝑧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경기천년바탕 Regular" panose="0202050302010102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</m:ctrlPr>
                        </m:radPr>
                        <m:deg/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𝑧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𝑇</m:t>
                              </m:r>
                            </m:sup>
                          </m:sSup>
                        </m:e>
                      </m:ra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경기천년바탕 Regular" panose="0202050302010102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</m:ctrlPr>
                        </m:radPr>
                        <m:deg/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(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(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𝑥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𝑇</m:t>
                              </m:r>
                            </m:sup>
                          </m:sSup>
                        </m:e>
                      </m:ra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경기천년바탕 Regular" panose="0202050302010102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</m:ctrlPr>
                        </m:radPr>
                        <m:deg/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   </m:t>
                          </m:r>
                        </m:e>
                      </m:ra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경기천년바탕 Regular" panose="0202050302010102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</m:ctrlPr>
                        </m:radPr>
                        <m:deg/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  <a:ea typeface="경기천년바탕 Regular" panose="02020503020101020101" pitchFamily="18" charset="-127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𝑅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𝑇</m:t>
                              </m:r>
                            </m:sup>
                          </m:sSup>
                        </m:e>
                      </m:rad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경기천년바탕 Regular" panose="02020503020101020101" pitchFamily="18" charset="-127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</m:ctrlPr>
                        </m:radPr>
                        <m:deg/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  <a:ea typeface="경기천년바탕 Regular" panose="02020503020101020101" pitchFamily="18" charset="-127"/>
                            </a:rPr>
                            <m:t>𝑥</m:t>
                          </m:r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en-US" altLang="ko-KR" sz="1400">
                                  <a:latin typeface="경기천년바탕 Regular" panose="02020503020101020101" pitchFamily="18" charset="-127"/>
                                  <a:ea typeface="경기천년바탕 Regular" panose="02020503020101020101" pitchFamily="18" charset="-127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  <a:ea typeface="경기천년바탕 Regular" panose="02020503020101020101" pitchFamily="18" charset="-127"/>
                                </a:rPr>
                                <m:t>𝑇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ko-KR" sz="1200" smtClean="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여기서 </a:t>
                </a:r>
                <a:r>
                  <a:rPr lang="en-US" altLang="ko-KR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Σ</a:t>
                </a:r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는 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주어진 전체 데이터 행렬의 공분산행렬이다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만약 위와 같은 과정을 임의의 벡터 </a:t>
                </a:r>
                <a:r>
                  <a:rPr lang="en-US" altLang="ko-KR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x</a:t>
                </a:r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와 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y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사이의 거리에 대해 수행한다고 하면 아래와 같이 식을 수정할 수 있으며 이것은 원래 언급했던 </a:t>
                </a:r>
                <a:r>
                  <a:rPr lang="ko-KR" altLang="en-US" sz="1200" err="1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마할라노비스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거리와 같다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⇒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ko-KR" altLang="en-US" sz="120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radPr>
                      <m:deg/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(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𝑥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𝑦</m:t>
                        </m:r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)</m:t>
                        </m:r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sSupPr>
                          <m:e>
                            <m:r>
                              <m:rPr>
                                <m:nor/>
                              </m:rPr>
                              <a:rPr lang="en-US" altLang="ko-KR" sz="1200">
                                <a:latin typeface="경기천년바탕 Regular" panose="02020503020101020101" pitchFamily="18" charset="-127"/>
                                <a:ea typeface="경기천년바탕 Regular" panose="02020503020101020101" pitchFamily="18" charset="-127"/>
                              </a:rPr>
                              <m:t>Σ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</m:ctrlPr>
                          </m:sSupPr>
                          <m:e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(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𝑥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−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𝑦</m:t>
                            </m:r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ko-KR" sz="1200" b="0" i="1" smtClean="0">
                                <a:latin typeface="Cambria Math" panose="02040503050406030204" pitchFamily="18" charset="0"/>
                                <a:ea typeface="경기천년바탕 Regular" panose="02020503020101020101" pitchFamily="18" charset="-127"/>
                              </a:rPr>
                              <m:t>𝑇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ko-KR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(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22)</a:t>
                </a:r>
                <a:endParaRPr lang="ko-KR" altLang="en-US" sz="120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10" name="직사각형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351" y="5399965"/>
                <a:ext cx="8750634" cy="1328312"/>
              </a:xfrm>
              <a:prstGeom prst="rect">
                <a:avLst/>
              </a:prstGeom>
              <a:blipFill>
                <a:blip r:embed="rId3"/>
                <a:stretch>
                  <a:fillRect l="-70" t="-459" b="-229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339224" y="1319247"/>
                <a:ext cx="9111582" cy="123110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주어진 임의의 데이터를 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x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라고 하고 이의 원시 형태를 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z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라고 했을 때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식 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(14)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에 따르면 주어진 데이터의 “</a:t>
                </a:r>
                <a:r>
                  <a:rPr lang="ko-KR" altLang="en-US" sz="1200" err="1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맥락”을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원시 데이터의 형태로 되돌려 놓기 위해선 아래와 같이 수행하여 가능하다는 것을 알 수 있다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</a:p>
              <a:p>
                <a:pPr algn="r"/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𝑧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=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𝑥</m:t>
                    </m:r>
                    <m:sSup>
                      <m:sSup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𝑅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ko-KR" sz="14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                               (</a:t>
                </a:r>
                <a:r>
                  <a:rPr lang="en-US" altLang="ko-KR" sz="14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19)</a:t>
                </a:r>
                <a:r>
                  <a:rPr lang="ko-KR" altLang="en-US" sz="14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:endParaRPr lang="en-US" altLang="ko-KR" sz="1400" smtClean="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여기서 </a:t>
                </a:r>
                <a:r>
                  <a:rPr lang="ko-KR" altLang="en-US" sz="1200" err="1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역행렬을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이용한 </a:t>
                </a:r>
                <a:r>
                  <a:rPr lang="ko-KR" altLang="en-US" sz="1200" err="1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선형변환은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주어진 선형변환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𝑅</m:t>
                    </m:r>
                  </m:oMath>
                </a14:m>
                <a:endParaRPr lang="ko-KR" altLang="en-US" sz="120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  <a:p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에 의해 변환된 벡터 공간을 원래 형태로 돌려 놓는 것이다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 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즉 그림 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10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에서 왼쪽으로부터 오른쪽으로 변하는 과정이 원래의 선형 변환 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latin typeface="Cambria Math" panose="02040503050406030204" pitchFamily="18" charset="0"/>
                        <a:ea typeface="경기천년바탕 Regular" panose="02020503020101020101" pitchFamily="18" charset="-127"/>
                      </a:rPr>
                      <m:t>𝑅</m:t>
                    </m:r>
                  </m:oMath>
                </a14:m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이 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수행해주는 변환이라고 하면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, </a:t>
                </a:r>
                <a:r>
                  <a:rPr lang="ko-KR" altLang="en-US" sz="1200" err="1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역변환인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20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</m:ctrlPr>
                      </m:sSupPr>
                      <m:e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𝑅</m:t>
                        </m:r>
                      </m:e>
                      <m:sup>
                        <m:r>
                          <a:rPr lang="en-US" altLang="ko-KR" sz="1200" b="0" i="1" smtClean="0">
                            <a:latin typeface="Cambria Math" panose="02040503050406030204" pitchFamily="18" charset="0"/>
                            <a:ea typeface="경기천년바탕 Regular" panose="02020503020101020101" pitchFamily="18" charset="-127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o-KR" altLang="en-US" sz="1200" smtClean="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은 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그림 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10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의 </a:t>
                </a:r>
                <a:r>
                  <a:rPr lang="ko-KR" altLang="en-US" sz="1200" err="1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오른족에서</a:t>
                </a:r>
                <a:r>
                  <a:rPr lang="ko-KR" altLang="en-US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 왼쪽으로의 변환이라고 볼 수 있는 것이다</a:t>
                </a:r>
                <a:r>
                  <a:rPr lang="en-US" altLang="ko-KR" sz="1200">
                    <a:latin typeface="경기천년바탕 Regular" panose="02020503020101020101" pitchFamily="18" charset="-127"/>
                    <a:ea typeface="경기천년바탕 Regular" panose="02020503020101020101" pitchFamily="18" charset="-127"/>
                  </a:rPr>
                  <a:t>.</a:t>
                </a:r>
                <a:endParaRPr lang="ko-KR" altLang="en-US" sz="1200">
                  <a:latin typeface="경기천년바탕 Regular" panose="02020503020101020101" pitchFamily="18" charset="-127"/>
                  <a:ea typeface="경기천년바탕 Regular" panose="02020503020101020101" pitchFamily="18" charset="-127"/>
                </a:endParaRPr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24" y="1319247"/>
                <a:ext cx="9111582" cy="1231106"/>
              </a:xfrm>
              <a:prstGeom prst="rect">
                <a:avLst/>
              </a:prstGeom>
              <a:blipFill>
                <a:blip r:embed="rId4"/>
                <a:stretch>
                  <a:fillRect l="-67" r="-268" b="-29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41185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3250985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get_mh_dist_matrix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꺾인 연결선 6"/>
          <p:cNvCxnSpPr>
            <a:stCxn id="9" idx="1"/>
            <a:endCxn id="36" idx="1"/>
          </p:cNvCxnSpPr>
          <p:nvPr/>
        </p:nvCxnSpPr>
        <p:spPr>
          <a:xfrm rot="10800000" flipH="1" flipV="1">
            <a:off x="544480" y="1376050"/>
            <a:ext cx="694111" cy="2963575"/>
          </a:xfrm>
          <a:prstGeom prst="bentConnector3">
            <a:avLst>
              <a:gd name="adj1" fmla="val -3293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44481" y="1196340"/>
            <a:ext cx="7636993" cy="3594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get_mh_dist_matrix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n_dims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>
                <a:solidFill>
                  <a:schemeClr val="accent4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) -&gt;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endParaRPr lang="en-US" altLang="ko-KR" sz="12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표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5750663"/>
                  </p:ext>
                </p:extLst>
              </p:nvPr>
            </p:nvGraphicFramePr>
            <p:xfrm>
              <a:off x="1992429" y="1852213"/>
              <a:ext cx="2520012" cy="146304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630003">
                      <a:extLst>
                        <a:ext uri="{9D8B030D-6E8A-4147-A177-3AD203B41FA5}">
                          <a16:colId xmlns:a16="http://schemas.microsoft.com/office/drawing/2014/main" val="3908075573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255108306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37435225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4083578416"/>
                        </a:ext>
                      </a:extLst>
                    </a:gridCol>
                  </a:tblGrid>
                  <a:tr h="29014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2842349"/>
                      </a:ext>
                    </a:extLst>
                  </a:tr>
                  <a:tr h="29014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014267"/>
                      </a:ext>
                    </a:extLst>
                  </a:tr>
                  <a:tr h="2901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6980759"/>
                      </a:ext>
                    </a:extLst>
                  </a:tr>
                  <a:tr h="29014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𝑥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𝑦</m:t>
                                </m:r>
                                <m:r>
                                  <a:rPr lang="en-US" altLang="ko-KR" sz="1800" b="0" i="1" smtClean="0">
                                    <a:latin typeface="Cambria Math" panose="02040503050406030204" pitchFamily="18" charset="0"/>
                                    <a:cs typeface="Cascadia Code" panose="020B0609020000020004" pitchFamily="49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6857307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표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5750663"/>
                  </p:ext>
                </p:extLst>
              </p:nvPr>
            </p:nvGraphicFramePr>
            <p:xfrm>
              <a:off x="1992429" y="1852213"/>
              <a:ext cx="2520012" cy="1463040"/>
            </p:xfrm>
            <a:graphic>
              <a:graphicData uri="http://schemas.openxmlformats.org/drawingml/2006/table">
                <a:tbl>
                  <a:tblPr>
                    <a:tableStyleId>{69CF1AB2-1976-4502-BF36-3FF5EA218861}</a:tableStyleId>
                  </a:tblPr>
                  <a:tblGrid>
                    <a:gridCol w="630003">
                      <a:extLst>
                        <a:ext uri="{9D8B030D-6E8A-4147-A177-3AD203B41FA5}">
                          <a16:colId xmlns:a16="http://schemas.microsoft.com/office/drawing/2014/main" val="3908075573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255108306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37435225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40835784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962" t="-1667" r="-300962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962" t="-1667" r="-200962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2913" t="-1667" r="-102913" b="-3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667" r="-1923" b="-3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8423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962" t="-100000" r="-300962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962" t="-100000" r="-200962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2913" t="-100000" r="-102913" b="-2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100000" r="-1923" b="-2114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01426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698075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962" t="-303333" r="-300962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100962" t="-303333" r="-200962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202913" t="-303333" r="-102913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2"/>
                          <a:stretch>
                            <a:fillRect l="-300000" t="-303333" r="-1923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6857307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9" name="표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5229141"/>
                  </p:ext>
                </p:extLst>
              </p:nvPr>
            </p:nvGraphicFramePr>
            <p:xfrm>
              <a:off x="5892464" y="2027473"/>
              <a:ext cx="2520012" cy="1097280"/>
            </p:xfrm>
            <a:graphic>
              <a:graphicData uri="http://schemas.openxmlformats.org/drawingml/2006/table">
                <a:tbl>
                  <a:tblPr>
                    <a:tableStyleId>{16D9F66E-5EB9-4882-86FB-DCBF35E3C3E4}</a:tableStyleId>
                  </a:tblPr>
                  <a:tblGrid>
                    <a:gridCol w="630003">
                      <a:extLst>
                        <a:ext uri="{9D8B030D-6E8A-4147-A177-3AD203B41FA5}">
                          <a16:colId xmlns:a16="http://schemas.microsoft.com/office/drawing/2014/main" val="3908075573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255108306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37435225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4083578416"/>
                        </a:ext>
                      </a:extLst>
                    </a:gridCol>
                  </a:tblGrid>
                  <a:tr h="29014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32842349"/>
                      </a:ext>
                    </a:extLst>
                  </a:tr>
                  <a:tr h="290145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5037653"/>
                      </a:ext>
                    </a:extLst>
                  </a:tr>
                  <a:tr h="290145"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sz="180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0142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9" name="표 1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5229141"/>
                  </p:ext>
                </p:extLst>
              </p:nvPr>
            </p:nvGraphicFramePr>
            <p:xfrm>
              <a:off x="5892464" y="2027473"/>
              <a:ext cx="2520012" cy="1097280"/>
            </p:xfrm>
            <a:graphic>
              <a:graphicData uri="http://schemas.openxmlformats.org/drawingml/2006/table">
                <a:tbl>
                  <a:tblPr>
                    <a:tableStyleId>{16D9F66E-5EB9-4882-86FB-DCBF35E3C3E4}</a:tableStyleId>
                  </a:tblPr>
                  <a:tblGrid>
                    <a:gridCol w="630003">
                      <a:extLst>
                        <a:ext uri="{9D8B030D-6E8A-4147-A177-3AD203B41FA5}">
                          <a16:colId xmlns:a16="http://schemas.microsoft.com/office/drawing/2014/main" val="3908075573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255108306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337435225"/>
                        </a:ext>
                      </a:extLst>
                    </a:gridCol>
                    <a:gridCol w="630003">
                      <a:extLst>
                        <a:ext uri="{9D8B030D-6E8A-4147-A177-3AD203B41FA5}">
                          <a16:colId xmlns:a16="http://schemas.microsoft.com/office/drawing/2014/main" val="4083578416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962" t="-1667" r="-300962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942" t="-1667" r="-203883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1667" r="-101923" b="-2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2913" t="-1667" r="-2913" b="-2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284234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  <a:endParaRPr lang="ko-KR" altLang="en-US" sz="1800">
                            <a:latin typeface="Cascadia Code" panose="020B0609020000020004" pitchFamily="49" charset="0"/>
                            <a:cs typeface="Cascadia Code" panose="020B0609020000020004" pitchFamily="49" charset="0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o-KR" altLang="en-US" sz="1800" smtClean="0">
                              <a:latin typeface="Cascadia Code" panose="020B0609020000020004" pitchFamily="49" charset="0"/>
                              <a:cs typeface="Cascadia Code" panose="020B0609020000020004" pitchFamily="49" charset="0"/>
                            </a:rPr>
                            <a:t>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15037653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962" t="-203333" r="-300962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101942" t="-203333" r="-203883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200000" t="-203333" r="-101923" b="-1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>
                          <a:blip r:embed="rId3"/>
                          <a:stretch>
                            <a:fillRect l="-302913" t="-203333" r="-2913" b="-15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01426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왼쪽 중괄호 3"/>
          <p:cNvSpPr/>
          <p:nvPr/>
        </p:nvSpPr>
        <p:spPr>
          <a:xfrm>
            <a:off x="1708782" y="1852213"/>
            <a:ext cx="283647" cy="146304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Rectangle 1"/>
          <p:cNvSpPr>
            <a:spLocks noChangeArrowheads="1"/>
          </p:cNvSpPr>
          <p:nvPr/>
        </p:nvSpPr>
        <p:spPr bwMode="auto">
          <a:xfrm>
            <a:off x="1296027" y="2452928"/>
            <a:ext cx="2998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</a:t>
            </a:r>
            <a:endParaRPr kumimoji="0" lang="ko-KR" altLang="ko-KR" sz="1100" b="0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2" name="왼쪽 중괄호 21"/>
          <p:cNvSpPr/>
          <p:nvPr/>
        </p:nvSpPr>
        <p:spPr>
          <a:xfrm rot="10800000" flipH="1">
            <a:off x="5515276" y="2027473"/>
            <a:ext cx="377187" cy="1097280"/>
          </a:xfrm>
          <a:prstGeom prst="leftBrace">
            <a:avLst>
              <a:gd name="adj1" fmla="val 4282"/>
              <a:gd name="adj2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Rectangle 1"/>
          <p:cNvSpPr>
            <a:spLocks noChangeArrowheads="1"/>
          </p:cNvSpPr>
          <p:nvPr/>
        </p:nvSpPr>
        <p:spPr bwMode="auto">
          <a:xfrm>
            <a:off x="5131300" y="2427713"/>
            <a:ext cx="299838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</a:t>
            </a:r>
            <a:endParaRPr kumimoji="0" lang="ko-KR" altLang="ko-KR" sz="1100" b="0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cxnSp>
        <p:nvCxnSpPr>
          <p:cNvPr id="25" name="구부러진 연결선 24"/>
          <p:cNvCxnSpPr>
            <a:endCxn id="3" idx="0"/>
          </p:cNvCxnSpPr>
          <p:nvPr/>
        </p:nvCxnSpPr>
        <p:spPr>
          <a:xfrm rot="5400000">
            <a:off x="3125681" y="1589796"/>
            <a:ext cx="389171" cy="135662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구부러진 연결선 26"/>
          <p:cNvCxnSpPr>
            <a:endCxn id="19" idx="0"/>
          </p:cNvCxnSpPr>
          <p:nvPr/>
        </p:nvCxnSpPr>
        <p:spPr>
          <a:xfrm>
            <a:off x="2714324" y="1463041"/>
            <a:ext cx="4438146" cy="564432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1"/>
          <p:cNvSpPr>
            <a:spLocks noChangeArrowheads="1"/>
          </p:cNvSpPr>
          <p:nvPr/>
        </p:nvSpPr>
        <p:spPr bwMode="auto">
          <a:xfrm>
            <a:off x="2714324" y="3350094"/>
            <a:ext cx="100559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detections</a:t>
            </a:r>
            <a:endParaRPr kumimoji="0" lang="ko-KR" altLang="ko-KR" sz="1100" b="0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5" name="Rectangle 1"/>
          <p:cNvSpPr>
            <a:spLocks noChangeArrowheads="1"/>
          </p:cNvSpPr>
          <p:nvPr/>
        </p:nvSpPr>
        <p:spPr bwMode="auto">
          <a:xfrm>
            <a:off x="6649673" y="3219289"/>
            <a:ext cx="1005593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trackers</a:t>
            </a:r>
            <a:endParaRPr kumimoji="0" lang="ko-KR" altLang="ko-KR" sz="1100" b="0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1238592" y="4006179"/>
            <a:ext cx="5696473" cy="66689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050">
                <a:solidFill>
                  <a:srgbClr val="C00000"/>
                </a:solidFill>
                <a:latin typeface="Consolas" panose="020B0609020204030204" pitchFamily="49" charset="0"/>
              </a:rPr>
              <a:t>return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 ((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z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reshape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((-1, 1,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n_dims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)) -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x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reshape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((1, -1,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n_dims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))) ** 2 *</a:t>
            </a:r>
          </a:p>
          <a:p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               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sigma_inv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reshape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((1, -1,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n_dims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))).</a:t>
            </a:r>
            <a:r>
              <a:rPr lang="en-US" altLang="ko-KR" sz="105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sum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axis</a:t>
            </a:r>
            <a:r>
              <a:rPr lang="en-US" altLang="ko-KR" sz="1050">
                <a:solidFill>
                  <a:schemeClr val="tx1"/>
                </a:solidFill>
                <a:latin typeface="Consolas" panose="020B0609020204030204" pitchFamily="49" charset="0"/>
              </a:rPr>
              <a:t>=2)</a:t>
            </a:r>
            <a:endParaRPr lang="en-US" altLang="ko-KR" sz="105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0" name="Rectangle 1"/>
          <p:cNvSpPr>
            <a:spLocks noChangeArrowheads="1"/>
          </p:cNvSpPr>
          <p:nvPr/>
        </p:nvSpPr>
        <p:spPr bwMode="auto">
          <a:xfrm>
            <a:off x="2292510" y="4955366"/>
            <a:ext cx="4439862" cy="938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z shape (N, n_dims) x shape (M, n_dims) 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가 </a:t>
            </a: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reshape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하여</a:t>
            </a:r>
            <a:r>
              <a:rPr lang="en-US" altLang="ko-KR" sz="11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각각</a:t>
            </a:r>
            <a:endParaRPr lang="en-US" altLang="ko-KR" sz="1100" smtClean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z shape (M, 1, n_dims) x shape (1, N, n_dims) 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가 되어 행렬은</a:t>
            </a: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/>
            </a:r>
            <a:b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(M, N. n_dims) 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 크기가 생긴다</a:t>
            </a: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b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/>
            </a:r>
            <a:b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☞ 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여기서는 칼만필터의 </a:t>
            </a: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covariance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사용한다</a:t>
            </a: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086829" y="3434286"/>
                <a:ext cx="2100896" cy="5041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ko-KR" sz="12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i="1">
                                  <a:latin typeface="Cambria Math" panose="02040503050406030204" pitchFamily="18" charset="0"/>
                                </a:rPr>
                                <m:t>])</m:t>
                              </m:r>
                            </m:e>
                            <m:sup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sz="1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f>
                            <m:fPr>
                              <m:ctrlPr>
                                <a:rPr lang="en-US" altLang="ko-KR" sz="12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ko-KR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2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ko-KR" sz="1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ko-KR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]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20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829" y="3434286"/>
                <a:ext cx="2100896" cy="504112"/>
              </a:xfrm>
              <a:prstGeom prst="rect">
                <a:avLst/>
              </a:prstGeom>
              <a:blipFill>
                <a:blip r:embed="rId4"/>
                <a:stretch>
                  <a:fillRect l="-7246" t="-121687" r="-2029" b="-1843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구부러진 연결선 41"/>
          <p:cNvCxnSpPr/>
          <p:nvPr/>
        </p:nvCxnSpPr>
        <p:spPr>
          <a:xfrm>
            <a:off x="3599596" y="3543934"/>
            <a:ext cx="1279757" cy="233564"/>
          </a:xfrm>
          <a:prstGeom prst="curvedConnector3">
            <a:avLst>
              <a:gd name="adj1" fmla="val 50000"/>
            </a:avLst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구부러진 연결선 42"/>
          <p:cNvCxnSpPr>
            <a:stCxn id="35" idx="2"/>
          </p:cNvCxnSpPr>
          <p:nvPr/>
        </p:nvCxnSpPr>
        <p:spPr>
          <a:xfrm rot="5400000">
            <a:off x="6220581" y="2845608"/>
            <a:ext cx="296599" cy="1567180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7099284" y="3819423"/>
                <a:ext cx="3334683" cy="3168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𝑚𝑒𝑎𝑛</m:t>
                      </m:r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,0, 0,0,0</m:t>
                          </m:r>
                        </m:e>
                      </m:d>
                    </m:oMath>
                  </m:oMathPara>
                </a14:m>
                <a:endParaRPr lang="en-US" altLang="ko-KR" sz="1100" b="0" smtClean="0"/>
              </a:p>
              <a:p>
                <a:endParaRPr lang="en-US" altLang="ko-KR" sz="1100" b="0" smtClean="0"/>
              </a:p>
              <a:p>
                <a:r>
                  <a:rPr lang="en-US" altLang="ko-KR" sz="1100" smtClean="0"/>
                  <a:t> </a:t>
                </a:r>
                <a14:m>
                  <m:oMath xmlns:m="http://schemas.openxmlformats.org/officeDocument/2006/math"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𝑐𝑜𝑣</m:t>
                    </m:r>
                    <m:r>
                      <a:rPr lang="en-US" altLang="ko-KR" sz="11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ko-KR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8"/>
                                  <m:mcJc m:val="center"/>
                                </m:mcPr>
                              </m:mc>
                            </m:mcs>
                            <m:ctrlPr>
                              <a:rPr lang="en-US" altLang="ko-KR" sz="11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</m:e>
                              </m:rad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</m:e>
                              </m:rad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altLang="ko-KR" sz="11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20</m:t>
                                      </m:r>
                                    </m:den>
                                  </m:f>
                                </m:e>
                              </m:rad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160</m:t>
                                      </m:r>
                                    </m:den>
                                  </m:f>
                                </m:e>
                              </m:rad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160</m:t>
                                      </m:r>
                                    </m:den>
                                  </m:f>
                                </m:e>
                              </m:rad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−5</m:t>
                                      </m:r>
                                    </m:sup>
                                  </m:sSup>
                                </m:e>
                              </m:rad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ko-KR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ad>
                                <m:radPr>
                                  <m:degHide m:val="on"/>
                                  <m:ctrlPr>
                                    <a:rPr lang="en-US" altLang="ko-KR" sz="110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f>
                                    <m:fPr>
                                      <m:ctrlP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10</m:t>
                                      </m:r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num>
                                    <m:den>
                                      <m:r>
                                        <a:rPr lang="en-US" altLang="ko-KR" sz="1100" i="1">
                                          <a:latin typeface="Cambria Math" panose="02040503050406030204" pitchFamily="18" charset="0"/>
                                        </a:rPr>
                                        <m:t>160</m:t>
                                      </m:r>
                                    </m:den>
                                  </m:f>
                                </m:e>
                              </m:rad>
                            </m:e>
                          </m:mr>
                        </m:m>
                      </m:e>
                    </m:d>
                  </m:oMath>
                </a14:m>
                <a:endParaRPr lang="ko-KR" altLang="en-US" sz="110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9284" y="3819423"/>
                <a:ext cx="3334683" cy="3168111"/>
              </a:xfrm>
              <a:prstGeom prst="rect">
                <a:avLst/>
              </a:prstGeom>
              <a:blipFill>
                <a:blip r:embed="rId5"/>
                <a:stretch>
                  <a:fillRect r="-47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253142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2928781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MhDist_similarity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꺾인 연결선 6"/>
          <p:cNvCxnSpPr>
            <a:stCxn id="9" idx="1"/>
            <a:endCxn id="24" idx="1"/>
          </p:cNvCxnSpPr>
          <p:nvPr/>
        </p:nvCxnSpPr>
        <p:spPr>
          <a:xfrm rot="10800000" flipH="1" flipV="1">
            <a:off x="544481" y="1376050"/>
            <a:ext cx="626190" cy="1017183"/>
          </a:xfrm>
          <a:prstGeom prst="bentConnector3">
            <a:avLst>
              <a:gd name="adj1" fmla="val -3650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44481" y="1196340"/>
            <a:ext cx="8378539" cy="3594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MhDist_similarity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mahalanobis_distance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softmax_temp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float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1.0) -&gt;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200" smtClean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endParaRPr lang="en-US" altLang="ko-KR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50" name="모서리가 둥근 직사각형 49"/>
          <p:cNvSpPr/>
          <p:nvPr/>
        </p:nvSpPr>
        <p:spPr>
          <a:xfrm>
            <a:off x="2719480" y="5220610"/>
            <a:ext cx="1743051" cy="44573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hlinkClick r:id="rId2" action="ppaction://hlinksldjump"/>
              </a:rPr>
              <a:t>return</a:t>
            </a:r>
            <a:endParaRPr lang="en-US" altLang="ko-KR" sz="1600"/>
          </a:p>
        </p:txBody>
      </p:sp>
      <p:sp>
        <p:nvSpPr>
          <p:cNvPr id="24" name="직사각형 23"/>
          <p:cNvSpPr/>
          <p:nvPr/>
        </p:nvSpPr>
        <p:spPr>
          <a:xfrm>
            <a:off x="1170671" y="1809511"/>
            <a:ext cx="4840674" cy="116744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>
                <a:latin typeface="Candara" panose="020E0502030303020204" pitchFamily="34" charset="0"/>
              </a:rPr>
              <a:t>limit = 13.2767  # 99% confidence interval of </a:t>
            </a:r>
            <a:r>
              <a:rPr lang="el-GR" altLang="ko-KR" sz="1400">
                <a:latin typeface="Candara" panose="020E0502030303020204" pitchFamily="34" charset="0"/>
              </a:rPr>
              <a:t>χ²(4</a:t>
            </a:r>
            <a:r>
              <a:rPr lang="el-GR" altLang="ko-KR" sz="1400" smtClean="0">
                <a:latin typeface="Candara" panose="020E0502030303020204" pitchFamily="34" charset="0"/>
              </a:rPr>
              <a:t>)</a:t>
            </a:r>
            <a:endParaRPr lang="en-US" altLang="ko-KR" sz="1400" smtClean="0">
              <a:latin typeface="Candara" panose="020E0502030303020204" pitchFamily="34" charset="0"/>
            </a:endParaRPr>
          </a:p>
          <a:p>
            <a:r>
              <a:rPr lang="en-US" altLang="ko-KR" sz="1400" smtClean="0">
                <a:latin typeface="Candara" panose="020E0502030303020204" pitchFamily="34" charset="0"/>
              </a:rPr>
              <a:t>mahalanobis_distance </a:t>
            </a:r>
            <a:r>
              <a:rPr lang="en-US" altLang="ko-KR" sz="1400">
                <a:latin typeface="Candara" panose="020E0502030303020204" pitchFamily="34" charset="0"/>
              </a:rPr>
              <a:t>= deepcopy(mahalanobis_distance</a:t>
            </a:r>
            <a:r>
              <a:rPr lang="en-US" altLang="ko-KR" sz="1400" smtClean="0">
                <a:latin typeface="Candara" panose="020E0502030303020204" pitchFamily="34" charset="0"/>
              </a:rPr>
              <a:t>)</a:t>
            </a:r>
          </a:p>
          <a:p>
            <a:r>
              <a:rPr lang="en-US" altLang="ko-KR" sz="1400" smtClean="0">
                <a:latin typeface="Candara" panose="020E0502030303020204" pitchFamily="34" charset="0"/>
              </a:rPr>
              <a:t>mask </a:t>
            </a:r>
            <a:r>
              <a:rPr lang="en-US" altLang="ko-KR" sz="1400">
                <a:latin typeface="Candara" panose="020E0502030303020204" pitchFamily="34" charset="0"/>
              </a:rPr>
              <a:t>= mahalanobis_distance &gt; </a:t>
            </a:r>
            <a:r>
              <a:rPr lang="en-US" altLang="ko-KR" sz="1400" smtClean="0">
                <a:latin typeface="Candara" panose="020E0502030303020204" pitchFamily="34" charset="0"/>
              </a:rPr>
              <a:t>limit</a:t>
            </a:r>
          </a:p>
          <a:p>
            <a:r>
              <a:rPr lang="en-US" altLang="ko-KR" sz="1400" smtClean="0">
                <a:latin typeface="Candara" panose="020E0502030303020204" pitchFamily="34" charset="0"/>
              </a:rPr>
              <a:t>mahalanobis_distance[mask</a:t>
            </a:r>
            <a:r>
              <a:rPr lang="en-US" altLang="ko-KR" sz="1400">
                <a:latin typeface="Candara" panose="020E0502030303020204" pitchFamily="34" charset="0"/>
              </a:rPr>
              <a:t>] = limit</a:t>
            </a: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6177964" y="1986663"/>
            <a:ext cx="4513849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1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13.2767은 </a:t>
            </a:r>
            <a:r>
              <a:rPr kumimoji="0" lang="ko-KR" altLang="ko-KR" sz="1100" b="1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카이제곱 분포(χ²)</a:t>
            </a:r>
            <a:r>
              <a:rPr kumimoji="0" lang="ko-KR" altLang="ko-KR" sz="11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의 자유도=4 기준에서 99% 신뢰구간 경계값 </a:t>
            </a:r>
          </a:p>
        </p:txBody>
      </p:sp>
      <p:sp>
        <p:nvSpPr>
          <p:cNvPr id="31" name="Rectangle 1"/>
          <p:cNvSpPr>
            <a:spLocks noChangeArrowheads="1"/>
          </p:cNvSpPr>
          <p:nvPr/>
        </p:nvSpPr>
        <p:spPr bwMode="auto">
          <a:xfrm>
            <a:off x="6177965" y="2262428"/>
            <a:ext cx="3446096" cy="2616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1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mask</a:t>
            </a:r>
            <a:r>
              <a:rPr kumimoji="0" lang="ko-KR" altLang="en-US" sz="11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</a:t>
            </a:r>
            <a:r>
              <a:rPr kumimoji="0" lang="en-US" altLang="ko-KR" sz="11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False, True</a:t>
            </a:r>
            <a:r>
              <a:rPr kumimoji="0" lang="ko-KR" altLang="en-US" sz="11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 값이다</a:t>
            </a:r>
            <a:r>
              <a:rPr kumimoji="0" lang="en-US" altLang="ko-KR" sz="11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kumimoji="0" lang="ko-KR" altLang="ko-KR" sz="1100" b="0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471243" y="3230706"/>
            <a:ext cx="4239529" cy="60977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>
                <a:latin typeface="Candara" panose="020E0502030303020204" pitchFamily="34" charset="0"/>
              </a:rPr>
              <a:t>mahalanobis_distance = limit - mahalanobis_distance</a:t>
            </a:r>
          </a:p>
        </p:txBody>
      </p:sp>
      <p:cxnSp>
        <p:nvCxnSpPr>
          <p:cNvPr id="33" name="직선 화살표 연결선 32"/>
          <p:cNvCxnSpPr>
            <a:stCxn id="24" idx="2"/>
            <a:endCxn id="32" idx="0"/>
          </p:cNvCxnSpPr>
          <p:nvPr/>
        </p:nvCxnSpPr>
        <p:spPr>
          <a:xfrm>
            <a:off x="3591008" y="2976957"/>
            <a:ext cx="0" cy="2537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1"/>
          <p:cNvSpPr>
            <a:spLocks noChangeArrowheads="1"/>
          </p:cNvSpPr>
          <p:nvPr/>
        </p:nvSpPr>
        <p:spPr bwMode="auto">
          <a:xfrm>
            <a:off x="6177964" y="3320150"/>
            <a:ext cx="3446096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거리 뒤집기</a:t>
            </a:r>
            <a:r>
              <a:rPr lang="en-US" altLang="ko-KR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 softmax</a:t>
            </a:r>
            <a:r>
              <a:rPr lang="ko-KR" altLang="en-US" sz="11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큰 값일 수록 확률이 커지므로 역방향으로 변환</a:t>
            </a:r>
            <a:endParaRPr kumimoji="0" lang="ko-KR" altLang="ko-KR" sz="1100" b="0" i="0" u="none" strike="noStrike" cap="none" normalizeH="0" baseline="0" smtClean="0">
              <a:ln>
                <a:noFill/>
              </a:ln>
              <a:solidFill>
                <a:srgbClr val="C00000"/>
              </a:solidFill>
              <a:effectLst/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직사각형 37"/>
              <p:cNvSpPr/>
              <p:nvPr/>
            </p:nvSpPr>
            <p:spPr>
              <a:xfrm>
                <a:off x="2362491" y="4225658"/>
                <a:ext cx="2457031" cy="609774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sSubSup>
                                <m:sSub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9"/>
                                </m:r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/>
                            <m:e>
                              <m:sSup>
                                <m:sSupPr>
                                  <m:ctrlP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sSubSup>
                                    <m:sSubSupPr>
                                      <m:ctrlP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altLang="ko-KR" sz="1400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bSup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en-US" altLang="ko-KR" sz="140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lang="en-US" altLang="ko-KR" sz="1400">
                  <a:latin typeface="Candara" panose="020E0502030303020204" pitchFamily="34" charset="0"/>
                </a:endParaRPr>
              </a:p>
            </p:txBody>
          </p:sp>
        </mc:Choice>
        <mc:Fallback xmlns="">
          <p:sp>
            <p:nvSpPr>
              <p:cNvPr id="38" name="직사각형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491" y="4225658"/>
                <a:ext cx="2457031" cy="609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직선 화살표 연결선 38"/>
          <p:cNvCxnSpPr>
            <a:stCxn id="32" idx="2"/>
            <a:endCxn id="38" idx="0"/>
          </p:cNvCxnSpPr>
          <p:nvPr/>
        </p:nvCxnSpPr>
        <p:spPr>
          <a:xfrm flipH="1">
            <a:off x="3591007" y="3840480"/>
            <a:ext cx="1" cy="385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210996" y="4225658"/>
                <a:ext cx="2712024" cy="2194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𝑙𝑖𝑚𝑖𝑡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𝑑𝑖𝑠𝑡𝑎𝑛𝑐𝑒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뒤</m:t>
                    </m:r>
                  </m:oMath>
                </a14:m>
                <a:r>
                  <a:rPr lang="ko-KR" altLang="en-US" sz="1400" smtClean="0"/>
                  <a:t>집힌 점수</a:t>
                </a:r>
                <a:r>
                  <a:rPr lang="en-US" altLang="ko-KR" sz="1400" smtClean="0"/>
                  <a:t>)</a:t>
                </a:r>
                <a:endParaRPr lang="ko-KR" altLang="en-US" sz="140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996" y="4225658"/>
                <a:ext cx="2712024" cy="219484"/>
              </a:xfrm>
              <a:prstGeom prst="rect">
                <a:avLst/>
              </a:prstGeom>
              <a:blipFill>
                <a:blip r:embed="rId4"/>
                <a:stretch>
                  <a:fillRect l="-2472" t="-25000" r="-2921" b="-472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6210996" y="4498074"/>
                <a:ext cx="2714654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: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𝑠𝑜𝑓𝑡𝑚𝑎𝑥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𝑡𝑒𝑚𝑝</m:t>
                    </m:r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온</m:t>
                    </m:r>
                  </m:oMath>
                </a14:m>
                <a:r>
                  <a:rPr lang="ko-KR" altLang="en-US" sz="1400" smtClean="0"/>
                  <a:t>도 파라미터</a:t>
                </a:r>
                <a:r>
                  <a:rPr lang="en-US" altLang="ko-KR" sz="1400" smtClean="0"/>
                  <a:t>)</a:t>
                </a:r>
                <a:endParaRPr lang="ko-KR" altLang="en-US" sz="140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0996" y="4498074"/>
                <a:ext cx="2714654" cy="215444"/>
              </a:xfrm>
              <a:prstGeom prst="rect">
                <a:avLst/>
              </a:prstGeom>
              <a:blipFill>
                <a:blip r:embed="rId5"/>
                <a:stretch>
                  <a:fillRect l="-2247" t="-25714" r="-2921" b="-514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직사각형 25"/>
          <p:cNvSpPr/>
          <p:nvPr/>
        </p:nvSpPr>
        <p:spPr>
          <a:xfrm>
            <a:off x="6011345" y="4992124"/>
            <a:ext cx="38033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/>
              <a:t>각 </a:t>
            </a:r>
            <a:r>
              <a:rPr lang="en-US" altLang="ko-KR" sz="1000" b="1"/>
              <a:t>tracker</a:t>
            </a:r>
            <a:r>
              <a:rPr lang="ko-KR" altLang="en-US" sz="1000" b="1"/>
              <a:t>에 대해 </a:t>
            </a:r>
            <a:r>
              <a:rPr lang="en-US" altLang="ko-KR" sz="1000" b="1"/>
              <a:t>detection</a:t>
            </a:r>
            <a:r>
              <a:rPr lang="ko-KR" altLang="en-US" sz="1000" b="1"/>
              <a:t>들의 유사도 확률이 </a:t>
            </a:r>
            <a:r>
              <a:rPr lang="en-US" altLang="ko-KR" sz="1000" b="1"/>
              <a:t>1</a:t>
            </a:r>
            <a:r>
              <a:rPr lang="ko-KR" altLang="en-US" sz="1000" b="1"/>
              <a:t>로 </a:t>
            </a:r>
            <a:r>
              <a:rPr lang="ko-KR" altLang="en-US" sz="1000" b="1" smtClean="0"/>
              <a:t>정규화</a:t>
            </a:r>
            <a:r>
              <a:rPr lang="ko-KR" altLang="en-US" sz="1000"/>
              <a:t> </a:t>
            </a:r>
            <a:r>
              <a:rPr lang="ko-KR" altLang="en-US" sz="1000" smtClean="0"/>
              <a:t>됨</a:t>
            </a:r>
            <a:r>
              <a:rPr lang="en-US" altLang="ko-KR" sz="1000" smtClean="0"/>
              <a:t>.</a:t>
            </a:r>
            <a:r>
              <a:rPr lang="en-US" altLang="ko-KR" sz="1000"/>
              <a:t/>
            </a:r>
            <a:br>
              <a:rPr lang="en-US" altLang="ko-KR" sz="1000"/>
            </a:br>
            <a:r>
              <a:rPr lang="en-US" altLang="ko-KR" sz="1000"/>
              <a:t>(</a:t>
            </a:r>
            <a:r>
              <a:rPr lang="ko-KR" altLang="en-US" sz="1000"/>
              <a:t>각 열의 합 </a:t>
            </a:r>
            <a:r>
              <a:rPr lang="en-US" altLang="ko-KR" sz="1000"/>
              <a:t>= 1)</a:t>
            </a:r>
            <a:endParaRPr lang="ko-KR" altLang="en-US" sz="1000"/>
          </a:p>
        </p:txBody>
      </p:sp>
      <p:cxnSp>
        <p:nvCxnSpPr>
          <p:cNvPr id="46" name="직선 화살표 연결선 45"/>
          <p:cNvCxnSpPr>
            <a:stCxn id="38" idx="2"/>
            <a:endCxn id="50" idx="0"/>
          </p:cNvCxnSpPr>
          <p:nvPr/>
        </p:nvCxnSpPr>
        <p:spPr>
          <a:xfrm flipH="1">
            <a:off x="3591006" y="4835432"/>
            <a:ext cx="1" cy="3851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788751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2713978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shape_similarity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꺾인 연결선 6"/>
          <p:cNvCxnSpPr>
            <a:stCxn id="9" idx="1"/>
            <a:endCxn id="18" idx="0"/>
          </p:cNvCxnSpPr>
          <p:nvPr/>
        </p:nvCxnSpPr>
        <p:spPr>
          <a:xfrm rot="10800000" flipH="1" flipV="1">
            <a:off x="544480" y="1376050"/>
            <a:ext cx="3540399" cy="643813"/>
          </a:xfrm>
          <a:prstGeom prst="bentConnector4">
            <a:avLst>
              <a:gd name="adj1" fmla="val -6457"/>
              <a:gd name="adj2" fmla="val 6395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44481" y="1196340"/>
            <a:ext cx="8378539" cy="3594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shape_similarity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detects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tracks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s_sim_corr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bool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) -&gt; 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endParaRPr lang="en-US" altLang="ko-KR" sz="12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8" name="순서도: 판단 17"/>
          <p:cNvSpPr/>
          <p:nvPr/>
        </p:nvSpPr>
        <p:spPr>
          <a:xfrm>
            <a:off x="2913514" y="2019864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s_sim_corr 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360743" y="2019863"/>
            <a:ext cx="1837107" cy="5242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>
                <a:latin typeface="Candara" panose="020E0502030303020204" pitchFamily="34" charset="0"/>
              </a:rPr>
              <a:t>shape_similarity_v1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3166325" y="2989760"/>
            <a:ext cx="1837107" cy="5242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smtClean="0">
                <a:latin typeface="Candara" panose="020E0502030303020204" pitchFamily="34" charset="0"/>
              </a:rPr>
              <a:t>shape_similarity_v2</a:t>
            </a:r>
            <a:endParaRPr lang="en-US" altLang="ko-KR" sz="1400">
              <a:latin typeface="Candara" panose="020E0502030303020204" pitchFamily="34" charset="0"/>
            </a:endParaRPr>
          </a:p>
        </p:txBody>
      </p:sp>
      <p:cxnSp>
        <p:nvCxnSpPr>
          <p:cNvPr id="23" name="직선 화살표 연결선 22"/>
          <p:cNvCxnSpPr>
            <a:stCxn id="18" idx="3"/>
            <a:endCxn id="21" idx="1"/>
          </p:cNvCxnSpPr>
          <p:nvPr/>
        </p:nvCxnSpPr>
        <p:spPr>
          <a:xfrm flipV="1">
            <a:off x="5256246" y="2282004"/>
            <a:ext cx="110449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8" idx="2"/>
            <a:endCxn id="22" idx="0"/>
          </p:cNvCxnSpPr>
          <p:nvPr/>
        </p:nvCxnSpPr>
        <p:spPr>
          <a:xfrm flipH="1">
            <a:off x="4084879" y="2544145"/>
            <a:ext cx="1" cy="4456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298450" y="3817140"/>
            <a:ext cx="360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exp(−x) 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함수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: x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가 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0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이면 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1, 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커질수록 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0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가까워짐</a:t>
            </a:r>
            <a:b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→ 즉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차이가 작을수록 유사도 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1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가깝고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</a:t>
            </a:r>
            <a:b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차이가 클수록 유사도 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0</a:t>
            </a:r>
            <a:r>
              <a:rPr lang="ko-KR" altLang="en-US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에 수렴합니다</a:t>
            </a:r>
            <a:r>
              <a:rPr lang="en-US" altLang="ko-KR" sz="12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  <a:endParaRPr lang="ko-KR" altLang="en-US" sz="12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14" name="Rectangle 1"/>
          <p:cNvSpPr>
            <a:spLocks noChangeArrowheads="1"/>
          </p:cNvSpPr>
          <p:nvPr/>
        </p:nvSpPr>
        <p:spPr bwMode="auto">
          <a:xfrm>
            <a:off x="2101850" y="6290424"/>
            <a:ext cx="5509842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shape_similarity()는 detection과 tracker의 </a:t>
            </a:r>
            <a:r>
              <a:rPr kumimoji="0" lang="ko-KR" altLang="ko-KR" sz="1200" b="1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폭(width)·높이(height)</a:t>
            </a: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차이를 비교해</a:t>
            </a:r>
            <a:b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상대적으로 얼마나 비슷한지를 </a:t>
            </a:r>
            <a:r>
              <a:rPr kumimoji="0" lang="ko-KR" altLang="ko-KR" sz="1200" b="1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0~1 사이 유사도 값으로 계산하는 함수</a:t>
            </a: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이다.</a:t>
            </a:r>
            <a:b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kumimoji="0" lang="ko-KR" altLang="ko-KR" sz="12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shape_similarity_v2()가 정상 계산이며, s_sim_corr=True로 설정 시 이를 사용한다.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2390519" y="5058387"/>
                <a:ext cx="4932504" cy="71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⁡(−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0519" y="5058387"/>
                <a:ext cx="4932504" cy="716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직사각형 33"/>
          <p:cNvSpPr/>
          <p:nvPr/>
        </p:nvSpPr>
        <p:spPr>
          <a:xfrm>
            <a:off x="2390519" y="4781388"/>
            <a:ext cx="16682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chemeClr val="accent5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shape_similarity_v2</a:t>
            </a:r>
            <a:endParaRPr lang="ko-KR" altLang="en-US" sz="1200">
              <a:solidFill>
                <a:schemeClr val="accent5">
                  <a:lumMod val="50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5635369" y="2993544"/>
                <a:ext cx="4932504" cy="71699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⁡(−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en-US" altLang="ko-KR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369" y="2993544"/>
                <a:ext cx="4932504" cy="71699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직사각형 35"/>
          <p:cNvSpPr/>
          <p:nvPr/>
        </p:nvSpPr>
        <p:spPr>
          <a:xfrm>
            <a:off x="5635369" y="2716545"/>
            <a:ext cx="16682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chemeClr val="accent5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shape_similarity_v1</a:t>
            </a:r>
            <a:endParaRPr lang="ko-KR" altLang="en-US" sz="1200">
              <a:solidFill>
                <a:schemeClr val="accent5">
                  <a:lumMod val="50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4820692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4435347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BoostTrack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::get_iou_matrix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822544" y="1899115"/>
            <a:ext cx="3737275" cy="125122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altLang="ko-KR" sz="1400"/>
              <a:t>trackers = [</a:t>
            </a:r>
          </a:p>
          <a:p>
            <a:pPr algn="ctr"/>
            <a:r>
              <a:rPr lang="es-ES" altLang="ko-KR" sz="1400"/>
              <a:t>    [x1, y1, x2, y2, confidence],</a:t>
            </a:r>
          </a:p>
          <a:p>
            <a:pPr algn="ctr"/>
            <a:r>
              <a:rPr lang="es-ES" altLang="ko-KR" sz="1400"/>
              <a:t>    [x1, y1, x2, y2, confidence],</a:t>
            </a:r>
          </a:p>
          <a:p>
            <a:pPr algn="ctr"/>
            <a:r>
              <a:rPr lang="es-ES" altLang="ko-KR" sz="1400"/>
              <a:t>    ...</a:t>
            </a:r>
          </a:p>
          <a:p>
            <a:r>
              <a:rPr lang="es-ES" altLang="ko-KR" sz="1400"/>
              <a:t>]</a:t>
            </a:r>
            <a:endParaRPr lang="en-US" altLang="ko-KR" sz="1400"/>
          </a:p>
        </p:txBody>
      </p:sp>
      <p:cxnSp>
        <p:nvCxnSpPr>
          <p:cNvPr id="7" name="꺾인 연결선 6"/>
          <p:cNvCxnSpPr>
            <a:stCxn id="9" idx="1"/>
            <a:endCxn id="4" idx="1"/>
          </p:cNvCxnSpPr>
          <p:nvPr/>
        </p:nvCxnSpPr>
        <p:spPr>
          <a:xfrm rot="10800000" flipH="1" flipV="1">
            <a:off x="583592" y="1438603"/>
            <a:ext cx="1238951" cy="1086126"/>
          </a:xfrm>
          <a:prstGeom prst="bentConnector3">
            <a:avLst>
              <a:gd name="adj1" fmla="val -1845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83593" y="1184283"/>
            <a:ext cx="9328755" cy="5086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 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get_iou_matrix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buffered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bool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False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) -&gt;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endParaRPr lang="en-US" altLang="ko-KR" sz="14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4" name="직선 화살표 연결선 13"/>
          <p:cNvCxnSpPr>
            <a:stCxn id="4" idx="2"/>
            <a:endCxn id="25" idx="0"/>
          </p:cNvCxnSpPr>
          <p:nvPr/>
        </p:nvCxnSpPr>
        <p:spPr>
          <a:xfrm flipH="1">
            <a:off x="3691180" y="3150342"/>
            <a:ext cx="2" cy="272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구부러진 연결선 21"/>
          <p:cNvCxnSpPr>
            <a:stCxn id="23" idx="2"/>
            <a:endCxn id="4" idx="3"/>
          </p:cNvCxnSpPr>
          <p:nvPr/>
        </p:nvCxnSpPr>
        <p:spPr>
          <a:xfrm rot="5400000">
            <a:off x="6662058" y="846162"/>
            <a:ext cx="576329" cy="2780805"/>
          </a:xfrm>
          <a:prstGeom prst="curvedConnector2">
            <a:avLst/>
          </a:prstGeom>
          <a:ln>
            <a:solidFill>
              <a:srgbClr val="FF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6427279" y="1702179"/>
            <a:ext cx="382668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추적 </a:t>
            </a:r>
            <a:r>
              <a:rPr lang="en-US" altLang="ko-KR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tracker</a:t>
            </a:r>
            <a:r>
              <a:rPr lang="ko-KR" altLang="en-US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로 부터 </a:t>
            </a:r>
            <a:r>
              <a:rPr lang="en-US" altLang="ko-KR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[x1, y1,x2,y2, confidence] </a:t>
            </a:r>
            <a:r>
              <a:rPr lang="ko-KR" altLang="en-US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데이이터만 추출한다</a:t>
            </a:r>
            <a:r>
              <a:rPr lang="en-US" altLang="ko-KR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</p:txBody>
      </p:sp>
      <p:sp>
        <p:nvSpPr>
          <p:cNvPr id="25" name="순서도: 판단 24"/>
          <p:cNvSpPr/>
          <p:nvPr/>
        </p:nvSpPr>
        <p:spPr>
          <a:xfrm>
            <a:off x="2519814" y="3423214"/>
            <a:ext cx="2342732" cy="524281"/>
          </a:xfrm>
          <a:prstGeom prst="flowChartDecision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buffered ?</a:t>
            </a:r>
            <a:endParaRPr lang="en-US" altLang="ko-KR" sz="160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439680" y="3415998"/>
            <a:ext cx="3650925" cy="5381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  <a:hlinkClick r:id="rId2" action="ppaction://hlinksldjump"/>
              </a:rPr>
              <a:t>self.iou_batch(detections, trackers)</a:t>
            </a:r>
            <a:endParaRPr lang="en-US" altLang="ko-KR" sz="1600"/>
          </a:p>
        </p:txBody>
      </p:sp>
      <p:cxnSp>
        <p:nvCxnSpPr>
          <p:cNvPr id="30" name="직선 화살표 연결선 29"/>
          <p:cNvCxnSpPr>
            <a:stCxn id="25" idx="3"/>
            <a:endCxn id="29" idx="1"/>
          </p:cNvCxnSpPr>
          <p:nvPr/>
        </p:nvCxnSpPr>
        <p:spPr>
          <a:xfrm flipV="1">
            <a:off x="4862546" y="3685084"/>
            <a:ext cx="577134" cy="2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/>
          <p:cNvSpPr/>
          <p:nvPr/>
        </p:nvSpPr>
        <p:spPr>
          <a:xfrm>
            <a:off x="1865718" y="4220368"/>
            <a:ext cx="3650925" cy="53817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soft_biou_batch(detections, trackers)</a:t>
            </a:r>
            <a:endParaRPr lang="en-US" altLang="ko-KR" sz="1600"/>
          </a:p>
        </p:txBody>
      </p:sp>
      <p:cxnSp>
        <p:nvCxnSpPr>
          <p:cNvPr id="36" name="직선 화살표 연결선 35"/>
          <p:cNvCxnSpPr>
            <a:stCxn id="25" idx="2"/>
            <a:endCxn id="35" idx="0"/>
          </p:cNvCxnSpPr>
          <p:nvPr/>
        </p:nvCxnSpPr>
        <p:spPr>
          <a:xfrm>
            <a:off x="3691180" y="3947495"/>
            <a:ext cx="1" cy="272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구부러진 연결선 42"/>
          <p:cNvCxnSpPr/>
          <p:nvPr/>
        </p:nvCxnSpPr>
        <p:spPr>
          <a:xfrm>
            <a:off x="2491537" y="2183279"/>
            <a:ext cx="5874544" cy="1434274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구부러진 연결선 46"/>
          <p:cNvCxnSpPr/>
          <p:nvPr/>
        </p:nvCxnSpPr>
        <p:spPr>
          <a:xfrm>
            <a:off x="2489751" y="2183279"/>
            <a:ext cx="2470694" cy="2247445"/>
          </a:xfrm>
          <a:prstGeom prst="curvedConnector3">
            <a:avLst>
              <a:gd name="adj1" fmla="val 50000"/>
            </a:avLst>
          </a:prstGeom>
          <a:ln>
            <a:solidFill>
              <a:schemeClr val="accent6">
                <a:lumMod val="75000"/>
              </a:schemeClr>
            </a:solidFill>
            <a:prstDash val="dash"/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모서리가 둥근 직사각형 49"/>
          <p:cNvSpPr/>
          <p:nvPr/>
        </p:nvSpPr>
        <p:spPr>
          <a:xfrm>
            <a:off x="2819654" y="5514104"/>
            <a:ext cx="1743051" cy="44573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hlinkClick r:id="rId3" action="ppaction://hlinksldjump"/>
              </a:rPr>
              <a:t>return</a:t>
            </a:r>
            <a:endParaRPr lang="en-US" altLang="ko-KR" sz="1600"/>
          </a:p>
        </p:txBody>
      </p:sp>
      <p:cxnSp>
        <p:nvCxnSpPr>
          <p:cNvPr id="51" name="직선 화살표 연결선 50"/>
          <p:cNvCxnSpPr>
            <a:stCxn id="35" idx="2"/>
            <a:endCxn id="50" idx="0"/>
          </p:cNvCxnSpPr>
          <p:nvPr/>
        </p:nvCxnSpPr>
        <p:spPr>
          <a:xfrm flipH="1">
            <a:off x="3691180" y="4758539"/>
            <a:ext cx="1" cy="7555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구부러진 연결선 54"/>
          <p:cNvCxnSpPr>
            <a:stCxn id="29" idx="2"/>
            <a:endCxn id="50" idx="3"/>
          </p:cNvCxnSpPr>
          <p:nvPr/>
        </p:nvCxnSpPr>
        <p:spPr>
          <a:xfrm rot="5400000">
            <a:off x="5022524" y="3494350"/>
            <a:ext cx="1782800" cy="270243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표 56"/>
          <p:cNvGraphicFramePr>
            <a:graphicFrameLocks noGrp="1"/>
          </p:cNvGraphicFramePr>
          <p:nvPr/>
        </p:nvGraphicFramePr>
        <p:xfrm>
          <a:off x="735013" y="4227989"/>
          <a:ext cx="9221787" cy="365760"/>
        </p:xfrm>
        <a:graphic>
          <a:graphicData uri="http://schemas.openxmlformats.org/drawingml/2006/table">
            <a:tbl>
              <a:tblPr/>
              <a:tblGrid>
                <a:gridCol w="9221787">
                  <a:extLst>
                    <a:ext uri="{9D8B030D-6E8A-4147-A177-3AD203B41FA5}">
                      <a16:colId xmlns:a16="http://schemas.microsoft.com/office/drawing/2014/main" val="327070154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7842707"/>
                  </a:ext>
                </a:extLst>
              </a:tr>
            </a:tbl>
          </a:graphicData>
        </a:graphic>
      </p:graphicFrame>
      <p:graphicFrame>
        <p:nvGraphicFramePr>
          <p:cNvPr id="59" name="표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21706"/>
              </p:ext>
            </p:extLst>
          </p:nvPr>
        </p:nvGraphicFramePr>
        <p:xfrm>
          <a:off x="6090619" y="4156404"/>
          <a:ext cx="3821729" cy="274320"/>
        </p:xfrm>
        <a:graphic>
          <a:graphicData uri="http://schemas.openxmlformats.org/drawingml/2006/table">
            <a:tbl>
              <a:tblPr/>
              <a:tblGrid>
                <a:gridCol w="3821729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sz="120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모든 </a:t>
                      </a:r>
                      <a:r>
                        <a:rPr lang="en-US" sz="120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detection–tracker </a:t>
                      </a:r>
                      <a:r>
                        <a:rPr lang="ko-KR" altLang="en-US" sz="120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쌍의 </a:t>
                      </a:r>
                      <a:r>
                        <a:rPr lang="en-US" sz="120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IoU </a:t>
                      </a:r>
                      <a:r>
                        <a:rPr lang="ko-KR" altLang="en-US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행렬 반환값 </a:t>
                      </a:r>
                      <a:r>
                        <a:rPr lang="en-US" altLang="ko-KR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(NxM)</a:t>
                      </a:r>
                      <a:endParaRPr lang="ko-KR" altLang="en-US" sz="120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graphicFrame>
        <p:nvGraphicFramePr>
          <p:cNvPr id="21" name="표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01137"/>
              </p:ext>
            </p:extLst>
          </p:nvPr>
        </p:nvGraphicFramePr>
        <p:xfrm>
          <a:off x="184448" y="4795595"/>
          <a:ext cx="5270412" cy="457200"/>
        </p:xfrm>
        <a:graphic>
          <a:graphicData uri="http://schemas.openxmlformats.org/drawingml/2006/table">
            <a:tbl>
              <a:tblPr/>
              <a:tblGrid>
                <a:gridCol w="5270412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IoU</a:t>
                      </a:r>
                      <a:r>
                        <a:rPr lang="ko-KR" altLang="en-US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값을 그냥 계산하는 것이 아니라</a:t>
                      </a:r>
                      <a:r>
                        <a:rPr lang="en-US" altLang="ko-KR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, </a:t>
                      </a:r>
                      <a:r>
                        <a:rPr lang="ko-KR" altLang="en-US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신뢰도가 낮으면 박스의 크기를 확대하여 </a:t>
                      </a:r>
                      <a:r>
                        <a:rPr lang="en-US" altLang="ko-KR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Buffered</a:t>
                      </a:r>
                      <a:r>
                        <a:rPr lang="en-US" altLang="ko-KR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IOU</a:t>
                      </a:r>
                      <a:r>
                        <a:rPr lang="ko-KR" altLang="en-US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계산한</a:t>
                      </a:r>
                      <a:r>
                        <a:rPr lang="en-US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</a:t>
                      </a:r>
                      <a:r>
                        <a:rPr lang="ko-KR" altLang="en-US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행렬 반환값 </a:t>
                      </a:r>
                      <a:r>
                        <a:rPr lang="en-US" altLang="ko-KR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(NxM)</a:t>
                      </a:r>
                      <a:r>
                        <a:rPr lang="ko-KR" altLang="en-US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을 리턴</a:t>
                      </a:r>
                      <a:endParaRPr lang="ko-KR" altLang="en-US" sz="120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923924" y="3415549"/>
            <a:ext cx="40107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mtClean="0"/>
              <a:t>NO</a:t>
            </a:r>
            <a:endParaRPr lang="ko-KR" altLang="en-US" sz="1100"/>
          </a:p>
        </p:txBody>
      </p:sp>
      <p:sp>
        <p:nvSpPr>
          <p:cNvPr id="24" name="TextBox 23"/>
          <p:cNvSpPr txBox="1"/>
          <p:nvPr/>
        </p:nvSpPr>
        <p:spPr>
          <a:xfrm>
            <a:off x="3263921" y="3922966"/>
            <a:ext cx="41549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smtClean="0"/>
              <a:t>YES</a:t>
            </a:r>
            <a:endParaRPr lang="ko-KR" altLang="en-US" sz="110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7192" y="4423932"/>
            <a:ext cx="2570576" cy="3083611"/>
          </a:xfrm>
          <a:prstGeom prst="rect">
            <a:avLst/>
          </a:prstGeom>
        </p:spPr>
      </p:pic>
      <p:graphicFrame>
        <p:nvGraphicFramePr>
          <p:cNvPr id="26" name="표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522115"/>
              </p:ext>
            </p:extLst>
          </p:nvPr>
        </p:nvGraphicFramePr>
        <p:xfrm>
          <a:off x="365723" y="6212123"/>
          <a:ext cx="5270412" cy="457200"/>
        </p:xfrm>
        <a:graphic>
          <a:graphicData uri="http://schemas.openxmlformats.org/drawingml/2006/table">
            <a:tbl>
              <a:tblPr/>
              <a:tblGrid>
                <a:gridCol w="5270412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sz="120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*Detection</a:t>
                      </a:r>
                      <a:r>
                        <a:rPr lang="en-US" altLang="ko-KR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 box</a:t>
                      </a:r>
                      <a:r>
                        <a:rPr lang="ko-KR" altLang="en-US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는 최대 </a:t>
                      </a:r>
                      <a:r>
                        <a:rPr lang="en-US" altLang="ko-KR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50% tracker box</a:t>
                      </a:r>
                      <a:r>
                        <a:rPr lang="ko-KR" altLang="en-US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는 최대 </a:t>
                      </a:r>
                      <a:r>
                        <a:rPr lang="en-US" altLang="ko-KR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100%</a:t>
                      </a:r>
                      <a:r>
                        <a:rPr lang="ko-KR" altLang="en-US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확대하여 양 </a:t>
                      </a:r>
                      <a:r>
                        <a:rPr lang="en-US" altLang="ko-KR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box </a:t>
                      </a:r>
                      <a:r>
                        <a:rPr lang="ko-KR" altLang="en-US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중 작은 쪽을 선택하여 </a:t>
                      </a:r>
                      <a:r>
                        <a:rPr lang="en-US" altLang="ko-KR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iou</a:t>
                      </a:r>
                      <a:r>
                        <a:rPr lang="ko-KR" altLang="en-US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구한다</a:t>
                      </a:r>
                      <a:r>
                        <a:rPr lang="en-US" altLang="ko-KR" sz="1200" baseline="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.</a:t>
                      </a:r>
                      <a:endParaRPr lang="ko-KR" altLang="en-US" sz="120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5374726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1715052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iou_batch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꺾인 연결선 6"/>
          <p:cNvCxnSpPr>
            <a:stCxn id="9" idx="1"/>
            <a:endCxn id="16" idx="0"/>
          </p:cNvCxnSpPr>
          <p:nvPr/>
        </p:nvCxnSpPr>
        <p:spPr>
          <a:xfrm rot="10800000" flipH="1" flipV="1">
            <a:off x="544480" y="1376050"/>
            <a:ext cx="3788551" cy="488381"/>
          </a:xfrm>
          <a:prstGeom prst="bentConnector4">
            <a:avLst>
              <a:gd name="adj1" fmla="val -6034"/>
              <a:gd name="adj2" fmla="val 683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44481" y="1196340"/>
            <a:ext cx="2926375" cy="35942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 smtClean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iou_batch</a:t>
            </a:r>
            <a:r>
              <a:rPr lang="en-US" altLang="ko-KR" sz="1200" smtClean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 smtClean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bboxes1, bboxes2</a:t>
            </a:r>
            <a:r>
              <a:rPr lang="en-US" altLang="ko-KR" sz="12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ko-KR" sz="12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606553" y="1864432"/>
            <a:ext cx="3452958" cy="5242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bboxes2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expand_dims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bboxes2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bboxes1</a:t>
            </a:r>
            <a:r>
              <a:rPr lang="en-US" altLang="ko-KR" sz="1200" smtClean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expand_dims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bboxes1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2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ko-KR" sz="12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033108" y="1248475"/>
            <a:ext cx="359262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차원을 늘림</a:t>
            </a:r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.</a:t>
            </a:r>
          </a:p>
          <a:p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bboxes1 (N,4) </a:t>
            </a:r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 (N,1,4)</a:t>
            </a:r>
          </a:p>
          <a:p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bboxes2 (M,4) (1,M,4)</a:t>
            </a:r>
          </a:p>
          <a:p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maximum, minimum </a:t>
            </a:r>
            <a:r>
              <a:rPr lang="ko-KR" altLang="en-US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계산시 내부적 복제 확장 계산</a:t>
            </a:r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/>
            </a:r>
            <a:b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</a:br>
            <a:r>
              <a:rPr lang="en-US" altLang="ko-KR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bboxes1[…,0]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en-US" altLang="ko-KR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N,1)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 (</a:t>
            </a:r>
            <a:r>
              <a:rPr lang="en-US" altLang="ko-KR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N,M)</a:t>
            </a:r>
            <a:endParaRPr lang="en-US" altLang="ko-KR" sz="1200">
              <a:solidFill>
                <a:schemeClr val="accent6">
                  <a:lumMod val="50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sym typeface="Wingdings" panose="05000000000000000000" pitchFamily="2" charset="2"/>
            </a:endParaRPr>
          </a:p>
          <a:p>
            <a:r>
              <a:rPr lang="en-US" altLang="ko-KR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bboxes2[…,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0] </a:t>
            </a:r>
            <a:r>
              <a:rPr lang="en-US" altLang="ko-KR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(1,M) </a:t>
            </a:r>
            <a:r>
              <a:rPr lang="en-US" altLang="ko-KR" sz="120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 (N,M</a:t>
            </a:r>
            <a:r>
              <a:rPr lang="en-US" altLang="ko-KR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)</a:t>
            </a:r>
          </a:p>
          <a:p>
            <a:r>
              <a:rPr lang="ko-KR" altLang="en-US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으로 바뀌어 차원을 같게 맞추어 줌</a:t>
            </a:r>
            <a:r>
              <a:rPr lang="en-US" altLang="ko-KR" sz="1200" smtClean="0">
                <a:solidFill>
                  <a:schemeClr val="accent6">
                    <a:lumMod val="50000"/>
                  </a:schemeClr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  <a:sym typeface="Wingdings" panose="05000000000000000000" pitchFamily="2" charset="2"/>
              </a:rPr>
              <a:t>.</a:t>
            </a:r>
            <a:endParaRPr lang="en-US" altLang="ko-KR" sz="1200">
              <a:solidFill>
                <a:schemeClr val="accent6">
                  <a:lumMod val="50000"/>
                </a:schemeClr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  <a:sym typeface="Wingdings" panose="05000000000000000000" pitchFamily="2" charset="2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568470" y="2844127"/>
            <a:ext cx="7529121" cy="117408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xx1 = </a:t>
            </a:r>
            <a:r>
              <a:rPr lang="en-US" altLang="ko-KR" sz="1200" smtClean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.maximum(bboxes1[..., 0], bboxes2[..., 0])  # x </a:t>
            </a:r>
            <a:r>
              <a:rPr lang="ko-KR" altLang="en-US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좌표의 왼쪽 경계</a:t>
            </a:r>
            <a:endParaRPr lang="en-US" altLang="ko-KR" sz="120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yy1 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2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.maximum(bboxes1[..., 1], bboxes2[..., 1])  # y </a:t>
            </a:r>
            <a:r>
              <a:rPr lang="ko-KR" altLang="en-US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좌표의 위쪽 </a:t>
            </a:r>
            <a:r>
              <a:rPr lang="ko-KR" altLang="en-US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경계</a:t>
            </a:r>
            <a:endParaRPr lang="en-US" altLang="ko-KR" sz="120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xx2 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2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.minimum(bboxes1[..., 2], bboxes2[..., 2])  # x </a:t>
            </a:r>
            <a:r>
              <a:rPr lang="ko-KR" altLang="en-US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좌표의 오른쪽 </a:t>
            </a:r>
            <a:r>
              <a:rPr lang="ko-KR" altLang="en-US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경계</a:t>
            </a:r>
            <a:endParaRPr lang="en-US" altLang="ko-KR" sz="1200" smtClean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</a:endParaRPr>
          </a:p>
          <a:p>
            <a:r>
              <a:rPr lang="en-US" altLang="ko-KR" sz="1200" smtClean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yy2 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2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.minimum(bboxes1[..., 3], bboxes2[..., 3])  # y </a:t>
            </a:r>
            <a:r>
              <a:rPr lang="ko-KR" altLang="en-US" sz="120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좌표의 아래쪽 경계</a:t>
            </a:r>
            <a:endParaRPr lang="en-US" altLang="ko-KR" sz="12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5" name="직선 화살표 연결선 24"/>
          <p:cNvCxnSpPr>
            <a:stCxn id="16" idx="2"/>
            <a:endCxn id="24" idx="0"/>
          </p:cNvCxnSpPr>
          <p:nvPr/>
        </p:nvCxnSpPr>
        <p:spPr>
          <a:xfrm flipH="1">
            <a:off x="4333031" y="2388713"/>
            <a:ext cx="1" cy="455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/>
          <p:cNvSpPr/>
          <p:nvPr/>
        </p:nvSpPr>
        <p:spPr>
          <a:xfrm>
            <a:off x="8152328" y="3292667"/>
            <a:ext cx="230531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x1, y1,x2,y2 </a:t>
            </a:r>
            <a:r>
              <a:rPr lang="ko-KR" altLang="en-US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의 교차 좌표를 구함</a:t>
            </a:r>
            <a:endParaRPr lang="ko-KR" altLang="en-US" sz="12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7486555" y="4688810"/>
            <a:ext cx="1994804" cy="7589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교집합 영역</a:t>
            </a:r>
            <a:endParaRPr lang="en-US" altLang="ko-KR" sz="12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6666601" y="4486500"/>
            <a:ext cx="8199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(xx1, yy1)</a:t>
            </a:r>
            <a:endParaRPr lang="ko-KR" altLang="en-US" sz="12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9395139" y="5511573"/>
            <a:ext cx="81995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(xx2, yy2)</a:t>
            </a:r>
            <a:endParaRPr lang="ko-KR" altLang="en-US" sz="12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32" name="타원 31"/>
          <p:cNvSpPr/>
          <p:nvPr/>
        </p:nvSpPr>
        <p:spPr>
          <a:xfrm>
            <a:off x="7447918" y="4656613"/>
            <a:ext cx="77274" cy="643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직사각형 42"/>
          <p:cNvSpPr/>
          <p:nvPr/>
        </p:nvSpPr>
        <p:spPr>
          <a:xfrm>
            <a:off x="2844907" y="4310162"/>
            <a:ext cx="2976245" cy="8738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w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2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maximum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0.0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xx2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 -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xx1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pPr algn="ctr"/>
            <a:r>
              <a:rPr lang="en-US" altLang="ko-KR" sz="1200" smtClean="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h</a:t>
            </a:r>
            <a:r>
              <a:rPr lang="en-US" altLang="ko-KR" sz="120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= </a:t>
            </a:r>
            <a:r>
              <a:rPr lang="en-US" altLang="ko-KR" sz="120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maximum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20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0.0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yy2</a:t>
            </a:r>
            <a:r>
              <a:rPr lang="en-US" altLang="ko-KR" sz="1200">
                <a:solidFill>
                  <a:schemeClr val="tx1"/>
                </a:solidFill>
                <a:latin typeface="Consolas" panose="020B0609020204030204" pitchFamily="49" charset="0"/>
              </a:rPr>
              <a:t> -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yy1</a:t>
            </a:r>
            <a:r>
              <a:rPr lang="en-US" altLang="ko-KR" sz="12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ko-KR" sz="120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cxnSp>
        <p:nvCxnSpPr>
          <p:cNvPr id="44" name="직선 화살표 연결선 43"/>
          <p:cNvCxnSpPr>
            <a:stCxn id="24" idx="2"/>
            <a:endCxn id="43" idx="0"/>
          </p:cNvCxnSpPr>
          <p:nvPr/>
        </p:nvCxnSpPr>
        <p:spPr>
          <a:xfrm flipH="1">
            <a:off x="4333030" y="4018208"/>
            <a:ext cx="1" cy="2919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왼쪽 중괄호 47"/>
          <p:cNvSpPr/>
          <p:nvPr/>
        </p:nvSpPr>
        <p:spPr>
          <a:xfrm rot="10800000">
            <a:off x="9495250" y="4687417"/>
            <a:ext cx="224777" cy="75895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직사각형 48"/>
          <p:cNvSpPr/>
          <p:nvPr/>
        </p:nvSpPr>
        <p:spPr>
          <a:xfrm>
            <a:off x="8270771" y="4164185"/>
            <a:ext cx="4464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w</a:t>
            </a:r>
            <a:endParaRPr lang="ko-KR" altLang="en-US" sz="12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50" name="왼쪽 중괄호 49"/>
          <p:cNvSpPr/>
          <p:nvPr/>
        </p:nvSpPr>
        <p:spPr>
          <a:xfrm rot="5400000">
            <a:off x="8366789" y="3575452"/>
            <a:ext cx="224777" cy="197471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/>
          <p:cNvSpPr/>
          <p:nvPr/>
        </p:nvSpPr>
        <p:spPr>
          <a:xfrm>
            <a:off x="9607638" y="4928394"/>
            <a:ext cx="44646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2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h</a:t>
            </a:r>
            <a:endParaRPr lang="ko-KR" altLang="en-US" sz="12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9449770" y="5414173"/>
            <a:ext cx="77274" cy="6439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2844906" y="5650072"/>
            <a:ext cx="2976245" cy="873884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ko-KR" sz="120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A1 = (x2 - x1) * (y2 - y1) for </a:t>
            </a:r>
            <a:r>
              <a:rPr lang="ko-KR" altLang="ko-KR" sz="1200" smtClean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bboxes1</a:t>
            </a:r>
            <a:endParaRPr lang="en-US" altLang="ko-KR" sz="1200">
              <a:solidFill>
                <a:schemeClr val="accent1">
                  <a:lumMod val="50000"/>
                </a:schemeClr>
              </a:solidFill>
              <a:latin typeface="Candara" panose="020E0502030303020204" pitchFamily="34" charset="0"/>
            </a:endParaRPr>
          </a:p>
          <a:p>
            <a:pPr algn="ctr"/>
            <a:r>
              <a:rPr lang="ko-KR" altLang="ko-KR" sz="1200" smtClean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A2 </a:t>
            </a:r>
            <a:r>
              <a:rPr lang="ko-KR" altLang="ko-KR" sz="120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= (x2 - x1) * (y2 - y1) for bboxes </a:t>
            </a:r>
          </a:p>
          <a:p>
            <a:pPr algn="ctr"/>
            <a:r>
              <a:rPr lang="en-US" altLang="ko-KR" sz="1200" smtClean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IOU = wh </a:t>
            </a:r>
            <a:r>
              <a:rPr lang="en-US" altLang="ko-KR" sz="120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/ (A1 + A2 - wh</a:t>
            </a:r>
            <a:r>
              <a:rPr lang="en-US" altLang="ko-KR" sz="1200" smtClean="0">
                <a:solidFill>
                  <a:schemeClr val="accent1">
                    <a:lumMod val="50000"/>
                  </a:schemeClr>
                </a:solidFill>
                <a:latin typeface="Candara" panose="020E0502030303020204" pitchFamily="34" charset="0"/>
              </a:rPr>
              <a:t>)</a:t>
            </a:r>
          </a:p>
        </p:txBody>
      </p:sp>
      <p:cxnSp>
        <p:nvCxnSpPr>
          <p:cNvPr id="57" name="직선 화살표 연결선 56"/>
          <p:cNvCxnSpPr>
            <a:stCxn id="43" idx="2"/>
            <a:endCxn id="52" idx="0"/>
          </p:cNvCxnSpPr>
          <p:nvPr/>
        </p:nvCxnSpPr>
        <p:spPr>
          <a:xfrm flipH="1">
            <a:off x="4333029" y="5184046"/>
            <a:ext cx="1" cy="4660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구부러진 연결선 59"/>
          <p:cNvCxnSpPr>
            <a:stCxn id="19" idx="1"/>
            <a:endCxn id="24" idx="0"/>
          </p:cNvCxnSpPr>
          <p:nvPr/>
        </p:nvCxnSpPr>
        <p:spPr>
          <a:xfrm rot="10800000" flipV="1">
            <a:off x="4333032" y="1940973"/>
            <a:ext cx="2700077" cy="903154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모서리가 둥근 직사각형 25"/>
          <p:cNvSpPr/>
          <p:nvPr/>
        </p:nvSpPr>
        <p:spPr>
          <a:xfrm>
            <a:off x="3461502" y="6847055"/>
            <a:ext cx="1743051" cy="44573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hlinkClick r:id="rId2" action="ppaction://hlinksldjump"/>
              </a:rPr>
              <a:t>return</a:t>
            </a:r>
            <a:endParaRPr lang="en-US" altLang="ko-KR" sz="1600"/>
          </a:p>
        </p:txBody>
      </p:sp>
      <p:cxnSp>
        <p:nvCxnSpPr>
          <p:cNvPr id="27" name="직선 화살표 연결선 26"/>
          <p:cNvCxnSpPr>
            <a:stCxn id="52" idx="2"/>
            <a:endCxn id="26" idx="0"/>
          </p:cNvCxnSpPr>
          <p:nvPr/>
        </p:nvCxnSpPr>
        <p:spPr>
          <a:xfrm flipH="1">
            <a:off x="4333028" y="6523956"/>
            <a:ext cx="1" cy="323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8804"/>
      </p:ext>
    </p:extLst>
  </p:cSld>
  <p:clrMapOvr>
    <a:masterClrMapping/>
  </p:clrMapOvr>
  <p:transition spd="slow" advTm="0">
    <p:wip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5636445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BoostTrack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::duo_confidence_boost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1958009" y="2105923"/>
            <a:ext cx="6175070" cy="4515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mh_dist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4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get_mh_dist_matrix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4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4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n_dims</a:t>
            </a:r>
            <a:r>
              <a:rPr lang="en-US" altLang="ko-KR" sz="14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ko-KR" sz="14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" name="꺾인 연결선 6"/>
          <p:cNvCxnSpPr>
            <a:stCxn id="9" idx="1"/>
            <a:endCxn id="4" idx="1"/>
          </p:cNvCxnSpPr>
          <p:nvPr/>
        </p:nvCxnSpPr>
        <p:spPr>
          <a:xfrm rot="10800000" flipH="1" flipV="1">
            <a:off x="583593" y="1438603"/>
            <a:ext cx="1374416" cy="893096"/>
          </a:xfrm>
          <a:prstGeom prst="bentConnector3">
            <a:avLst>
              <a:gd name="adj1" fmla="val -1663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583593" y="1184283"/>
            <a:ext cx="8927502" cy="508639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80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duo_confidence_boost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8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chemeClr val="accent1">
                    <a:lumMod val="50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800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) -&gt;</a:t>
            </a:r>
            <a:r>
              <a:rPr lang="en-US" altLang="ko-KR" sz="18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800">
                <a:solidFill>
                  <a:srgbClr val="4EC9B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800">
                <a:solidFill>
                  <a:srgbClr val="4EC9B0"/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80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  <a:endParaRPr lang="en-US" altLang="ko-KR" sz="18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268126" y="2845978"/>
            <a:ext cx="5554836" cy="6983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min_dists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mh_dist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.min(</a:t>
            </a:r>
            <a:r>
              <a:rPr lang="en-US" altLang="ko-KR" sz="1100">
                <a:solidFill>
                  <a:srgbClr val="FFC000"/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mask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= 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min_dists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&gt;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limit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 &amp; 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[:, </a:t>
            </a:r>
            <a:r>
              <a:rPr lang="en-US" altLang="ko-KR" sz="1100">
                <a:solidFill>
                  <a:srgbClr val="FFC000"/>
                </a:solidFill>
                <a:latin typeface="Consolas" panose="020B0609020204030204" pitchFamily="49" charset="0"/>
              </a:rPr>
              <a:t>4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 &lt;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det_thresh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boost_inds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= np.where(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mask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)[</a:t>
            </a:r>
            <a:r>
              <a:rPr lang="en-US" altLang="ko-KR" sz="1100">
                <a:solidFill>
                  <a:srgbClr val="FFC000"/>
                </a:solidFill>
                <a:latin typeface="Consolas" panose="020B0609020204030204" pitchFamily="49" charset="0"/>
              </a:rPr>
              <a:t>0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4" name="직선 화살표 연결선 13"/>
          <p:cNvCxnSpPr>
            <a:stCxn id="4" idx="2"/>
            <a:endCxn id="12" idx="0"/>
          </p:cNvCxnSpPr>
          <p:nvPr/>
        </p:nvCxnSpPr>
        <p:spPr>
          <a:xfrm>
            <a:off x="5045544" y="2557475"/>
            <a:ext cx="0" cy="288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>
            <a:stCxn id="12" idx="2"/>
            <a:endCxn id="44" idx="0"/>
          </p:cNvCxnSpPr>
          <p:nvPr/>
        </p:nvCxnSpPr>
        <p:spPr>
          <a:xfrm flipH="1">
            <a:off x="5042556" y="3544346"/>
            <a:ext cx="2988" cy="1973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표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680980"/>
              </p:ext>
            </p:extLst>
          </p:nvPr>
        </p:nvGraphicFramePr>
        <p:xfrm>
          <a:off x="3546564" y="1642626"/>
          <a:ext cx="7032443" cy="425510"/>
        </p:xfrm>
        <a:graphic>
          <a:graphicData uri="http://schemas.openxmlformats.org/drawingml/2006/table">
            <a:tbl>
              <a:tblPr/>
              <a:tblGrid>
                <a:gridCol w="7032443">
                  <a:extLst>
                    <a:ext uri="{9D8B030D-6E8A-4147-A177-3AD203B41FA5}">
                      <a16:colId xmlns:a16="http://schemas.microsoft.com/office/drawing/2014/main" val="483248459"/>
                    </a:ext>
                  </a:extLst>
                </a:gridCol>
              </a:tblGrid>
              <a:tr h="425510">
                <a:tc>
                  <a:txBody>
                    <a:bodyPr/>
                    <a:lstStyle/>
                    <a:p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기존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tracker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와 연관성이 낮은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(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멀리 떨어진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) detection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들 중겹치지 않고 신뢰도 낮은 것들을 찾아 </a:t>
                      </a:r>
                      <a:r>
                        <a:rPr lang="en-US" altLang="ko-KR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confidence</a:t>
                      </a:r>
                      <a:r>
                        <a:rPr lang="ko-KR" altLang="en-US" sz="1050" smtClean="0">
                          <a:solidFill>
                            <a:srgbClr val="C00000"/>
                          </a:solidFill>
                          <a:latin typeface="경기천년바탕 Regular" panose="02020503020101020101" pitchFamily="18" charset="-127"/>
                          <a:ea typeface="경기천년바탕 Regular" panose="02020503020101020101" pitchFamily="18" charset="-127"/>
                        </a:rPr>
                        <a:t>를 강제로 올려줌</a:t>
                      </a:r>
                      <a:endParaRPr lang="ko-KR" altLang="en-US" sz="1050">
                        <a:solidFill>
                          <a:srgbClr val="C00000"/>
                        </a:solidFill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4897531"/>
                  </a:ext>
                </a:extLst>
              </a:tr>
            </a:tbl>
          </a:graphicData>
        </a:graphic>
      </p:graphicFrame>
      <p:sp>
        <p:nvSpPr>
          <p:cNvPr id="16" name="직사각형 15"/>
          <p:cNvSpPr/>
          <p:nvPr/>
        </p:nvSpPr>
        <p:spPr>
          <a:xfrm>
            <a:off x="544481" y="1721606"/>
            <a:ext cx="311014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solidFill>
                  <a:schemeClr val="accent5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Distance-based UnObserved </a:t>
            </a:r>
            <a:r>
              <a:rPr lang="en-US" altLang="ko-KR" sz="1050" smtClean="0">
                <a:solidFill>
                  <a:schemeClr val="accent5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Optimization(DUO</a:t>
            </a:r>
            <a:r>
              <a:rPr lang="en-US" altLang="ko-KR" sz="1050">
                <a:solidFill>
                  <a:schemeClr val="accent5">
                    <a:lumMod val="7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  <a:endParaRPr lang="ko-KR" altLang="en-US" sz="1050">
              <a:solidFill>
                <a:schemeClr val="accent5">
                  <a:lumMod val="75000"/>
                </a:schemeClr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8185999" y="2138436"/>
            <a:ext cx="2505814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shape: (num_detections, num_trackers) </a:t>
            </a:r>
            <a:endParaRPr lang="en-US" altLang="ko-KR" sz="1050" smtClean="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en-US" altLang="ko-KR" sz="105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Mahalanobis </a:t>
            </a:r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거리 행렬 계산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7880258" y="2842745"/>
            <a:ext cx="266282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현재 프레임의 </a:t>
            </a:r>
            <a:r>
              <a:rPr lang="en-US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</a:t>
            </a:r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들 중</a:t>
            </a:r>
            <a:r>
              <a:rPr lang="en-US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, </a:t>
            </a:r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기존 </a:t>
            </a:r>
            <a:r>
              <a:rPr lang="en-US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tracker</a:t>
            </a:r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와 관련 없고 신뢰도 낮은 후보를 추림</a:t>
            </a:r>
          </a:p>
        </p:txBody>
      </p:sp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473436"/>
              </p:ext>
            </p:extLst>
          </p:nvPr>
        </p:nvGraphicFramePr>
        <p:xfrm>
          <a:off x="5236227" y="3647252"/>
          <a:ext cx="5455586" cy="1201401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799680">
                  <a:extLst>
                    <a:ext uri="{9D8B030D-6E8A-4147-A177-3AD203B41FA5}">
                      <a16:colId xmlns:a16="http://schemas.microsoft.com/office/drawing/2014/main" val="589583517"/>
                    </a:ext>
                  </a:extLst>
                </a:gridCol>
                <a:gridCol w="737253">
                  <a:extLst>
                    <a:ext uri="{9D8B030D-6E8A-4147-A177-3AD203B41FA5}">
                      <a16:colId xmlns:a16="http://schemas.microsoft.com/office/drawing/2014/main" val="3712399316"/>
                    </a:ext>
                  </a:extLst>
                </a:gridCol>
                <a:gridCol w="496032">
                  <a:extLst>
                    <a:ext uri="{9D8B030D-6E8A-4147-A177-3AD203B41FA5}">
                      <a16:colId xmlns:a16="http://schemas.microsoft.com/office/drawing/2014/main" val="4177384021"/>
                    </a:ext>
                  </a:extLst>
                </a:gridCol>
                <a:gridCol w="1367879">
                  <a:extLst>
                    <a:ext uri="{9D8B030D-6E8A-4147-A177-3AD203B41FA5}">
                      <a16:colId xmlns:a16="http://schemas.microsoft.com/office/drawing/2014/main" val="3408542399"/>
                    </a:ext>
                  </a:extLst>
                </a:gridCol>
                <a:gridCol w="1046874">
                  <a:extLst>
                    <a:ext uri="{9D8B030D-6E8A-4147-A177-3AD203B41FA5}">
                      <a16:colId xmlns:a16="http://schemas.microsoft.com/office/drawing/2014/main" val="550361758"/>
                    </a:ext>
                  </a:extLst>
                </a:gridCol>
                <a:gridCol w="1007868">
                  <a:extLst>
                    <a:ext uri="{9D8B030D-6E8A-4147-A177-3AD203B41FA5}">
                      <a16:colId xmlns:a16="http://schemas.microsoft.com/office/drawing/2014/main" val="3285192800"/>
                    </a:ext>
                  </a:extLst>
                </a:gridCol>
              </a:tblGrid>
              <a:tr h="316105">
                <a:tc>
                  <a:txBody>
                    <a:bodyPr/>
                    <a:lstStyle/>
                    <a:p>
                      <a:r>
                        <a:rPr lang="en-US" sz="800"/>
                        <a:t>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min_dists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conf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조건</a:t>
                      </a:r>
                      <a:r>
                        <a:rPr lang="en-US" altLang="ko-KR" sz="800"/>
                        <a:t>1 (</a:t>
                      </a:r>
                      <a:r>
                        <a:rPr lang="en-US" sz="800"/>
                        <a:t>min_dists &gt; 13.27)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조건</a:t>
                      </a:r>
                      <a:r>
                        <a:rPr lang="en-US" altLang="ko-KR" sz="800"/>
                        <a:t>2 (</a:t>
                      </a:r>
                      <a:r>
                        <a:rPr lang="en-US" sz="800"/>
                        <a:t>conf &lt; 0.5)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800"/>
                        <a:t>AND </a:t>
                      </a:r>
                      <a:r>
                        <a:rPr lang="ko-KR" altLang="en-US" sz="800"/>
                        <a:t>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9014299"/>
                  </a:ext>
                </a:extLst>
              </a:tr>
              <a:tr h="221324">
                <a:tc>
                  <a:txBody>
                    <a:bodyPr/>
                    <a:lstStyle/>
                    <a:p>
                      <a:r>
                        <a:rPr lang="en-US" sz="80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2.1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0.82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8129596"/>
                  </a:ext>
                </a:extLst>
              </a:tr>
              <a:tr h="221324">
                <a:tc>
                  <a:txBody>
                    <a:bodyPr/>
                    <a:lstStyle/>
                    <a:p>
                      <a:r>
                        <a:rPr lang="en-US" sz="8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12.9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0.35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2941264"/>
                  </a:ext>
                </a:extLst>
              </a:tr>
              <a:tr h="221324">
                <a:tc>
                  <a:txBody>
                    <a:bodyPr/>
                    <a:lstStyle/>
                    <a:p>
                      <a:r>
                        <a:rPr lang="en-US" sz="80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9.5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0.40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5517197"/>
                  </a:ext>
                </a:extLst>
              </a:tr>
              <a:tr h="221324">
                <a:tc>
                  <a:txBody>
                    <a:bodyPr/>
                    <a:lstStyle/>
                    <a:p>
                      <a:r>
                        <a:rPr lang="en-US" sz="800"/>
                        <a:t>D4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19.1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800"/>
                        <a:t>0.25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800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07757"/>
                  </a:ext>
                </a:extLst>
              </a:tr>
            </a:tbl>
          </a:graphicData>
        </a:graphic>
      </p:graphicFrame>
      <p:sp>
        <p:nvSpPr>
          <p:cNvPr id="31" name="직사각형 30"/>
          <p:cNvSpPr/>
          <p:nvPr/>
        </p:nvSpPr>
        <p:spPr>
          <a:xfrm>
            <a:off x="5191701" y="4848653"/>
            <a:ext cx="268855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a-DK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mask = np.array([False, False, False, </a:t>
            </a:r>
            <a:r>
              <a:rPr lang="da-DK" altLang="ko-KR" sz="1050" b="1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True</a:t>
            </a:r>
            <a:r>
              <a:rPr lang="da-DK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])</a:t>
            </a:r>
            <a:endParaRPr lang="ko-KR" altLang="en-US" sz="105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5160137" y="5102569"/>
            <a:ext cx="266282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부스트 대상 인덱스 추출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1952032" y="5518289"/>
            <a:ext cx="6181047" cy="69836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bdiou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iou_batch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boost_inds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],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boost_inds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]) - np.</a:t>
            </a:r>
            <a:r>
              <a:rPr lang="en-US" altLang="ko-KR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eye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    </a:t>
            </a:r>
            <a:r>
              <a:rPr lang="en-US" altLang="ko-KR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len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boost_inds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graphicFrame>
        <p:nvGraphicFramePr>
          <p:cNvPr id="40" name="표 3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25922"/>
              </p:ext>
            </p:extLst>
          </p:nvPr>
        </p:nvGraphicFramePr>
        <p:xfrm>
          <a:off x="5379607" y="6307257"/>
          <a:ext cx="3954452" cy="945744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988613">
                  <a:extLst>
                    <a:ext uri="{9D8B030D-6E8A-4147-A177-3AD203B41FA5}">
                      <a16:colId xmlns:a16="http://schemas.microsoft.com/office/drawing/2014/main" val="1804467934"/>
                    </a:ext>
                  </a:extLst>
                </a:gridCol>
                <a:gridCol w="988613">
                  <a:extLst>
                    <a:ext uri="{9D8B030D-6E8A-4147-A177-3AD203B41FA5}">
                      <a16:colId xmlns:a16="http://schemas.microsoft.com/office/drawing/2014/main" val="1344000574"/>
                    </a:ext>
                  </a:extLst>
                </a:gridCol>
                <a:gridCol w="988613">
                  <a:extLst>
                    <a:ext uri="{9D8B030D-6E8A-4147-A177-3AD203B41FA5}">
                      <a16:colId xmlns:a16="http://schemas.microsoft.com/office/drawing/2014/main" val="1146784055"/>
                    </a:ext>
                  </a:extLst>
                </a:gridCol>
                <a:gridCol w="988613">
                  <a:extLst>
                    <a:ext uri="{9D8B030D-6E8A-4147-A177-3AD203B41FA5}">
                      <a16:colId xmlns:a16="http://schemas.microsoft.com/office/drawing/2014/main" val="4080453361"/>
                    </a:ext>
                  </a:extLst>
                </a:gridCol>
              </a:tblGrid>
              <a:tr h="236436">
                <a:tc>
                  <a:txBody>
                    <a:bodyPr/>
                    <a:lstStyle/>
                    <a:p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7775358"/>
                  </a:ext>
                </a:extLst>
              </a:tr>
              <a:tr h="236436">
                <a:tc>
                  <a:txBody>
                    <a:bodyPr/>
                    <a:lstStyle/>
                    <a:p>
                      <a:r>
                        <a:rPr lang="en-US" sz="900"/>
                        <a:t>D1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>
                          <a:solidFill>
                            <a:srgbClr val="C00000"/>
                          </a:solidFill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0522010"/>
                  </a:ext>
                </a:extLst>
              </a:tr>
              <a:tr h="236436">
                <a:tc>
                  <a:txBody>
                    <a:bodyPr/>
                    <a:lstStyle/>
                    <a:p>
                      <a:r>
                        <a:rPr lang="en-US" sz="900"/>
                        <a:t>D2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0.85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>
                          <a:solidFill>
                            <a:srgbClr val="C00000"/>
                          </a:solidFill>
                        </a:rPr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0485481"/>
                  </a:ext>
                </a:extLst>
              </a:tr>
              <a:tr h="236436">
                <a:tc>
                  <a:txBody>
                    <a:bodyPr/>
                    <a:lstStyle/>
                    <a:p>
                      <a:r>
                        <a:rPr lang="en-US" sz="900"/>
                        <a:t>D3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0.00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>
                          <a:solidFill>
                            <a:srgbClr val="C00000"/>
                          </a:solidFill>
                        </a:rPr>
                        <a:t>0.00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1033060"/>
                  </a:ext>
                </a:extLst>
              </a:tr>
            </a:tbl>
          </a:graphicData>
        </a:graphic>
      </p:graphicFrame>
      <p:sp>
        <p:nvSpPr>
          <p:cNvPr id="47" name="직사각형 46"/>
          <p:cNvSpPr/>
          <p:nvPr/>
        </p:nvSpPr>
        <p:spPr>
          <a:xfrm>
            <a:off x="8185999" y="5489560"/>
            <a:ext cx="190143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IOU</a:t>
            </a:r>
            <a:r>
              <a:rPr lang="ko-KR" altLang="en-US" sz="1050" smtClean="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통하여 자기 자신은 제거</a:t>
            </a:r>
            <a:endParaRPr lang="ko-KR" altLang="en-US" sz="1050"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837261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6346576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err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BoostTrack</a:t>
            </a:r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::duo_confidence_boost end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3716523" y="1369723"/>
            <a:ext cx="2522805" cy="28664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bdiou_max</a:t>
            </a:r>
            <a:r>
              <a:rPr lang="en-US" altLang="ko-KR" sz="11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bdiou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max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axis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=</a:t>
            </a:r>
            <a:r>
              <a:rPr lang="en-US" altLang="ko-KR" sz="110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1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6490687" y="1296304"/>
            <a:ext cx="3027081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각 </a:t>
            </a:r>
            <a:r>
              <a:rPr lang="en-US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detection(row)</a:t>
            </a:r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이 다른 </a:t>
            </a:r>
            <a:r>
              <a:rPr lang="en-US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</a:t>
            </a:r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들과 얼마나 겹치는지 중가장 많이 겹친 </a:t>
            </a:r>
            <a:r>
              <a:rPr lang="en-US" altLang="ko-KR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IoU</a:t>
            </a:r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계산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5650"/>
              </p:ext>
            </p:extLst>
          </p:nvPr>
        </p:nvGraphicFramePr>
        <p:xfrm>
          <a:off x="5453026" y="1775406"/>
          <a:ext cx="5139330" cy="532388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730255">
                  <a:extLst>
                    <a:ext uri="{9D8B030D-6E8A-4147-A177-3AD203B41FA5}">
                      <a16:colId xmlns:a16="http://schemas.microsoft.com/office/drawing/2014/main" val="3986488723"/>
                    </a:ext>
                  </a:extLst>
                </a:gridCol>
                <a:gridCol w="1501841">
                  <a:extLst>
                    <a:ext uri="{9D8B030D-6E8A-4147-A177-3AD203B41FA5}">
                      <a16:colId xmlns:a16="http://schemas.microsoft.com/office/drawing/2014/main" val="2391167407"/>
                    </a:ext>
                  </a:extLst>
                </a:gridCol>
                <a:gridCol w="1460506">
                  <a:extLst>
                    <a:ext uri="{9D8B030D-6E8A-4147-A177-3AD203B41FA5}">
                      <a16:colId xmlns:a16="http://schemas.microsoft.com/office/drawing/2014/main" val="979317682"/>
                    </a:ext>
                  </a:extLst>
                </a:gridCol>
                <a:gridCol w="1446728">
                  <a:extLst>
                    <a:ext uri="{9D8B030D-6E8A-4147-A177-3AD203B41FA5}">
                      <a16:colId xmlns:a16="http://schemas.microsoft.com/office/drawing/2014/main" val="1399018907"/>
                    </a:ext>
                  </a:extLst>
                </a:gridCol>
              </a:tblGrid>
              <a:tr h="190120">
                <a:tc>
                  <a:txBody>
                    <a:bodyPr/>
                    <a:lstStyle/>
                    <a:p>
                      <a:r>
                        <a:rPr lang="en-US" sz="900"/>
                        <a:t>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D1</a:t>
                      </a:r>
                      <a:r>
                        <a:rPr lang="ko-KR" altLang="en-US" sz="900"/>
                        <a:t>의 </a:t>
                      </a:r>
                      <a:r>
                        <a:rPr lang="en-US" sz="900"/>
                        <a:t>IoU</a:t>
                      </a:r>
                      <a:r>
                        <a:rPr lang="ko-KR" altLang="en-US" sz="900"/>
                        <a:t>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D2</a:t>
                      </a:r>
                      <a:r>
                        <a:rPr lang="ko-KR" altLang="en-US" sz="900"/>
                        <a:t>의 </a:t>
                      </a:r>
                      <a:r>
                        <a:rPr lang="en-US" sz="900"/>
                        <a:t>IoU</a:t>
                      </a:r>
                      <a:r>
                        <a:rPr lang="ko-KR" altLang="en-US" sz="900"/>
                        <a:t>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900"/>
                        <a:t>D3</a:t>
                      </a:r>
                      <a:r>
                        <a:rPr lang="ko-KR" altLang="en-US" sz="900"/>
                        <a:t>의 </a:t>
                      </a:r>
                      <a:r>
                        <a:rPr lang="en-US" sz="900"/>
                        <a:t>IoU</a:t>
                      </a:r>
                      <a:r>
                        <a:rPr lang="ko-KR" altLang="en-US" sz="900"/>
                        <a:t>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3503"/>
                  </a:ext>
                </a:extLst>
              </a:tr>
              <a:tr h="303788">
                <a:tc>
                  <a:txBody>
                    <a:bodyPr/>
                    <a:lstStyle/>
                    <a:p>
                      <a:r>
                        <a:rPr lang="ko-KR" altLang="en-US" sz="900"/>
                        <a:t>값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[0.00, 0.85, 0.00] → 0.85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[0.85, 0.00, 0.00] → 0.85</a:t>
                      </a:r>
                      <a:endParaRPr lang="ko-KR" alt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900"/>
                        <a:t>[0.00, 0.00, 0.00] → 0.00</a:t>
                      </a:r>
                      <a:endParaRPr lang="ko-KR" altLang="en-US" sz="9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98671449"/>
                  </a:ext>
                </a:extLst>
              </a:tr>
            </a:tbl>
          </a:graphicData>
        </a:graphic>
      </p:graphicFrame>
      <p:sp>
        <p:nvSpPr>
          <p:cNvPr id="5" name="직사각형 4"/>
          <p:cNvSpPr/>
          <p:nvPr/>
        </p:nvSpPr>
        <p:spPr>
          <a:xfrm>
            <a:off x="5453026" y="2371398"/>
            <a:ext cx="2478564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05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bdiou_max = np.array([0.85, 0.85, 0.00])</a:t>
            </a:r>
          </a:p>
        </p:txBody>
      </p:sp>
      <p:sp>
        <p:nvSpPr>
          <p:cNvPr id="23" name="직사각형 22"/>
          <p:cNvSpPr/>
          <p:nvPr/>
        </p:nvSpPr>
        <p:spPr>
          <a:xfrm>
            <a:off x="3089055" y="2945400"/>
            <a:ext cx="3777740" cy="28664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remaining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boost_inds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bdiou_max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&lt;=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iou_limit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4" name="직선 화살표 연결선 23"/>
          <p:cNvCxnSpPr>
            <a:stCxn id="20" idx="2"/>
            <a:endCxn id="23" idx="0"/>
          </p:cNvCxnSpPr>
          <p:nvPr/>
        </p:nvCxnSpPr>
        <p:spPr>
          <a:xfrm flipH="1">
            <a:off x="4977925" y="1656372"/>
            <a:ext cx="1" cy="12890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6995252" y="2831939"/>
            <a:ext cx="29665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b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다른 후보들과 거의 안 겹침 </a:t>
            </a:r>
            <a:r>
              <a:rPr lang="en-US" altLang="ko-KR" sz="1000" b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(</a:t>
            </a:r>
            <a:r>
              <a:rPr lang="ko-KR" altLang="en-US" sz="1000" b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독립된 </a:t>
            </a:r>
            <a:r>
              <a:rPr lang="en-US" altLang="ko-KR" sz="1000" b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detection)</a:t>
            </a:r>
            <a:r>
              <a:rPr lang="ko-KR" altLang="en-US" sz="100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/>
            </a:r>
            <a:br>
              <a:rPr lang="ko-KR" altLang="en-US" sz="100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lang="ko-KR" altLang="en-US" sz="100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→ </a:t>
            </a:r>
            <a:r>
              <a:rPr lang="ko-KR" altLang="en-US" sz="10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그대로 </a:t>
            </a:r>
            <a:r>
              <a:rPr lang="en-US" altLang="ko-KR" sz="10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Boost </a:t>
            </a:r>
            <a:r>
              <a:rPr lang="ko-KR" altLang="en-US" sz="10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대상에 포함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087770" y="3914342"/>
            <a:ext cx="3777740" cy="100473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boost 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후보 중 서로 많이 겹치는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detection 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그룹 내에서 가장 높은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confidence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만 남기고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남은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detection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들의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confidence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를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threshold 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이상으로 강제로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올려 </a:t>
            </a:r>
            <a:r>
              <a:rPr lang="ko-KR" altLang="en-US" sz="1100">
                <a:solidFill>
                  <a:schemeClr val="tx1"/>
                </a:solidFill>
                <a:latin typeface="Consolas" panose="020B0609020204030204" pitchFamily="49" charset="0"/>
              </a:rPr>
              <a:t>줌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2" name="직선 화살표 연결선 31"/>
          <p:cNvCxnSpPr>
            <a:stCxn id="23" idx="2"/>
            <a:endCxn id="30" idx="0"/>
          </p:cNvCxnSpPr>
          <p:nvPr/>
        </p:nvCxnSpPr>
        <p:spPr>
          <a:xfrm flipH="1">
            <a:off x="4976640" y="3232049"/>
            <a:ext cx="1285" cy="6822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"/>
          <p:cNvSpPr>
            <a:spLocks noChangeArrowheads="1"/>
          </p:cNvSpPr>
          <p:nvPr/>
        </p:nvSpPr>
        <p:spPr bwMode="auto">
          <a:xfrm>
            <a:off x="7064473" y="3838110"/>
            <a:ext cx="362734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duo_confidence_boost()는 BoostTrack++의 </a:t>
            </a:r>
            <a:r>
              <a:rPr kumimoji="0" lang="ko-KR" altLang="ko-KR" sz="1000" b="1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Detection-Level Optimization(DLO)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중</a:t>
            </a:r>
            <a:b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“기존 tracker와 무관한 독립적인 detection”을 찾아</a:t>
            </a:r>
            <a:b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kumimoji="0" lang="ko-KR" altLang="ko-KR" sz="1000" b="1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confidence를 인위적으로 높여 새 tracker 생성 가능성을 보장</a:t>
            </a: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하는 함수이다.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→ “기존 객체를 추적하는 boost (DLO)”와 반대로,</a:t>
            </a:r>
            <a:b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</a:br>
            <a:r>
              <a:rPr kumimoji="0" lang="ko-KR" altLang="ko-KR" sz="1000" b="0" i="0" u="none" strike="noStrike" cap="none" normalizeH="0" baseline="0" smtClean="0">
                <a:ln>
                  <a:noFill/>
                </a:ln>
                <a:solidFill>
                  <a:srgbClr val="C00000"/>
                </a:solidFill>
                <a:effectLst/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→ “새로 나타난 객체를 살려주는 boost (DUO)” 역할을 수행합니다.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588065" y="5111424"/>
            <a:ext cx="5343525" cy="5770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latin typeface="Consolas" panose="020B0609020204030204" pitchFamily="49" charset="0"/>
              </a:rPr>
              <a:t>[:, 4] = </a:t>
            </a:r>
            <a:r>
              <a:rPr lang="en-US" altLang="ko-KR" sz="105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050"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where</a:t>
            </a:r>
            <a:r>
              <a:rPr lang="en-US" altLang="ko-KR" sz="1050"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050">
                <a:latin typeface="Consolas" panose="020B0609020204030204" pitchFamily="49" charset="0"/>
              </a:rPr>
              <a:t>           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mask_boost</a:t>
            </a:r>
            <a:r>
              <a:rPr lang="en-US" altLang="ko-KR" sz="1050">
                <a:latin typeface="Consolas" panose="020B0609020204030204" pitchFamily="49" charset="0"/>
              </a:rPr>
              <a:t>,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self</a:t>
            </a:r>
            <a:r>
              <a:rPr lang="en-US" altLang="ko-KR" sz="1050">
                <a:latin typeface="Consolas" panose="020B0609020204030204" pitchFamily="49" charset="0"/>
              </a:rPr>
              <a:t>.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det_thresh</a:t>
            </a:r>
            <a:r>
              <a:rPr lang="en-US" altLang="ko-KR" sz="1050">
                <a:latin typeface="Consolas" panose="020B0609020204030204" pitchFamily="49" charset="0"/>
              </a:rPr>
              <a:t> + 1e-4, </a:t>
            </a:r>
            <a:r>
              <a:rPr lang="en-US" altLang="ko-KR" sz="105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050">
                <a:latin typeface="Consolas" panose="020B0609020204030204" pitchFamily="49" charset="0"/>
              </a:rPr>
              <a:t>[:, 4]</a:t>
            </a:r>
          </a:p>
          <a:p>
            <a:r>
              <a:rPr lang="en-US" altLang="ko-KR" sz="1050">
                <a:latin typeface="Consolas" panose="020B0609020204030204" pitchFamily="49" charset="0"/>
              </a:rPr>
              <a:t>        )</a:t>
            </a:r>
            <a:endParaRPr lang="en-US" altLang="ko-KR" sz="1050" b="0">
              <a:effectLst/>
              <a:latin typeface="Consolas" panose="020B0609020204030204" pitchFamily="49" charset="0"/>
            </a:endParaRPr>
          </a:p>
        </p:txBody>
      </p:sp>
      <p:sp>
        <p:nvSpPr>
          <p:cNvPr id="14" name="모서리가 둥근 직사각형 13"/>
          <p:cNvSpPr/>
          <p:nvPr/>
        </p:nvSpPr>
        <p:spPr>
          <a:xfrm>
            <a:off x="3847850" y="5932588"/>
            <a:ext cx="2257580" cy="519595"/>
          </a:xfrm>
          <a:prstGeom prst="roundRect">
            <a:avLst>
              <a:gd name="adj" fmla="val 33328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  <a:hlinkClick r:id="rId2" action="ppaction://hlinksldjump"/>
              </a:rPr>
              <a:t>return </a:t>
            </a:r>
            <a:r>
              <a:rPr lang="en-US" altLang="ko-KR" sz="11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hlinkClick r:id="rId2" action="ppaction://hlinksldjump"/>
              </a:rPr>
              <a:t>detections</a:t>
            </a:r>
            <a:endParaRPr lang="en-US" altLang="ko-KR" sz="1100" b="0">
              <a:solidFill>
                <a:schemeClr val="accent1">
                  <a:lumMod val="75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5" name="직선 화살표 연결선 14"/>
          <p:cNvCxnSpPr>
            <a:stCxn id="30" idx="2"/>
            <a:endCxn id="14" idx="0"/>
          </p:cNvCxnSpPr>
          <p:nvPr/>
        </p:nvCxnSpPr>
        <p:spPr>
          <a:xfrm>
            <a:off x="4976640" y="4919072"/>
            <a:ext cx="0" cy="10135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46819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1637338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 smtClean="0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associate</a:t>
            </a:r>
            <a:endParaRPr lang="en-US" altLang="ko-KR" sz="2590" b="1">
              <a:ln w="0"/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7" name="꺾인 연결선 6"/>
          <p:cNvCxnSpPr>
            <a:stCxn id="9" idx="1"/>
            <a:endCxn id="20" idx="1"/>
          </p:cNvCxnSpPr>
          <p:nvPr/>
        </p:nvCxnSpPr>
        <p:spPr>
          <a:xfrm rot="10800000" flipH="1" flipV="1">
            <a:off x="305777" y="2220708"/>
            <a:ext cx="595438" cy="1548211"/>
          </a:xfrm>
          <a:prstGeom prst="bentConnector3">
            <a:avLst>
              <a:gd name="adj1" fmla="val -383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305777" y="1110865"/>
            <a:ext cx="5128803" cy="22196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altLang="ko-KR" sz="11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associate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iou_threshold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mahalanobis_distance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Optional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None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track_confidence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Optional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None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detection_confidence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Optional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None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emb_cost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Optional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[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np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ndarray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] =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None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lambda_iou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float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100">
                <a:solidFill>
                  <a:srgbClr val="FFC000"/>
                </a:solidFill>
                <a:latin typeface="Consolas" panose="020B0609020204030204" pitchFamily="49" charset="0"/>
              </a:rPr>
              <a:t>0.5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lambda_mhd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float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100">
                <a:solidFill>
                  <a:srgbClr val="FFC000"/>
                </a:solidFill>
                <a:latin typeface="Consolas" panose="020B0609020204030204" pitchFamily="49" charset="0"/>
              </a:rPr>
              <a:t>0.25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lambda_shape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float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altLang="ko-KR" sz="1100">
                <a:solidFill>
                  <a:srgbClr val="FFC000"/>
                </a:solidFill>
                <a:latin typeface="Consolas" panose="020B0609020204030204" pitchFamily="49" charset="0"/>
              </a:rPr>
              <a:t>0.25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       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s_sim_corr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en-US" altLang="ko-KR" sz="1100">
                <a:solidFill>
                  <a:srgbClr val="7030A0"/>
                </a:solidFill>
                <a:latin typeface="Consolas" panose="020B0609020204030204" pitchFamily="49" charset="0"/>
              </a:rPr>
              <a:t>bool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False,</a:t>
            </a:r>
          </a:p>
          <a:p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):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901215" y="3503498"/>
            <a:ext cx="2792423" cy="53084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detections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와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trackers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를 사용하여</a:t>
            </a:r>
            <a:endParaRPr lang="en-US" altLang="ko-KR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iou matrix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생성 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901214" y="4219425"/>
            <a:ext cx="2792423" cy="79606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detection conf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와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track conf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를 곱하고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, iou_threshold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보다 작으면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0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으로 한다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.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아래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conf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변수</a:t>
            </a:r>
            <a:endParaRPr lang="en-US" altLang="ko-KR" sz="110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altLang="ko-KR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conf[]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24" name="직선 화살표 연결선 23"/>
          <p:cNvCxnSpPr>
            <a:stCxn id="20" idx="2"/>
            <a:endCxn id="23" idx="0"/>
          </p:cNvCxnSpPr>
          <p:nvPr/>
        </p:nvCxnSpPr>
        <p:spPr>
          <a:xfrm flipH="1">
            <a:off x="2297426" y="4034341"/>
            <a:ext cx="1" cy="1850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직사각형 29"/>
          <p:cNvSpPr/>
          <p:nvPr/>
        </p:nvSpPr>
        <p:spPr>
          <a:xfrm>
            <a:off x="829209" y="5195066"/>
            <a:ext cx="2936759" cy="98114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cost_matrix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+=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lambda_iou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*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conf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* </a:t>
            </a:r>
            <a:r>
              <a:rPr lang="en-US" altLang="ko-KR" sz="1100">
                <a:solidFill>
                  <a:srgbClr val="FFC000"/>
                </a:solidFill>
                <a:latin typeface="Consolas" panose="020B0609020204030204" pitchFamily="49" charset="0"/>
              </a:rPr>
              <a:t>iou_batch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trackers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cost_matrix</a:t>
            </a:r>
            <a:r>
              <a:rPr lang="ko-KR" altLang="en-US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conf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만큼을 추가로 반영하여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, det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와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track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의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conf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가 큰 것이 더 반영 되도록 한다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2" name="직선 화살표 연결선 31"/>
          <p:cNvCxnSpPr>
            <a:stCxn id="23" idx="2"/>
            <a:endCxn id="30" idx="0"/>
          </p:cNvCxnSpPr>
          <p:nvPr/>
        </p:nvCxnSpPr>
        <p:spPr>
          <a:xfrm>
            <a:off x="2297426" y="5015486"/>
            <a:ext cx="163" cy="179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829045" y="6355791"/>
            <a:ext cx="2936759" cy="111463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cost_matrix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+=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lambda_mhd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* </a:t>
            </a:r>
            <a:r>
              <a:rPr lang="en-US" altLang="ko-KR" sz="11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mahalanobis_distance</a:t>
            </a:r>
          </a:p>
          <a:p>
            <a:r>
              <a:rPr lang="en-US" altLang="ko-KR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cost_matrix</a:t>
            </a:r>
            <a:r>
              <a:rPr lang="ko-KR" altLang="en-US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mahalanobis_distance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만큼을 추가로 반영하여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, mahalanobis_distance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가 큰 것이 더 반영 되도록 한다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직선 화살표 연결선 36"/>
          <p:cNvCxnSpPr>
            <a:stCxn id="30" idx="2"/>
            <a:endCxn id="36" idx="0"/>
          </p:cNvCxnSpPr>
          <p:nvPr/>
        </p:nvCxnSpPr>
        <p:spPr>
          <a:xfrm flipH="1">
            <a:off x="2297425" y="6176211"/>
            <a:ext cx="164" cy="179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5742449" y="1206902"/>
            <a:ext cx="3286896" cy="12924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cost_matrix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+=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lambda_shape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conf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shape_similarity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detections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trackers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,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altLang="ko-KR" sz="11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s_sim_corr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r>
              <a:rPr lang="en-US" altLang="ko-KR" sz="1100" smtClean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  <a:endParaRPr lang="en-US" altLang="ko-KR" sz="110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US" altLang="ko-KR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cost_matrix</a:t>
            </a:r>
            <a:r>
              <a:rPr lang="ko-KR" altLang="en-US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shape_similarity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만큼을 추가로 반영하여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shape_similarity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가 큰 것이 더 반영 되도록 한다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64" name="꺾인 연결선 63"/>
          <p:cNvCxnSpPr>
            <a:stCxn id="36" idx="3"/>
            <a:endCxn id="42" idx="1"/>
          </p:cNvCxnSpPr>
          <p:nvPr/>
        </p:nvCxnSpPr>
        <p:spPr>
          <a:xfrm flipV="1">
            <a:off x="3765804" y="1853147"/>
            <a:ext cx="1976645" cy="5059961"/>
          </a:xfrm>
          <a:prstGeom prst="bentConnector3">
            <a:avLst>
              <a:gd name="adj1" fmla="val 8919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5742449" y="3862075"/>
            <a:ext cx="3286896" cy="99010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cost_matrix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+=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lambda_emb 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*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 emb_cost</a:t>
            </a:r>
          </a:p>
          <a:p>
            <a:r>
              <a:rPr lang="en-US" altLang="ko-KR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cost_matrix</a:t>
            </a:r>
            <a:r>
              <a:rPr lang="ko-KR" altLang="en-US" sz="1100" b="0" smtClean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에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emb_cost</a:t>
            </a:r>
          </a:p>
          <a:p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만큼을 추가로 반영하여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,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emb_cost</a:t>
            </a:r>
          </a:p>
          <a:p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가 큰 것이 더 반영 되도록 한다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.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9" name="직사각형 68"/>
          <p:cNvSpPr/>
          <p:nvPr/>
        </p:nvSpPr>
        <p:spPr>
          <a:xfrm>
            <a:off x="5742449" y="2715785"/>
            <a:ext cx="3286896" cy="85096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lambda_emb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= (1 +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lambda_iou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lambda_shape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 + </a:t>
            </a:r>
            <a:r>
              <a:rPr lang="en-US" altLang="ko-KR" sz="110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lambda_mhd</a:t>
            </a:r>
            <a:r>
              <a:rPr lang="en-US" altLang="ko-KR" sz="1100">
                <a:solidFill>
                  <a:schemeClr val="tx1"/>
                </a:solidFill>
                <a:latin typeface="Consolas" panose="020B0609020204030204" pitchFamily="49" charset="0"/>
              </a:rPr>
              <a:t>) *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1.5</a:t>
            </a:r>
          </a:p>
          <a:p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sz="1100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</a:rPr>
              <a:t>emb_cost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반영 비율 계산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: </a:t>
            </a:r>
            <a:r>
              <a:rPr lang="ko-KR" altLang="en-US" sz="1100" smtClean="0">
                <a:solidFill>
                  <a:schemeClr val="tx1"/>
                </a:solidFill>
                <a:latin typeface="Consolas" panose="020B0609020204030204" pitchFamily="49" charset="0"/>
              </a:rPr>
              <a:t>기본값 </a:t>
            </a:r>
            <a:r>
              <a:rPr lang="en-US" altLang="ko-KR" sz="1100" smtClean="0">
                <a:solidFill>
                  <a:schemeClr val="tx1"/>
                </a:solidFill>
                <a:latin typeface="Consolas" panose="020B0609020204030204" pitchFamily="49" charset="0"/>
              </a:rPr>
              <a:t>2**1.5 = 2.82</a:t>
            </a:r>
            <a:endParaRPr lang="en-US" altLang="ko-KR" sz="1100" b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72" name="직선 화살표 연결선 71"/>
          <p:cNvCxnSpPr>
            <a:stCxn id="42" idx="2"/>
            <a:endCxn id="69" idx="0"/>
          </p:cNvCxnSpPr>
          <p:nvPr/>
        </p:nvCxnSpPr>
        <p:spPr>
          <a:xfrm>
            <a:off x="7385897" y="2499392"/>
            <a:ext cx="0" cy="216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69" idx="2"/>
            <a:endCxn id="68" idx="0"/>
          </p:cNvCxnSpPr>
          <p:nvPr/>
        </p:nvCxnSpPr>
        <p:spPr>
          <a:xfrm>
            <a:off x="7385897" y="3566752"/>
            <a:ext cx="0" cy="295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/>
          <p:cNvSpPr/>
          <p:nvPr/>
        </p:nvSpPr>
        <p:spPr>
          <a:xfrm>
            <a:off x="6702399" y="5195066"/>
            <a:ext cx="2572729" cy="4327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100" smtClean="0">
                <a:solidFill>
                  <a:schemeClr val="accent6">
                    <a:lumMod val="50000"/>
                  </a:schemeClr>
                </a:solidFill>
                <a:latin typeface="Consolas" panose="020B0609020204030204" pitchFamily="49" charset="0"/>
              </a:rPr>
              <a:t>linear_assignment</a:t>
            </a:r>
          </a:p>
          <a:p>
            <a:pPr algn="ctr"/>
            <a:r>
              <a:rPr lang="ko-KR" altLang="en-US" sz="1100" b="0" smtClean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함수 호출</a:t>
            </a:r>
            <a:endParaRPr lang="en-US" altLang="ko-KR" sz="1100" b="0">
              <a:solidFill>
                <a:schemeClr val="accent6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654899" y="5781649"/>
            <a:ext cx="2572729" cy="695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matched_indices = match(cost_matrix, threshold)</a:t>
            </a:r>
          </a:p>
          <a:p>
            <a:pPr algn="ctr"/>
            <a:r>
              <a:rPr lang="ko-KR" altLang="en-US" sz="1100" b="0" smtClean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함수 호출</a:t>
            </a:r>
            <a:endParaRPr lang="en-US" altLang="ko-KR" sz="1100" b="0">
              <a:solidFill>
                <a:schemeClr val="accent6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86" name="꺾인 연결선 85"/>
          <p:cNvCxnSpPr>
            <a:stCxn id="68" idx="2"/>
            <a:endCxn id="81" idx="1"/>
          </p:cNvCxnSpPr>
          <p:nvPr/>
        </p:nvCxnSpPr>
        <p:spPr>
          <a:xfrm rot="5400000">
            <a:off x="6764507" y="4790070"/>
            <a:ext cx="559282" cy="683498"/>
          </a:xfrm>
          <a:prstGeom prst="bentConnector4">
            <a:avLst>
              <a:gd name="adj1" fmla="val 30654"/>
              <a:gd name="adj2" fmla="val 1334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꺾인 연결선 88"/>
          <p:cNvCxnSpPr>
            <a:stCxn id="81" idx="2"/>
            <a:endCxn id="85" idx="1"/>
          </p:cNvCxnSpPr>
          <p:nvPr/>
        </p:nvCxnSpPr>
        <p:spPr>
          <a:xfrm rot="5400000">
            <a:off x="7570980" y="5711773"/>
            <a:ext cx="501705" cy="333865"/>
          </a:xfrm>
          <a:prstGeom prst="bentConnector4">
            <a:avLst>
              <a:gd name="adj1" fmla="val 15327"/>
              <a:gd name="adj2" fmla="val 16847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직사각형 101"/>
          <p:cNvSpPr/>
          <p:nvPr/>
        </p:nvSpPr>
        <p:spPr>
          <a:xfrm>
            <a:off x="7916111" y="6631263"/>
            <a:ext cx="2572729" cy="695818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10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_, x, y = lap.lapjv(-cost_matrix, extend_cost=True</a:t>
            </a:r>
            <a:r>
              <a:rPr lang="en-US" altLang="ko-KR" sz="1100" smtClean="0">
                <a:solidFill>
                  <a:schemeClr val="bg2">
                    <a:lumMod val="10000"/>
                  </a:schemeClr>
                </a:solidFill>
                <a:latin typeface="Consolas" panose="020B0609020204030204" pitchFamily="49" charset="0"/>
              </a:rPr>
              <a:t>)</a:t>
            </a:r>
          </a:p>
          <a:p>
            <a:pPr algn="ctr"/>
            <a:r>
              <a:rPr lang="ko-KR" altLang="en-US" sz="1100" b="0" smtClean="0">
                <a:solidFill>
                  <a:schemeClr val="accent6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함수 호출</a:t>
            </a:r>
            <a:endParaRPr lang="en-US" altLang="ko-KR" sz="1100" b="0">
              <a:solidFill>
                <a:schemeClr val="accent6">
                  <a:lumMod val="50000"/>
                </a:schemeClr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03" name="꺾인 연결선 102"/>
          <p:cNvCxnSpPr>
            <a:stCxn id="85" idx="2"/>
            <a:endCxn id="102" idx="1"/>
          </p:cNvCxnSpPr>
          <p:nvPr/>
        </p:nvCxnSpPr>
        <p:spPr>
          <a:xfrm rot="5400000">
            <a:off x="8177836" y="6215743"/>
            <a:ext cx="501705" cy="1025153"/>
          </a:xfrm>
          <a:prstGeom prst="bentConnector4">
            <a:avLst>
              <a:gd name="adj1" fmla="val 15327"/>
              <a:gd name="adj2" fmla="val 1222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직사각형 105"/>
          <p:cNvSpPr/>
          <p:nvPr/>
        </p:nvSpPr>
        <p:spPr>
          <a:xfrm>
            <a:off x="4507883" y="6263830"/>
            <a:ext cx="314701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lap.lapjv()</a:t>
            </a:r>
            <a:r>
              <a:rPr lang="ko-KR" altLang="en-US" sz="10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는 </a:t>
            </a:r>
            <a:r>
              <a:rPr lang="en-US" altLang="ko-KR" sz="100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Hungarian(LAPJV) </a:t>
            </a:r>
            <a:r>
              <a:rPr lang="ko-KR" altLang="en-US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알고리즘</a:t>
            </a:r>
            <a:endParaRPr lang="en-US" altLang="ko-KR" sz="1000" smtClean="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r>
              <a:rPr lang="ko-KR" altLang="ko-KR" sz="100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BoostTrack의 cost_matrix는 </a:t>
            </a:r>
            <a:r>
              <a:rPr lang="ko-KR" altLang="ko-KR" sz="1000" b="1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유사도(similarity)</a:t>
            </a:r>
            <a:r>
              <a:rPr lang="ko-KR" altLang="ko-KR" sz="1000"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 이므로 </a:t>
            </a:r>
          </a:p>
          <a:p>
            <a:r>
              <a:rPr lang="en-US" altLang="ko-KR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-cost_matrix</a:t>
            </a:r>
            <a:r>
              <a:rPr lang="ko-KR" altLang="en-US" sz="1000" smtClean="0">
                <a:solidFill>
                  <a:srgbClr val="C00000"/>
                </a:solidFill>
                <a:latin typeface="경기천년바탕 Regular" panose="02020503020101020101" pitchFamily="18" charset="-127"/>
                <a:ea typeface="경기천년바탕 Regular" panose="02020503020101020101" pitchFamily="18" charset="-127"/>
              </a:rPr>
              <a:t>를 전달함으로써 비용이 작은 쌍을 찾음</a:t>
            </a:r>
            <a:endParaRPr lang="en-US" altLang="ko-KR" sz="10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  <a:p>
            <a:endParaRPr lang="ko-KR" altLang="en-US" sz="1000">
              <a:solidFill>
                <a:srgbClr val="C00000"/>
              </a:solidFill>
              <a:latin typeface="경기천년바탕 Regular" panose="02020503020101020101" pitchFamily="18" charset="-127"/>
              <a:ea typeface="경기천년바탕 Regular" panose="02020503020101020101" pitchFamily="18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7592845"/>
              </p:ext>
            </p:extLst>
          </p:nvPr>
        </p:nvGraphicFramePr>
        <p:xfrm>
          <a:off x="4840847" y="24347"/>
          <a:ext cx="5850966" cy="12192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50322">
                  <a:extLst>
                    <a:ext uri="{9D8B030D-6E8A-4147-A177-3AD203B41FA5}">
                      <a16:colId xmlns:a16="http://schemas.microsoft.com/office/drawing/2014/main" val="4048417320"/>
                    </a:ext>
                  </a:extLst>
                </a:gridCol>
                <a:gridCol w="1950322">
                  <a:extLst>
                    <a:ext uri="{9D8B030D-6E8A-4147-A177-3AD203B41FA5}">
                      <a16:colId xmlns:a16="http://schemas.microsoft.com/office/drawing/2014/main" val="1799333545"/>
                    </a:ext>
                  </a:extLst>
                </a:gridCol>
                <a:gridCol w="1950322">
                  <a:extLst>
                    <a:ext uri="{9D8B030D-6E8A-4147-A177-3AD203B41FA5}">
                      <a16:colId xmlns:a16="http://schemas.microsoft.com/office/drawing/2014/main" val="1101612963"/>
                    </a:ext>
                  </a:extLst>
                </a:gridCol>
              </a:tblGrid>
              <a:tr h="180273">
                <a:tc>
                  <a:txBody>
                    <a:bodyPr/>
                    <a:lstStyle/>
                    <a:p>
                      <a:r>
                        <a:rPr lang="ko-KR" altLang="en-US" sz="1000"/>
                        <a:t>모델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l-GR" sz="1000"/>
                        <a:t>λ_</a:t>
                      </a:r>
                      <a:r>
                        <a:rPr lang="en-US" sz="1000"/>
                        <a:t>emb </a:t>
                      </a:r>
                      <a:r>
                        <a:rPr lang="ko-KR" altLang="en-US" sz="1000"/>
                        <a:t>비중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설명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211629"/>
                  </a:ext>
                </a:extLst>
              </a:tr>
              <a:tr h="228364">
                <a:tc>
                  <a:txBody>
                    <a:bodyPr/>
                    <a:lstStyle/>
                    <a:p>
                      <a:r>
                        <a:rPr lang="en-US" sz="1000"/>
                        <a:t>DeepSORT</a:t>
                      </a:r>
                      <a:endParaRPr 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0.5~1.0</a:t>
                      </a:r>
                      <a:endParaRPr lang="en-US" altLang="ko-KR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ReID</a:t>
                      </a:r>
                      <a:r>
                        <a:rPr lang="ko-KR" altLang="en-US" sz="1000"/>
                        <a:t>와 </a:t>
                      </a:r>
                      <a:r>
                        <a:rPr lang="en-US" altLang="ko-KR" sz="1000"/>
                        <a:t>IoU</a:t>
                      </a:r>
                      <a:r>
                        <a:rPr lang="ko-KR" altLang="en-US" sz="1000"/>
                        <a:t>를 절반씩 반영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6764284"/>
                  </a:ext>
                </a:extLst>
              </a:tr>
              <a:tr h="180273">
                <a:tc>
                  <a:txBody>
                    <a:bodyPr/>
                    <a:lstStyle/>
                    <a:p>
                      <a:r>
                        <a:rPr lang="en-US" sz="1000"/>
                        <a:t>BoT-SORT</a:t>
                      </a:r>
                      <a:endParaRPr 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0.4~0.8</a:t>
                      </a:r>
                      <a:endParaRPr lang="en-US" altLang="ko-KR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동역학 </a:t>
                      </a:r>
                      <a:r>
                        <a:rPr lang="en-US" altLang="ko-KR" sz="1000"/>
                        <a:t>+ </a:t>
                      </a:r>
                      <a:r>
                        <a:rPr lang="en-US" sz="1000"/>
                        <a:t>ReID </a:t>
                      </a:r>
                      <a:r>
                        <a:rPr lang="ko-KR" altLang="en-US" sz="1000"/>
                        <a:t>균형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5157288"/>
                  </a:ext>
                </a:extLst>
              </a:tr>
              <a:tr h="180273">
                <a:tc>
                  <a:txBody>
                    <a:bodyPr/>
                    <a:lstStyle/>
                    <a:p>
                      <a:r>
                        <a:rPr lang="en-US" sz="1000"/>
                        <a:t>BoostTrack (</a:t>
                      </a:r>
                      <a:r>
                        <a:rPr lang="ko-KR" altLang="en-US" sz="1000"/>
                        <a:t>공식 구현</a:t>
                      </a:r>
                      <a:r>
                        <a:rPr lang="en-US" altLang="ko-KR" sz="1000"/>
                        <a:t>)</a:t>
                      </a:r>
                      <a:endParaRPr lang="en-US" altLang="ko-KR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보통 </a:t>
                      </a:r>
                      <a:r>
                        <a:rPr lang="en-US" altLang="ko-KR" sz="1000"/>
                        <a:t>1.0~1.5</a:t>
                      </a:r>
                      <a:endParaRPr lang="en-US" altLang="ko-KR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상황에 따라 동적 조정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454280"/>
                  </a:ext>
                </a:extLst>
              </a:tr>
              <a:tr h="180273">
                <a:tc>
                  <a:txBody>
                    <a:bodyPr/>
                    <a:lstStyle/>
                    <a:p>
                      <a:r>
                        <a:rPr lang="ko-KR" altLang="en-US" sz="1000"/>
                        <a:t>현재 코드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ko-KR" sz="1000"/>
                        <a:t>~3.0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sz="1000"/>
                        <a:t>과도하게 강조됨 ⚠️</a:t>
                      </a:r>
                      <a:endParaRPr lang="ko-KR" altLang="en-US" sz="1000">
                        <a:latin typeface="경기천년바탕 Regular" panose="02020503020101020101" pitchFamily="18" charset="-127"/>
                        <a:ea typeface="경기천년바탕 Regular" panose="02020503020101020101" pitchFamily="18" charset="-127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5192612"/>
                  </a:ext>
                </a:extLst>
              </a:tr>
            </a:tbl>
          </a:graphicData>
        </a:graphic>
      </p:graphicFrame>
      <p:cxnSp>
        <p:nvCxnSpPr>
          <p:cNvPr id="27" name="구부러진 연결선 26"/>
          <p:cNvCxnSpPr>
            <a:endCxn id="69" idx="3"/>
          </p:cNvCxnSpPr>
          <p:nvPr/>
        </p:nvCxnSpPr>
        <p:spPr>
          <a:xfrm rot="5400000">
            <a:off x="8425912" y="1810337"/>
            <a:ext cx="1934365" cy="727498"/>
          </a:xfrm>
          <a:prstGeom prst="curvedConnector2">
            <a:avLst/>
          </a:prstGeom>
          <a:ln>
            <a:solidFill>
              <a:srgbClr val="C0000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4210040" y="4923406"/>
                <a:ext cx="2066976" cy="7529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US" altLang="ko-KR" sz="1200" b="0" smtClean="0">
                    <a:solidFill>
                      <a:srgbClr val="C00000"/>
                    </a:solidFill>
                  </a:rPr>
                  <a:t>C</a:t>
                </a:r>
                <a14:m>
                  <m:oMath xmlns:m="http://schemas.openxmlformats.org/officeDocument/2006/math"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𝑜𝑠𝑡𝑀𝑎𝑡𝑟𝑖𝑥</m:t>
                    </m:r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ko-KR" sz="12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𝑖𝑜𝑢</m:t>
                        </m:r>
                      </m:sub>
                    </m:sSub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𝑐𝑜𝑛𝑓</m:t>
                    </m:r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a:rPr lang="en-US" altLang="ko-KR" sz="12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𝐼𝑜𝑈</m:t>
                    </m:r>
                  </m:oMath>
                </a14:m>
                <a:r>
                  <a:rPr lang="en-US" altLang="ko-KR" sz="1200" b="0" i="1" smtClean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  <a:t/>
                </a:r>
                <a:br>
                  <a:rPr lang="en-US" altLang="ko-KR" sz="1200" b="0" i="1" smtClean="0">
                    <a:solidFill>
                      <a:srgbClr val="C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𝑚h</m:t>
                          </m:r>
                        </m:sub>
                      </m:sSub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𝑀h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𝑆𝑖𝑚</m:t>
                      </m:r>
                    </m:oMath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𝑠h𝑎𝑝𝑒</m:t>
                          </m:r>
                        </m:sub>
                      </m:sSub>
                      <m:r>
                        <a:rPr lang="en-US" altLang="ko-KR" sz="1200" i="1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𝑐𝑜𝑛𝑓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𝑆h𝑎𝑝𝑒</m:t>
                      </m:r>
                    </m:oMath>
                    <m:oMath xmlns:m="http://schemas.openxmlformats.org/officeDocument/2006/math"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ko-KR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20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sz="12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𝑒𝑚𝑏</m:t>
                          </m:r>
                        </m:sub>
                      </m:sSub>
                      <m:r>
                        <a:rPr lang="en-US" altLang="ko-KR" sz="120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𝐸𝑚𝑏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_</m:t>
                      </m:r>
                      <m:r>
                        <a:rPr lang="en-US" altLang="ko-KR" sz="1200" b="0" i="1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𝐶𝑜𝑠𝑡</m:t>
                      </m:r>
                    </m:oMath>
                  </m:oMathPara>
                </a14:m>
                <a:endParaRPr lang="ko-KR" altLang="en-US" sz="120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0040" y="4923406"/>
                <a:ext cx="2066976" cy="752963"/>
              </a:xfrm>
              <a:prstGeom prst="rect">
                <a:avLst/>
              </a:prstGeom>
              <a:blipFill>
                <a:blip r:embed="rId2"/>
                <a:stretch>
                  <a:fillRect l="-4720" t="-7317" r="-1180" b="-40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모서리가 둥근 직사각형 28"/>
          <p:cNvSpPr/>
          <p:nvPr/>
        </p:nvSpPr>
        <p:spPr>
          <a:xfrm>
            <a:off x="5911847" y="7088021"/>
            <a:ext cx="1743051" cy="445730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smtClean="0">
                <a:hlinkClick r:id="rId3" action="ppaction://hlinksldjump"/>
              </a:rPr>
              <a:t>return</a:t>
            </a:r>
            <a:endParaRPr lang="en-US" altLang="ko-KR" sz="1600"/>
          </a:p>
        </p:txBody>
      </p:sp>
      <p:cxnSp>
        <p:nvCxnSpPr>
          <p:cNvPr id="31" name="꺾인 연결선 30"/>
          <p:cNvCxnSpPr>
            <a:stCxn id="102" idx="2"/>
            <a:endCxn id="29" idx="3"/>
          </p:cNvCxnSpPr>
          <p:nvPr/>
        </p:nvCxnSpPr>
        <p:spPr>
          <a:xfrm rot="5400000" flipH="1">
            <a:off x="8420589" y="6545195"/>
            <a:ext cx="16195" cy="1547578"/>
          </a:xfrm>
          <a:prstGeom prst="bentConnector4">
            <a:avLst>
              <a:gd name="adj1" fmla="val -876659"/>
              <a:gd name="adj2" fmla="val 915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368490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544481" y="352923"/>
            <a:ext cx="3008354" cy="498228"/>
          </a:xfrm>
          <a:prstGeom prst="rect">
            <a:avLst/>
          </a:prstGeom>
          <a:noFill/>
        </p:spPr>
        <p:txBody>
          <a:bodyPr wrap="none" lIns="98694" tIns="49347" rIns="98694" bIns="49347">
            <a:spAutoFit/>
          </a:bodyPr>
          <a:lstStyle/>
          <a:p>
            <a:r>
              <a:rPr lang="en-US" altLang="ko-KR" sz="2590" b="1">
                <a:ln w="0"/>
                <a:solidFill>
                  <a:prstClr val="black"/>
                </a:solidFill>
                <a:latin typeface="맑은 고딕" panose="020B0503020000020004" pitchFamily="50" charset="-127"/>
              </a:rPr>
              <a:t>End-of-Document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09003" y="3108172"/>
            <a:ext cx="5489516" cy="12881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spcBef>
                <a:spcPts val="648"/>
              </a:spcBef>
            </a:pPr>
            <a:r>
              <a:rPr lang="en-US" altLang="ko-KR" sz="7771" b="1">
                <a:solidFill>
                  <a:srgbClr val="0E0585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65811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44173</TotalTime>
  <Words>4418</Words>
  <Application>Microsoft Office PowerPoint</Application>
  <PresentationFormat>사용자 지정</PresentationFormat>
  <Paragraphs>604</Paragraphs>
  <Slides>19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30" baseType="lpstr">
      <vt:lpstr>KoPub돋움체 Medium</vt:lpstr>
      <vt:lpstr>Cascadia Code</vt:lpstr>
      <vt:lpstr>Candara</vt:lpstr>
      <vt:lpstr>맑은 고딕</vt:lpstr>
      <vt:lpstr>Consolas</vt:lpstr>
      <vt:lpstr>Arial</vt:lpstr>
      <vt:lpstr>Wingdings</vt:lpstr>
      <vt:lpstr>KoPub돋움체 Bold</vt:lpstr>
      <vt:lpstr>Cambria Math</vt:lpstr>
      <vt:lpstr>경기천년바탕 Regular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비즈니스아츠</dc:creator>
  <cp:lastModifiedBy>headway</cp:lastModifiedBy>
  <cp:revision>2779</cp:revision>
  <cp:lastPrinted>2023-05-19T04:59:04Z</cp:lastPrinted>
  <dcterms:created xsi:type="dcterms:W3CDTF">2019-01-23T01:28:59Z</dcterms:created>
  <dcterms:modified xsi:type="dcterms:W3CDTF">2025-10-21T10:25:33Z</dcterms:modified>
</cp:coreProperties>
</file>