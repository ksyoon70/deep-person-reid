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fntdata" ContentType="application/x-fontdata"/>
  <Default Extension="wdp" ContentType="image/vnd.ms-photo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89" r:id="rId1"/>
  </p:sldMasterIdLst>
  <p:notesMasterIdLst>
    <p:notesMasterId r:id="rId38"/>
  </p:notesMasterIdLst>
  <p:sldIdLst>
    <p:sldId id="489" r:id="rId2"/>
    <p:sldId id="530" r:id="rId3"/>
    <p:sldId id="534" r:id="rId4"/>
    <p:sldId id="533" r:id="rId5"/>
    <p:sldId id="538" r:id="rId6"/>
    <p:sldId id="550" r:id="rId7"/>
    <p:sldId id="535" r:id="rId8"/>
    <p:sldId id="536" r:id="rId9"/>
    <p:sldId id="537" r:id="rId10"/>
    <p:sldId id="539" r:id="rId11"/>
    <p:sldId id="558" r:id="rId12"/>
    <p:sldId id="559" r:id="rId13"/>
    <p:sldId id="560" r:id="rId14"/>
    <p:sldId id="561" r:id="rId15"/>
    <p:sldId id="562" r:id="rId16"/>
    <p:sldId id="563" r:id="rId17"/>
    <p:sldId id="543" r:id="rId18"/>
    <p:sldId id="545" r:id="rId19"/>
    <p:sldId id="544" r:id="rId20"/>
    <p:sldId id="546" r:id="rId21"/>
    <p:sldId id="566" r:id="rId22"/>
    <p:sldId id="565" r:id="rId23"/>
    <p:sldId id="568" r:id="rId24"/>
    <p:sldId id="570" r:id="rId25"/>
    <p:sldId id="567" r:id="rId26"/>
    <p:sldId id="569" r:id="rId27"/>
    <p:sldId id="564" r:id="rId28"/>
    <p:sldId id="552" r:id="rId29"/>
    <p:sldId id="553" r:id="rId30"/>
    <p:sldId id="532" r:id="rId31"/>
    <p:sldId id="554" r:id="rId32"/>
    <p:sldId id="551" r:id="rId33"/>
    <p:sldId id="555" r:id="rId34"/>
    <p:sldId id="556" r:id="rId35"/>
    <p:sldId id="557" r:id="rId36"/>
    <p:sldId id="493" r:id="rId37"/>
  </p:sldIdLst>
  <p:sldSz cx="10691813" cy="7559675"/>
  <p:notesSz cx="9926638" cy="6797675"/>
  <p:embeddedFontLst>
    <p:embeddedFont>
      <p:font typeface="경기천년바탕 Regular" panose="02020503020101020101" pitchFamily="18" charset="-127"/>
      <p:regular r:id="rId39"/>
    </p:embeddedFont>
    <p:embeddedFont>
      <p:font typeface="경기천년바탕 Bold" panose="02020803020101020101" pitchFamily="18" charset="-127"/>
      <p:bold r:id="rId40"/>
    </p:embeddedFont>
    <p:embeddedFont>
      <p:font typeface="KoPub돋움체 Bold" panose="02020603020101020101" pitchFamily="18" charset="-127"/>
      <p:regular r:id="rId41"/>
    </p:embeddedFont>
    <p:embeddedFont>
      <p:font typeface="Consolas" panose="020B0609020204030204" pitchFamily="49" charset="0"/>
      <p:regular r:id="rId42"/>
      <p:bold r:id="rId43"/>
      <p:italic r:id="rId44"/>
      <p:boldItalic r:id="rId45"/>
    </p:embeddedFont>
    <p:embeddedFont>
      <p:font typeface="맑은 고딕" panose="020B0503020000020004" pitchFamily="50" charset="-127"/>
      <p:regular r:id="rId46"/>
      <p:bold r:id="rId47"/>
    </p:embeddedFont>
    <p:embeddedFont>
      <p:font typeface="Cambria Math" panose="02040503050406030204" pitchFamily="18" charset="0"/>
      <p:regular r:id="rId48"/>
    </p:embeddedFont>
  </p:embeddedFontLst>
  <p:defaultTextStyle>
    <a:defPPr>
      <a:defRPr lang="ko-KR"/>
    </a:defPPr>
    <a:lvl1pPr marL="0" algn="l" defTabSz="1042873" rtl="0" eaLnBrk="1" latinLnBrk="1" hangingPunct="1">
      <a:defRPr sz="2053" kern="1200">
        <a:solidFill>
          <a:schemeClr val="tx1"/>
        </a:solidFill>
        <a:latin typeface="+mn-lt"/>
        <a:ea typeface="+mn-ea"/>
        <a:cs typeface="+mn-cs"/>
      </a:defRPr>
    </a:lvl1pPr>
    <a:lvl2pPr marL="521437" algn="l" defTabSz="1042873" rtl="0" eaLnBrk="1" latinLnBrk="1" hangingPunct="1">
      <a:defRPr sz="2053" kern="1200">
        <a:solidFill>
          <a:schemeClr val="tx1"/>
        </a:solidFill>
        <a:latin typeface="+mn-lt"/>
        <a:ea typeface="+mn-ea"/>
        <a:cs typeface="+mn-cs"/>
      </a:defRPr>
    </a:lvl2pPr>
    <a:lvl3pPr marL="1042873" algn="l" defTabSz="1042873" rtl="0" eaLnBrk="1" latinLnBrk="1" hangingPunct="1">
      <a:defRPr sz="2053" kern="1200">
        <a:solidFill>
          <a:schemeClr val="tx1"/>
        </a:solidFill>
        <a:latin typeface="+mn-lt"/>
        <a:ea typeface="+mn-ea"/>
        <a:cs typeface="+mn-cs"/>
      </a:defRPr>
    </a:lvl3pPr>
    <a:lvl4pPr marL="1564310" algn="l" defTabSz="1042873" rtl="0" eaLnBrk="1" latinLnBrk="1" hangingPunct="1">
      <a:defRPr sz="2053" kern="1200">
        <a:solidFill>
          <a:schemeClr val="tx1"/>
        </a:solidFill>
        <a:latin typeface="+mn-lt"/>
        <a:ea typeface="+mn-ea"/>
        <a:cs typeface="+mn-cs"/>
      </a:defRPr>
    </a:lvl4pPr>
    <a:lvl5pPr marL="2085746" algn="l" defTabSz="1042873" rtl="0" eaLnBrk="1" latinLnBrk="1" hangingPunct="1">
      <a:defRPr sz="2053" kern="1200">
        <a:solidFill>
          <a:schemeClr val="tx1"/>
        </a:solidFill>
        <a:latin typeface="+mn-lt"/>
        <a:ea typeface="+mn-ea"/>
        <a:cs typeface="+mn-cs"/>
      </a:defRPr>
    </a:lvl5pPr>
    <a:lvl6pPr marL="2607183" algn="l" defTabSz="1042873" rtl="0" eaLnBrk="1" latinLnBrk="1" hangingPunct="1">
      <a:defRPr sz="2053" kern="1200">
        <a:solidFill>
          <a:schemeClr val="tx1"/>
        </a:solidFill>
        <a:latin typeface="+mn-lt"/>
        <a:ea typeface="+mn-ea"/>
        <a:cs typeface="+mn-cs"/>
      </a:defRPr>
    </a:lvl6pPr>
    <a:lvl7pPr marL="3128620" algn="l" defTabSz="1042873" rtl="0" eaLnBrk="1" latinLnBrk="1" hangingPunct="1">
      <a:defRPr sz="2053" kern="1200">
        <a:solidFill>
          <a:schemeClr val="tx1"/>
        </a:solidFill>
        <a:latin typeface="+mn-lt"/>
        <a:ea typeface="+mn-ea"/>
        <a:cs typeface="+mn-cs"/>
      </a:defRPr>
    </a:lvl7pPr>
    <a:lvl8pPr marL="3650056" algn="l" defTabSz="1042873" rtl="0" eaLnBrk="1" latinLnBrk="1" hangingPunct="1">
      <a:defRPr sz="2053" kern="1200">
        <a:solidFill>
          <a:schemeClr val="tx1"/>
        </a:solidFill>
        <a:latin typeface="+mn-lt"/>
        <a:ea typeface="+mn-ea"/>
        <a:cs typeface="+mn-cs"/>
      </a:defRPr>
    </a:lvl8pPr>
    <a:lvl9pPr marL="4171493" algn="l" defTabSz="1042873" rtl="0" eaLnBrk="1" latinLnBrk="1" hangingPunct="1">
      <a:defRPr sz="2053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8" orient="horz" pos="2358" userDrawn="1">
          <p15:clr>
            <a:srgbClr val="A4A3A4"/>
          </p15:clr>
        </p15:guide>
        <p15:guide id="9" pos="3345" userDrawn="1">
          <p15:clr>
            <a:srgbClr val="A4A3A4"/>
          </p15:clr>
        </p15:guide>
        <p15:guide id="10" pos="782" userDrawn="1">
          <p15:clr>
            <a:srgbClr val="A4A3A4"/>
          </p15:clr>
        </p15:guide>
        <p15:guide id="11" pos="1349" userDrawn="1">
          <p15:clr>
            <a:srgbClr val="A4A3A4"/>
          </p15:clr>
        </p15:guide>
        <p15:guide id="12" pos="2438" userDrawn="1">
          <p15:clr>
            <a:srgbClr val="A4A3A4"/>
          </p15:clr>
        </p15:guide>
        <p15:guide id="13" pos="5704" userDrawn="1">
          <p15:clr>
            <a:srgbClr val="A4A3A4"/>
          </p15:clr>
        </p15:guide>
        <p15:guide id="14" pos="533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00"/>
    <a:srgbClr val="CCFF66"/>
    <a:srgbClr val="CCFF33"/>
    <a:srgbClr val="99CC00"/>
    <a:srgbClr val="CCCC00"/>
    <a:srgbClr val="CC9900"/>
    <a:srgbClr val="CC3399"/>
    <a:srgbClr val="990033"/>
    <a:srgbClr val="990099"/>
    <a:srgbClr val="C691C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보통 스타일 2 - 강조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8EC20E35-A176-4012-BC5E-935CFFF8708E}" styleName="보통 스타일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6E25E649-3F16-4E02-A733-19D2CDBF48F0}" styleName="보통 스타일 3 - 강조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1FECB4D8-DB02-4DC6-A0A2-4F2EBAE1DC90}" styleName="보통 스타일 1 - 강조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  <a:tblStyle styleId="{0505E3EF-67EA-436B-97B2-0124C06EBD24}" styleName="보통 스타일 4 - 강조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  <a:tblStyle styleId="{69C7853C-536D-4A76-A0AE-DD22124D55A5}" styleName="테마 스타일 1 - 강조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7DF18680-E054-41AD-8BC1-D1AEF772440D}" styleName="보통 스타일 2 - 강조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5A111915-BE36-4E01-A7E5-04B1672EAD32}" styleName="밝은 스타일 2 - 강조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9DCAF9ED-07DC-4A11-8D7F-57B35C25682E}" styleName="보통 스타일 1 - 강조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1E171933-4619-4E11-9A3F-F7608DF75F80}" styleName="보통 스타일 1 - 강조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4">
              <a:tint val="20000"/>
            </a:schemeClr>
          </a:solidFill>
        </a:fill>
      </a:tcStyle>
    </a:band1H>
    <a:band1V>
      <a:tcStyle>
        <a:tcBdr/>
        <a:fill>
          <a:solidFill>
            <a:schemeClr val="accent4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2849" autoAdjust="0"/>
    <p:restoredTop sz="93184" autoAdjust="0"/>
  </p:normalViewPr>
  <p:slideViewPr>
    <p:cSldViewPr snapToGrid="0" showGuides="1">
      <p:cViewPr varScale="1">
        <p:scale>
          <a:sx n="99" d="100"/>
          <a:sy n="99" d="100"/>
        </p:scale>
        <p:origin x="1050" y="96"/>
      </p:cViewPr>
      <p:guideLst>
        <p:guide orient="horz" pos="2358"/>
        <p:guide pos="3345"/>
        <p:guide pos="782"/>
        <p:guide pos="1349"/>
        <p:guide pos="2438"/>
        <p:guide pos="5704"/>
        <p:guide pos="533"/>
      </p:guideLst>
    </p:cSldViewPr>
  </p:slid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00" d="100"/>
        <a:sy n="100" d="100"/>
      </p:scale>
      <p:origin x="0" y="-5676"/>
    </p:cViewPr>
  </p:sorterViewPr>
  <p:notesViewPr>
    <p:cSldViewPr snapToGrid="0">
      <p:cViewPr>
        <p:scale>
          <a:sx n="125" d="100"/>
          <a:sy n="125" d="100"/>
        </p:scale>
        <p:origin x="3720" y="87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font" Target="fonts/font1.fntdata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font" Target="fonts/font4.fntdata"/><Relationship Id="rId47" Type="http://schemas.openxmlformats.org/officeDocument/2006/relationships/font" Target="fonts/font9.fntdata"/><Relationship Id="rId50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font" Target="fonts/font2.fntdata"/><Relationship Id="rId45" Type="http://schemas.openxmlformats.org/officeDocument/2006/relationships/font" Target="fonts/font7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font" Target="fonts/font6.fntdata"/><Relationship Id="rId52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font" Target="fonts/font5.fntdata"/><Relationship Id="rId48" Type="http://schemas.openxmlformats.org/officeDocument/2006/relationships/font" Target="fonts/font10.fntdata"/><Relationship Id="rId8" Type="http://schemas.openxmlformats.org/officeDocument/2006/relationships/slide" Target="slides/slide7.xml"/><Relationship Id="rId51" Type="http://schemas.openxmlformats.org/officeDocument/2006/relationships/theme" Target="theme/theme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notesMaster" Target="notesMasters/notesMaster1.xml"/><Relationship Id="rId46" Type="http://schemas.openxmlformats.org/officeDocument/2006/relationships/font" Target="fonts/font8.fntdata"/><Relationship Id="rId20" Type="http://schemas.openxmlformats.org/officeDocument/2006/relationships/slide" Target="slides/slide19.xml"/><Relationship Id="rId41" Type="http://schemas.openxmlformats.org/officeDocument/2006/relationships/font" Target="fonts/font3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4301385" cy="340835"/>
          </a:xfrm>
          <a:prstGeom prst="rect">
            <a:avLst/>
          </a:prstGeom>
        </p:spPr>
        <p:txBody>
          <a:bodyPr vert="horz" lIns="91312" tIns="45656" rIns="91312" bIns="45656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5622083" y="1"/>
            <a:ext cx="4302970" cy="340835"/>
          </a:xfrm>
          <a:prstGeom prst="rect">
            <a:avLst/>
          </a:prstGeom>
        </p:spPr>
        <p:txBody>
          <a:bodyPr vert="horz" lIns="91312" tIns="45656" rIns="91312" bIns="45656" rtlCol="0"/>
          <a:lstStyle>
            <a:lvl1pPr algn="r">
              <a:defRPr sz="1200"/>
            </a:lvl1pPr>
          </a:lstStyle>
          <a:p>
            <a:fld id="{4BBBCA84-884A-4990-B4B7-7C892AB4BE20}" type="datetimeFigureOut">
              <a:rPr lang="ko-KR" altLang="en-US" smtClean="0"/>
              <a:t>2025-04-09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3341688" y="849313"/>
            <a:ext cx="3243262" cy="229393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312" tIns="45656" rIns="91312" bIns="45656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992505" y="3272015"/>
            <a:ext cx="7941628" cy="2675950"/>
          </a:xfrm>
          <a:prstGeom prst="rect">
            <a:avLst/>
          </a:prstGeom>
        </p:spPr>
        <p:txBody>
          <a:bodyPr vert="horz" lIns="91312" tIns="45656" rIns="91312" bIns="45656" rtlCol="0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6456841"/>
            <a:ext cx="4301385" cy="340834"/>
          </a:xfrm>
          <a:prstGeom prst="rect">
            <a:avLst/>
          </a:prstGeom>
        </p:spPr>
        <p:txBody>
          <a:bodyPr vert="horz" lIns="91312" tIns="45656" rIns="91312" bIns="45656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5622083" y="6456841"/>
            <a:ext cx="4302970" cy="340834"/>
          </a:xfrm>
          <a:prstGeom prst="rect">
            <a:avLst/>
          </a:prstGeom>
        </p:spPr>
        <p:txBody>
          <a:bodyPr vert="horz" lIns="91312" tIns="45656" rIns="91312" bIns="45656" rtlCol="0" anchor="b"/>
          <a:lstStyle>
            <a:lvl1pPr algn="r">
              <a:defRPr sz="1200"/>
            </a:lvl1pPr>
          </a:lstStyle>
          <a:p>
            <a:fld id="{B27341C3-77BA-4E20-A2DA-6C31421BF43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456728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27341C3-77BA-4E20-A2DA-6C31421BF43B}" type="slidenum">
              <a:rPr lang="ko-KR" altLang="en-US" smtClean="0"/>
              <a:t>30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9407512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27341C3-77BA-4E20-A2DA-6C31421BF43B}" type="slidenum">
              <a:rPr lang="ko-KR" altLang="en-US" smtClean="0"/>
              <a:t>31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2877816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bg>
      <p:bgPr>
        <a:gradFill flip="none" rotWithShape="1">
          <a:gsLst>
            <a:gs pos="0">
              <a:schemeClr val="bg1"/>
            </a:gs>
            <a:gs pos="48000">
              <a:schemeClr val="bg1">
                <a:lumMod val="95000"/>
              </a:schemeClr>
            </a:gs>
            <a:gs pos="100000">
              <a:schemeClr val="accent3">
                <a:lumMod val="105000"/>
                <a:satMod val="109000"/>
                <a:tint val="81000"/>
              </a:schemeClr>
            </a:gs>
          </a:gsLst>
          <a:lin ang="54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6981340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35013" y="403225"/>
            <a:ext cx="9221787" cy="1460500"/>
          </a:xfrm>
          <a:prstGeom prst="rect">
            <a:avLst/>
          </a:prstGeo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735013" y="2012950"/>
            <a:ext cx="9221787" cy="47958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>
          <a:xfrm>
            <a:off x="735013" y="7007225"/>
            <a:ext cx="2405062" cy="401638"/>
          </a:xfrm>
          <a:prstGeom prst="rect">
            <a:avLst/>
          </a:prstGeom>
        </p:spPr>
        <p:txBody>
          <a:bodyPr/>
          <a:lstStyle/>
          <a:p>
            <a:fld id="{07719A32-527B-4108-A498-F4E1C0CFB8F3}" type="datetimeFigureOut">
              <a:rPr lang="ko-KR" altLang="en-US" smtClean="0"/>
              <a:t>2025-04-09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>
          <a:xfrm>
            <a:off x="3541713" y="7007225"/>
            <a:ext cx="3608387" cy="401638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>
          <a:xfrm>
            <a:off x="7551738" y="7007225"/>
            <a:ext cx="2405062" cy="401638"/>
          </a:xfrm>
          <a:prstGeom prst="rect">
            <a:avLst/>
          </a:prstGeom>
        </p:spPr>
        <p:txBody>
          <a:bodyPr/>
          <a:lstStyle/>
          <a:p>
            <a:fld id="{40A0C479-B11F-49F7-96C5-CDED81805EF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44856846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30250" y="1884363"/>
            <a:ext cx="9220200" cy="3144837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30250" y="5059363"/>
            <a:ext cx="9220200" cy="16525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>
          <a:xfrm>
            <a:off x="735013" y="7007225"/>
            <a:ext cx="2405062" cy="401638"/>
          </a:xfrm>
          <a:prstGeom prst="rect">
            <a:avLst/>
          </a:prstGeom>
        </p:spPr>
        <p:txBody>
          <a:bodyPr/>
          <a:lstStyle/>
          <a:p>
            <a:fld id="{07719A32-527B-4108-A498-F4E1C0CFB8F3}" type="datetimeFigureOut">
              <a:rPr lang="ko-KR" altLang="en-US" smtClean="0"/>
              <a:t>2025-04-09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>
          <a:xfrm>
            <a:off x="3541713" y="7007225"/>
            <a:ext cx="3608387" cy="401638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>
          <a:xfrm>
            <a:off x="7551738" y="7007225"/>
            <a:ext cx="2405062" cy="401638"/>
          </a:xfrm>
          <a:prstGeom prst="rect">
            <a:avLst/>
          </a:prstGeom>
        </p:spPr>
        <p:txBody>
          <a:bodyPr/>
          <a:lstStyle/>
          <a:p>
            <a:fld id="{40A0C479-B11F-49F7-96C5-CDED81805EF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7315935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35013" y="403225"/>
            <a:ext cx="9221787" cy="1460500"/>
          </a:xfrm>
          <a:prstGeom prst="rect">
            <a:avLst/>
          </a:prstGeo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735013" y="2012950"/>
            <a:ext cx="4533900" cy="47958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5421313" y="2012950"/>
            <a:ext cx="4535487" cy="47958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>
          <a:xfrm>
            <a:off x="735013" y="7007225"/>
            <a:ext cx="2405062" cy="401638"/>
          </a:xfrm>
          <a:prstGeom prst="rect">
            <a:avLst/>
          </a:prstGeom>
        </p:spPr>
        <p:txBody>
          <a:bodyPr/>
          <a:lstStyle/>
          <a:p>
            <a:fld id="{07719A32-527B-4108-A498-F4E1C0CFB8F3}" type="datetimeFigureOut">
              <a:rPr lang="ko-KR" altLang="en-US" smtClean="0"/>
              <a:t>2025-04-09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>
          <a:xfrm>
            <a:off x="3541713" y="7007225"/>
            <a:ext cx="3608387" cy="401638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>
          <a:xfrm>
            <a:off x="7551738" y="7007225"/>
            <a:ext cx="2405062" cy="401638"/>
          </a:xfrm>
          <a:prstGeom prst="rect">
            <a:avLst/>
          </a:prstGeom>
        </p:spPr>
        <p:txBody>
          <a:bodyPr/>
          <a:lstStyle/>
          <a:p>
            <a:fld id="{40A0C479-B11F-49F7-96C5-CDED81805EF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459214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36600" y="403225"/>
            <a:ext cx="9221788" cy="1460500"/>
          </a:xfrm>
          <a:prstGeom prst="rect">
            <a:avLst/>
          </a:prstGeo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36600" y="1852613"/>
            <a:ext cx="4522788" cy="908050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736600" y="2760663"/>
            <a:ext cx="4522788" cy="4062412"/>
          </a:xfrm>
          <a:prstGeom prst="rect">
            <a:avLst/>
          </a:prstGeo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5413375" y="1852613"/>
            <a:ext cx="4545013" cy="908050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5413375" y="2760663"/>
            <a:ext cx="4545013" cy="4062412"/>
          </a:xfrm>
          <a:prstGeom prst="rect">
            <a:avLst/>
          </a:prstGeo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>
          <a:xfrm>
            <a:off x="735013" y="7007225"/>
            <a:ext cx="2405062" cy="401638"/>
          </a:xfrm>
          <a:prstGeom prst="rect">
            <a:avLst/>
          </a:prstGeom>
        </p:spPr>
        <p:txBody>
          <a:bodyPr/>
          <a:lstStyle/>
          <a:p>
            <a:fld id="{07719A32-527B-4108-A498-F4E1C0CFB8F3}" type="datetimeFigureOut">
              <a:rPr lang="ko-KR" altLang="en-US" smtClean="0"/>
              <a:t>2025-04-09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>
          <a:xfrm>
            <a:off x="3541713" y="7007225"/>
            <a:ext cx="3608387" cy="401638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>
          <a:xfrm>
            <a:off x="7551738" y="7007225"/>
            <a:ext cx="2405062" cy="401638"/>
          </a:xfrm>
          <a:prstGeom prst="rect">
            <a:avLst/>
          </a:prstGeom>
        </p:spPr>
        <p:txBody>
          <a:bodyPr/>
          <a:lstStyle/>
          <a:p>
            <a:fld id="{40A0C479-B11F-49F7-96C5-CDED81805EF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5475888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35013" y="403225"/>
            <a:ext cx="9221787" cy="1460500"/>
          </a:xfrm>
          <a:prstGeom prst="rect">
            <a:avLst/>
          </a:prstGeo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>
          <a:xfrm>
            <a:off x="735013" y="7007225"/>
            <a:ext cx="2405062" cy="401638"/>
          </a:xfrm>
          <a:prstGeom prst="rect">
            <a:avLst/>
          </a:prstGeom>
        </p:spPr>
        <p:txBody>
          <a:bodyPr/>
          <a:lstStyle/>
          <a:p>
            <a:fld id="{07719A32-527B-4108-A498-F4E1C0CFB8F3}" type="datetimeFigureOut">
              <a:rPr lang="ko-KR" altLang="en-US" smtClean="0"/>
              <a:t>2025-04-09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>
          <a:xfrm>
            <a:off x="3541713" y="7007225"/>
            <a:ext cx="3608387" cy="401638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>
          <a:xfrm>
            <a:off x="7551738" y="7007225"/>
            <a:ext cx="2405062" cy="401638"/>
          </a:xfrm>
          <a:prstGeom prst="rect">
            <a:avLst/>
          </a:prstGeom>
        </p:spPr>
        <p:txBody>
          <a:bodyPr/>
          <a:lstStyle/>
          <a:p>
            <a:fld id="{40A0C479-B11F-49F7-96C5-CDED81805EF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57511255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>
          <a:xfrm>
            <a:off x="735013" y="7007225"/>
            <a:ext cx="2405062" cy="401638"/>
          </a:xfrm>
          <a:prstGeom prst="rect">
            <a:avLst/>
          </a:prstGeom>
        </p:spPr>
        <p:txBody>
          <a:bodyPr/>
          <a:lstStyle/>
          <a:p>
            <a:fld id="{07719A32-527B-4108-A498-F4E1C0CFB8F3}" type="datetimeFigureOut">
              <a:rPr lang="ko-KR" altLang="en-US" smtClean="0"/>
              <a:t>2025-04-09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>
          <a:xfrm>
            <a:off x="3541713" y="7007225"/>
            <a:ext cx="3608387" cy="401638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>
          <a:xfrm>
            <a:off x="7551738" y="7007225"/>
            <a:ext cx="2405062" cy="401638"/>
          </a:xfrm>
          <a:prstGeom prst="rect">
            <a:avLst/>
          </a:prstGeom>
        </p:spPr>
        <p:txBody>
          <a:bodyPr/>
          <a:lstStyle/>
          <a:p>
            <a:fld id="{40A0C479-B11F-49F7-96C5-CDED81805EF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95446905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36600" y="503238"/>
            <a:ext cx="3448050" cy="17653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4545013" y="1089025"/>
            <a:ext cx="5413375" cy="5372100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736600" y="2268538"/>
            <a:ext cx="3448050" cy="420052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>
          <a:xfrm>
            <a:off x="735013" y="7007225"/>
            <a:ext cx="2405062" cy="401638"/>
          </a:xfrm>
          <a:prstGeom prst="rect">
            <a:avLst/>
          </a:prstGeom>
        </p:spPr>
        <p:txBody>
          <a:bodyPr/>
          <a:lstStyle/>
          <a:p>
            <a:fld id="{07719A32-527B-4108-A498-F4E1C0CFB8F3}" type="datetimeFigureOut">
              <a:rPr lang="ko-KR" altLang="en-US" smtClean="0"/>
              <a:t>2025-04-09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>
          <a:xfrm>
            <a:off x="3541713" y="7007225"/>
            <a:ext cx="3608387" cy="401638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>
          <a:xfrm>
            <a:off x="7551738" y="7007225"/>
            <a:ext cx="2405062" cy="401638"/>
          </a:xfrm>
          <a:prstGeom prst="rect">
            <a:avLst/>
          </a:prstGeom>
        </p:spPr>
        <p:txBody>
          <a:bodyPr/>
          <a:lstStyle/>
          <a:p>
            <a:fld id="{40A0C479-B11F-49F7-96C5-CDED81805EF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963340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36600" y="503238"/>
            <a:ext cx="3448050" cy="17653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4545013" y="1089025"/>
            <a:ext cx="5413375" cy="53721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736600" y="2268538"/>
            <a:ext cx="3448050" cy="420052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>
          <a:xfrm>
            <a:off x="735013" y="7007225"/>
            <a:ext cx="2405062" cy="401638"/>
          </a:xfrm>
          <a:prstGeom prst="rect">
            <a:avLst/>
          </a:prstGeom>
        </p:spPr>
        <p:txBody>
          <a:bodyPr/>
          <a:lstStyle/>
          <a:p>
            <a:fld id="{07719A32-527B-4108-A498-F4E1C0CFB8F3}" type="datetimeFigureOut">
              <a:rPr lang="ko-KR" altLang="en-US" smtClean="0"/>
              <a:t>2025-04-09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>
          <a:xfrm>
            <a:off x="3541713" y="7007225"/>
            <a:ext cx="3608387" cy="401638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>
          <a:xfrm>
            <a:off x="7551738" y="7007225"/>
            <a:ext cx="2405062" cy="401638"/>
          </a:xfrm>
          <a:prstGeom prst="rect">
            <a:avLst/>
          </a:prstGeom>
        </p:spPr>
        <p:txBody>
          <a:bodyPr/>
          <a:lstStyle/>
          <a:p>
            <a:fld id="{40A0C479-B11F-49F7-96C5-CDED81805EF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885504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35013" y="403225"/>
            <a:ext cx="9221787" cy="1460500"/>
          </a:xfrm>
          <a:prstGeom prst="rect">
            <a:avLst/>
          </a:prstGeo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735013" y="2012950"/>
            <a:ext cx="9221787" cy="47958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>
          <a:xfrm>
            <a:off x="735013" y="7007225"/>
            <a:ext cx="2405062" cy="401638"/>
          </a:xfrm>
          <a:prstGeom prst="rect">
            <a:avLst/>
          </a:prstGeom>
        </p:spPr>
        <p:txBody>
          <a:bodyPr/>
          <a:lstStyle/>
          <a:p>
            <a:fld id="{07719A32-527B-4108-A498-F4E1C0CFB8F3}" type="datetimeFigureOut">
              <a:rPr lang="ko-KR" altLang="en-US" smtClean="0"/>
              <a:t>2025-04-09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>
          <a:xfrm>
            <a:off x="3541713" y="7007225"/>
            <a:ext cx="3608387" cy="401638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>
          <a:xfrm>
            <a:off x="7551738" y="7007225"/>
            <a:ext cx="2405062" cy="401638"/>
          </a:xfrm>
          <a:prstGeom prst="rect">
            <a:avLst/>
          </a:prstGeom>
        </p:spPr>
        <p:txBody>
          <a:bodyPr/>
          <a:lstStyle/>
          <a:p>
            <a:fld id="{40A0C479-B11F-49F7-96C5-CDED81805EF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2218296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7651750" y="403225"/>
            <a:ext cx="2305050" cy="6405563"/>
          </a:xfrm>
          <a:prstGeom prst="rect">
            <a:avLst/>
          </a:prstGeo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735013" y="403225"/>
            <a:ext cx="6764337" cy="6405563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>
          <a:xfrm>
            <a:off x="735013" y="7007225"/>
            <a:ext cx="2405062" cy="401638"/>
          </a:xfrm>
          <a:prstGeom prst="rect">
            <a:avLst/>
          </a:prstGeom>
        </p:spPr>
        <p:txBody>
          <a:bodyPr/>
          <a:lstStyle/>
          <a:p>
            <a:fld id="{07719A32-527B-4108-A498-F4E1C0CFB8F3}" type="datetimeFigureOut">
              <a:rPr lang="ko-KR" altLang="en-US" smtClean="0"/>
              <a:t>2025-04-09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>
          <a:xfrm>
            <a:off x="3541713" y="7007225"/>
            <a:ext cx="3608387" cy="401638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>
          <a:xfrm>
            <a:off x="7551738" y="7007225"/>
            <a:ext cx="2405062" cy="401638"/>
          </a:xfrm>
          <a:prstGeom prst="rect">
            <a:avLst/>
          </a:prstGeom>
        </p:spPr>
        <p:txBody>
          <a:bodyPr/>
          <a:lstStyle/>
          <a:p>
            <a:fld id="{40A0C479-B11F-49F7-96C5-CDED81805EF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8476097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90212440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507475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1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그룹 4"/>
          <p:cNvGrpSpPr/>
          <p:nvPr userDrawn="1"/>
        </p:nvGrpSpPr>
        <p:grpSpPr>
          <a:xfrm>
            <a:off x="5" y="971562"/>
            <a:ext cx="10241689" cy="142875"/>
            <a:chOff x="5" y="971562"/>
            <a:chExt cx="10241689" cy="142875"/>
          </a:xfrm>
        </p:grpSpPr>
        <p:sp>
          <p:nvSpPr>
            <p:cNvPr id="6" name="양쪽 모서리가 둥근 사각형 5"/>
            <p:cNvSpPr/>
            <p:nvPr/>
          </p:nvSpPr>
          <p:spPr>
            <a:xfrm rot="5400000">
              <a:off x="9982319" y="855061"/>
              <a:ext cx="142866" cy="375885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rgbClr val="102B4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0" name="직사각형 9"/>
            <p:cNvSpPr/>
            <p:nvPr/>
          </p:nvSpPr>
          <p:spPr>
            <a:xfrm rot="16200000" flipH="1">
              <a:off x="4861470" y="-3889903"/>
              <a:ext cx="142875" cy="9865806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pic>
        <p:nvPicPr>
          <p:cNvPr id="2" name="그림 1"/>
          <p:cNvPicPr>
            <a:picLocks noChangeAspect="1"/>
          </p:cNvPicPr>
          <p:nvPr userDrawn="1"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68747" y="7118588"/>
            <a:ext cx="924124" cy="2758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87727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0" r:id="rId1"/>
    <p:sldLayoutId id="2147483691" r:id="rId2"/>
    <p:sldLayoutId id="2147483692" r:id="rId3"/>
    <p:sldLayoutId id="2147483693" r:id="rId4"/>
    <p:sldLayoutId id="2147483694" r:id="rId5"/>
    <p:sldLayoutId id="2147483695" r:id="rId6"/>
    <p:sldLayoutId id="2147483696" r:id="rId7"/>
    <p:sldLayoutId id="2147483697" r:id="rId8"/>
    <p:sldLayoutId id="2147483698" r:id="rId9"/>
    <p:sldLayoutId id="2147483699" r:id="rId10"/>
    <p:sldLayoutId id="2147483700" r:id="rId11"/>
    <p:sldLayoutId id="2147483673" r:id="rId12"/>
    <p:sldLayoutId id="2147483688" r:id="rId13"/>
  </p:sldLayoutIdLst>
  <p:timing>
    <p:tnLst>
      <p:par>
        <p:cTn id="1" dur="indefinite" restart="never" nodeType="tmRoot"/>
      </p:par>
    </p:tnLst>
  </p:timing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" Target="slide7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slide" Target="slide14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slide" Target="slide12.xml"/><Relationship Id="rId2" Type="http://schemas.openxmlformats.org/officeDocument/2006/relationships/slide" Target="slide15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slide" Target="slide19.xml"/><Relationship Id="rId2" Type="http://schemas.openxmlformats.org/officeDocument/2006/relationships/slide" Target="slide17.xml"/><Relationship Id="rId1" Type="http://schemas.openxmlformats.org/officeDocument/2006/relationships/slideLayout" Target="../slideLayouts/slideLayout7.xml"/><Relationship Id="rId6" Type="http://schemas.openxmlformats.org/officeDocument/2006/relationships/slide" Target="slide14.xml"/><Relationship Id="rId5" Type="http://schemas.openxmlformats.org/officeDocument/2006/relationships/slide" Target="slide18.xml"/><Relationship Id="rId4" Type="http://schemas.openxmlformats.org/officeDocument/2006/relationships/slide" Target="slide20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slide" Target="slide15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slide" Target="slide15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slide" Target="slide15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slide" Target="slide15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186328" y="1875652"/>
            <a:ext cx="10691814" cy="45436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4749" b="1" dirty="0"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itchFamily="34" charset="0"/>
                <a:cs typeface="Arial" pitchFamily="34" charset="0"/>
              </a:rPr>
              <a:t> </a:t>
            </a:r>
            <a:r>
              <a:rPr lang="en-US" altLang="ko-KR" sz="4749" b="1" dirty="0" smtClean="0"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itchFamily="34" charset="0"/>
                <a:cs typeface="Arial" pitchFamily="34" charset="0"/>
              </a:rPr>
              <a:t>Deep-person-</a:t>
            </a:r>
            <a:r>
              <a:rPr lang="en-US" altLang="ko-KR" sz="4749" b="1" dirty="0" err="1" smtClean="0"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itchFamily="34" charset="0"/>
                <a:cs typeface="Arial" pitchFamily="34" charset="0"/>
              </a:rPr>
              <a:t>reid</a:t>
            </a:r>
            <a:r>
              <a:rPr lang="en-US" altLang="ko-KR" sz="4749" b="1" dirty="0" smtClean="0"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itchFamily="34" charset="0"/>
                <a:cs typeface="Arial" pitchFamily="34" charset="0"/>
              </a:rPr>
              <a:t> </a:t>
            </a:r>
            <a:r>
              <a:rPr lang="ko-KR" altLang="en-US" sz="4749" b="1" dirty="0" smtClean="0"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itchFamily="34" charset="0"/>
                <a:cs typeface="Arial" pitchFamily="34" charset="0"/>
              </a:rPr>
              <a:t>구조와 이해</a:t>
            </a:r>
            <a:endParaRPr lang="en-US" altLang="ko-KR" sz="3022" b="1" dirty="0">
              <a:solidFill>
                <a:prstClr val="white">
                  <a:lumMod val="50000"/>
                </a:prstClr>
              </a:solidFill>
              <a:latin typeface="Arial" pitchFamily="34" charset="0"/>
            </a:endParaRPr>
          </a:p>
          <a:p>
            <a:pPr algn="ctr"/>
            <a:endParaRPr lang="en-US" altLang="ko-KR" sz="3022" b="1" dirty="0" smtClean="0">
              <a:solidFill>
                <a:prstClr val="white">
                  <a:lumMod val="50000"/>
                </a:prstClr>
              </a:solidFill>
              <a:latin typeface="Arial" pitchFamily="34" charset="0"/>
            </a:endParaRPr>
          </a:p>
          <a:p>
            <a:pPr algn="ctr"/>
            <a:endParaRPr lang="en-US" altLang="ko-KR" sz="3022" b="1" dirty="0">
              <a:solidFill>
                <a:prstClr val="white">
                  <a:lumMod val="50000"/>
                </a:prstClr>
              </a:solidFill>
              <a:latin typeface="Arial" pitchFamily="34" charset="0"/>
            </a:endParaRPr>
          </a:p>
          <a:p>
            <a:pPr algn="ctr"/>
            <a:endParaRPr lang="en-US" altLang="ko-KR" sz="3022" b="1" dirty="0" smtClean="0">
              <a:solidFill>
                <a:prstClr val="white">
                  <a:lumMod val="50000"/>
                </a:prstClr>
              </a:solidFill>
              <a:latin typeface="Arial" pitchFamily="34" charset="0"/>
            </a:endParaRPr>
          </a:p>
          <a:p>
            <a:pPr algn="ctr"/>
            <a:endParaRPr lang="en-US" altLang="ko-KR" sz="3022" b="1" dirty="0">
              <a:solidFill>
                <a:prstClr val="white">
                  <a:lumMod val="50000"/>
                </a:prstClr>
              </a:solidFill>
              <a:latin typeface="Arial" pitchFamily="34" charset="0"/>
            </a:endParaRPr>
          </a:p>
          <a:p>
            <a:pPr algn="ctr"/>
            <a:endParaRPr lang="en-US" altLang="ko-KR" sz="3022" b="1" dirty="0" smtClean="0">
              <a:solidFill>
                <a:prstClr val="white">
                  <a:lumMod val="50000"/>
                </a:prstClr>
              </a:solidFill>
              <a:latin typeface="Arial" pitchFamily="34" charset="0"/>
            </a:endParaRPr>
          </a:p>
          <a:p>
            <a:pPr algn="ctr"/>
            <a:r>
              <a:rPr lang="ko-KR" altLang="en-US" sz="3022" b="1" dirty="0" smtClean="0">
                <a:solidFill>
                  <a:prstClr val="white">
                    <a:lumMod val="50000"/>
                  </a:prstClr>
                </a:solidFill>
                <a:latin typeface="Arial" pitchFamily="34" charset="0"/>
              </a:rPr>
              <a:t>작성자 </a:t>
            </a:r>
            <a:r>
              <a:rPr lang="en-US" altLang="ko-KR" sz="3022" b="1" dirty="0" smtClean="0">
                <a:solidFill>
                  <a:prstClr val="white">
                    <a:lumMod val="50000"/>
                  </a:prstClr>
                </a:solidFill>
                <a:latin typeface="Arial" pitchFamily="34" charset="0"/>
              </a:rPr>
              <a:t>: </a:t>
            </a:r>
            <a:r>
              <a:rPr lang="ko-KR" altLang="en-US" sz="3022" b="1" dirty="0" smtClean="0">
                <a:solidFill>
                  <a:prstClr val="white">
                    <a:lumMod val="50000"/>
                  </a:prstClr>
                </a:solidFill>
                <a:latin typeface="Arial" pitchFamily="34" charset="0"/>
              </a:rPr>
              <a:t>윤경섭</a:t>
            </a:r>
            <a:endParaRPr lang="en-US" altLang="ko-KR" sz="3022" b="1" dirty="0">
              <a:solidFill>
                <a:prstClr val="white">
                  <a:lumMod val="50000"/>
                </a:prstClr>
              </a:solidFill>
              <a:latin typeface="Arial" pitchFamily="34" charset="0"/>
            </a:endParaRPr>
          </a:p>
          <a:p>
            <a:pPr algn="ctr"/>
            <a:endParaRPr lang="en-US" altLang="ko-KR" sz="3022" b="1" dirty="0">
              <a:solidFill>
                <a:prstClr val="white">
                  <a:lumMod val="50000"/>
                </a:prstClr>
              </a:solidFill>
              <a:latin typeface="Arial" pitchFamily="34" charset="0"/>
            </a:endParaRPr>
          </a:p>
          <a:p>
            <a:pPr algn="ctr"/>
            <a:r>
              <a:rPr lang="en-US" altLang="ko-KR" sz="3022" b="1" dirty="0" smtClean="0">
                <a:solidFill>
                  <a:prstClr val="white">
                    <a:lumMod val="50000"/>
                  </a:prstClr>
                </a:solidFill>
                <a:latin typeface="Arial" pitchFamily="34" charset="0"/>
              </a:rPr>
              <a:t>2024. 08. 20.</a:t>
            </a:r>
            <a:endParaRPr lang="en-US" altLang="ko-KR" sz="3022" b="1" dirty="0">
              <a:solidFill>
                <a:prstClr val="white">
                  <a:lumMod val="50000"/>
                </a:prstClr>
              </a:solidFill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54815278"/>
      </p:ext>
    </p:extLst>
  </p:cSld>
  <p:clrMapOvr>
    <a:masterClrMapping/>
  </p:clrMapOvr>
  <p:transition spd="slow">
    <p:wipe/>
  </p:transition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483749" y="315601"/>
            <a:ext cx="1502558" cy="468990"/>
          </a:xfrm>
          <a:prstGeom prst="rect">
            <a:avLst/>
          </a:prstGeom>
          <a:noFill/>
        </p:spPr>
        <p:txBody>
          <a:bodyPr wrap="none" lIns="98694" tIns="49347" rIns="98694" bIns="49347">
            <a:spAutoFit/>
          </a:bodyPr>
          <a:lstStyle/>
          <a:p>
            <a:pPr algn="ctr">
              <a:spcBef>
                <a:spcPts val="648"/>
              </a:spcBef>
            </a:pPr>
            <a:r>
              <a:rPr lang="en-US" altLang="ko-KR" sz="2400" b="1" dirty="0" err="1" smtClean="0">
                <a:solidFill>
                  <a:srgbClr val="0E0585"/>
                </a:solidFill>
              </a:rPr>
              <a:t>CfgNode</a:t>
            </a:r>
            <a:endParaRPr lang="en-US" altLang="ko-KR" sz="2400" b="1" dirty="0">
              <a:solidFill>
                <a:srgbClr val="0E0585"/>
              </a:solidFill>
            </a:endParaRPr>
          </a:p>
        </p:txBody>
      </p:sp>
      <p:sp>
        <p:nvSpPr>
          <p:cNvPr id="3" name="Rectangle 1"/>
          <p:cNvSpPr>
            <a:spLocks noChangeArrowheads="1"/>
          </p:cNvSpPr>
          <p:nvPr/>
        </p:nvSpPr>
        <p:spPr bwMode="auto">
          <a:xfrm>
            <a:off x="699795" y="1494828"/>
            <a:ext cx="8574833" cy="8079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800" b="1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CfgNode</a:t>
            </a:r>
            <a:r>
              <a:rPr kumimoji="0" lang="ko-KR" altLang="ko-KR" sz="105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 클래스는 일반적으로 </a:t>
            </a:r>
            <a:r>
              <a:rPr kumimoji="0" lang="ko-KR" altLang="ko-KR" sz="105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딕셔너리</a:t>
            </a:r>
            <a:r>
              <a:rPr kumimoji="0" lang="ko-KR" altLang="ko-KR" sz="105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(</a:t>
            </a:r>
            <a:r>
              <a:rPr kumimoji="0" lang="ko-KR" altLang="ko-KR" sz="105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dict</a:t>
            </a:r>
            <a:r>
              <a:rPr kumimoji="0" lang="ko-KR" altLang="ko-KR" sz="105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)</a:t>
            </a:r>
            <a:r>
              <a:rPr kumimoji="0" lang="ko-KR" altLang="ko-KR" sz="105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를</a:t>
            </a:r>
            <a:r>
              <a:rPr kumimoji="0" lang="ko-KR" altLang="ko-KR" sz="105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 상속받는 </a:t>
            </a:r>
            <a:r>
              <a:rPr kumimoji="0" lang="ko-KR" altLang="ko-KR" sz="105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Python</a:t>
            </a:r>
            <a:r>
              <a:rPr kumimoji="0" lang="ko-KR" altLang="ko-KR" sz="105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 클래스입니다. 이 클래스는 주로 컴퓨터 비전이나 </a:t>
            </a:r>
            <a:r>
              <a:rPr kumimoji="0" lang="ko-KR" altLang="ko-KR" sz="105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딥러닝</a:t>
            </a:r>
            <a:r>
              <a:rPr kumimoji="0" lang="ko-KR" altLang="ko-KR" sz="105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 프로젝트에서 설정(</a:t>
            </a:r>
            <a:r>
              <a:rPr kumimoji="0" lang="ko-KR" altLang="ko-KR" sz="105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config</a:t>
            </a:r>
            <a:r>
              <a:rPr kumimoji="0" lang="ko-KR" altLang="ko-KR" sz="105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) 파일을 관리하기 위해 사용됩니다. 특히 </a:t>
            </a:r>
            <a:r>
              <a:rPr kumimoji="0" lang="ko-KR" altLang="ko-KR" sz="18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yacs</a:t>
            </a:r>
            <a:r>
              <a:rPr kumimoji="0" lang="ko-KR" altLang="ko-KR" sz="105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라는</a:t>
            </a:r>
            <a:r>
              <a:rPr kumimoji="0" lang="ko-KR" altLang="ko-KR" sz="105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 </a:t>
            </a:r>
            <a:r>
              <a:rPr kumimoji="0" lang="ko-KR" altLang="ko-KR" sz="105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Python</a:t>
            </a:r>
            <a:r>
              <a:rPr kumimoji="0" lang="ko-KR" altLang="ko-KR" sz="105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 라이브러리에서 자주 사용되며, 주로 YAML 파일로부터 설정을 읽어와서 이를 다루기 쉽게 만들어주는 역할 </a:t>
            </a:r>
            <a:endParaRPr kumimoji="0" lang="ko-KR" altLang="ko-KR" sz="40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+mn-ea"/>
            </a:endParaRPr>
          </a:p>
        </p:txBody>
      </p:sp>
      <p:sp>
        <p:nvSpPr>
          <p:cNvPr id="4" name="Rectangle 2"/>
          <p:cNvSpPr>
            <a:spLocks noChangeArrowheads="1"/>
          </p:cNvSpPr>
          <p:nvPr/>
        </p:nvSpPr>
        <p:spPr bwMode="auto">
          <a:xfrm>
            <a:off x="671803" y="2571121"/>
            <a:ext cx="8602825" cy="24622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1" i="0" u="none" strike="noStrike" cap="none" normalizeH="0" baseline="0" dirty="0" smtClean="0">
                <a:ln>
                  <a:noFill/>
                </a:ln>
                <a:solidFill>
                  <a:srgbClr val="C00000"/>
                </a:solidFill>
                <a:effectLst/>
                <a:latin typeface="+mn-ea"/>
              </a:rPr>
              <a:t>주요 특징 및 기능:</a:t>
            </a:r>
            <a:endParaRPr kumimoji="0" lang="en-US" altLang="ko-KR" sz="1400" b="1" i="0" u="none" strike="noStrike" cap="none" normalizeH="0" baseline="0" dirty="0" smtClean="0">
              <a:ln>
                <a:noFill/>
              </a:ln>
              <a:solidFill>
                <a:srgbClr val="C00000"/>
              </a:solidFill>
              <a:effectLst/>
              <a:latin typeface="+mn-ea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ko-KR" sz="1000" b="1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+mn-ea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/>
              <a:tabLst/>
            </a:pPr>
            <a:r>
              <a:rPr kumimoji="0" lang="ko-KR" altLang="ko-KR" sz="1400" b="1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딕셔너리</a:t>
            </a:r>
            <a:r>
              <a:rPr kumimoji="0" lang="ko-KR" altLang="ko-KR" sz="14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 기능 상속</a:t>
            </a:r>
            <a:r>
              <a:rPr kumimoji="0" lang="ko-KR" altLang="ko-KR" sz="1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: </a:t>
            </a:r>
            <a:r>
              <a:rPr kumimoji="0" lang="ko-KR" altLang="ko-KR" sz="10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CfgNode는</a:t>
            </a:r>
            <a:r>
              <a:rPr kumimoji="0" lang="ko-KR" altLang="ko-KR" sz="1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 </a:t>
            </a:r>
            <a:r>
              <a:rPr kumimoji="0" lang="ko-KR" altLang="ko-KR" sz="10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Python의</a:t>
            </a:r>
            <a:r>
              <a:rPr kumimoji="0" lang="ko-KR" altLang="ko-KR" sz="1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 기본 </a:t>
            </a:r>
            <a:r>
              <a:rPr kumimoji="0" lang="ko-KR" altLang="ko-KR" sz="10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딕셔너리를</a:t>
            </a:r>
            <a:r>
              <a:rPr kumimoji="0" lang="ko-KR" altLang="ko-KR" sz="1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 상속받기 때문에, </a:t>
            </a:r>
            <a:r>
              <a:rPr kumimoji="0" lang="ko-KR" altLang="ko-KR" sz="10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딕셔너리처럼</a:t>
            </a:r>
            <a:r>
              <a:rPr kumimoji="0" lang="ko-KR" altLang="ko-KR" sz="1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 키-값 쌍으로 데이터를 저장하고, 조회할 수 있습니다.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2"/>
              <a:tabLst/>
            </a:pPr>
            <a:r>
              <a:rPr kumimoji="0" lang="ko-KR" altLang="ko-KR" sz="14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속성 접근</a:t>
            </a:r>
            <a:r>
              <a:rPr kumimoji="0" lang="ko-KR" altLang="ko-KR" sz="1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: </a:t>
            </a:r>
            <a:r>
              <a:rPr kumimoji="0" lang="ko-KR" altLang="ko-KR" sz="10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CfgNode의</a:t>
            </a:r>
            <a:r>
              <a:rPr kumimoji="0" lang="ko-KR" altLang="ko-KR" sz="1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 주요 특징 중 하나는 </a:t>
            </a:r>
            <a:r>
              <a:rPr kumimoji="0" lang="ko-KR" altLang="ko-KR" sz="10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딕셔너리의</a:t>
            </a:r>
            <a:r>
              <a:rPr kumimoji="0" lang="ko-KR" altLang="ko-KR" sz="1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 키를 속성(</a:t>
            </a:r>
            <a:r>
              <a:rPr kumimoji="0" lang="ko-KR" altLang="ko-KR" sz="10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attribute</a:t>
            </a:r>
            <a:r>
              <a:rPr kumimoji="0" lang="ko-KR" altLang="ko-KR" sz="1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)</a:t>
            </a:r>
            <a:r>
              <a:rPr kumimoji="0" lang="ko-KR" altLang="ko-KR" sz="10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처럼</a:t>
            </a:r>
            <a:r>
              <a:rPr kumimoji="0" lang="ko-KR" altLang="ko-KR" sz="1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 접근할 수 있다는 점입니다. 예를 들어, </a:t>
            </a:r>
            <a:r>
              <a:rPr kumimoji="0" lang="ko-KR" altLang="ko-KR" sz="10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cfg</a:t>
            </a:r>
            <a:r>
              <a:rPr kumimoji="0" lang="ko-KR" altLang="ko-KR" sz="1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["</a:t>
            </a:r>
            <a:r>
              <a:rPr kumimoji="0" lang="ko-KR" altLang="ko-KR" sz="10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key</a:t>
            </a:r>
            <a:r>
              <a:rPr kumimoji="0" lang="ko-KR" altLang="ko-KR" sz="1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"] 대신 </a:t>
            </a:r>
            <a:r>
              <a:rPr kumimoji="0" lang="ko-KR" altLang="ko-KR" sz="10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cfg.key</a:t>
            </a:r>
            <a:r>
              <a:rPr kumimoji="0" lang="ko-KR" altLang="ko-KR" sz="1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 형태로 접근할 수 있습니다.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3"/>
              <a:tabLst/>
            </a:pPr>
            <a:r>
              <a:rPr kumimoji="0" lang="ko-KR" altLang="ko-KR" sz="14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중첩된 구성 관리</a:t>
            </a:r>
            <a:r>
              <a:rPr kumimoji="0" lang="ko-KR" altLang="ko-KR" sz="1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: </a:t>
            </a:r>
            <a:r>
              <a:rPr kumimoji="0" lang="ko-KR" altLang="ko-KR" sz="10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CfgNode는</a:t>
            </a:r>
            <a:r>
              <a:rPr kumimoji="0" lang="ko-KR" altLang="ko-KR" sz="1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 중첩된 구성을 쉽게 관리할 수 있도록 도와줍니다. 즉, 구성 파일에서 여러 단계로 중첩된 설정들을 효과적으로 다룰 수 있습니다.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4"/>
              <a:tabLst/>
            </a:pPr>
            <a:r>
              <a:rPr kumimoji="0" lang="ko-KR" altLang="ko-KR" sz="14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구성 파일 읽기 및 쓰기</a:t>
            </a:r>
            <a:r>
              <a:rPr kumimoji="0" lang="ko-KR" altLang="ko-KR" sz="1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: </a:t>
            </a:r>
            <a:r>
              <a:rPr kumimoji="0" lang="ko-KR" altLang="ko-KR" sz="10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CfgNode는</a:t>
            </a:r>
            <a:r>
              <a:rPr kumimoji="0" lang="ko-KR" altLang="ko-KR" sz="1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 YAML 또는 JSON 파일로부터 설정을 쉽게 읽어오고, 이를 다시 파일로 저장할 수 있는 기능을 제공합니다.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5"/>
              <a:tabLst/>
            </a:pPr>
            <a:r>
              <a:rPr kumimoji="0" lang="ko-KR" altLang="ko-KR" sz="14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유효성 검사 및 기본값</a:t>
            </a:r>
            <a:r>
              <a:rPr kumimoji="0" lang="ko-KR" altLang="ko-KR" sz="1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: </a:t>
            </a:r>
            <a:r>
              <a:rPr kumimoji="0" lang="ko-KR" altLang="ko-KR" sz="1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기본값을 설정하고, 유효하지 않은 값을 방지하기 위해 유효성 검사를 수행할 수 있습니다. 이는 설정을 </a:t>
            </a:r>
            <a:r>
              <a:rPr kumimoji="0" lang="ko-KR" altLang="ko-KR" sz="10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로드할</a:t>
            </a:r>
            <a:r>
              <a:rPr kumimoji="0" lang="ko-KR" altLang="ko-KR" sz="1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 때 유용합니다.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ko-KR" sz="10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306185788"/>
      </p:ext>
    </p:extLst>
  </p:cSld>
  <p:clrMapOvr>
    <a:masterClrMapping/>
  </p:clrMapOvr>
  <p:transition spd="slow">
    <p:wipe/>
  </p:transition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617104" y="252101"/>
            <a:ext cx="1502558" cy="468990"/>
          </a:xfrm>
          <a:prstGeom prst="rect">
            <a:avLst/>
          </a:prstGeom>
          <a:noFill/>
        </p:spPr>
        <p:txBody>
          <a:bodyPr wrap="none" lIns="98694" tIns="49347" rIns="98694" bIns="49347">
            <a:spAutoFit/>
          </a:bodyPr>
          <a:lstStyle/>
          <a:p>
            <a:pPr algn="ctr">
              <a:spcBef>
                <a:spcPts val="648"/>
              </a:spcBef>
            </a:pPr>
            <a:r>
              <a:rPr lang="en-US" altLang="ko-KR" sz="2400" b="1" dirty="0" err="1" smtClean="0">
                <a:solidFill>
                  <a:srgbClr val="0E0585"/>
                </a:solidFill>
              </a:rPr>
              <a:t>CfgNode</a:t>
            </a:r>
            <a:endParaRPr lang="en-US" altLang="ko-KR" sz="2400" b="1" dirty="0">
              <a:solidFill>
                <a:srgbClr val="0E0585"/>
              </a:solidFill>
            </a:endParaRPr>
          </a:p>
        </p:txBody>
      </p:sp>
      <p:pic>
        <p:nvPicPr>
          <p:cNvPr id="6" name="그림 5"/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0" b="99889" l="0" r="10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765107" y="1497693"/>
            <a:ext cx="6422705" cy="54816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6896"/>
      </p:ext>
    </p:extLst>
  </p:cSld>
  <p:clrMapOvr>
    <a:masterClrMapping/>
  </p:clrMapOvr>
  <p:transition spd="slow">
    <p:wipe/>
  </p:transition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146158" y="322620"/>
            <a:ext cx="2116508" cy="468990"/>
          </a:xfrm>
          <a:prstGeom prst="rect">
            <a:avLst/>
          </a:prstGeom>
          <a:noFill/>
        </p:spPr>
        <p:txBody>
          <a:bodyPr wrap="none" lIns="98694" tIns="49347" rIns="98694" bIns="49347">
            <a:spAutoFit/>
          </a:bodyPr>
          <a:lstStyle/>
          <a:p>
            <a:pPr algn="ctr">
              <a:spcBef>
                <a:spcPts val="648"/>
              </a:spcBef>
            </a:pPr>
            <a:r>
              <a:rPr lang="en-US" altLang="ko-KR" sz="2400" b="1" dirty="0" smtClean="0">
                <a:solidFill>
                  <a:srgbClr val="0E0585"/>
                </a:solidFill>
              </a:rPr>
              <a:t>main.py </a:t>
            </a:r>
            <a:r>
              <a:rPr lang="en-US" altLang="ko-KR" sz="2400" b="1" dirty="0" err="1" smtClean="0">
                <a:solidFill>
                  <a:srgbClr val="0E0585"/>
                </a:solidFill>
              </a:rPr>
              <a:t>cont</a:t>
            </a:r>
            <a:endParaRPr lang="en-US" altLang="ko-KR" sz="2400" b="1" dirty="0">
              <a:solidFill>
                <a:srgbClr val="0E0585"/>
              </a:solidFill>
            </a:endParaRPr>
          </a:p>
        </p:txBody>
      </p:sp>
      <p:sp>
        <p:nvSpPr>
          <p:cNvPr id="11" name="직사각형 10"/>
          <p:cNvSpPr/>
          <p:nvPr/>
        </p:nvSpPr>
        <p:spPr>
          <a:xfrm>
            <a:off x="507909" y="1727780"/>
            <a:ext cx="1333592" cy="283337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100" dirty="0" smtClean="0">
                <a:latin typeface="Consolas" panose="020B0609020204030204" pitchFamily="49" charset="0"/>
              </a:rPr>
              <a:t>parser </a:t>
            </a:r>
            <a:r>
              <a:rPr lang="ko-KR" altLang="en-US" sz="11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초기화</a:t>
            </a:r>
            <a:endParaRPr lang="en-US" altLang="ko-KR" sz="110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sp>
        <p:nvSpPr>
          <p:cNvPr id="12" name="직사각형 11"/>
          <p:cNvSpPr/>
          <p:nvPr/>
        </p:nvSpPr>
        <p:spPr>
          <a:xfrm>
            <a:off x="507909" y="2193446"/>
            <a:ext cx="1333592" cy="283337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100" dirty="0" err="1" smtClean="0">
                <a:latin typeface="Consolas" panose="020B0609020204030204" pitchFamily="49" charset="0"/>
              </a:rPr>
              <a:t>cfg</a:t>
            </a:r>
            <a:r>
              <a:rPr lang="en-US" altLang="ko-KR" sz="1100" dirty="0" smtClean="0">
                <a:latin typeface="Consolas" panose="020B0609020204030204" pitchFamily="49" charset="0"/>
              </a:rPr>
              <a:t> </a:t>
            </a:r>
            <a:r>
              <a:rPr lang="ko-KR" altLang="en-US" sz="11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초기화</a:t>
            </a:r>
            <a:endParaRPr lang="en-US" altLang="ko-KR" sz="110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cxnSp>
        <p:nvCxnSpPr>
          <p:cNvPr id="13" name="직선 화살표 연결선 12"/>
          <p:cNvCxnSpPr>
            <a:stCxn id="11" idx="2"/>
            <a:endCxn id="12" idx="0"/>
          </p:cNvCxnSpPr>
          <p:nvPr/>
        </p:nvCxnSpPr>
        <p:spPr>
          <a:xfrm>
            <a:off x="1174705" y="2011117"/>
            <a:ext cx="0" cy="18232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직사각형 14"/>
          <p:cNvSpPr/>
          <p:nvPr/>
        </p:nvSpPr>
        <p:spPr>
          <a:xfrm>
            <a:off x="507909" y="2659112"/>
            <a:ext cx="1333592" cy="283337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 err="1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cfg</a:t>
            </a:r>
            <a:r>
              <a:rPr lang="en-US" altLang="ko-KR" sz="10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</a:t>
            </a:r>
            <a:r>
              <a:rPr lang="ko-KR" altLang="en-US" sz="10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파일 읽기 및 병합</a:t>
            </a:r>
            <a:endParaRPr lang="en-US" altLang="ko-KR" sz="100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cxnSp>
        <p:nvCxnSpPr>
          <p:cNvPr id="16" name="직선 화살표 연결선 15"/>
          <p:cNvCxnSpPr>
            <a:stCxn id="12" idx="2"/>
            <a:endCxn id="15" idx="0"/>
          </p:cNvCxnSpPr>
          <p:nvPr/>
        </p:nvCxnSpPr>
        <p:spPr>
          <a:xfrm>
            <a:off x="1174705" y="2476783"/>
            <a:ext cx="0" cy="18232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직사각형 2"/>
          <p:cNvSpPr/>
          <p:nvPr/>
        </p:nvSpPr>
        <p:spPr>
          <a:xfrm>
            <a:off x="1947855" y="1591537"/>
            <a:ext cx="4635825" cy="55399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>
                <a:solidFill>
                  <a:srgbClr val="9CDCFE"/>
                </a:solidFill>
                <a:latin typeface="Consolas" panose="020B0609020204030204" pitchFamily="49" charset="0"/>
              </a:rPr>
              <a:t>parser</a:t>
            </a:r>
            <a:r>
              <a:rPr lang="en-US" altLang="ko-KR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0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en-US" altLang="ko-KR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000" dirty="0" err="1">
                <a:solidFill>
                  <a:srgbClr val="4EC9B0"/>
                </a:solidFill>
                <a:latin typeface="Consolas" panose="020B0609020204030204" pitchFamily="49" charset="0"/>
              </a:rPr>
              <a:t>argparse</a:t>
            </a:r>
            <a:r>
              <a:rPr lang="en-US" altLang="ko-KR" sz="1000" dirty="0" err="1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en-US" altLang="ko-KR" sz="1000" dirty="0" err="1">
                <a:solidFill>
                  <a:srgbClr val="4EC9B0"/>
                </a:solidFill>
                <a:latin typeface="Consolas" panose="020B0609020204030204" pitchFamily="49" charset="0"/>
              </a:rPr>
              <a:t>ArgumentParser</a:t>
            </a:r>
            <a:r>
              <a:rPr lang="en-US" altLang="ko-KR" sz="10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</a:p>
          <a:p>
            <a:r>
              <a:rPr lang="en-US" altLang="ko-KR" sz="10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en-US" altLang="ko-KR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formatter_class</a:t>
            </a:r>
            <a:r>
              <a:rPr lang="en-US" altLang="ko-KR" sz="10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en-US" altLang="ko-KR" sz="1000" dirty="0" err="1">
                <a:solidFill>
                  <a:srgbClr val="4EC9B0"/>
                </a:solidFill>
                <a:latin typeface="Consolas" panose="020B0609020204030204" pitchFamily="49" charset="0"/>
              </a:rPr>
              <a:t>argparse</a:t>
            </a:r>
            <a:r>
              <a:rPr lang="en-US" altLang="ko-KR" sz="1000" dirty="0" err="1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en-US" altLang="ko-KR" sz="1000" dirty="0" err="1">
                <a:solidFill>
                  <a:srgbClr val="4EC9B0"/>
                </a:solidFill>
                <a:latin typeface="Consolas" panose="020B0609020204030204" pitchFamily="49" charset="0"/>
              </a:rPr>
              <a:t>ArgumentDefaultsHelpFormatter</a:t>
            </a:r>
            <a:endParaRPr lang="en-US" altLang="ko-KR" sz="10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r>
              <a:rPr lang="en-US" altLang="ko-KR" sz="1000" dirty="0">
                <a:solidFill>
                  <a:srgbClr val="CCCCCC"/>
                </a:solidFill>
                <a:latin typeface="Consolas" panose="020B0609020204030204" pitchFamily="49" charset="0"/>
              </a:rPr>
              <a:t>    )</a:t>
            </a:r>
            <a:endParaRPr lang="en-US" altLang="ko-KR" sz="1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" name="직사각형 3"/>
          <p:cNvSpPr/>
          <p:nvPr/>
        </p:nvSpPr>
        <p:spPr>
          <a:xfrm>
            <a:off x="1947855" y="2208371"/>
            <a:ext cx="3057247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cfg</a:t>
            </a:r>
            <a:r>
              <a:rPr lang="en-US" altLang="ko-KR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0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en-US" altLang="ko-KR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000" dirty="0" err="1">
                <a:solidFill>
                  <a:srgbClr val="FFC000"/>
                </a:solidFill>
                <a:latin typeface="Consolas" panose="020B0609020204030204" pitchFamily="49" charset="0"/>
              </a:rPr>
              <a:t>get_default_config</a:t>
            </a:r>
            <a:r>
              <a:rPr lang="en-US" altLang="ko-KR" sz="1000" dirty="0" smtClean="0">
                <a:solidFill>
                  <a:srgbClr val="CCCCCC"/>
                </a:solidFill>
                <a:latin typeface="Consolas" panose="020B0609020204030204" pitchFamily="49" charset="0"/>
              </a:rPr>
              <a:t>() </a:t>
            </a:r>
            <a:r>
              <a:rPr lang="ko-KR" altLang="en-US" sz="1000" dirty="0" smtClean="0">
                <a:solidFill>
                  <a:srgbClr val="0070C0"/>
                </a:solidFill>
                <a:latin typeface="Consolas" panose="020B0609020204030204" pitchFamily="49" charset="0"/>
              </a:rPr>
              <a:t>기본값을 읽는다</a:t>
            </a:r>
            <a:endParaRPr lang="en-US" altLang="ko-KR" sz="1000" b="0" dirty="0">
              <a:solidFill>
                <a:srgbClr val="0070C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5" name="직사각형 4"/>
          <p:cNvSpPr/>
          <p:nvPr/>
        </p:nvSpPr>
        <p:spPr>
          <a:xfrm>
            <a:off x="1959575" y="2654229"/>
            <a:ext cx="2794355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cfg</a:t>
            </a:r>
            <a:r>
              <a:rPr lang="en-US" altLang="ko-KR" sz="1000" dirty="0" err="1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en-US" altLang="ko-KR" sz="1000" dirty="0" err="1">
                <a:solidFill>
                  <a:srgbClr val="DCDCAA"/>
                </a:solidFill>
                <a:latin typeface="Consolas" panose="020B0609020204030204" pitchFamily="49" charset="0"/>
              </a:rPr>
              <a:t>merge_from_file</a:t>
            </a:r>
            <a:r>
              <a:rPr lang="en-US" altLang="ko-KR" sz="10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altLang="ko-KR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args</a:t>
            </a:r>
            <a:r>
              <a:rPr lang="en-US" altLang="ko-KR" sz="1000" dirty="0" err="1">
                <a:solidFill>
                  <a:srgbClr val="CCCCCC"/>
                </a:solidFill>
                <a:latin typeface="Consolas" panose="020B0609020204030204" pitchFamily="49" charset="0"/>
              </a:rPr>
              <a:t>.config_file</a:t>
            </a:r>
            <a:r>
              <a:rPr lang="en-US" altLang="ko-KR" sz="1000" dirty="0">
                <a:solidFill>
                  <a:srgbClr val="CCCCCC"/>
                </a:solidFill>
                <a:latin typeface="Consolas" panose="020B0609020204030204" pitchFamily="49" charset="0"/>
              </a:rPr>
              <a:t>)</a:t>
            </a:r>
            <a:endParaRPr lang="en-US" altLang="ko-KR" sz="1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66" name="직사각형 65"/>
          <p:cNvSpPr/>
          <p:nvPr/>
        </p:nvSpPr>
        <p:spPr>
          <a:xfrm>
            <a:off x="508210" y="3172063"/>
            <a:ext cx="1333592" cy="367276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 err="1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cfg</a:t>
            </a:r>
            <a:r>
              <a:rPr lang="ko-KR" altLang="en-US" sz="10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를 이용해</a:t>
            </a:r>
            <a:endParaRPr lang="en-US" altLang="ko-KR" sz="1000" dirty="0" smtClean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  <a:p>
            <a:pPr algn="ctr"/>
            <a:r>
              <a:rPr lang="en-US" altLang="ko-KR" sz="1000" dirty="0" err="1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datamanager</a:t>
            </a:r>
            <a:r>
              <a:rPr lang="en-US" altLang="ko-KR" sz="10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</a:t>
            </a:r>
            <a:r>
              <a:rPr lang="ko-KR" altLang="en-US" sz="10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생성</a:t>
            </a:r>
            <a:endParaRPr lang="en-US" altLang="ko-KR" sz="100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cxnSp>
        <p:nvCxnSpPr>
          <p:cNvPr id="69" name="직선 화살표 연결선 68"/>
          <p:cNvCxnSpPr>
            <a:stCxn id="15" idx="2"/>
            <a:endCxn id="66" idx="0"/>
          </p:cNvCxnSpPr>
          <p:nvPr/>
        </p:nvCxnSpPr>
        <p:spPr>
          <a:xfrm>
            <a:off x="1174705" y="2942449"/>
            <a:ext cx="301" cy="22961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직사각형 13"/>
          <p:cNvSpPr/>
          <p:nvPr/>
        </p:nvSpPr>
        <p:spPr>
          <a:xfrm>
            <a:off x="1959575" y="3240285"/>
            <a:ext cx="2492990" cy="2308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900" dirty="0" err="1">
                <a:solidFill>
                  <a:srgbClr val="0070C0"/>
                </a:solidFill>
                <a:latin typeface="Consolas" panose="020B0609020204030204" pitchFamily="49" charset="0"/>
                <a:hlinkClick r:id="rId2" action="ppaction://hlinksldjump"/>
              </a:rPr>
              <a:t>datamanager</a:t>
            </a:r>
            <a:r>
              <a:rPr lang="en-US" altLang="ko-KR" sz="900" dirty="0">
                <a:solidFill>
                  <a:srgbClr val="CCCCCC"/>
                </a:solidFill>
                <a:latin typeface="Consolas" panose="020B0609020204030204" pitchFamily="49" charset="0"/>
                <a:hlinkClick r:id="rId2" action="ppaction://hlinksldjump"/>
              </a:rPr>
              <a:t> </a:t>
            </a:r>
            <a:r>
              <a:rPr lang="en-US" altLang="ko-KR" sz="900" dirty="0">
                <a:solidFill>
                  <a:schemeClr val="accent4">
                    <a:lumMod val="75000"/>
                  </a:schemeClr>
                </a:solidFill>
                <a:latin typeface="Consolas" panose="020B0609020204030204" pitchFamily="49" charset="0"/>
                <a:hlinkClick r:id="rId2" action="ppaction://hlinksldjump"/>
              </a:rPr>
              <a:t>= </a:t>
            </a:r>
            <a:r>
              <a:rPr lang="en-US" altLang="ko-KR" sz="900" dirty="0" err="1">
                <a:solidFill>
                  <a:schemeClr val="accent4">
                    <a:lumMod val="75000"/>
                  </a:schemeClr>
                </a:solidFill>
                <a:latin typeface="Consolas" panose="020B0609020204030204" pitchFamily="49" charset="0"/>
                <a:hlinkClick r:id="rId2" action="ppaction://hlinksldjump"/>
              </a:rPr>
              <a:t>build_datamanager</a:t>
            </a:r>
            <a:r>
              <a:rPr lang="en-US" altLang="ko-KR" sz="900" dirty="0">
                <a:solidFill>
                  <a:schemeClr val="accent4">
                    <a:lumMod val="75000"/>
                  </a:schemeClr>
                </a:solidFill>
                <a:latin typeface="Consolas" panose="020B0609020204030204" pitchFamily="49" charset="0"/>
                <a:hlinkClick r:id="rId2" action="ppaction://hlinksldjump"/>
              </a:rPr>
              <a:t>(</a:t>
            </a:r>
            <a:r>
              <a:rPr lang="en-US" altLang="ko-KR" sz="900" dirty="0" err="1">
                <a:solidFill>
                  <a:schemeClr val="accent5">
                    <a:lumMod val="75000"/>
                  </a:schemeClr>
                </a:solidFill>
                <a:latin typeface="Consolas" panose="020B0609020204030204" pitchFamily="49" charset="0"/>
                <a:hlinkClick r:id="rId2" action="ppaction://hlinksldjump"/>
              </a:rPr>
              <a:t>cfg</a:t>
            </a:r>
            <a:r>
              <a:rPr lang="en-US" altLang="ko-KR" sz="900" dirty="0">
                <a:solidFill>
                  <a:schemeClr val="accent4">
                    <a:lumMod val="75000"/>
                  </a:schemeClr>
                </a:solidFill>
                <a:latin typeface="Consolas" panose="020B0609020204030204" pitchFamily="49" charset="0"/>
                <a:hlinkClick r:id="rId2" action="ppaction://hlinksldjump"/>
              </a:rPr>
              <a:t>)</a:t>
            </a:r>
            <a:endParaRPr lang="en-US" altLang="ko-KR" sz="900" b="0" dirty="0">
              <a:solidFill>
                <a:schemeClr val="accent4">
                  <a:lumMod val="75000"/>
                </a:schemeClr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73" name="직사각형 72"/>
          <p:cNvSpPr/>
          <p:nvPr/>
        </p:nvSpPr>
        <p:spPr>
          <a:xfrm>
            <a:off x="186750" y="4488077"/>
            <a:ext cx="1975910" cy="367276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torchreid.data.</a:t>
            </a:r>
            <a:r>
              <a:rPr lang="en-US" altLang="ko-KR" sz="1000" dirty="0" err="1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ImageDataManager</a:t>
            </a:r>
            <a:r>
              <a:rPr lang="en-US" altLang="ko-KR" sz="10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(**</a:t>
            </a:r>
            <a:r>
              <a:rPr lang="en-US" altLang="ko-KR" sz="100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imagedata_kwargs</a:t>
            </a:r>
            <a:r>
              <a:rPr lang="en-US" altLang="ko-KR" sz="10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(</a:t>
            </a:r>
            <a:r>
              <a:rPr lang="en-US" altLang="ko-KR" sz="100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cfg</a:t>
            </a:r>
            <a:r>
              <a:rPr lang="en-US" altLang="ko-KR" sz="10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))</a:t>
            </a:r>
          </a:p>
        </p:txBody>
      </p:sp>
      <p:sp>
        <p:nvSpPr>
          <p:cNvPr id="77" name="직사각형 76"/>
          <p:cNvSpPr/>
          <p:nvPr/>
        </p:nvSpPr>
        <p:spPr>
          <a:xfrm>
            <a:off x="2289856" y="3841790"/>
            <a:ext cx="2076403" cy="367276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torchreid.data.</a:t>
            </a:r>
            <a:r>
              <a:rPr lang="en-US" altLang="ko-KR" sz="1000" dirty="0" err="1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VideoDataManager</a:t>
            </a:r>
            <a:r>
              <a:rPr lang="en-US" altLang="ko-KR" sz="10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(**</a:t>
            </a:r>
            <a:r>
              <a:rPr lang="en-US" altLang="ko-KR" sz="100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videodata_kwargs</a:t>
            </a:r>
            <a:r>
              <a:rPr lang="en-US" altLang="ko-KR" sz="10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(</a:t>
            </a:r>
            <a:r>
              <a:rPr lang="en-US" altLang="ko-KR" sz="100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cfg</a:t>
            </a:r>
            <a:r>
              <a:rPr lang="en-US" altLang="ko-KR" sz="10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))</a:t>
            </a:r>
          </a:p>
        </p:txBody>
      </p:sp>
      <p:sp>
        <p:nvSpPr>
          <p:cNvPr id="24" name="순서도: 판단 23"/>
          <p:cNvSpPr/>
          <p:nvPr/>
        </p:nvSpPr>
        <p:spPr>
          <a:xfrm>
            <a:off x="301558" y="3768953"/>
            <a:ext cx="1746294" cy="512951"/>
          </a:xfrm>
          <a:prstGeom prst="flowChartDecision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1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image type?</a:t>
            </a:r>
            <a:endParaRPr lang="ko-KR" altLang="en-US" sz="110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cxnSp>
        <p:nvCxnSpPr>
          <p:cNvPr id="80" name="직선 화살표 연결선 79"/>
          <p:cNvCxnSpPr>
            <a:stCxn id="66" idx="2"/>
            <a:endCxn id="24" idx="0"/>
          </p:cNvCxnSpPr>
          <p:nvPr/>
        </p:nvCxnSpPr>
        <p:spPr>
          <a:xfrm flipH="1">
            <a:off x="1174705" y="3539339"/>
            <a:ext cx="301" cy="22961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직선 화살표 연결선 85"/>
          <p:cNvCxnSpPr>
            <a:stCxn id="24" idx="3"/>
            <a:endCxn id="77" idx="1"/>
          </p:cNvCxnSpPr>
          <p:nvPr/>
        </p:nvCxnSpPr>
        <p:spPr>
          <a:xfrm flipV="1">
            <a:off x="2047852" y="4025428"/>
            <a:ext cx="242004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직선 화살표 연결선 89"/>
          <p:cNvCxnSpPr>
            <a:stCxn id="24" idx="2"/>
            <a:endCxn id="73" idx="0"/>
          </p:cNvCxnSpPr>
          <p:nvPr/>
        </p:nvCxnSpPr>
        <p:spPr>
          <a:xfrm>
            <a:off x="1174705" y="4281904"/>
            <a:ext cx="0" cy="20617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1415552" y="4234619"/>
            <a:ext cx="372218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900" dirty="0" smtClean="0">
                <a:solidFill>
                  <a:schemeClr val="accent5">
                    <a:lumMod val="50000"/>
                  </a:schemeClr>
                </a:solidFill>
              </a:rPr>
              <a:t>YES</a:t>
            </a:r>
            <a:endParaRPr lang="ko-KR" altLang="en-US" sz="900" dirty="0">
              <a:solidFill>
                <a:schemeClr val="accent5">
                  <a:lumMod val="50000"/>
                </a:schemeClr>
              </a:solidFill>
            </a:endParaRPr>
          </a:p>
        </p:txBody>
      </p:sp>
      <p:sp>
        <p:nvSpPr>
          <p:cNvPr id="96" name="TextBox 95"/>
          <p:cNvSpPr txBox="1"/>
          <p:nvPr/>
        </p:nvSpPr>
        <p:spPr>
          <a:xfrm>
            <a:off x="1929460" y="3755566"/>
            <a:ext cx="362600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900" dirty="0" smtClean="0">
                <a:solidFill>
                  <a:schemeClr val="accent5">
                    <a:lumMod val="50000"/>
                  </a:schemeClr>
                </a:solidFill>
              </a:rPr>
              <a:t>NO</a:t>
            </a:r>
            <a:endParaRPr lang="ko-KR" altLang="en-US" sz="900" dirty="0">
              <a:solidFill>
                <a:schemeClr val="accent5">
                  <a:lumMod val="50000"/>
                </a:schemeClr>
              </a:solidFill>
            </a:endParaRPr>
          </a:p>
        </p:txBody>
      </p:sp>
      <p:graphicFrame>
        <p:nvGraphicFramePr>
          <p:cNvPr id="48" name="표 4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70529776"/>
              </p:ext>
            </p:extLst>
          </p:nvPr>
        </p:nvGraphicFramePr>
        <p:xfrm>
          <a:off x="6637020" y="5130265"/>
          <a:ext cx="2028984" cy="563572"/>
        </p:xfrm>
        <a:graphic>
          <a:graphicData uri="http://schemas.openxmlformats.org/drawingml/2006/table">
            <a:tbl>
              <a:tblPr firstRow="1" bandRow="1">
                <a:tableStyleId>{9DCAF9ED-07DC-4A11-8D7F-57B35C25682E}</a:tableStyleId>
              </a:tblPr>
              <a:tblGrid>
                <a:gridCol w="2028984">
                  <a:extLst>
                    <a:ext uri="{9D8B030D-6E8A-4147-A177-3AD203B41FA5}">
                      <a16:colId xmlns:a16="http://schemas.microsoft.com/office/drawing/2014/main" val="2590600746"/>
                    </a:ext>
                  </a:extLst>
                </a:gridCol>
              </a:tblGrid>
              <a:tr h="28178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 err="1" smtClean="0"/>
                        <a:t>DataManager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6890123"/>
                  </a:ext>
                </a:extLst>
              </a:tr>
              <a:tr h="281786"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27178603"/>
                  </a:ext>
                </a:extLst>
              </a:tr>
            </a:tbl>
          </a:graphicData>
        </a:graphic>
      </p:graphicFrame>
      <p:graphicFrame>
        <p:nvGraphicFramePr>
          <p:cNvPr id="100" name="표 9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24853211"/>
              </p:ext>
            </p:extLst>
          </p:nvPr>
        </p:nvGraphicFramePr>
        <p:xfrm>
          <a:off x="6637020" y="5953000"/>
          <a:ext cx="2028984" cy="548640"/>
        </p:xfrm>
        <a:graphic>
          <a:graphicData uri="http://schemas.openxmlformats.org/drawingml/2006/table">
            <a:tbl>
              <a:tblPr firstRow="1" bandRow="1">
                <a:tableStyleId>{5A111915-BE36-4E01-A7E5-04B1672EAD32}</a:tableStyleId>
              </a:tblPr>
              <a:tblGrid>
                <a:gridCol w="2028984">
                  <a:extLst>
                    <a:ext uri="{9D8B030D-6E8A-4147-A177-3AD203B41FA5}">
                      <a16:colId xmlns:a16="http://schemas.microsoft.com/office/drawing/2014/main" val="2590600746"/>
                    </a:ext>
                  </a:extLst>
                </a:gridCol>
              </a:tblGrid>
              <a:tr h="223165"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kern="1200" dirty="0" err="1" smtClean="0">
                          <a:effectLst/>
                        </a:rPr>
                        <a:t>ImageDataManager</a:t>
                      </a:r>
                      <a:endParaRPr lang="en-US" altLang="ko-KR" sz="1200" b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6890123"/>
                  </a:ext>
                </a:extLst>
              </a:tr>
              <a:tr h="223165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27178603"/>
                  </a:ext>
                </a:extLst>
              </a:tr>
            </a:tbl>
          </a:graphicData>
        </a:graphic>
      </p:graphicFrame>
      <p:cxnSp>
        <p:nvCxnSpPr>
          <p:cNvPr id="50" name="직선 화살표 연결선 49"/>
          <p:cNvCxnSpPr>
            <a:stCxn id="48" idx="2"/>
            <a:endCxn id="100" idx="0"/>
          </p:cNvCxnSpPr>
          <p:nvPr/>
        </p:nvCxnSpPr>
        <p:spPr>
          <a:xfrm>
            <a:off x="7651512" y="5693837"/>
            <a:ext cx="0" cy="2591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직사각형 57"/>
          <p:cNvSpPr/>
          <p:nvPr/>
        </p:nvSpPr>
        <p:spPr>
          <a:xfrm>
            <a:off x="5241291" y="2193446"/>
            <a:ext cx="3940810" cy="267765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700" dirty="0" err="1">
                <a:solidFill>
                  <a:srgbClr val="569CD6"/>
                </a:solidFill>
                <a:latin typeface="Consolas" panose="020B0609020204030204" pitchFamily="49" charset="0"/>
              </a:rPr>
              <a:t>def</a:t>
            </a:r>
            <a:r>
              <a:rPr lang="en-US" altLang="ko-KR" sz="7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700" dirty="0" err="1">
                <a:solidFill>
                  <a:srgbClr val="FFC000"/>
                </a:solidFill>
                <a:latin typeface="Consolas" panose="020B0609020204030204" pitchFamily="49" charset="0"/>
              </a:rPr>
              <a:t>imagedata_kwargs</a:t>
            </a:r>
            <a:r>
              <a:rPr lang="en-US" altLang="ko-KR" sz="7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altLang="ko-KR" sz="700" dirty="0" err="1">
                <a:solidFill>
                  <a:srgbClr val="9CDCFE"/>
                </a:solidFill>
                <a:latin typeface="Consolas" panose="020B0609020204030204" pitchFamily="49" charset="0"/>
              </a:rPr>
              <a:t>cfg</a:t>
            </a:r>
            <a:r>
              <a:rPr lang="en-US" altLang="ko-KR" sz="700" dirty="0">
                <a:solidFill>
                  <a:srgbClr val="CCCCCC"/>
                </a:solidFill>
                <a:latin typeface="Consolas" panose="020B0609020204030204" pitchFamily="49" charset="0"/>
              </a:rPr>
              <a:t>):</a:t>
            </a:r>
          </a:p>
          <a:p>
            <a:r>
              <a:rPr lang="en-US" altLang="ko-KR" sz="700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US" altLang="ko-KR" sz="700" dirty="0">
                <a:solidFill>
                  <a:srgbClr val="C586C0"/>
                </a:solidFill>
                <a:latin typeface="Consolas" panose="020B0609020204030204" pitchFamily="49" charset="0"/>
              </a:rPr>
              <a:t>return</a:t>
            </a:r>
            <a:r>
              <a:rPr lang="en-US" altLang="ko-KR" sz="700" dirty="0">
                <a:solidFill>
                  <a:srgbClr val="CCCCCC"/>
                </a:solidFill>
                <a:latin typeface="Consolas" panose="020B0609020204030204" pitchFamily="49" charset="0"/>
              </a:rPr>
              <a:t> {</a:t>
            </a:r>
          </a:p>
          <a:p>
            <a:r>
              <a:rPr lang="en-US" altLang="ko-KR" sz="7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en-US" altLang="ko-KR" sz="700" dirty="0">
                <a:solidFill>
                  <a:srgbClr val="CE9178"/>
                </a:solidFill>
                <a:latin typeface="Consolas" panose="020B0609020204030204" pitchFamily="49" charset="0"/>
              </a:rPr>
              <a:t>'root'</a:t>
            </a:r>
            <a:r>
              <a:rPr lang="en-US" altLang="ko-KR" sz="700" dirty="0">
                <a:solidFill>
                  <a:srgbClr val="CCCCCC"/>
                </a:solidFill>
                <a:latin typeface="Consolas" panose="020B0609020204030204" pitchFamily="49" charset="0"/>
              </a:rPr>
              <a:t>: </a:t>
            </a:r>
            <a:r>
              <a:rPr lang="en-US" altLang="ko-KR" sz="700" dirty="0" err="1">
                <a:solidFill>
                  <a:srgbClr val="9CDCFE"/>
                </a:solidFill>
                <a:latin typeface="Consolas" panose="020B0609020204030204" pitchFamily="49" charset="0"/>
              </a:rPr>
              <a:t>cfg</a:t>
            </a:r>
            <a:r>
              <a:rPr lang="en-US" altLang="ko-KR" sz="700" dirty="0" err="1">
                <a:solidFill>
                  <a:srgbClr val="CCCCCC"/>
                </a:solidFill>
                <a:latin typeface="Consolas" panose="020B0609020204030204" pitchFamily="49" charset="0"/>
              </a:rPr>
              <a:t>.data.root</a:t>
            </a:r>
            <a:r>
              <a:rPr lang="en-US" altLang="ko-KR" sz="700" dirty="0">
                <a:solidFill>
                  <a:srgbClr val="CCCCCC"/>
                </a:solidFill>
                <a:latin typeface="Consolas" panose="020B0609020204030204" pitchFamily="49" charset="0"/>
              </a:rPr>
              <a:t>,</a:t>
            </a:r>
          </a:p>
          <a:p>
            <a:r>
              <a:rPr lang="en-US" altLang="ko-KR" sz="7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en-US" altLang="ko-KR" sz="700" dirty="0">
                <a:solidFill>
                  <a:srgbClr val="CE9178"/>
                </a:solidFill>
                <a:latin typeface="Consolas" panose="020B0609020204030204" pitchFamily="49" charset="0"/>
              </a:rPr>
              <a:t>'sources'</a:t>
            </a:r>
            <a:r>
              <a:rPr lang="en-US" altLang="ko-KR" sz="700" dirty="0">
                <a:solidFill>
                  <a:srgbClr val="CCCCCC"/>
                </a:solidFill>
                <a:latin typeface="Consolas" panose="020B0609020204030204" pitchFamily="49" charset="0"/>
              </a:rPr>
              <a:t>: </a:t>
            </a:r>
            <a:r>
              <a:rPr lang="en-US" altLang="ko-KR" sz="700" dirty="0" err="1">
                <a:solidFill>
                  <a:srgbClr val="9CDCFE"/>
                </a:solidFill>
                <a:latin typeface="Consolas" panose="020B0609020204030204" pitchFamily="49" charset="0"/>
              </a:rPr>
              <a:t>cfg</a:t>
            </a:r>
            <a:r>
              <a:rPr lang="en-US" altLang="ko-KR" sz="700" dirty="0" err="1">
                <a:solidFill>
                  <a:srgbClr val="CCCCCC"/>
                </a:solidFill>
                <a:latin typeface="Consolas" panose="020B0609020204030204" pitchFamily="49" charset="0"/>
              </a:rPr>
              <a:t>.data.sources</a:t>
            </a:r>
            <a:r>
              <a:rPr lang="en-US" altLang="ko-KR" sz="700" dirty="0">
                <a:solidFill>
                  <a:srgbClr val="CCCCCC"/>
                </a:solidFill>
                <a:latin typeface="Consolas" panose="020B0609020204030204" pitchFamily="49" charset="0"/>
              </a:rPr>
              <a:t>,</a:t>
            </a:r>
          </a:p>
          <a:p>
            <a:r>
              <a:rPr lang="en-US" altLang="ko-KR" sz="7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en-US" altLang="ko-KR" sz="700" dirty="0">
                <a:solidFill>
                  <a:srgbClr val="CE9178"/>
                </a:solidFill>
                <a:latin typeface="Consolas" panose="020B0609020204030204" pitchFamily="49" charset="0"/>
              </a:rPr>
              <a:t>'targets'</a:t>
            </a:r>
            <a:r>
              <a:rPr lang="en-US" altLang="ko-KR" sz="700" dirty="0">
                <a:solidFill>
                  <a:srgbClr val="CCCCCC"/>
                </a:solidFill>
                <a:latin typeface="Consolas" panose="020B0609020204030204" pitchFamily="49" charset="0"/>
              </a:rPr>
              <a:t>: </a:t>
            </a:r>
            <a:r>
              <a:rPr lang="en-US" altLang="ko-KR" sz="700" dirty="0" err="1">
                <a:solidFill>
                  <a:srgbClr val="9CDCFE"/>
                </a:solidFill>
                <a:latin typeface="Consolas" panose="020B0609020204030204" pitchFamily="49" charset="0"/>
              </a:rPr>
              <a:t>cfg</a:t>
            </a:r>
            <a:r>
              <a:rPr lang="en-US" altLang="ko-KR" sz="700" dirty="0" err="1">
                <a:solidFill>
                  <a:srgbClr val="CCCCCC"/>
                </a:solidFill>
                <a:latin typeface="Consolas" panose="020B0609020204030204" pitchFamily="49" charset="0"/>
              </a:rPr>
              <a:t>.data.targets</a:t>
            </a:r>
            <a:r>
              <a:rPr lang="en-US" altLang="ko-KR" sz="700" dirty="0">
                <a:solidFill>
                  <a:srgbClr val="CCCCCC"/>
                </a:solidFill>
                <a:latin typeface="Consolas" panose="020B0609020204030204" pitchFamily="49" charset="0"/>
              </a:rPr>
              <a:t>,</a:t>
            </a:r>
          </a:p>
          <a:p>
            <a:r>
              <a:rPr lang="en-US" altLang="ko-KR" sz="7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en-US" altLang="ko-KR" sz="700" dirty="0">
                <a:solidFill>
                  <a:srgbClr val="CE9178"/>
                </a:solidFill>
                <a:latin typeface="Consolas" panose="020B0609020204030204" pitchFamily="49" charset="0"/>
              </a:rPr>
              <a:t>'height'</a:t>
            </a:r>
            <a:r>
              <a:rPr lang="en-US" altLang="ko-KR" sz="700" dirty="0">
                <a:solidFill>
                  <a:srgbClr val="CCCCCC"/>
                </a:solidFill>
                <a:latin typeface="Consolas" panose="020B0609020204030204" pitchFamily="49" charset="0"/>
              </a:rPr>
              <a:t>: </a:t>
            </a:r>
            <a:r>
              <a:rPr lang="en-US" altLang="ko-KR" sz="700" dirty="0" err="1">
                <a:solidFill>
                  <a:srgbClr val="9CDCFE"/>
                </a:solidFill>
                <a:latin typeface="Consolas" panose="020B0609020204030204" pitchFamily="49" charset="0"/>
              </a:rPr>
              <a:t>cfg</a:t>
            </a:r>
            <a:r>
              <a:rPr lang="en-US" altLang="ko-KR" sz="700" dirty="0" err="1">
                <a:solidFill>
                  <a:srgbClr val="CCCCCC"/>
                </a:solidFill>
                <a:latin typeface="Consolas" panose="020B0609020204030204" pitchFamily="49" charset="0"/>
              </a:rPr>
              <a:t>.data.height</a:t>
            </a:r>
            <a:r>
              <a:rPr lang="en-US" altLang="ko-KR" sz="700" dirty="0">
                <a:solidFill>
                  <a:srgbClr val="CCCCCC"/>
                </a:solidFill>
                <a:latin typeface="Consolas" panose="020B0609020204030204" pitchFamily="49" charset="0"/>
              </a:rPr>
              <a:t>,</a:t>
            </a:r>
          </a:p>
          <a:p>
            <a:r>
              <a:rPr lang="en-US" altLang="ko-KR" sz="7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en-US" altLang="ko-KR" sz="700" dirty="0">
                <a:solidFill>
                  <a:srgbClr val="CE9178"/>
                </a:solidFill>
                <a:latin typeface="Consolas" panose="020B0609020204030204" pitchFamily="49" charset="0"/>
              </a:rPr>
              <a:t>'width'</a:t>
            </a:r>
            <a:r>
              <a:rPr lang="en-US" altLang="ko-KR" sz="700" dirty="0">
                <a:solidFill>
                  <a:srgbClr val="CCCCCC"/>
                </a:solidFill>
                <a:latin typeface="Consolas" panose="020B0609020204030204" pitchFamily="49" charset="0"/>
              </a:rPr>
              <a:t>: </a:t>
            </a:r>
            <a:r>
              <a:rPr lang="en-US" altLang="ko-KR" sz="700" dirty="0" err="1">
                <a:solidFill>
                  <a:srgbClr val="9CDCFE"/>
                </a:solidFill>
                <a:latin typeface="Consolas" panose="020B0609020204030204" pitchFamily="49" charset="0"/>
              </a:rPr>
              <a:t>cfg</a:t>
            </a:r>
            <a:r>
              <a:rPr lang="en-US" altLang="ko-KR" sz="700" dirty="0" err="1">
                <a:solidFill>
                  <a:srgbClr val="CCCCCC"/>
                </a:solidFill>
                <a:latin typeface="Consolas" panose="020B0609020204030204" pitchFamily="49" charset="0"/>
              </a:rPr>
              <a:t>.data.width</a:t>
            </a:r>
            <a:r>
              <a:rPr lang="en-US" altLang="ko-KR" sz="700" dirty="0">
                <a:solidFill>
                  <a:srgbClr val="CCCCCC"/>
                </a:solidFill>
                <a:latin typeface="Consolas" panose="020B0609020204030204" pitchFamily="49" charset="0"/>
              </a:rPr>
              <a:t>,</a:t>
            </a:r>
          </a:p>
          <a:p>
            <a:r>
              <a:rPr lang="en-US" altLang="ko-KR" sz="7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en-US" altLang="ko-KR" sz="700" dirty="0">
                <a:solidFill>
                  <a:srgbClr val="CE9178"/>
                </a:solidFill>
                <a:latin typeface="Consolas" panose="020B0609020204030204" pitchFamily="49" charset="0"/>
              </a:rPr>
              <a:t>'transforms'</a:t>
            </a:r>
            <a:r>
              <a:rPr lang="en-US" altLang="ko-KR" sz="700" dirty="0">
                <a:solidFill>
                  <a:srgbClr val="CCCCCC"/>
                </a:solidFill>
                <a:latin typeface="Consolas" panose="020B0609020204030204" pitchFamily="49" charset="0"/>
              </a:rPr>
              <a:t>: </a:t>
            </a:r>
            <a:r>
              <a:rPr lang="en-US" altLang="ko-KR" sz="700" dirty="0" err="1">
                <a:solidFill>
                  <a:srgbClr val="9CDCFE"/>
                </a:solidFill>
                <a:latin typeface="Consolas" panose="020B0609020204030204" pitchFamily="49" charset="0"/>
              </a:rPr>
              <a:t>cfg</a:t>
            </a:r>
            <a:r>
              <a:rPr lang="en-US" altLang="ko-KR" sz="700" dirty="0" err="1">
                <a:solidFill>
                  <a:srgbClr val="CCCCCC"/>
                </a:solidFill>
                <a:latin typeface="Consolas" panose="020B0609020204030204" pitchFamily="49" charset="0"/>
              </a:rPr>
              <a:t>.data.transforms</a:t>
            </a:r>
            <a:r>
              <a:rPr lang="en-US" altLang="ko-KR" sz="700" dirty="0">
                <a:solidFill>
                  <a:srgbClr val="CCCCCC"/>
                </a:solidFill>
                <a:latin typeface="Consolas" panose="020B0609020204030204" pitchFamily="49" charset="0"/>
              </a:rPr>
              <a:t>,</a:t>
            </a:r>
          </a:p>
          <a:p>
            <a:r>
              <a:rPr lang="en-US" altLang="ko-KR" sz="7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en-US" altLang="ko-KR" sz="700" dirty="0">
                <a:solidFill>
                  <a:srgbClr val="CE9178"/>
                </a:solidFill>
                <a:latin typeface="Consolas" panose="020B0609020204030204" pitchFamily="49" charset="0"/>
              </a:rPr>
              <a:t>'</a:t>
            </a:r>
            <a:r>
              <a:rPr lang="en-US" altLang="ko-KR" sz="700" dirty="0" err="1">
                <a:solidFill>
                  <a:srgbClr val="CE9178"/>
                </a:solidFill>
                <a:latin typeface="Consolas" panose="020B0609020204030204" pitchFamily="49" charset="0"/>
              </a:rPr>
              <a:t>norm_mean</a:t>
            </a:r>
            <a:r>
              <a:rPr lang="en-US" altLang="ko-KR" sz="700" dirty="0">
                <a:solidFill>
                  <a:srgbClr val="CE9178"/>
                </a:solidFill>
                <a:latin typeface="Consolas" panose="020B0609020204030204" pitchFamily="49" charset="0"/>
              </a:rPr>
              <a:t>'</a:t>
            </a:r>
            <a:r>
              <a:rPr lang="en-US" altLang="ko-KR" sz="700" dirty="0">
                <a:solidFill>
                  <a:srgbClr val="CCCCCC"/>
                </a:solidFill>
                <a:latin typeface="Consolas" panose="020B0609020204030204" pitchFamily="49" charset="0"/>
              </a:rPr>
              <a:t>: </a:t>
            </a:r>
            <a:r>
              <a:rPr lang="en-US" altLang="ko-KR" sz="700" dirty="0" err="1">
                <a:solidFill>
                  <a:srgbClr val="9CDCFE"/>
                </a:solidFill>
                <a:latin typeface="Consolas" panose="020B0609020204030204" pitchFamily="49" charset="0"/>
              </a:rPr>
              <a:t>cfg</a:t>
            </a:r>
            <a:r>
              <a:rPr lang="en-US" altLang="ko-KR" sz="700" dirty="0" err="1">
                <a:solidFill>
                  <a:srgbClr val="CCCCCC"/>
                </a:solidFill>
                <a:latin typeface="Consolas" panose="020B0609020204030204" pitchFamily="49" charset="0"/>
              </a:rPr>
              <a:t>.data.norm_mean</a:t>
            </a:r>
            <a:r>
              <a:rPr lang="en-US" altLang="ko-KR" sz="700" dirty="0">
                <a:solidFill>
                  <a:srgbClr val="CCCCCC"/>
                </a:solidFill>
                <a:latin typeface="Consolas" panose="020B0609020204030204" pitchFamily="49" charset="0"/>
              </a:rPr>
              <a:t>,</a:t>
            </a:r>
          </a:p>
          <a:p>
            <a:r>
              <a:rPr lang="en-US" altLang="ko-KR" sz="7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en-US" altLang="ko-KR" sz="700" dirty="0">
                <a:solidFill>
                  <a:srgbClr val="CE9178"/>
                </a:solidFill>
                <a:latin typeface="Consolas" panose="020B0609020204030204" pitchFamily="49" charset="0"/>
              </a:rPr>
              <a:t>'</a:t>
            </a:r>
            <a:r>
              <a:rPr lang="en-US" altLang="ko-KR" sz="700" dirty="0" err="1">
                <a:solidFill>
                  <a:srgbClr val="CE9178"/>
                </a:solidFill>
                <a:latin typeface="Consolas" panose="020B0609020204030204" pitchFamily="49" charset="0"/>
              </a:rPr>
              <a:t>norm_std</a:t>
            </a:r>
            <a:r>
              <a:rPr lang="en-US" altLang="ko-KR" sz="700" dirty="0">
                <a:solidFill>
                  <a:srgbClr val="CE9178"/>
                </a:solidFill>
                <a:latin typeface="Consolas" panose="020B0609020204030204" pitchFamily="49" charset="0"/>
              </a:rPr>
              <a:t>'</a:t>
            </a:r>
            <a:r>
              <a:rPr lang="en-US" altLang="ko-KR" sz="700" dirty="0">
                <a:solidFill>
                  <a:srgbClr val="CCCCCC"/>
                </a:solidFill>
                <a:latin typeface="Consolas" panose="020B0609020204030204" pitchFamily="49" charset="0"/>
              </a:rPr>
              <a:t>: </a:t>
            </a:r>
            <a:r>
              <a:rPr lang="en-US" altLang="ko-KR" sz="700" dirty="0" err="1">
                <a:solidFill>
                  <a:srgbClr val="9CDCFE"/>
                </a:solidFill>
                <a:latin typeface="Consolas" panose="020B0609020204030204" pitchFamily="49" charset="0"/>
              </a:rPr>
              <a:t>cfg</a:t>
            </a:r>
            <a:r>
              <a:rPr lang="en-US" altLang="ko-KR" sz="700" dirty="0" err="1">
                <a:solidFill>
                  <a:srgbClr val="CCCCCC"/>
                </a:solidFill>
                <a:latin typeface="Consolas" panose="020B0609020204030204" pitchFamily="49" charset="0"/>
              </a:rPr>
              <a:t>.data.norm_std</a:t>
            </a:r>
            <a:r>
              <a:rPr lang="en-US" altLang="ko-KR" sz="700" dirty="0">
                <a:solidFill>
                  <a:srgbClr val="CCCCCC"/>
                </a:solidFill>
                <a:latin typeface="Consolas" panose="020B0609020204030204" pitchFamily="49" charset="0"/>
              </a:rPr>
              <a:t>,</a:t>
            </a:r>
          </a:p>
          <a:p>
            <a:r>
              <a:rPr lang="en-US" altLang="ko-KR" sz="7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en-US" altLang="ko-KR" sz="700" dirty="0">
                <a:solidFill>
                  <a:srgbClr val="CE9178"/>
                </a:solidFill>
                <a:latin typeface="Consolas" panose="020B0609020204030204" pitchFamily="49" charset="0"/>
              </a:rPr>
              <a:t>'</a:t>
            </a:r>
            <a:r>
              <a:rPr lang="en-US" altLang="ko-KR" sz="700" dirty="0" err="1">
                <a:solidFill>
                  <a:srgbClr val="CE9178"/>
                </a:solidFill>
                <a:latin typeface="Consolas" panose="020B0609020204030204" pitchFamily="49" charset="0"/>
              </a:rPr>
              <a:t>use_gpu</a:t>
            </a:r>
            <a:r>
              <a:rPr lang="en-US" altLang="ko-KR" sz="700" dirty="0">
                <a:solidFill>
                  <a:srgbClr val="CE9178"/>
                </a:solidFill>
                <a:latin typeface="Consolas" panose="020B0609020204030204" pitchFamily="49" charset="0"/>
              </a:rPr>
              <a:t>'</a:t>
            </a:r>
            <a:r>
              <a:rPr lang="en-US" altLang="ko-KR" sz="700" dirty="0">
                <a:solidFill>
                  <a:srgbClr val="CCCCCC"/>
                </a:solidFill>
                <a:latin typeface="Consolas" panose="020B0609020204030204" pitchFamily="49" charset="0"/>
              </a:rPr>
              <a:t>: </a:t>
            </a:r>
            <a:r>
              <a:rPr lang="en-US" altLang="ko-KR" sz="700" dirty="0" err="1">
                <a:solidFill>
                  <a:srgbClr val="9CDCFE"/>
                </a:solidFill>
                <a:latin typeface="Consolas" panose="020B0609020204030204" pitchFamily="49" charset="0"/>
              </a:rPr>
              <a:t>cfg</a:t>
            </a:r>
            <a:r>
              <a:rPr lang="en-US" altLang="ko-KR" sz="700" dirty="0" err="1">
                <a:solidFill>
                  <a:srgbClr val="CCCCCC"/>
                </a:solidFill>
                <a:latin typeface="Consolas" panose="020B0609020204030204" pitchFamily="49" charset="0"/>
              </a:rPr>
              <a:t>.use_gpu</a:t>
            </a:r>
            <a:r>
              <a:rPr lang="en-US" altLang="ko-KR" sz="700" dirty="0">
                <a:solidFill>
                  <a:srgbClr val="CCCCCC"/>
                </a:solidFill>
                <a:latin typeface="Consolas" panose="020B0609020204030204" pitchFamily="49" charset="0"/>
              </a:rPr>
              <a:t>,</a:t>
            </a:r>
          </a:p>
          <a:p>
            <a:r>
              <a:rPr lang="en-US" altLang="ko-KR" sz="7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en-US" altLang="ko-KR" sz="700" dirty="0">
                <a:solidFill>
                  <a:srgbClr val="CE9178"/>
                </a:solidFill>
                <a:latin typeface="Consolas" panose="020B0609020204030204" pitchFamily="49" charset="0"/>
              </a:rPr>
              <a:t>'</a:t>
            </a:r>
            <a:r>
              <a:rPr lang="en-US" altLang="ko-KR" sz="700" dirty="0" err="1">
                <a:solidFill>
                  <a:srgbClr val="CE9178"/>
                </a:solidFill>
                <a:latin typeface="Consolas" panose="020B0609020204030204" pitchFamily="49" charset="0"/>
              </a:rPr>
              <a:t>split_id</a:t>
            </a:r>
            <a:r>
              <a:rPr lang="en-US" altLang="ko-KR" sz="700" dirty="0">
                <a:solidFill>
                  <a:srgbClr val="CE9178"/>
                </a:solidFill>
                <a:latin typeface="Consolas" panose="020B0609020204030204" pitchFamily="49" charset="0"/>
              </a:rPr>
              <a:t>'</a:t>
            </a:r>
            <a:r>
              <a:rPr lang="en-US" altLang="ko-KR" sz="700" dirty="0">
                <a:solidFill>
                  <a:srgbClr val="CCCCCC"/>
                </a:solidFill>
                <a:latin typeface="Consolas" panose="020B0609020204030204" pitchFamily="49" charset="0"/>
              </a:rPr>
              <a:t>: </a:t>
            </a:r>
            <a:r>
              <a:rPr lang="en-US" altLang="ko-KR" sz="700" dirty="0" err="1">
                <a:solidFill>
                  <a:srgbClr val="9CDCFE"/>
                </a:solidFill>
                <a:latin typeface="Consolas" panose="020B0609020204030204" pitchFamily="49" charset="0"/>
              </a:rPr>
              <a:t>cfg</a:t>
            </a:r>
            <a:r>
              <a:rPr lang="en-US" altLang="ko-KR" sz="700" dirty="0" err="1">
                <a:solidFill>
                  <a:srgbClr val="CCCCCC"/>
                </a:solidFill>
                <a:latin typeface="Consolas" panose="020B0609020204030204" pitchFamily="49" charset="0"/>
              </a:rPr>
              <a:t>.data.split_id</a:t>
            </a:r>
            <a:r>
              <a:rPr lang="en-US" altLang="ko-KR" sz="700" dirty="0">
                <a:solidFill>
                  <a:srgbClr val="CCCCCC"/>
                </a:solidFill>
                <a:latin typeface="Consolas" panose="020B0609020204030204" pitchFamily="49" charset="0"/>
              </a:rPr>
              <a:t>,</a:t>
            </a:r>
          </a:p>
          <a:p>
            <a:r>
              <a:rPr lang="en-US" altLang="ko-KR" sz="7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en-US" altLang="ko-KR" sz="700" dirty="0">
                <a:solidFill>
                  <a:srgbClr val="CE9178"/>
                </a:solidFill>
                <a:latin typeface="Consolas" panose="020B0609020204030204" pitchFamily="49" charset="0"/>
              </a:rPr>
              <a:t>'</a:t>
            </a:r>
            <a:r>
              <a:rPr lang="en-US" altLang="ko-KR" sz="700" dirty="0" err="1">
                <a:solidFill>
                  <a:srgbClr val="CE9178"/>
                </a:solidFill>
                <a:latin typeface="Consolas" panose="020B0609020204030204" pitchFamily="49" charset="0"/>
              </a:rPr>
              <a:t>combineall</a:t>
            </a:r>
            <a:r>
              <a:rPr lang="en-US" altLang="ko-KR" sz="700" dirty="0">
                <a:solidFill>
                  <a:srgbClr val="CE9178"/>
                </a:solidFill>
                <a:latin typeface="Consolas" panose="020B0609020204030204" pitchFamily="49" charset="0"/>
              </a:rPr>
              <a:t>'</a:t>
            </a:r>
            <a:r>
              <a:rPr lang="en-US" altLang="ko-KR" sz="700" dirty="0">
                <a:solidFill>
                  <a:srgbClr val="CCCCCC"/>
                </a:solidFill>
                <a:latin typeface="Consolas" panose="020B0609020204030204" pitchFamily="49" charset="0"/>
              </a:rPr>
              <a:t>: </a:t>
            </a:r>
            <a:r>
              <a:rPr lang="en-US" altLang="ko-KR" sz="700" dirty="0" err="1">
                <a:solidFill>
                  <a:srgbClr val="9CDCFE"/>
                </a:solidFill>
                <a:latin typeface="Consolas" panose="020B0609020204030204" pitchFamily="49" charset="0"/>
              </a:rPr>
              <a:t>cfg</a:t>
            </a:r>
            <a:r>
              <a:rPr lang="en-US" altLang="ko-KR" sz="700" dirty="0" err="1">
                <a:solidFill>
                  <a:srgbClr val="CCCCCC"/>
                </a:solidFill>
                <a:latin typeface="Consolas" panose="020B0609020204030204" pitchFamily="49" charset="0"/>
              </a:rPr>
              <a:t>.data.combineall</a:t>
            </a:r>
            <a:r>
              <a:rPr lang="en-US" altLang="ko-KR" sz="700" dirty="0">
                <a:solidFill>
                  <a:srgbClr val="CCCCCC"/>
                </a:solidFill>
                <a:latin typeface="Consolas" panose="020B0609020204030204" pitchFamily="49" charset="0"/>
              </a:rPr>
              <a:t>,</a:t>
            </a:r>
          </a:p>
          <a:p>
            <a:r>
              <a:rPr lang="en-US" altLang="ko-KR" sz="7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en-US" altLang="ko-KR" sz="700" dirty="0">
                <a:solidFill>
                  <a:srgbClr val="CE9178"/>
                </a:solidFill>
                <a:latin typeface="Consolas" panose="020B0609020204030204" pitchFamily="49" charset="0"/>
              </a:rPr>
              <a:t>'</a:t>
            </a:r>
            <a:r>
              <a:rPr lang="en-US" altLang="ko-KR" sz="700" dirty="0" err="1">
                <a:solidFill>
                  <a:srgbClr val="CE9178"/>
                </a:solidFill>
                <a:latin typeface="Consolas" panose="020B0609020204030204" pitchFamily="49" charset="0"/>
              </a:rPr>
              <a:t>load_train_targets</a:t>
            </a:r>
            <a:r>
              <a:rPr lang="en-US" altLang="ko-KR" sz="700" dirty="0">
                <a:solidFill>
                  <a:srgbClr val="CE9178"/>
                </a:solidFill>
                <a:latin typeface="Consolas" panose="020B0609020204030204" pitchFamily="49" charset="0"/>
              </a:rPr>
              <a:t>'</a:t>
            </a:r>
            <a:r>
              <a:rPr lang="en-US" altLang="ko-KR" sz="700" dirty="0">
                <a:solidFill>
                  <a:srgbClr val="CCCCCC"/>
                </a:solidFill>
                <a:latin typeface="Consolas" panose="020B0609020204030204" pitchFamily="49" charset="0"/>
              </a:rPr>
              <a:t>: </a:t>
            </a:r>
            <a:r>
              <a:rPr lang="en-US" altLang="ko-KR" sz="700" dirty="0" err="1">
                <a:solidFill>
                  <a:srgbClr val="9CDCFE"/>
                </a:solidFill>
                <a:latin typeface="Consolas" panose="020B0609020204030204" pitchFamily="49" charset="0"/>
              </a:rPr>
              <a:t>cfg</a:t>
            </a:r>
            <a:r>
              <a:rPr lang="en-US" altLang="ko-KR" sz="700" dirty="0" err="1">
                <a:solidFill>
                  <a:srgbClr val="CCCCCC"/>
                </a:solidFill>
                <a:latin typeface="Consolas" panose="020B0609020204030204" pitchFamily="49" charset="0"/>
              </a:rPr>
              <a:t>.data.load_train_targets</a:t>
            </a:r>
            <a:r>
              <a:rPr lang="en-US" altLang="ko-KR" sz="700" dirty="0">
                <a:solidFill>
                  <a:srgbClr val="CCCCCC"/>
                </a:solidFill>
                <a:latin typeface="Consolas" panose="020B0609020204030204" pitchFamily="49" charset="0"/>
              </a:rPr>
              <a:t>,</a:t>
            </a:r>
          </a:p>
          <a:p>
            <a:r>
              <a:rPr lang="en-US" altLang="ko-KR" sz="7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en-US" altLang="ko-KR" sz="700" dirty="0">
                <a:solidFill>
                  <a:srgbClr val="CE9178"/>
                </a:solidFill>
                <a:latin typeface="Consolas" panose="020B0609020204030204" pitchFamily="49" charset="0"/>
              </a:rPr>
              <a:t>'</a:t>
            </a:r>
            <a:r>
              <a:rPr lang="en-US" altLang="ko-KR" sz="700" dirty="0" err="1">
                <a:solidFill>
                  <a:srgbClr val="CE9178"/>
                </a:solidFill>
                <a:latin typeface="Consolas" panose="020B0609020204030204" pitchFamily="49" charset="0"/>
              </a:rPr>
              <a:t>batch_size_train</a:t>
            </a:r>
            <a:r>
              <a:rPr lang="en-US" altLang="ko-KR" sz="700" dirty="0">
                <a:solidFill>
                  <a:srgbClr val="CE9178"/>
                </a:solidFill>
                <a:latin typeface="Consolas" panose="020B0609020204030204" pitchFamily="49" charset="0"/>
              </a:rPr>
              <a:t>'</a:t>
            </a:r>
            <a:r>
              <a:rPr lang="en-US" altLang="ko-KR" sz="700" dirty="0">
                <a:solidFill>
                  <a:srgbClr val="CCCCCC"/>
                </a:solidFill>
                <a:latin typeface="Consolas" panose="020B0609020204030204" pitchFamily="49" charset="0"/>
              </a:rPr>
              <a:t>: </a:t>
            </a:r>
            <a:r>
              <a:rPr lang="en-US" altLang="ko-KR" sz="700" dirty="0" err="1">
                <a:solidFill>
                  <a:srgbClr val="9CDCFE"/>
                </a:solidFill>
                <a:latin typeface="Consolas" panose="020B0609020204030204" pitchFamily="49" charset="0"/>
              </a:rPr>
              <a:t>cfg</a:t>
            </a:r>
            <a:r>
              <a:rPr lang="en-US" altLang="ko-KR" sz="700" dirty="0" err="1">
                <a:solidFill>
                  <a:srgbClr val="CCCCCC"/>
                </a:solidFill>
                <a:latin typeface="Consolas" panose="020B0609020204030204" pitchFamily="49" charset="0"/>
              </a:rPr>
              <a:t>.train.batch_size</a:t>
            </a:r>
            <a:r>
              <a:rPr lang="en-US" altLang="ko-KR" sz="700" dirty="0">
                <a:solidFill>
                  <a:srgbClr val="CCCCCC"/>
                </a:solidFill>
                <a:latin typeface="Consolas" panose="020B0609020204030204" pitchFamily="49" charset="0"/>
              </a:rPr>
              <a:t>,</a:t>
            </a:r>
          </a:p>
          <a:p>
            <a:r>
              <a:rPr lang="en-US" altLang="ko-KR" sz="7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en-US" altLang="ko-KR" sz="700" dirty="0">
                <a:solidFill>
                  <a:srgbClr val="CE9178"/>
                </a:solidFill>
                <a:latin typeface="Consolas" panose="020B0609020204030204" pitchFamily="49" charset="0"/>
              </a:rPr>
              <a:t>'</a:t>
            </a:r>
            <a:r>
              <a:rPr lang="en-US" altLang="ko-KR" sz="700" dirty="0" err="1">
                <a:solidFill>
                  <a:srgbClr val="CE9178"/>
                </a:solidFill>
                <a:latin typeface="Consolas" panose="020B0609020204030204" pitchFamily="49" charset="0"/>
              </a:rPr>
              <a:t>batch_size_test</a:t>
            </a:r>
            <a:r>
              <a:rPr lang="en-US" altLang="ko-KR" sz="700" dirty="0">
                <a:solidFill>
                  <a:srgbClr val="CE9178"/>
                </a:solidFill>
                <a:latin typeface="Consolas" panose="020B0609020204030204" pitchFamily="49" charset="0"/>
              </a:rPr>
              <a:t>'</a:t>
            </a:r>
            <a:r>
              <a:rPr lang="en-US" altLang="ko-KR" sz="700" dirty="0">
                <a:solidFill>
                  <a:srgbClr val="CCCCCC"/>
                </a:solidFill>
                <a:latin typeface="Consolas" panose="020B0609020204030204" pitchFamily="49" charset="0"/>
              </a:rPr>
              <a:t>: </a:t>
            </a:r>
            <a:r>
              <a:rPr lang="en-US" altLang="ko-KR" sz="700" dirty="0" err="1">
                <a:solidFill>
                  <a:srgbClr val="9CDCFE"/>
                </a:solidFill>
                <a:latin typeface="Consolas" panose="020B0609020204030204" pitchFamily="49" charset="0"/>
              </a:rPr>
              <a:t>cfg</a:t>
            </a:r>
            <a:r>
              <a:rPr lang="en-US" altLang="ko-KR" sz="700" dirty="0" err="1">
                <a:solidFill>
                  <a:srgbClr val="CCCCCC"/>
                </a:solidFill>
                <a:latin typeface="Consolas" panose="020B0609020204030204" pitchFamily="49" charset="0"/>
              </a:rPr>
              <a:t>.test.batch_size</a:t>
            </a:r>
            <a:r>
              <a:rPr lang="en-US" altLang="ko-KR" sz="700" dirty="0">
                <a:solidFill>
                  <a:srgbClr val="CCCCCC"/>
                </a:solidFill>
                <a:latin typeface="Consolas" panose="020B0609020204030204" pitchFamily="49" charset="0"/>
              </a:rPr>
              <a:t>,</a:t>
            </a:r>
          </a:p>
          <a:p>
            <a:r>
              <a:rPr lang="en-US" altLang="ko-KR" sz="7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en-US" altLang="ko-KR" sz="700" dirty="0">
                <a:solidFill>
                  <a:srgbClr val="CE9178"/>
                </a:solidFill>
                <a:latin typeface="Consolas" panose="020B0609020204030204" pitchFamily="49" charset="0"/>
              </a:rPr>
              <a:t>'workers'</a:t>
            </a:r>
            <a:r>
              <a:rPr lang="en-US" altLang="ko-KR" sz="700" dirty="0">
                <a:solidFill>
                  <a:srgbClr val="CCCCCC"/>
                </a:solidFill>
                <a:latin typeface="Consolas" panose="020B0609020204030204" pitchFamily="49" charset="0"/>
              </a:rPr>
              <a:t>: </a:t>
            </a:r>
            <a:r>
              <a:rPr lang="en-US" altLang="ko-KR" sz="700" dirty="0" err="1">
                <a:solidFill>
                  <a:srgbClr val="9CDCFE"/>
                </a:solidFill>
                <a:latin typeface="Consolas" panose="020B0609020204030204" pitchFamily="49" charset="0"/>
              </a:rPr>
              <a:t>cfg</a:t>
            </a:r>
            <a:r>
              <a:rPr lang="en-US" altLang="ko-KR" sz="700" dirty="0" err="1">
                <a:solidFill>
                  <a:srgbClr val="CCCCCC"/>
                </a:solidFill>
                <a:latin typeface="Consolas" panose="020B0609020204030204" pitchFamily="49" charset="0"/>
              </a:rPr>
              <a:t>.data.workers</a:t>
            </a:r>
            <a:r>
              <a:rPr lang="en-US" altLang="ko-KR" sz="700" dirty="0">
                <a:solidFill>
                  <a:srgbClr val="CCCCCC"/>
                </a:solidFill>
                <a:latin typeface="Consolas" panose="020B0609020204030204" pitchFamily="49" charset="0"/>
              </a:rPr>
              <a:t>,</a:t>
            </a:r>
          </a:p>
          <a:p>
            <a:r>
              <a:rPr lang="en-US" altLang="ko-KR" sz="7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en-US" altLang="ko-KR" sz="700" dirty="0">
                <a:solidFill>
                  <a:srgbClr val="CE9178"/>
                </a:solidFill>
                <a:latin typeface="Consolas" panose="020B0609020204030204" pitchFamily="49" charset="0"/>
              </a:rPr>
              <a:t>'</a:t>
            </a:r>
            <a:r>
              <a:rPr lang="en-US" altLang="ko-KR" sz="700" dirty="0" err="1">
                <a:solidFill>
                  <a:srgbClr val="CE9178"/>
                </a:solidFill>
                <a:latin typeface="Consolas" panose="020B0609020204030204" pitchFamily="49" charset="0"/>
              </a:rPr>
              <a:t>num_instances</a:t>
            </a:r>
            <a:r>
              <a:rPr lang="en-US" altLang="ko-KR" sz="700" dirty="0">
                <a:solidFill>
                  <a:srgbClr val="CE9178"/>
                </a:solidFill>
                <a:latin typeface="Consolas" panose="020B0609020204030204" pitchFamily="49" charset="0"/>
              </a:rPr>
              <a:t>'</a:t>
            </a:r>
            <a:r>
              <a:rPr lang="en-US" altLang="ko-KR" sz="700" dirty="0">
                <a:solidFill>
                  <a:srgbClr val="CCCCCC"/>
                </a:solidFill>
                <a:latin typeface="Consolas" panose="020B0609020204030204" pitchFamily="49" charset="0"/>
              </a:rPr>
              <a:t>: </a:t>
            </a:r>
            <a:r>
              <a:rPr lang="en-US" altLang="ko-KR" sz="700" dirty="0" err="1">
                <a:solidFill>
                  <a:srgbClr val="9CDCFE"/>
                </a:solidFill>
                <a:latin typeface="Consolas" panose="020B0609020204030204" pitchFamily="49" charset="0"/>
              </a:rPr>
              <a:t>cfg</a:t>
            </a:r>
            <a:r>
              <a:rPr lang="en-US" altLang="ko-KR" sz="700" dirty="0" err="1">
                <a:solidFill>
                  <a:srgbClr val="CCCCCC"/>
                </a:solidFill>
                <a:latin typeface="Consolas" panose="020B0609020204030204" pitchFamily="49" charset="0"/>
              </a:rPr>
              <a:t>.sampler.num_instances</a:t>
            </a:r>
            <a:r>
              <a:rPr lang="en-US" altLang="ko-KR" sz="700" dirty="0">
                <a:solidFill>
                  <a:srgbClr val="CCCCCC"/>
                </a:solidFill>
                <a:latin typeface="Consolas" panose="020B0609020204030204" pitchFamily="49" charset="0"/>
              </a:rPr>
              <a:t>,</a:t>
            </a:r>
          </a:p>
          <a:p>
            <a:r>
              <a:rPr lang="en-US" altLang="ko-KR" sz="7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en-US" altLang="ko-KR" sz="700" dirty="0">
                <a:solidFill>
                  <a:srgbClr val="CE9178"/>
                </a:solidFill>
                <a:latin typeface="Consolas" panose="020B0609020204030204" pitchFamily="49" charset="0"/>
              </a:rPr>
              <a:t>'</a:t>
            </a:r>
            <a:r>
              <a:rPr lang="en-US" altLang="ko-KR" sz="700" dirty="0" err="1">
                <a:solidFill>
                  <a:srgbClr val="CE9178"/>
                </a:solidFill>
                <a:latin typeface="Consolas" panose="020B0609020204030204" pitchFamily="49" charset="0"/>
              </a:rPr>
              <a:t>train_sampler</a:t>
            </a:r>
            <a:r>
              <a:rPr lang="en-US" altLang="ko-KR" sz="700" dirty="0">
                <a:solidFill>
                  <a:srgbClr val="CE9178"/>
                </a:solidFill>
                <a:latin typeface="Consolas" panose="020B0609020204030204" pitchFamily="49" charset="0"/>
              </a:rPr>
              <a:t>'</a:t>
            </a:r>
            <a:r>
              <a:rPr lang="en-US" altLang="ko-KR" sz="700" dirty="0">
                <a:solidFill>
                  <a:srgbClr val="CCCCCC"/>
                </a:solidFill>
                <a:latin typeface="Consolas" panose="020B0609020204030204" pitchFamily="49" charset="0"/>
              </a:rPr>
              <a:t>: </a:t>
            </a:r>
            <a:r>
              <a:rPr lang="en-US" altLang="ko-KR" sz="700" dirty="0" err="1">
                <a:solidFill>
                  <a:srgbClr val="9CDCFE"/>
                </a:solidFill>
                <a:latin typeface="Consolas" panose="020B0609020204030204" pitchFamily="49" charset="0"/>
              </a:rPr>
              <a:t>cfg</a:t>
            </a:r>
            <a:r>
              <a:rPr lang="en-US" altLang="ko-KR" sz="700" dirty="0" err="1">
                <a:solidFill>
                  <a:srgbClr val="CCCCCC"/>
                </a:solidFill>
                <a:latin typeface="Consolas" panose="020B0609020204030204" pitchFamily="49" charset="0"/>
              </a:rPr>
              <a:t>.sampler.train_sampler</a:t>
            </a:r>
            <a:r>
              <a:rPr lang="en-US" altLang="ko-KR" sz="700" dirty="0">
                <a:solidFill>
                  <a:srgbClr val="CCCCCC"/>
                </a:solidFill>
                <a:latin typeface="Consolas" panose="020B0609020204030204" pitchFamily="49" charset="0"/>
              </a:rPr>
              <a:t>,</a:t>
            </a:r>
          </a:p>
          <a:p>
            <a:r>
              <a:rPr lang="en-US" altLang="ko-KR" sz="7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en-US" altLang="ko-KR" sz="700" dirty="0">
                <a:solidFill>
                  <a:srgbClr val="6A9955"/>
                </a:solidFill>
                <a:latin typeface="Consolas" panose="020B0609020204030204" pitchFamily="49" charset="0"/>
              </a:rPr>
              <a:t># image</a:t>
            </a:r>
            <a:endParaRPr lang="en-US" altLang="ko-KR" sz="7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r>
              <a:rPr lang="en-US" altLang="ko-KR" sz="7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en-US" altLang="ko-KR" sz="700" dirty="0">
                <a:solidFill>
                  <a:srgbClr val="CE9178"/>
                </a:solidFill>
                <a:latin typeface="Consolas" panose="020B0609020204030204" pitchFamily="49" charset="0"/>
              </a:rPr>
              <a:t>'cuhk03_labeled'</a:t>
            </a:r>
            <a:r>
              <a:rPr lang="en-US" altLang="ko-KR" sz="700" dirty="0">
                <a:solidFill>
                  <a:srgbClr val="CCCCCC"/>
                </a:solidFill>
                <a:latin typeface="Consolas" panose="020B0609020204030204" pitchFamily="49" charset="0"/>
              </a:rPr>
              <a:t>: </a:t>
            </a:r>
            <a:r>
              <a:rPr lang="en-US" altLang="ko-KR" sz="700" dirty="0">
                <a:solidFill>
                  <a:srgbClr val="9CDCFE"/>
                </a:solidFill>
                <a:latin typeface="Consolas" panose="020B0609020204030204" pitchFamily="49" charset="0"/>
              </a:rPr>
              <a:t>cfg</a:t>
            </a:r>
            <a:r>
              <a:rPr lang="en-US" altLang="ko-KR" sz="700" dirty="0">
                <a:solidFill>
                  <a:srgbClr val="CCCCCC"/>
                </a:solidFill>
                <a:latin typeface="Consolas" panose="020B0609020204030204" pitchFamily="49" charset="0"/>
              </a:rPr>
              <a:t>.cuhk03.labeled_images,</a:t>
            </a:r>
          </a:p>
          <a:p>
            <a:r>
              <a:rPr lang="en-US" altLang="ko-KR" sz="7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en-US" altLang="ko-KR" sz="700" dirty="0">
                <a:solidFill>
                  <a:srgbClr val="CE9178"/>
                </a:solidFill>
                <a:latin typeface="Consolas" panose="020B0609020204030204" pitchFamily="49" charset="0"/>
              </a:rPr>
              <a:t>'cuhk03_classic_split'</a:t>
            </a:r>
            <a:r>
              <a:rPr lang="en-US" altLang="ko-KR" sz="700" dirty="0">
                <a:solidFill>
                  <a:srgbClr val="CCCCCC"/>
                </a:solidFill>
                <a:latin typeface="Consolas" panose="020B0609020204030204" pitchFamily="49" charset="0"/>
              </a:rPr>
              <a:t>: </a:t>
            </a:r>
            <a:r>
              <a:rPr lang="en-US" altLang="ko-KR" sz="700" dirty="0">
                <a:solidFill>
                  <a:srgbClr val="9CDCFE"/>
                </a:solidFill>
                <a:latin typeface="Consolas" panose="020B0609020204030204" pitchFamily="49" charset="0"/>
              </a:rPr>
              <a:t>cfg</a:t>
            </a:r>
            <a:r>
              <a:rPr lang="en-US" altLang="ko-KR" sz="700" dirty="0">
                <a:solidFill>
                  <a:srgbClr val="CCCCCC"/>
                </a:solidFill>
                <a:latin typeface="Consolas" panose="020B0609020204030204" pitchFamily="49" charset="0"/>
              </a:rPr>
              <a:t>.cuhk03.classic_split,</a:t>
            </a:r>
          </a:p>
          <a:p>
            <a:r>
              <a:rPr lang="en-US" altLang="ko-KR" sz="7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en-US" altLang="ko-KR" sz="700" dirty="0">
                <a:solidFill>
                  <a:srgbClr val="CE9178"/>
                </a:solidFill>
                <a:latin typeface="Consolas" panose="020B0609020204030204" pitchFamily="49" charset="0"/>
              </a:rPr>
              <a:t>'market1501_500k'</a:t>
            </a:r>
            <a:r>
              <a:rPr lang="en-US" altLang="ko-KR" sz="700" dirty="0">
                <a:solidFill>
                  <a:srgbClr val="CCCCCC"/>
                </a:solidFill>
                <a:latin typeface="Consolas" panose="020B0609020204030204" pitchFamily="49" charset="0"/>
              </a:rPr>
              <a:t>: </a:t>
            </a:r>
            <a:r>
              <a:rPr lang="en-US" altLang="ko-KR" sz="700" dirty="0">
                <a:solidFill>
                  <a:srgbClr val="9CDCFE"/>
                </a:solidFill>
                <a:latin typeface="Consolas" panose="020B0609020204030204" pitchFamily="49" charset="0"/>
              </a:rPr>
              <a:t>cfg</a:t>
            </a:r>
            <a:r>
              <a:rPr lang="en-US" altLang="ko-KR" sz="700" dirty="0">
                <a:solidFill>
                  <a:srgbClr val="CCCCCC"/>
                </a:solidFill>
                <a:latin typeface="Consolas" panose="020B0609020204030204" pitchFamily="49" charset="0"/>
              </a:rPr>
              <a:t>.market1501.use_500k_distractors,</a:t>
            </a:r>
          </a:p>
          <a:p>
            <a:r>
              <a:rPr lang="en-US" altLang="ko-KR" sz="700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US" altLang="ko-KR" sz="700" dirty="0" smtClean="0">
                <a:solidFill>
                  <a:srgbClr val="CCCCCC"/>
                </a:solidFill>
                <a:latin typeface="Consolas" panose="020B0609020204030204" pitchFamily="49" charset="0"/>
              </a:rPr>
              <a:t>}</a:t>
            </a:r>
            <a:endParaRPr lang="en-US" altLang="ko-KR" sz="700" dirty="0">
              <a:solidFill>
                <a:srgbClr val="CCCCCC"/>
              </a:solidFill>
              <a:latin typeface="Consolas" panose="020B0609020204030204" pitchFamily="49" charset="0"/>
            </a:endParaRPr>
          </a:p>
        </p:txBody>
      </p:sp>
      <p:sp>
        <p:nvSpPr>
          <p:cNvPr id="59" name="직사각형 58"/>
          <p:cNvSpPr/>
          <p:nvPr/>
        </p:nvSpPr>
        <p:spPr>
          <a:xfrm>
            <a:off x="5205852" y="2011947"/>
            <a:ext cx="2015295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 defTabSz="914400" eaLnBrk="0" fontAlgn="base" latinLnBrk="0" hangingPunct="0">
              <a:spcBef>
                <a:spcPct val="0"/>
              </a:spcBef>
              <a:spcAft>
                <a:spcPct val="0"/>
              </a:spcAft>
            </a:pPr>
            <a:r>
              <a:rPr lang="en-US" altLang="ko-KR" sz="1000" b="1" dirty="0" err="1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cfg</a:t>
            </a:r>
            <a:r>
              <a:rPr lang="ko-KR" altLang="en-US" sz="1000" b="1" dirty="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를 받아 </a:t>
            </a:r>
            <a:r>
              <a:rPr lang="en-US" altLang="ko-KR" sz="1000" b="1" dirty="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Dictionary </a:t>
            </a:r>
            <a:r>
              <a:rPr lang="ko-KR" altLang="en-US" sz="1000" b="1" dirty="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형태로 변환</a:t>
            </a:r>
            <a:endParaRPr lang="en-US" altLang="ko-KR" sz="1000" b="1" dirty="0">
              <a:solidFill>
                <a:srgbClr val="C00000"/>
              </a:solidFill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cxnSp>
        <p:nvCxnSpPr>
          <p:cNvPr id="70" name="구부러진 연결선 69"/>
          <p:cNvCxnSpPr>
            <a:stCxn id="59" idx="1"/>
            <a:endCxn id="73" idx="3"/>
          </p:cNvCxnSpPr>
          <p:nvPr/>
        </p:nvCxnSpPr>
        <p:spPr>
          <a:xfrm rot="10800000" flipV="1">
            <a:off x="2162660" y="2135057"/>
            <a:ext cx="3043192" cy="2536657"/>
          </a:xfrm>
          <a:prstGeom prst="curvedConnector3">
            <a:avLst/>
          </a:prstGeom>
          <a:ln>
            <a:solidFill>
              <a:srgbClr val="C00000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구부러진 연결선 27"/>
          <p:cNvCxnSpPr>
            <a:stCxn id="73" idx="2"/>
            <a:endCxn id="100" idx="1"/>
          </p:cNvCxnSpPr>
          <p:nvPr/>
        </p:nvCxnSpPr>
        <p:spPr>
          <a:xfrm rot="16200000" flipH="1">
            <a:off x="3219879" y="2810178"/>
            <a:ext cx="1371967" cy="5462315"/>
          </a:xfrm>
          <a:prstGeom prst="curvedConnector2">
            <a:avLst/>
          </a:prstGeom>
          <a:ln>
            <a:solidFill>
              <a:srgbClr val="C00000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직사각형 28"/>
          <p:cNvSpPr/>
          <p:nvPr/>
        </p:nvSpPr>
        <p:spPr>
          <a:xfrm>
            <a:off x="350273" y="6098363"/>
            <a:ext cx="2130557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err="1" smtClean="0">
                <a:solidFill>
                  <a:srgbClr val="7030A0"/>
                </a:solidFill>
                <a:latin typeface="Consolas" panose="020B0609020204030204" pitchFamily="49" charset="0"/>
              </a:rPr>
              <a:t>args.config</a:t>
            </a:r>
            <a:r>
              <a:rPr lang="en-US" altLang="ko-KR" sz="1000" dirty="0" smtClean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ko-KR" altLang="en-US" sz="1000" dirty="0" smtClean="0">
                <a:solidFill>
                  <a:srgbClr val="7030A0"/>
                </a:solidFill>
                <a:latin typeface="Consolas" panose="020B0609020204030204" pitchFamily="49" charset="0"/>
              </a:rPr>
              <a:t>파일이 읽으려는 모델의 구성 파일이다</a:t>
            </a:r>
            <a:r>
              <a:rPr lang="en-US" altLang="ko-KR" sz="1000" dirty="0" smtClean="0">
                <a:solidFill>
                  <a:srgbClr val="7030A0"/>
                </a:solidFill>
                <a:latin typeface="Consolas" panose="020B0609020204030204" pitchFamily="49" charset="0"/>
              </a:rPr>
              <a:t>. </a:t>
            </a:r>
            <a:r>
              <a:rPr lang="ko-KR" altLang="en-US" sz="1000" dirty="0" smtClean="0">
                <a:solidFill>
                  <a:srgbClr val="7030A0"/>
                </a:solidFill>
                <a:latin typeface="Consolas" panose="020B0609020204030204" pitchFamily="49" charset="0"/>
              </a:rPr>
              <a:t>예</a:t>
            </a:r>
            <a:r>
              <a:rPr lang="en-US" altLang="ko-KR" sz="1000" dirty="0" smtClean="0">
                <a:solidFill>
                  <a:srgbClr val="7030A0"/>
                </a:solidFill>
                <a:latin typeface="Consolas" panose="020B0609020204030204" pitchFamily="49" charset="0"/>
              </a:rPr>
              <a:t>)</a:t>
            </a:r>
            <a:r>
              <a:rPr lang="en-US" altLang="ko-KR" sz="1000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000" dirty="0" err="1">
                <a:solidFill>
                  <a:srgbClr val="0070C0"/>
                </a:solidFill>
                <a:latin typeface="Consolas" panose="020B0609020204030204" pitchFamily="49" charset="0"/>
              </a:rPr>
              <a:t>configs</a:t>
            </a:r>
            <a:r>
              <a:rPr lang="en-US" altLang="ko-KR" sz="1000" dirty="0">
                <a:solidFill>
                  <a:srgbClr val="0070C0"/>
                </a:solidFill>
                <a:latin typeface="Consolas" panose="020B0609020204030204" pitchFamily="49" charset="0"/>
              </a:rPr>
              <a:t>/im_osnet_x1_0_softmax_128x128_amsgrad.yaml</a:t>
            </a:r>
            <a:endParaRPr lang="en-US" altLang="ko-KR" sz="1000" b="0" dirty="0">
              <a:solidFill>
                <a:srgbClr val="0070C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1978811" y="2485370"/>
            <a:ext cx="1700685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# </a:t>
            </a:r>
            <a:r>
              <a:rPr kumimoji="0" lang="ko-KR" altLang="ko-KR" sz="10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load</a:t>
            </a:r>
            <a:r>
              <a:rPr kumimoji="0" lang="ko-KR" altLang="ko-KR" sz="1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 </a:t>
            </a:r>
            <a:r>
              <a:rPr kumimoji="0" lang="ko-KR" altLang="ko-KR" sz="10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values</a:t>
            </a:r>
            <a:r>
              <a:rPr kumimoji="0" lang="ko-KR" altLang="ko-KR" sz="1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 </a:t>
            </a:r>
            <a:r>
              <a:rPr kumimoji="0" lang="ko-KR" altLang="ko-KR" sz="10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from</a:t>
            </a:r>
            <a:r>
              <a:rPr kumimoji="0" lang="ko-KR" altLang="ko-KR" sz="1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 </a:t>
            </a:r>
            <a:r>
              <a:rPr kumimoji="0" lang="ko-KR" altLang="ko-KR" sz="10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a</a:t>
            </a:r>
            <a:r>
              <a:rPr kumimoji="0" lang="ko-KR" altLang="ko-KR" sz="1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 </a:t>
            </a:r>
            <a:r>
              <a:rPr kumimoji="0" lang="ko-KR" altLang="ko-KR" sz="10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file</a:t>
            </a:r>
            <a:r>
              <a:rPr kumimoji="0" lang="ko-KR" altLang="ko-KR" sz="5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endParaRPr kumimoji="0" lang="ko-KR" altLang="ko-KR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06067186"/>
      </p:ext>
    </p:extLst>
  </p:cSld>
  <p:clrMapOvr>
    <a:masterClrMapping/>
  </p:clrMapOvr>
  <p:transition spd="slow">
    <p:wipe/>
  </p:transition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292327" y="306910"/>
            <a:ext cx="2116508" cy="468990"/>
          </a:xfrm>
          <a:prstGeom prst="rect">
            <a:avLst/>
          </a:prstGeom>
          <a:noFill/>
        </p:spPr>
        <p:txBody>
          <a:bodyPr wrap="none" lIns="98694" tIns="49347" rIns="98694" bIns="49347">
            <a:spAutoFit/>
          </a:bodyPr>
          <a:lstStyle/>
          <a:p>
            <a:pPr algn="ctr">
              <a:spcBef>
                <a:spcPts val="648"/>
              </a:spcBef>
            </a:pPr>
            <a:r>
              <a:rPr lang="en-US" altLang="ko-KR" sz="2400" b="1" dirty="0" smtClean="0">
                <a:solidFill>
                  <a:srgbClr val="0E0585"/>
                </a:solidFill>
              </a:rPr>
              <a:t>main.py </a:t>
            </a:r>
            <a:r>
              <a:rPr lang="en-US" altLang="ko-KR" sz="2400" b="1" dirty="0" err="1" smtClean="0">
                <a:solidFill>
                  <a:srgbClr val="0E0585"/>
                </a:solidFill>
              </a:rPr>
              <a:t>cont</a:t>
            </a:r>
            <a:endParaRPr lang="en-US" altLang="ko-KR" sz="2400" b="1" dirty="0">
              <a:solidFill>
                <a:srgbClr val="0E0585"/>
              </a:solidFill>
            </a:endParaRPr>
          </a:p>
        </p:txBody>
      </p:sp>
      <p:sp>
        <p:nvSpPr>
          <p:cNvPr id="12" name="직사각형 11"/>
          <p:cNvSpPr/>
          <p:nvPr/>
        </p:nvSpPr>
        <p:spPr>
          <a:xfrm>
            <a:off x="477730" y="1244203"/>
            <a:ext cx="2097830" cy="367276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model = </a:t>
            </a:r>
            <a:r>
              <a:rPr lang="en-US" altLang="ko-KR" sz="100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torchreid.models.build_model</a:t>
            </a:r>
            <a:endParaRPr lang="en-US" altLang="ko-KR" sz="100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sp>
        <p:nvSpPr>
          <p:cNvPr id="13" name="직사각형 12"/>
          <p:cNvSpPr/>
          <p:nvPr/>
        </p:nvSpPr>
        <p:spPr>
          <a:xfrm>
            <a:off x="2704072" y="1297036"/>
            <a:ext cx="851515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100" dirty="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model </a:t>
            </a:r>
            <a:r>
              <a:rPr lang="ko-KR" altLang="en-US" sz="1100" dirty="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생성</a:t>
            </a:r>
            <a:endParaRPr lang="ko-KR" altLang="en-US" sz="1100" dirty="0">
              <a:solidFill>
                <a:srgbClr val="C00000"/>
              </a:solidFill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sp>
        <p:nvSpPr>
          <p:cNvPr id="14" name="직사각형 13"/>
          <p:cNvSpPr/>
          <p:nvPr/>
        </p:nvSpPr>
        <p:spPr>
          <a:xfrm>
            <a:off x="1916112" y="1912090"/>
            <a:ext cx="1575920" cy="335383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def</a:t>
            </a:r>
            <a:r>
              <a:rPr lang="en-US" altLang="ko-KR" sz="10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</a:t>
            </a:r>
            <a:r>
              <a:rPr lang="en-US" altLang="ko-KR" sz="100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build_model</a:t>
            </a:r>
            <a:endParaRPr lang="en-US" altLang="ko-KR" sz="100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sp>
        <p:nvSpPr>
          <p:cNvPr id="6" name="직사각형 5"/>
          <p:cNvSpPr/>
          <p:nvPr/>
        </p:nvSpPr>
        <p:spPr>
          <a:xfrm>
            <a:off x="3869690" y="1896855"/>
            <a:ext cx="7087870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900" dirty="0" err="1"/>
              <a:t>avai_models</a:t>
            </a:r>
            <a:endParaRPr lang="ko-KR" altLang="en-US" sz="900" dirty="0"/>
          </a:p>
          <a:p>
            <a:r>
              <a:rPr lang="ko-KR" altLang="en-US" sz="900" dirty="0" err="1"/>
              <a:t>Out</a:t>
            </a:r>
            <a:r>
              <a:rPr lang="ko-KR" altLang="en-US" sz="900" dirty="0"/>
              <a:t>  [9]: ['resnet18', 'resnet34', 'resnet50', 'resnet101', 'resnet152', 'resnext50_32x4d', 'resnext101_32x8d', 'resnet50_fc512', 'se_resnet50', 'se_resnet50_fc512', 'se_resnet101', 'se_resnext50_32x4d', 'se_resnext101_32x4d', 'densenet121', 'densenet169', 'densenet201', 'densenet161', 'densenet121_fc512', 'inceptionresnetv2', 'inceptionv4', '</a:t>
            </a:r>
            <a:r>
              <a:rPr lang="ko-KR" altLang="en-US" sz="900" dirty="0" err="1"/>
              <a:t>xception</a:t>
            </a:r>
            <a:r>
              <a:rPr lang="ko-KR" altLang="en-US" sz="900" dirty="0"/>
              <a:t>', 'resnet50_ibn_a', 'resnet50_ibn_b', '</a:t>
            </a:r>
            <a:r>
              <a:rPr lang="ko-KR" altLang="en-US" sz="900" dirty="0" err="1"/>
              <a:t>nasnsetmobile</a:t>
            </a:r>
            <a:r>
              <a:rPr lang="ko-KR" altLang="en-US" sz="900" dirty="0"/>
              <a:t>', 'mobilenetv2_x1_0', 'mobilenetv2_x1_4', '</a:t>
            </a:r>
            <a:r>
              <a:rPr lang="ko-KR" altLang="en-US" sz="900" dirty="0" err="1"/>
              <a:t>shufflenet</a:t>
            </a:r>
            <a:r>
              <a:rPr lang="ko-KR" altLang="en-US" sz="900" dirty="0"/>
              <a:t>', 'squeezenet1_0', 'squeezenet1_0_fc512', 'squeezenet1_1', 'shufflenet_v2_x0_5', 'shufflenet_v2_x1_0', 'shufflenet_v2_x1_5', 'shufflenet_v2_x2_0', '</a:t>
            </a:r>
            <a:r>
              <a:rPr lang="ko-KR" altLang="en-US" sz="900" dirty="0" err="1"/>
              <a:t>mudeep</a:t>
            </a:r>
            <a:r>
              <a:rPr lang="ko-KR" altLang="en-US" sz="900" dirty="0"/>
              <a:t>', 'resnet50mid', '</a:t>
            </a:r>
            <a:r>
              <a:rPr lang="ko-KR" altLang="en-US" sz="900" dirty="0" err="1"/>
              <a:t>hacnn</a:t>
            </a:r>
            <a:r>
              <a:rPr lang="ko-KR" altLang="en-US" sz="900" dirty="0"/>
              <a:t>', 'pcb_p6', 'pcb_p4', '</a:t>
            </a:r>
            <a:r>
              <a:rPr lang="ko-KR" altLang="en-US" sz="900" dirty="0" err="1"/>
              <a:t>mlfn</a:t>
            </a:r>
            <a:r>
              <a:rPr lang="ko-KR" altLang="en-US" sz="900" dirty="0"/>
              <a:t>', 'osnet_x1_0', 'osnet_x0_75', 'osnet_x0_5', 'osnet_x0_25', 'osnet_ibn_x1_0', 'osnet_ain_x1_0', 'osnet_ain_x0_75', 'osnet_ain_x0_5', 'osnet_ain_x0_25']</a:t>
            </a:r>
          </a:p>
        </p:txBody>
      </p:sp>
      <p:cxnSp>
        <p:nvCxnSpPr>
          <p:cNvPr id="15" name="꺾인 연결선 14"/>
          <p:cNvCxnSpPr>
            <a:stCxn id="12" idx="2"/>
            <a:endCxn id="14" idx="1"/>
          </p:cNvCxnSpPr>
          <p:nvPr/>
        </p:nvCxnSpPr>
        <p:spPr>
          <a:xfrm rot="16200000" flipH="1">
            <a:off x="1487227" y="1650896"/>
            <a:ext cx="468303" cy="389467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직사각형 16"/>
          <p:cNvSpPr/>
          <p:nvPr/>
        </p:nvSpPr>
        <p:spPr>
          <a:xfrm>
            <a:off x="1916112" y="2548084"/>
            <a:ext cx="1575920" cy="335383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err="1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avai_models</a:t>
            </a:r>
            <a:r>
              <a:rPr lang="en-US" altLang="ko-KR" sz="9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= list(__</a:t>
            </a:r>
            <a:r>
              <a:rPr lang="en-US" altLang="ko-KR" sz="90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model_factory.keys</a:t>
            </a:r>
            <a:r>
              <a:rPr lang="en-US" altLang="ko-KR" sz="9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())</a:t>
            </a:r>
          </a:p>
        </p:txBody>
      </p:sp>
      <p:cxnSp>
        <p:nvCxnSpPr>
          <p:cNvPr id="18" name="직선 화살표 연결선 17"/>
          <p:cNvCxnSpPr>
            <a:stCxn id="14" idx="2"/>
            <a:endCxn id="17" idx="0"/>
          </p:cNvCxnSpPr>
          <p:nvPr/>
        </p:nvCxnSpPr>
        <p:spPr>
          <a:xfrm>
            <a:off x="2704072" y="2247473"/>
            <a:ext cx="0" cy="30061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직사각형 20"/>
          <p:cNvSpPr/>
          <p:nvPr/>
        </p:nvSpPr>
        <p:spPr>
          <a:xfrm>
            <a:off x="1916112" y="3184078"/>
            <a:ext cx="1575920" cy="335383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__</a:t>
            </a:r>
            <a:r>
              <a:rPr lang="en-US" altLang="ko-KR" sz="900" dirty="0" err="1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model_factory</a:t>
            </a:r>
            <a:r>
              <a:rPr lang="en-US" altLang="ko-KR" sz="900" dirty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[name]</a:t>
            </a:r>
            <a:endParaRPr lang="en-US" altLang="ko-KR" sz="90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cxnSp>
        <p:nvCxnSpPr>
          <p:cNvPr id="22" name="직선 화살표 연결선 21"/>
          <p:cNvCxnSpPr>
            <a:stCxn id="17" idx="2"/>
            <a:endCxn id="21" idx="0"/>
          </p:cNvCxnSpPr>
          <p:nvPr/>
        </p:nvCxnSpPr>
        <p:spPr>
          <a:xfrm>
            <a:off x="2704072" y="2883467"/>
            <a:ext cx="0" cy="30061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직사각형 24"/>
          <p:cNvSpPr/>
          <p:nvPr/>
        </p:nvSpPr>
        <p:spPr>
          <a:xfrm>
            <a:off x="3782889" y="3127318"/>
            <a:ext cx="2383986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600" dirty="0" smtClean="0"/>
              <a:t>name = </a:t>
            </a:r>
            <a:r>
              <a:rPr lang="ko-KR" altLang="en-US" sz="1600" dirty="0" smtClean="0"/>
              <a:t>osnet_ibn_x1_0</a:t>
            </a:r>
            <a:endParaRPr lang="ko-KR" altLang="en-US" sz="1600" dirty="0"/>
          </a:p>
        </p:txBody>
      </p:sp>
      <p:sp>
        <p:nvSpPr>
          <p:cNvPr id="26" name="직사각형 25"/>
          <p:cNvSpPr/>
          <p:nvPr/>
        </p:nvSpPr>
        <p:spPr>
          <a:xfrm>
            <a:off x="2906712" y="3820072"/>
            <a:ext cx="1575920" cy="335383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 err="1">
                <a:solidFill>
                  <a:schemeClr val="tx1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def</a:t>
            </a:r>
            <a:r>
              <a:rPr lang="en-US" altLang="ko-KR" sz="1000" dirty="0">
                <a:solidFill>
                  <a:schemeClr val="tx1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osnet_ibn_x1_0</a:t>
            </a:r>
          </a:p>
        </p:txBody>
      </p:sp>
      <p:cxnSp>
        <p:nvCxnSpPr>
          <p:cNvPr id="27" name="꺾인 연결선 26"/>
          <p:cNvCxnSpPr>
            <a:stCxn id="21" idx="2"/>
            <a:endCxn id="26" idx="1"/>
          </p:cNvCxnSpPr>
          <p:nvPr/>
        </p:nvCxnSpPr>
        <p:spPr>
          <a:xfrm rot="16200000" flipH="1">
            <a:off x="2571241" y="3652292"/>
            <a:ext cx="468303" cy="202640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직사각형 29"/>
          <p:cNvSpPr/>
          <p:nvPr/>
        </p:nvSpPr>
        <p:spPr>
          <a:xfrm>
            <a:off x="2906712" y="4407191"/>
            <a:ext cx="1575920" cy="335383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>
                <a:solidFill>
                  <a:schemeClr val="tx1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model = </a:t>
            </a:r>
            <a:r>
              <a:rPr lang="en-US" altLang="ko-KR" sz="1000" dirty="0" err="1">
                <a:solidFill>
                  <a:schemeClr val="tx1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OSNet</a:t>
            </a:r>
            <a:endParaRPr lang="en-US" altLang="ko-KR" sz="1000" dirty="0">
              <a:solidFill>
                <a:schemeClr val="tx1"/>
              </a:solidFill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cxnSp>
        <p:nvCxnSpPr>
          <p:cNvPr id="31" name="직선 화살표 연결선 30"/>
          <p:cNvCxnSpPr>
            <a:stCxn id="26" idx="2"/>
            <a:endCxn id="30" idx="0"/>
          </p:cNvCxnSpPr>
          <p:nvPr/>
        </p:nvCxnSpPr>
        <p:spPr>
          <a:xfrm>
            <a:off x="3694672" y="4155455"/>
            <a:ext cx="0" cy="25173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직사각형 33"/>
          <p:cNvSpPr/>
          <p:nvPr/>
        </p:nvSpPr>
        <p:spPr>
          <a:xfrm>
            <a:off x="4728019" y="4407191"/>
            <a:ext cx="2877711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1200" i="1" dirty="0" err="1" smtClean="0"/>
              <a:t>OSBlock</a:t>
            </a:r>
            <a:r>
              <a:rPr lang="ko-KR" altLang="en-US" sz="1200" i="1" dirty="0" smtClean="0"/>
              <a:t> 의 구조를 살펴볼 필요가 있음</a:t>
            </a:r>
            <a:endParaRPr lang="ko-KR" altLang="en-US" sz="1200" i="1" dirty="0"/>
          </a:p>
        </p:txBody>
      </p:sp>
      <p:pic>
        <p:nvPicPr>
          <p:cNvPr id="35" name="그림 3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9524" y="4749450"/>
            <a:ext cx="6030515" cy="2146649"/>
          </a:xfrm>
          <a:prstGeom prst="rect">
            <a:avLst/>
          </a:prstGeom>
        </p:spPr>
      </p:pic>
      <p:cxnSp>
        <p:nvCxnSpPr>
          <p:cNvPr id="36" name="꺾인 연결선 35"/>
          <p:cNvCxnSpPr>
            <a:stCxn id="30" idx="2"/>
          </p:cNvCxnSpPr>
          <p:nvPr/>
        </p:nvCxnSpPr>
        <p:spPr>
          <a:xfrm rot="5400000">
            <a:off x="1923785" y="4345433"/>
            <a:ext cx="1373746" cy="2168028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92477396"/>
      </p:ext>
    </p:extLst>
  </p:cSld>
  <p:clrMapOvr>
    <a:masterClrMapping/>
  </p:clrMapOvr>
  <p:transition spd="slow">
    <p:wipe/>
  </p:transition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341219" y="306910"/>
            <a:ext cx="2018724" cy="468990"/>
          </a:xfrm>
          <a:prstGeom prst="rect">
            <a:avLst/>
          </a:prstGeom>
          <a:noFill/>
        </p:spPr>
        <p:txBody>
          <a:bodyPr wrap="none" lIns="98694" tIns="49347" rIns="98694" bIns="49347">
            <a:spAutoFit/>
          </a:bodyPr>
          <a:lstStyle/>
          <a:p>
            <a:pPr algn="ctr">
              <a:spcBef>
                <a:spcPts val="648"/>
              </a:spcBef>
            </a:pPr>
            <a:r>
              <a:rPr lang="en-US" altLang="ko-KR" sz="2400" b="1" dirty="0" smtClean="0">
                <a:solidFill>
                  <a:srgbClr val="0E0585"/>
                </a:solidFill>
              </a:rPr>
              <a:t>main.py end</a:t>
            </a:r>
            <a:endParaRPr lang="en-US" altLang="ko-KR" sz="2400" b="1" dirty="0">
              <a:solidFill>
                <a:srgbClr val="0E0585"/>
              </a:solidFill>
            </a:endParaRPr>
          </a:p>
        </p:txBody>
      </p:sp>
      <p:sp>
        <p:nvSpPr>
          <p:cNvPr id="12" name="직사각형 11"/>
          <p:cNvSpPr/>
          <p:nvPr/>
        </p:nvSpPr>
        <p:spPr>
          <a:xfrm>
            <a:off x="443863" y="1551114"/>
            <a:ext cx="2097830" cy="367276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num_params</a:t>
            </a:r>
            <a:r>
              <a:rPr lang="en-US" altLang="ko-KR" sz="10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, flops = </a:t>
            </a:r>
            <a:r>
              <a:rPr lang="en-US" altLang="ko-KR" sz="100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compute_model_complexity</a:t>
            </a:r>
            <a:endParaRPr lang="en-US" altLang="ko-KR" sz="100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sp>
        <p:nvSpPr>
          <p:cNvPr id="13" name="직사각형 12"/>
          <p:cNvSpPr/>
          <p:nvPr/>
        </p:nvSpPr>
        <p:spPr>
          <a:xfrm>
            <a:off x="2724393" y="1585760"/>
            <a:ext cx="1899879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100" dirty="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model </a:t>
            </a:r>
            <a:r>
              <a:rPr lang="ko-KR" altLang="en-US" sz="1100" dirty="0" err="1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파라미터</a:t>
            </a:r>
            <a:r>
              <a:rPr lang="ko-KR" altLang="en-US" sz="1100" dirty="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</a:t>
            </a:r>
            <a:r>
              <a:rPr lang="en-US" altLang="ko-KR" sz="1100" dirty="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, </a:t>
            </a:r>
            <a:r>
              <a:rPr lang="ko-KR" altLang="en-US" sz="1100" dirty="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복잡도 계산</a:t>
            </a:r>
            <a:endParaRPr lang="ko-KR" altLang="en-US" sz="1100" dirty="0">
              <a:solidFill>
                <a:srgbClr val="C00000"/>
              </a:solidFill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cxnSp>
        <p:nvCxnSpPr>
          <p:cNvPr id="19" name="직선 화살표 연결선 18"/>
          <p:cNvCxnSpPr>
            <a:stCxn id="12" idx="2"/>
            <a:endCxn id="23" idx="0"/>
          </p:cNvCxnSpPr>
          <p:nvPr/>
        </p:nvCxnSpPr>
        <p:spPr>
          <a:xfrm>
            <a:off x="1492778" y="1918390"/>
            <a:ext cx="0" cy="3303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직사각형 22"/>
          <p:cNvSpPr/>
          <p:nvPr/>
        </p:nvSpPr>
        <p:spPr>
          <a:xfrm>
            <a:off x="443863" y="2248746"/>
            <a:ext cx="2097830" cy="367276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load_pretrained_weights</a:t>
            </a:r>
            <a:endParaRPr lang="en-US" altLang="ko-KR" sz="100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sp>
        <p:nvSpPr>
          <p:cNvPr id="28" name="직사각형 27"/>
          <p:cNvSpPr/>
          <p:nvPr/>
        </p:nvSpPr>
        <p:spPr>
          <a:xfrm>
            <a:off x="2724393" y="2301579"/>
            <a:ext cx="888385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100" dirty="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weight load</a:t>
            </a:r>
            <a:endParaRPr lang="ko-KR" altLang="en-US" sz="1100" dirty="0">
              <a:solidFill>
                <a:srgbClr val="C00000"/>
              </a:solidFill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sp>
        <p:nvSpPr>
          <p:cNvPr id="29" name="직사각형 28"/>
          <p:cNvSpPr/>
          <p:nvPr/>
        </p:nvSpPr>
        <p:spPr>
          <a:xfrm>
            <a:off x="443863" y="2875279"/>
            <a:ext cx="2097830" cy="367276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optimizer = </a:t>
            </a:r>
            <a:r>
              <a:rPr lang="en-US" altLang="ko-KR" sz="100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torchreid.optim.build_optimizer</a:t>
            </a:r>
            <a:endParaRPr lang="en-US" altLang="ko-KR" sz="100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cxnSp>
        <p:nvCxnSpPr>
          <p:cNvPr id="32" name="직선 화살표 연결선 31"/>
          <p:cNvCxnSpPr>
            <a:stCxn id="23" idx="2"/>
            <a:endCxn id="29" idx="0"/>
          </p:cNvCxnSpPr>
          <p:nvPr/>
        </p:nvCxnSpPr>
        <p:spPr>
          <a:xfrm>
            <a:off x="1492778" y="2616022"/>
            <a:ext cx="0" cy="25925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직사각형 32"/>
          <p:cNvSpPr/>
          <p:nvPr/>
        </p:nvSpPr>
        <p:spPr>
          <a:xfrm>
            <a:off x="2726984" y="2898050"/>
            <a:ext cx="1056700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100" dirty="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optimizer </a:t>
            </a:r>
            <a:r>
              <a:rPr lang="ko-KR" altLang="en-US" sz="1100" dirty="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생성</a:t>
            </a:r>
            <a:endParaRPr lang="ko-KR" altLang="en-US" sz="1100" dirty="0">
              <a:solidFill>
                <a:srgbClr val="C00000"/>
              </a:solidFill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sp>
        <p:nvSpPr>
          <p:cNvPr id="36" name="직사각형 35"/>
          <p:cNvSpPr/>
          <p:nvPr/>
        </p:nvSpPr>
        <p:spPr>
          <a:xfrm>
            <a:off x="443863" y="3576320"/>
            <a:ext cx="2097830" cy="367276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scheduler = </a:t>
            </a:r>
            <a:r>
              <a:rPr lang="en-US" altLang="ko-KR" sz="100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torchreid.optim.build_lr_scheduler</a:t>
            </a:r>
            <a:endParaRPr lang="en-US" altLang="ko-KR" sz="100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cxnSp>
        <p:nvCxnSpPr>
          <p:cNvPr id="37" name="직선 화살표 연결선 36"/>
          <p:cNvCxnSpPr>
            <a:stCxn id="29" idx="2"/>
            <a:endCxn id="36" idx="0"/>
          </p:cNvCxnSpPr>
          <p:nvPr/>
        </p:nvCxnSpPr>
        <p:spPr>
          <a:xfrm>
            <a:off x="1492778" y="3242555"/>
            <a:ext cx="0" cy="33376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직사각형 37"/>
          <p:cNvSpPr/>
          <p:nvPr/>
        </p:nvSpPr>
        <p:spPr>
          <a:xfrm>
            <a:off x="2724393" y="3613869"/>
            <a:ext cx="1067921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100" dirty="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scheduler </a:t>
            </a:r>
            <a:r>
              <a:rPr lang="ko-KR" altLang="en-US" sz="1100" dirty="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생성</a:t>
            </a:r>
            <a:endParaRPr lang="ko-KR" altLang="en-US" sz="1100" dirty="0">
              <a:solidFill>
                <a:srgbClr val="C00000"/>
              </a:solidFill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sp>
        <p:nvSpPr>
          <p:cNvPr id="39" name="직사각형 38"/>
          <p:cNvSpPr/>
          <p:nvPr/>
        </p:nvSpPr>
        <p:spPr>
          <a:xfrm>
            <a:off x="443863" y="4260429"/>
            <a:ext cx="2097830" cy="367276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engine = </a:t>
            </a:r>
            <a:r>
              <a:rPr lang="en-US" altLang="ko-KR" sz="100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build_engine</a:t>
            </a:r>
            <a:endParaRPr lang="en-US" altLang="ko-KR" sz="100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cxnSp>
        <p:nvCxnSpPr>
          <p:cNvPr id="40" name="직선 화살표 연결선 39"/>
          <p:cNvCxnSpPr>
            <a:stCxn id="36" idx="2"/>
            <a:endCxn id="39" idx="0"/>
          </p:cNvCxnSpPr>
          <p:nvPr/>
        </p:nvCxnSpPr>
        <p:spPr>
          <a:xfrm>
            <a:off x="1492778" y="3943596"/>
            <a:ext cx="0" cy="31683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직사각형 41"/>
          <p:cNvSpPr/>
          <p:nvPr/>
        </p:nvSpPr>
        <p:spPr>
          <a:xfrm>
            <a:off x="2762423" y="4313262"/>
            <a:ext cx="734496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1100" dirty="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엔진</a:t>
            </a:r>
            <a:r>
              <a:rPr lang="en-US" altLang="ko-KR" sz="1100" dirty="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</a:t>
            </a:r>
            <a:r>
              <a:rPr lang="ko-KR" altLang="en-US" sz="1100" dirty="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생성</a:t>
            </a:r>
            <a:endParaRPr lang="ko-KR" altLang="en-US" sz="1100" dirty="0">
              <a:solidFill>
                <a:srgbClr val="C00000"/>
              </a:solidFill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sp>
        <p:nvSpPr>
          <p:cNvPr id="43" name="직사각형 42"/>
          <p:cNvSpPr/>
          <p:nvPr/>
        </p:nvSpPr>
        <p:spPr>
          <a:xfrm>
            <a:off x="443863" y="4944538"/>
            <a:ext cx="2097830" cy="367276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engine.run</a:t>
            </a:r>
            <a:endParaRPr lang="en-US" altLang="ko-KR" sz="100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cxnSp>
        <p:nvCxnSpPr>
          <p:cNvPr id="44" name="직선 화살표 연결선 43"/>
          <p:cNvCxnSpPr>
            <a:stCxn id="39" idx="2"/>
            <a:endCxn id="43" idx="0"/>
          </p:cNvCxnSpPr>
          <p:nvPr/>
        </p:nvCxnSpPr>
        <p:spPr>
          <a:xfrm>
            <a:off x="1492778" y="4627705"/>
            <a:ext cx="0" cy="31683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직사각형 47"/>
          <p:cNvSpPr/>
          <p:nvPr/>
        </p:nvSpPr>
        <p:spPr>
          <a:xfrm>
            <a:off x="2762423" y="4926159"/>
            <a:ext cx="952505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100" dirty="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training </a:t>
            </a:r>
            <a:r>
              <a:rPr lang="ko-KR" altLang="en-US" sz="1100" dirty="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시작</a:t>
            </a:r>
            <a:endParaRPr lang="ko-KR" altLang="en-US" sz="1100" dirty="0">
              <a:solidFill>
                <a:srgbClr val="C00000"/>
              </a:solidFill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cxnSp>
        <p:nvCxnSpPr>
          <p:cNvPr id="49" name="직선 화살표 연결선 48"/>
          <p:cNvCxnSpPr>
            <a:endCxn id="12" idx="0"/>
          </p:cNvCxnSpPr>
          <p:nvPr/>
        </p:nvCxnSpPr>
        <p:spPr>
          <a:xfrm>
            <a:off x="1492778" y="1216747"/>
            <a:ext cx="0" cy="33436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94233923"/>
      </p:ext>
    </p:extLst>
  </p:cSld>
  <p:clrMapOvr>
    <a:masterClrMapping/>
  </p:clrMapOvr>
  <p:transition spd="slow">
    <p:wipe/>
  </p:transition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261325" y="227325"/>
            <a:ext cx="3847750" cy="468990"/>
          </a:xfrm>
          <a:prstGeom prst="rect">
            <a:avLst/>
          </a:prstGeom>
          <a:noFill/>
        </p:spPr>
        <p:txBody>
          <a:bodyPr wrap="none" lIns="98694" tIns="49347" rIns="98694" bIns="49347">
            <a:spAutoFit/>
          </a:bodyPr>
          <a:lstStyle/>
          <a:p>
            <a:pPr algn="ctr">
              <a:spcBef>
                <a:spcPts val="648"/>
              </a:spcBef>
            </a:pPr>
            <a:r>
              <a:rPr lang="en-US" altLang="ko-KR" sz="2400" b="1" dirty="0" err="1" smtClean="0">
                <a:solidFill>
                  <a:srgbClr val="0E0585"/>
                </a:solidFill>
              </a:rPr>
              <a:t>ImageDataManager</a:t>
            </a:r>
            <a:r>
              <a:rPr lang="en-US" altLang="ko-KR" sz="2400" b="1" dirty="0" smtClean="0">
                <a:solidFill>
                  <a:srgbClr val="0E0585"/>
                </a:solidFill>
              </a:rPr>
              <a:t> </a:t>
            </a:r>
            <a:r>
              <a:rPr lang="en-US" altLang="ko-KR" sz="2400" b="1" dirty="0" err="1" smtClean="0">
                <a:solidFill>
                  <a:srgbClr val="0E0585"/>
                </a:solidFill>
              </a:rPr>
              <a:t>cont</a:t>
            </a:r>
            <a:endParaRPr lang="en-US" altLang="ko-KR" sz="2400" b="1" dirty="0">
              <a:solidFill>
                <a:srgbClr val="0E0585"/>
              </a:solidFill>
            </a:endParaRPr>
          </a:p>
        </p:txBody>
      </p:sp>
      <p:sp>
        <p:nvSpPr>
          <p:cNvPr id="11" name="직사각형 10"/>
          <p:cNvSpPr/>
          <p:nvPr/>
        </p:nvSpPr>
        <p:spPr>
          <a:xfrm>
            <a:off x="660309" y="1165805"/>
            <a:ext cx="1333592" cy="283337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100" dirty="0" err="1" smtClean="0">
                <a:latin typeface="Consolas" panose="020B0609020204030204" pitchFamily="49" charset="0"/>
              </a:rPr>
              <a:t>supder</a:t>
            </a:r>
            <a:r>
              <a:rPr lang="en-US" altLang="ko-KR" sz="1100" dirty="0" smtClean="0">
                <a:latin typeface="Consolas" panose="020B0609020204030204" pitchFamily="49" charset="0"/>
              </a:rPr>
              <a:t>.__</a:t>
            </a:r>
            <a:r>
              <a:rPr lang="en-US" altLang="ko-KR" sz="1100" dirty="0" err="1" smtClean="0">
                <a:latin typeface="Consolas" panose="020B0609020204030204" pitchFamily="49" charset="0"/>
              </a:rPr>
              <a:t>init</a:t>
            </a:r>
            <a:r>
              <a:rPr lang="en-US" altLang="ko-KR" sz="1100" dirty="0" smtClean="0">
                <a:latin typeface="Consolas" panose="020B0609020204030204" pitchFamily="49" charset="0"/>
              </a:rPr>
              <a:t>__</a:t>
            </a:r>
            <a:endParaRPr lang="en-US" altLang="ko-KR" sz="110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sp>
        <p:nvSpPr>
          <p:cNvPr id="12" name="직사각형 11"/>
          <p:cNvSpPr/>
          <p:nvPr/>
        </p:nvSpPr>
        <p:spPr>
          <a:xfrm>
            <a:off x="660309" y="1631471"/>
            <a:ext cx="1333592" cy="283337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100" dirty="0" err="1">
                <a:latin typeface="Consolas" panose="020B0609020204030204" pitchFamily="49" charset="0"/>
              </a:rPr>
              <a:t>self.sources</a:t>
            </a:r>
            <a:endParaRPr lang="en-US" altLang="ko-KR" sz="1100" dirty="0">
              <a:latin typeface="Consolas" panose="020B0609020204030204" pitchFamily="49" charset="0"/>
            </a:endParaRPr>
          </a:p>
          <a:p>
            <a:pPr algn="ctr"/>
            <a:r>
              <a:rPr lang="en-US" altLang="ko-KR" sz="1100" dirty="0" smtClean="0">
                <a:latin typeface="Consolas" panose="020B0609020204030204" pitchFamily="49" charset="0"/>
              </a:rPr>
              <a:t>[</a:t>
            </a:r>
            <a:r>
              <a:rPr lang="en-US" altLang="ko-KR" sz="1100" dirty="0">
                <a:latin typeface="Consolas" panose="020B0609020204030204" pitchFamily="49" charset="0"/>
              </a:rPr>
              <a:t>'market1501']</a:t>
            </a:r>
            <a:endParaRPr lang="en-US" altLang="ko-KR" sz="110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cxnSp>
        <p:nvCxnSpPr>
          <p:cNvPr id="13" name="직선 화살표 연결선 12"/>
          <p:cNvCxnSpPr>
            <a:stCxn id="11" idx="2"/>
            <a:endCxn id="12" idx="0"/>
          </p:cNvCxnSpPr>
          <p:nvPr/>
        </p:nvCxnSpPr>
        <p:spPr>
          <a:xfrm>
            <a:off x="1327105" y="1449142"/>
            <a:ext cx="0" cy="18232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직사각형 14"/>
          <p:cNvSpPr/>
          <p:nvPr/>
        </p:nvSpPr>
        <p:spPr>
          <a:xfrm>
            <a:off x="660309" y="2097137"/>
            <a:ext cx="1333592" cy="283337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 err="1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cfg</a:t>
            </a:r>
            <a:r>
              <a:rPr lang="en-US" altLang="ko-KR" sz="10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</a:t>
            </a:r>
            <a:r>
              <a:rPr lang="ko-KR" altLang="en-US" sz="10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파일 읽기 및 병합</a:t>
            </a:r>
            <a:endParaRPr lang="en-US" altLang="ko-KR" sz="100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cxnSp>
        <p:nvCxnSpPr>
          <p:cNvPr id="16" name="직선 화살표 연결선 15"/>
          <p:cNvCxnSpPr>
            <a:stCxn id="12" idx="2"/>
            <a:endCxn id="15" idx="0"/>
          </p:cNvCxnSpPr>
          <p:nvPr/>
        </p:nvCxnSpPr>
        <p:spPr>
          <a:xfrm>
            <a:off x="1327105" y="1914808"/>
            <a:ext cx="0" cy="18232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직사각형 65"/>
          <p:cNvSpPr/>
          <p:nvPr/>
        </p:nvSpPr>
        <p:spPr>
          <a:xfrm>
            <a:off x="660610" y="2610088"/>
            <a:ext cx="1333592" cy="367276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init_image_dataset</a:t>
            </a:r>
            <a:endParaRPr lang="en-US" altLang="ko-KR" sz="100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cxnSp>
        <p:nvCxnSpPr>
          <p:cNvPr id="69" name="직선 화살표 연결선 68"/>
          <p:cNvCxnSpPr>
            <a:stCxn id="15" idx="2"/>
            <a:endCxn id="66" idx="0"/>
          </p:cNvCxnSpPr>
          <p:nvPr/>
        </p:nvCxnSpPr>
        <p:spPr>
          <a:xfrm>
            <a:off x="1327105" y="2380474"/>
            <a:ext cx="301" cy="22961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직사각형 72"/>
          <p:cNvSpPr/>
          <p:nvPr/>
        </p:nvSpPr>
        <p:spPr>
          <a:xfrm>
            <a:off x="1993901" y="3171197"/>
            <a:ext cx="1975910" cy="367276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class Market1501(</a:t>
            </a:r>
            <a:r>
              <a:rPr lang="en-US" altLang="ko-KR" sz="100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ImageDataset</a:t>
            </a:r>
            <a:r>
              <a:rPr lang="en-US" altLang="ko-KR" sz="10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)</a:t>
            </a:r>
          </a:p>
        </p:txBody>
      </p:sp>
      <p:cxnSp>
        <p:nvCxnSpPr>
          <p:cNvPr id="7" name="꺾인 연결선 6"/>
          <p:cNvCxnSpPr>
            <a:stCxn id="66" idx="2"/>
            <a:endCxn id="73" idx="1"/>
          </p:cNvCxnSpPr>
          <p:nvPr/>
        </p:nvCxnSpPr>
        <p:spPr>
          <a:xfrm rot="16200000" flipH="1">
            <a:off x="1471918" y="2832851"/>
            <a:ext cx="377471" cy="666495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직사각형 29"/>
          <p:cNvSpPr/>
          <p:nvPr/>
        </p:nvSpPr>
        <p:spPr>
          <a:xfrm>
            <a:off x="1993901" y="3763324"/>
            <a:ext cx="1975910" cy="367276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__</a:t>
            </a:r>
            <a:r>
              <a:rPr lang="en-US" altLang="ko-KR" sz="100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init</a:t>
            </a:r>
            <a:r>
              <a:rPr lang="en-US" altLang="ko-KR" sz="10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__</a:t>
            </a:r>
          </a:p>
        </p:txBody>
      </p:sp>
      <p:sp>
        <p:nvSpPr>
          <p:cNvPr id="31" name="직사각형 30"/>
          <p:cNvSpPr/>
          <p:nvPr/>
        </p:nvSpPr>
        <p:spPr>
          <a:xfrm>
            <a:off x="1971690" y="2792423"/>
            <a:ext cx="3128772" cy="315101"/>
          </a:xfrm>
          <a:prstGeom prst="rect">
            <a:avLst/>
          </a:prstGeom>
          <a:noFill/>
        </p:spPr>
        <p:txBody>
          <a:bodyPr wrap="none" lIns="98694" tIns="49347" rIns="98694" bIns="49347">
            <a:spAutoFit/>
          </a:bodyPr>
          <a:lstStyle/>
          <a:p>
            <a:pPr algn="ctr">
              <a:spcBef>
                <a:spcPts val="648"/>
              </a:spcBef>
            </a:pPr>
            <a:r>
              <a:rPr lang="en-US" altLang="ko-KR" sz="1400" b="1" dirty="0" smtClean="0">
                <a:solidFill>
                  <a:srgbClr val="FFC000"/>
                </a:solidFill>
              </a:rPr>
              <a:t>class Market1501 : market1501.py</a:t>
            </a:r>
            <a:endParaRPr lang="en-US" altLang="ko-KR" sz="1400" b="1" dirty="0">
              <a:solidFill>
                <a:srgbClr val="FFC000"/>
              </a:solidFill>
            </a:endParaRPr>
          </a:p>
        </p:txBody>
      </p:sp>
      <p:cxnSp>
        <p:nvCxnSpPr>
          <p:cNvPr id="32" name="직선 화살표 연결선 31"/>
          <p:cNvCxnSpPr>
            <a:stCxn id="73" idx="2"/>
            <a:endCxn id="30" idx="0"/>
          </p:cNvCxnSpPr>
          <p:nvPr/>
        </p:nvCxnSpPr>
        <p:spPr>
          <a:xfrm>
            <a:off x="2981856" y="3538473"/>
            <a:ext cx="0" cy="22485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8" name="그림 1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0464" y="1165805"/>
            <a:ext cx="2924583" cy="3172268"/>
          </a:xfrm>
          <a:prstGeom prst="rect">
            <a:avLst/>
          </a:prstGeom>
        </p:spPr>
      </p:pic>
      <p:sp>
        <p:nvSpPr>
          <p:cNvPr id="38" name="직사각형 37"/>
          <p:cNvSpPr/>
          <p:nvPr/>
        </p:nvSpPr>
        <p:spPr>
          <a:xfrm>
            <a:off x="8352277" y="1205750"/>
            <a:ext cx="502061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 defTabSz="914400" eaLnBrk="0" fontAlgn="base" latinLnBrk="0" hangingPunct="0">
              <a:spcBef>
                <a:spcPct val="0"/>
              </a:spcBef>
              <a:spcAft>
                <a:spcPct val="0"/>
              </a:spcAft>
            </a:pPr>
            <a:r>
              <a:rPr lang="en-US" altLang="ko-KR" sz="1400" b="1" dirty="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root</a:t>
            </a:r>
            <a:endParaRPr lang="en-US" altLang="ko-KR" sz="1400" b="1" dirty="0">
              <a:solidFill>
                <a:srgbClr val="C00000"/>
              </a:solidFill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cxnSp>
        <p:nvCxnSpPr>
          <p:cNvPr id="20" name="직선 화살표 연결선 19"/>
          <p:cNvCxnSpPr>
            <a:stCxn id="38" idx="1"/>
          </p:cNvCxnSpPr>
          <p:nvPr/>
        </p:nvCxnSpPr>
        <p:spPr>
          <a:xfrm flipH="1">
            <a:off x="8029575" y="1359639"/>
            <a:ext cx="32270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직사각형 41"/>
          <p:cNvSpPr/>
          <p:nvPr/>
        </p:nvSpPr>
        <p:spPr>
          <a:xfrm>
            <a:off x="8437300" y="2619060"/>
            <a:ext cx="859402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 defTabSz="914400" eaLnBrk="0" fontAlgn="base" latinLnBrk="0" hangingPunct="0">
              <a:spcBef>
                <a:spcPct val="0"/>
              </a:spcBef>
              <a:spcAft>
                <a:spcPct val="0"/>
              </a:spcAft>
            </a:pPr>
            <a:r>
              <a:rPr lang="en-US" altLang="ko-KR" sz="1400" b="1" dirty="0" err="1" smtClean="0">
                <a:solidFill>
                  <a:srgbClr val="00B05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train_dir</a:t>
            </a:r>
            <a:endParaRPr lang="en-US" altLang="ko-KR" sz="1400" b="1" dirty="0">
              <a:solidFill>
                <a:srgbClr val="00B050"/>
              </a:solidFill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cxnSp>
        <p:nvCxnSpPr>
          <p:cNvPr id="43" name="직선 화살표 연결선 42"/>
          <p:cNvCxnSpPr>
            <a:stCxn id="42" idx="1"/>
          </p:cNvCxnSpPr>
          <p:nvPr/>
        </p:nvCxnSpPr>
        <p:spPr>
          <a:xfrm flipH="1">
            <a:off x="8114598" y="2772949"/>
            <a:ext cx="32270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직사각형 43"/>
          <p:cNvSpPr/>
          <p:nvPr/>
        </p:nvSpPr>
        <p:spPr>
          <a:xfrm>
            <a:off x="7502749" y="3982670"/>
            <a:ext cx="934551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 defTabSz="914400" eaLnBrk="0" fontAlgn="base" latinLnBrk="0" hangingPunct="0">
              <a:spcBef>
                <a:spcPct val="0"/>
              </a:spcBef>
              <a:spcAft>
                <a:spcPct val="0"/>
              </a:spcAft>
            </a:pPr>
            <a:r>
              <a:rPr lang="en-US" altLang="ko-KR" sz="1400" b="1" dirty="0" err="1" smtClean="0">
                <a:solidFill>
                  <a:srgbClr val="00B05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query_dir</a:t>
            </a:r>
            <a:endParaRPr lang="en-US" altLang="ko-KR" sz="1400" b="1" dirty="0">
              <a:solidFill>
                <a:srgbClr val="00B050"/>
              </a:solidFill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cxnSp>
        <p:nvCxnSpPr>
          <p:cNvPr id="46" name="직선 화살표 연결선 45"/>
          <p:cNvCxnSpPr>
            <a:stCxn id="44" idx="1"/>
          </p:cNvCxnSpPr>
          <p:nvPr/>
        </p:nvCxnSpPr>
        <p:spPr>
          <a:xfrm flipH="1">
            <a:off x="7180047" y="4136559"/>
            <a:ext cx="32270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직사각형 46"/>
          <p:cNvSpPr/>
          <p:nvPr/>
        </p:nvSpPr>
        <p:spPr>
          <a:xfrm>
            <a:off x="8437300" y="2157396"/>
            <a:ext cx="1029128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 defTabSz="914400" eaLnBrk="0" fontAlgn="base" latinLnBrk="0" hangingPunct="0">
              <a:spcBef>
                <a:spcPct val="0"/>
              </a:spcBef>
              <a:spcAft>
                <a:spcPct val="0"/>
              </a:spcAft>
            </a:pPr>
            <a:r>
              <a:rPr lang="en-US" altLang="ko-KR" sz="1400" b="1" dirty="0" err="1" smtClean="0">
                <a:solidFill>
                  <a:srgbClr val="00B05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gallery_dir</a:t>
            </a:r>
            <a:endParaRPr lang="en-US" altLang="ko-KR" sz="1400" b="1" dirty="0">
              <a:solidFill>
                <a:srgbClr val="00B050"/>
              </a:solidFill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cxnSp>
        <p:nvCxnSpPr>
          <p:cNvPr id="49" name="직선 화살표 연결선 48"/>
          <p:cNvCxnSpPr>
            <a:stCxn id="47" idx="1"/>
          </p:cNvCxnSpPr>
          <p:nvPr/>
        </p:nvCxnSpPr>
        <p:spPr>
          <a:xfrm flipH="1">
            <a:off x="8114598" y="2311285"/>
            <a:ext cx="32270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직사각형 21"/>
          <p:cNvSpPr/>
          <p:nvPr/>
        </p:nvSpPr>
        <p:spPr>
          <a:xfrm>
            <a:off x="6137986" y="4446769"/>
            <a:ext cx="234240" cy="156762"/>
          </a:xfrm>
          <a:prstGeom prst="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TextBox 22"/>
          <p:cNvSpPr txBox="1"/>
          <p:nvPr/>
        </p:nvSpPr>
        <p:spPr>
          <a:xfrm>
            <a:off x="6412706" y="4371261"/>
            <a:ext cx="76335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smtClean="0"/>
              <a:t>images</a:t>
            </a:r>
            <a:endParaRPr lang="ko-KR" altLang="en-US" sz="1400" dirty="0"/>
          </a:p>
        </p:txBody>
      </p:sp>
      <p:sp>
        <p:nvSpPr>
          <p:cNvPr id="52" name="직사각형 51"/>
          <p:cNvSpPr/>
          <p:nvPr/>
        </p:nvSpPr>
        <p:spPr>
          <a:xfrm>
            <a:off x="7502749" y="4404324"/>
            <a:ext cx="1517916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 defTabSz="914400" eaLnBrk="0" fontAlgn="base" latinLnBrk="0" hangingPunct="0">
              <a:spcBef>
                <a:spcPct val="0"/>
              </a:spcBef>
              <a:spcAft>
                <a:spcPct val="0"/>
              </a:spcAft>
            </a:pPr>
            <a:r>
              <a:rPr lang="en-US" altLang="ko-KR" sz="1400" b="1" dirty="0" err="1" smtClean="0">
                <a:solidFill>
                  <a:srgbClr val="00B05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extra_gallery_dir</a:t>
            </a:r>
            <a:endParaRPr lang="en-US" altLang="ko-KR" sz="1400" b="1" dirty="0">
              <a:solidFill>
                <a:srgbClr val="00B050"/>
              </a:solidFill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cxnSp>
        <p:nvCxnSpPr>
          <p:cNvPr id="53" name="직선 화살표 연결선 52"/>
          <p:cNvCxnSpPr>
            <a:stCxn id="52" idx="1"/>
          </p:cNvCxnSpPr>
          <p:nvPr/>
        </p:nvCxnSpPr>
        <p:spPr>
          <a:xfrm flipH="1">
            <a:off x="7180047" y="4558213"/>
            <a:ext cx="32270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직사각형 24"/>
          <p:cNvSpPr/>
          <p:nvPr/>
        </p:nvSpPr>
        <p:spPr>
          <a:xfrm>
            <a:off x="7527532" y="4627508"/>
            <a:ext cx="2678938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1100" dirty="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market1501_500k가 </a:t>
            </a:r>
            <a:r>
              <a:rPr lang="en-US" altLang="ko-KR" sz="1100" dirty="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true</a:t>
            </a:r>
            <a:r>
              <a:rPr lang="ko-KR" altLang="en-US" sz="1100" dirty="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일 때 필요한 폴더</a:t>
            </a:r>
            <a:endParaRPr lang="ko-KR" altLang="en-US" sz="1100" dirty="0">
              <a:solidFill>
                <a:srgbClr val="C00000"/>
              </a:solidFill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sp>
        <p:nvSpPr>
          <p:cNvPr id="54" name="직사각형 53"/>
          <p:cNvSpPr/>
          <p:nvPr/>
        </p:nvSpPr>
        <p:spPr>
          <a:xfrm>
            <a:off x="3244289" y="4393267"/>
            <a:ext cx="1732675" cy="367276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process_dir</a:t>
            </a:r>
            <a:endParaRPr lang="en-US" altLang="ko-KR" sz="100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cxnSp>
        <p:nvCxnSpPr>
          <p:cNvPr id="55" name="꺾인 연결선 54"/>
          <p:cNvCxnSpPr>
            <a:stCxn id="30" idx="2"/>
            <a:endCxn id="54" idx="1"/>
          </p:cNvCxnSpPr>
          <p:nvPr/>
        </p:nvCxnSpPr>
        <p:spPr>
          <a:xfrm rot="16200000" flipH="1">
            <a:off x="2889920" y="4222535"/>
            <a:ext cx="446305" cy="262433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직사각형 59"/>
          <p:cNvSpPr/>
          <p:nvPr/>
        </p:nvSpPr>
        <p:spPr>
          <a:xfrm>
            <a:off x="3244289" y="5030046"/>
            <a:ext cx="1732675" cy="367276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it-IT" altLang="ko-KR" sz="10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pattern = re.compile(r'([-\d]+)_c(\d)')</a:t>
            </a:r>
            <a:endParaRPr lang="en-US" altLang="ko-KR" sz="100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cxnSp>
        <p:nvCxnSpPr>
          <p:cNvPr id="61" name="직선 화살표 연결선 60"/>
          <p:cNvCxnSpPr>
            <a:stCxn id="54" idx="2"/>
            <a:endCxn id="60" idx="0"/>
          </p:cNvCxnSpPr>
          <p:nvPr/>
        </p:nvCxnSpPr>
        <p:spPr>
          <a:xfrm>
            <a:off x="4110627" y="4760543"/>
            <a:ext cx="0" cy="26950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Rectangle 3"/>
          <p:cNvSpPr>
            <a:spLocks noChangeArrowheads="1"/>
          </p:cNvSpPr>
          <p:nvPr/>
        </p:nvSpPr>
        <p:spPr bwMode="auto">
          <a:xfrm>
            <a:off x="4969819" y="4978454"/>
            <a:ext cx="3276599" cy="55399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000" b="0" i="0" u="none" strike="noStrike" cap="none" normalizeH="0" baseline="0" dirty="0" smtClean="0">
                <a:ln>
                  <a:noFill/>
                </a:ln>
                <a:solidFill>
                  <a:srgbClr val="002060"/>
                </a:solidFill>
                <a:effectLst/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정규 표현식이 </a:t>
            </a:r>
            <a:r>
              <a:rPr kumimoji="0" lang="ko-KR" altLang="ko-KR" sz="1000" b="0" i="0" u="none" strike="noStrike" cap="none" normalizeH="0" baseline="0" dirty="0" err="1" smtClean="0">
                <a:ln>
                  <a:noFill/>
                </a:ln>
                <a:solidFill>
                  <a:srgbClr val="002060"/>
                </a:solidFill>
                <a:effectLst/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img_path</a:t>
            </a:r>
            <a:r>
              <a:rPr kumimoji="0" lang="ko-KR" altLang="ko-KR" sz="1000" b="0" i="0" u="none" strike="noStrike" cap="none" normalizeH="0" baseline="0" dirty="0" smtClean="0">
                <a:ln>
                  <a:noFill/>
                </a:ln>
                <a:solidFill>
                  <a:srgbClr val="002060"/>
                </a:solidFill>
                <a:effectLst/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문자열에서 패턴에 맞는 부분을 찾습니다. "0002_c1s1_000451_03.jpg"에서 매칭되는 부분은 "0002_c1"입니다. </a:t>
            </a:r>
          </a:p>
        </p:txBody>
      </p:sp>
      <p:sp>
        <p:nvSpPr>
          <p:cNvPr id="67" name="직사각형 66"/>
          <p:cNvSpPr/>
          <p:nvPr/>
        </p:nvSpPr>
        <p:spPr>
          <a:xfrm>
            <a:off x="3244289" y="5666825"/>
            <a:ext cx="1732675" cy="506008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it-IT" altLang="ko-KR" sz="10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pid, _ = map(int, pattern.search(img_path).groups())</a:t>
            </a:r>
            <a:endParaRPr lang="en-US" altLang="ko-KR" sz="100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sp>
        <p:nvSpPr>
          <p:cNvPr id="68" name="Rectangle 3"/>
          <p:cNvSpPr>
            <a:spLocks noChangeArrowheads="1"/>
          </p:cNvSpPr>
          <p:nvPr/>
        </p:nvSpPr>
        <p:spPr bwMode="auto">
          <a:xfrm>
            <a:off x="5075679" y="5796718"/>
            <a:ext cx="2427070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defTabSz="914400" eaLnBrk="0" fontAlgn="base" latinLnBrk="0" hangingPunct="0">
              <a:spcBef>
                <a:spcPct val="0"/>
              </a:spcBef>
              <a:spcAft>
                <a:spcPct val="0"/>
              </a:spcAft>
            </a:pPr>
            <a:r>
              <a:rPr lang="en-US" altLang="ko-KR" sz="10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tuple</a:t>
            </a:r>
            <a:r>
              <a:rPr lang="ko-KR" altLang="en-US" sz="10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이 </a:t>
            </a:r>
            <a:r>
              <a:rPr lang="en-US" altLang="ko-KR" sz="10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map </a:t>
            </a:r>
            <a:r>
              <a:rPr lang="ko-KR" altLang="en-US" sz="10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형태로</a:t>
            </a:r>
            <a:r>
              <a:rPr lang="ko-KR" altLang="ko-KR" sz="10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[2</a:t>
            </a:r>
            <a:r>
              <a:rPr lang="ko-KR" altLang="ko-KR" sz="10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, 1]으로 변환됩니다. </a:t>
            </a:r>
          </a:p>
        </p:txBody>
      </p:sp>
      <p:sp>
        <p:nvSpPr>
          <p:cNvPr id="71" name="직사각형 70"/>
          <p:cNvSpPr/>
          <p:nvPr/>
        </p:nvSpPr>
        <p:spPr>
          <a:xfrm>
            <a:off x="3244289" y="6442336"/>
            <a:ext cx="1732675" cy="380607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it-IT" altLang="ko-KR" sz="10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pid2label = {pid: </a:t>
            </a:r>
            <a:r>
              <a:rPr lang="it-IT" altLang="ko-KR" sz="10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label}</a:t>
            </a:r>
            <a:endParaRPr lang="en-US" altLang="ko-KR" sz="100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cxnSp>
        <p:nvCxnSpPr>
          <p:cNvPr id="72" name="직선 화살표 연결선 71"/>
          <p:cNvCxnSpPr>
            <a:stCxn id="60" idx="2"/>
            <a:endCxn id="67" idx="0"/>
          </p:cNvCxnSpPr>
          <p:nvPr/>
        </p:nvCxnSpPr>
        <p:spPr>
          <a:xfrm>
            <a:off x="4110627" y="5397322"/>
            <a:ext cx="0" cy="26950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직선 화살표 연결선 73"/>
          <p:cNvCxnSpPr>
            <a:stCxn id="67" idx="2"/>
            <a:endCxn id="71" idx="0"/>
          </p:cNvCxnSpPr>
          <p:nvPr/>
        </p:nvCxnSpPr>
        <p:spPr>
          <a:xfrm>
            <a:off x="4110627" y="6172833"/>
            <a:ext cx="0" cy="26950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Rectangle 3"/>
          <p:cNvSpPr>
            <a:spLocks noChangeArrowheads="1"/>
          </p:cNvSpPr>
          <p:nvPr/>
        </p:nvSpPr>
        <p:spPr bwMode="auto">
          <a:xfrm>
            <a:off x="5100462" y="6499777"/>
            <a:ext cx="5106008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defTabSz="914400" eaLnBrk="0" fontAlgn="base" latinLnBrk="0" hangingPunct="0">
              <a:spcBef>
                <a:spcPct val="0"/>
              </a:spcBef>
              <a:spcAft>
                <a:spcPct val="0"/>
              </a:spcAft>
            </a:pPr>
            <a:r>
              <a:rPr lang="en-US" altLang="ko-KR" sz="1000" dirty="0" err="1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pid</a:t>
            </a:r>
            <a:r>
              <a:rPr lang="ko-KR" altLang="en-US" sz="10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와 </a:t>
            </a:r>
            <a:r>
              <a:rPr lang="en-US" altLang="ko-KR" sz="10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label </a:t>
            </a:r>
            <a:r>
              <a:rPr lang="ko-KR" altLang="en-US" sz="1000" dirty="0" err="1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형테의</a:t>
            </a:r>
            <a:r>
              <a:rPr lang="ko-KR" altLang="en-US" sz="10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집합을 만든다</a:t>
            </a:r>
            <a:r>
              <a:rPr lang="en-US" altLang="ko-KR" sz="10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. label</a:t>
            </a:r>
            <a:r>
              <a:rPr lang="ko-KR" altLang="en-US" sz="10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은 </a:t>
            </a:r>
            <a:r>
              <a:rPr lang="en-US" altLang="ko-KR" sz="10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0, 1, 2 </a:t>
            </a:r>
            <a:r>
              <a:rPr lang="ko-KR" altLang="en-US" sz="10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이런 식으로 증가한다</a:t>
            </a:r>
            <a:r>
              <a:rPr lang="en-US" altLang="ko-KR" sz="10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.</a:t>
            </a:r>
            <a:r>
              <a:rPr lang="ko-KR" altLang="ko-KR" sz="10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</a:t>
            </a:r>
            <a:r>
              <a:rPr lang="ko-KR" altLang="en-US" sz="10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그냥 순서 인덱스</a:t>
            </a:r>
            <a:endParaRPr lang="ko-KR" altLang="ko-KR" sz="100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sp>
        <p:nvSpPr>
          <p:cNvPr id="81" name="직사각형 80"/>
          <p:cNvSpPr/>
          <p:nvPr/>
        </p:nvSpPr>
        <p:spPr>
          <a:xfrm>
            <a:off x="3244289" y="7092446"/>
            <a:ext cx="1732675" cy="380607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return data</a:t>
            </a:r>
          </a:p>
        </p:txBody>
      </p:sp>
      <p:cxnSp>
        <p:nvCxnSpPr>
          <p:cNvPr id="82" name="직선 화살표 연결선 81"/>
          <p:cNvCxnSpPr>
            <a:stCxn id="71" idx="2"/>
            <a:endCxn id="81" idx="0"/>
          </p:cNvCxnSpPr>
          <p:nvPr/>
        </p:nvCxnSpPr>
        <p:spPr>
          <a:xfrm>
            <a:off x="4110627" y="6822943"/>
            <a:ext cx="0" cy="26950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직사각형 75"/>
          <p:cNvSpPr/>
          <p:nvPr/>
        </p:nvSpPr>
        <p:spPr>
          <a:xfrm>
            <a:off x="6767162" y="6043441"/>
            <a:ext cx="4174351" cy="4308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50" dirty="0">
                <a:solidFill>
                  <a:srgbClr val="C00000"/>
                </a:solidFill>
              </a:rPr>
              <a:t> </a:t>
            </a:r>
            <a:r>
              <a:rPr lang="ko-KR" altLang="en-US" sz="1050" dirty="0" err="1">
                <a:solidFill>
                  <a:srgbClr val="C00000"/>
                </a:solidFill>
              </a:rPr>
              <a:t>assert</a:t>
            </a:r>
            <a:r>
              <a:rPr lang="ko-KR" altLang="en-US" sz="1050" dirty="0">
                <a:solidFill>
                  <a:srgbClr val="C00000"/>
                </a:solidFill>
              </a:rPr>
              <a:t> 0 &lt;= </a:t>
            </a:r>
            <a:r>
              <a:rPr lang="ko-KR" altLang="en-US" sz="1050" dirty="0" err="1">
                <a:solidFill>
                  <a:srgbClr val="C00000"/>
                </a:solidFill>
              </a:rPr>
              <a:t>pid</a:t>
            </a:r>
            <a:r>
              <a:rPr lang="ko-KR" altLang="en-US" sz="1050" dirty="0">
                <a:solidFill>
                  <a:srgbClr val="C00000"/>
                </a:solidFill>
              </a:rPr>
              <a:t> &lt;= 1501 # </a:t>
            </a:r>
            <a:r>
              <a:rPr lang="ko-KR" altLang="en-US" sz="1050" dirty="0" err="1">
                <a:solidFill>
                  <a:srgbClr val="C00000"/>
                </a:solidFill>
              </a:rPr>
              <a:t>pid</a:t>
            </a:r>
            <a:r>
              <a:rPr lang="ko-KR" altLang="en-US" sz="1050" dirty="0">
                <a:solidFill>
                  <a:srgbClr val="C00000"/>
                </a:solidFill>
              </a:rPr>
              <a:t> == 0 </a:t>
            </a:r>
            <a:r>
              <a:rPr lang="ko-KR" altLang="en-US" sz="1050" dirty="0" err="1">
                <a:solidFill>
                  <a:srgbClr val="C00000"/>
                </a:solidFill>
              </a:rPr>
              <a:t>means</a:t>
            </a:r>
            <a:r>
              <a:rPr lang="ko-KR" altLang="en-US" sz="1050" dirty="0">
                <a:solidFill>
                  <a:srgbClr val="C00000"/>
                </a:solidFill>
              </a:rPr>
              <a:t> </a:t>
            </a:r>
            <a:r>
              <a:rPr lang="ko-KR" altLang="en-US" sz="1050" dirty="0" err="1">
                <a:solidFill>
                  <a:srgbClr val="C00000"/>
                </a:solidFill>
              </a:rPr>
              <a:t>background</a:t>
            </a:r>
            <a:endParaRPr lang="ko-KR" altLang="en-US" sz="1050" dirty="0">
              <a:solidFill>
                <a:srgbClr val="C00000"/>
              </a:solidFill>
            </a:endParaRPr>
          </a:p>
          <a:p>
            <a:r>
              <a:rPr lang="ko-KR" altLang="en-US" sz="1050" dirty="0">
                <a:solidFill>
                  <a:srgbClr val="C00000"/>
                </a:solidFill>
              </a:rPr>
              <a:t> </a:t>
            </a:r>
            <a:r>
              <a:rPr lang="ko-KR" altLang="en-US" sz="1050" dirty="0" err="1" smtClean="0">
                <a:solidFill>
                  <a:srgbClr val="C00000"/>
                </a:solidFill>
              </a:rPr>
              <a:t>assert</a:t>
            </a:r>
            <a:r>
              <a:rPr lang="ko-KR" altLang="en-US" sz="1050" dirty="0" smtClean="0">
                <a:solidFill>
                  <a:srgbClr val="C00000"/>
                </a:solidFill>
              </a:rPr>
              <a:t> </a:t>
            </a:r>
            <a:r>
              <a:rPr lang="ko-KR" altLang="en-US" sz="1050" dirty="0">
                <a:solidFill>
                  <a:srgbClr val="C00000"/>
                </a:solidFill>
              </a:rPr>
              <a:t>1 &lt;= </a:t>
            </a:r>
            <a:r>
              <a:rPr lang="ko-KR" altLang="en-US" sz="1050" dirty="0" err="1">
                <a:solidFill>
                  <a:srgbClr val="C00000"/>
                </a:solidFill>
              </a:rPr>
              <a:t>camid</a:t>
            </a:r>
            <a:r>
              <a:rPr lang="ko-KR" altLang="en-US" sz="1050" dirty="0">
                <a:solidFill>
                  <a:srgbClr val="C00000"/>
                </a:solidFill>
              </a:rPr>
              <a:t> &lt;= 6</a:t>
            </a:r>
          </a:p>
        </p:txBody>
      </p:sp>
      <p:sp>
        <p:nvSpPr>
          <p:cNvPr id="87" name="Rectangle 3"/>
          <p:cNvSpPr>
            <a:spLocks noChangeArrowheads="1"/>
          </p:cNvSpPr>
          <p:nvPr/>
        </p:nvSpPr>
        <p:spPr bwMode="auto">
          <a:xfrm>
            <a:off x="5075679" y="7095489"/>
            <a:ext cx="2427070" cy="4001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defTabSz="914400" eaLnBrk="0" fontAlgn="base" latinLnBrk="0" hangingPunct="0">
              <a:spcBef>
                <a:spcPct val="0"/>
              </a:spcBef>
              <a:spcAft>
                <a:spcPct val="0"/>
              </a:spcAft>
            </a:pPr>
            <a:r>
              <a:rPr lang="ko-KR" altLang="en-US" sz="10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리스트 형태이며</a:t>
            </a:r>
            <a:r>
              <a:rPr lang="en-US" altLang="ko-KR" sz="10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, </a:t>
            </a:r>
            <a:r>
              <a:rPr lang="en-US" altLang="ko-KR" sz="10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[(</a:t>
            </a:r>
            <a:r>
              <a:rPr lang="en-US" altLang="ko-KR" sz="1000" dirty="0" err="1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img_path</a:t>
            </a:r>
            <a:r>
              <a:rPr lang="en-US" altLang="ko-KR" sz="10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, </a:t>
            </a:r>
            <a:r>
              <a:rPr lang="en-US" altLang="ko-KR" sz="100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pid</a:t>
            </a:r>
            <a:r>
              <a:rPr lang="en-US" altLang="ko-KR" sz="10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, </a:t>
            </a:r>
            <a:r>
              <a:rPr lang="en-US" altLang="ko-KR" sz="1000" dirty="0" err="1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camid</a:t>
            </a:r>
            <a:r>
              <a:rPr lang="en-US" altLang="ko-KR" sz="10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)] </a:t>
            </a:r>
            <a:r>
              <a:rPr lang="ko-KR" altLang="en-US" sz="10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를 반환한다</a:t>
            </a:r>
            <a:r>
              <a:rPr lang="en-US" altLang="ko-KR" sz="10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.</a:t>
            </a:r>
            <a:endParaRPr lang="ko-KR" altLang="ko-KR" sz="100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sp>
        <p:nvSpPr>
          <p:cNvPr id="78" name="직사각형 77"/>
          <p:cNvSpPr/>
          <p:nvPr/>
        </p:nvSpPr>
        <p:spPr>
          <a:xfrm>
            <a:off x="696646" y="6742250"/>
            <a:ext cx="1749197" cy="43088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100" dirty="0" err="1" smtClean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dsetid</a:t>
            </a:r>
            <a:r>
              <a:rPr lang="ko-KR" altLang="en-US" sz="1100" dirty="0" smtClean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가 나오는데</a:t>
            </a:r>
            <a:endParaRPr lang="en-US" altLang="ko-KR" sz="1100" dirty="0" smtClean="0">
              <a:solidFill>
                <a:schemeClr val="accent6">
                  <a:lumMod val="50000"/>
                </a:schemeClr>
              </a:solidFill>
              <a:latin typeface="Consolas" panose="020B0609020204030204" pitchFamily="49" charset="0"/>
            </a:endParaRPr>
          </a:p>
          <a:p>
            <a:r>
              <a:rPr lang="ko-KR" altLang="en-US" sz="1100" b="0" dirty="0" smtClean="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이건 </a:t>
            </a:r>
            <a:r>
              <a:rPr lang="en-US" altLang="ko-KR" sz="1100" b="0" dirty="0" smtClean="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dataset id </a:t>
            </a:r>
            <a:r>
              <a:rPr lang="ko-KR" altLang="en-US" sz="1100" b="0" dirty="0" smtClean="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같다</a:t>
            </a:r>
            <a:r>
              <a:rPr lang="en-US" altLang="ko-KR" sz="1100" b="0" dirty="0" smtClean="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.</a:t>
            </a:r>
            <a:endParaRPr lang="en-US" altLang="ko-KR" sz="1100" b="0" dirty="0">
              <a:solidFill>
                <a:schemeClr val="accent6">
                  <a:lumMod val="50000"/>
                </a:schemeClr>
              </a:solidFill>
              <a:effectLst/>
              <a:latin typeface="Consolas" panose="020B0609020204030204" pitchFamily="49" charset="0"/>
            </a:endParaRPr>
          </a:p>
        </p:txBody>
      </p:sp>
      <p:graphicFrame>
        <p:nvGraphicFramePr>
          <p:cNvPr id="88" name="표 8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78047124"/>
              </p:ext>
            </p:extLst>
          </p:nvPr>
        </p:nvGraphicFramePr>
        <p:xfrm>
          <a:off x="352939" y="5264645"/>
          <a:ext cx="1563083" cy="548640"/>
        </p:xfrm>
        <a:graphic>
          <a:graphicData uri="http://schemas.openxmlformats.org/drawingml/2006/table">
            <a:tbl>
              <a:tblPr firstRow="1" bandRow="1">
                <a:tableStyleId>{1E171933-4619-4E11-9A3F-F7608DF75F80}</a:tableStyleId>
              </a:tblPr>
              <a:tblGrid>
                <a:gridCol w="1563083">
                  <a:extLst>
                    <a:ext uri="{9D8B030D-6E8A-4147-A177-3AD203B41FA5}">
                      <a16:colId xmlns:a16="http://schemas.microsoft.com/office/drawing/2014/main" val="2590600746"/>
                    </a:ext>
                  </a:extLst>
                </a:gridCol>
              </a:tblGrid>
              <a:tr h="24358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 err="1" smtClean="0"/>
                        <a:t>ImageDataset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6890123"/>
                  </a:ext>
                </a:extLst>
              </a:tr>
              <a:tr h="209845"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27178603"/>
                  </a:ext>
                </a:extLst>
              </a:tr>
            </a:tbl>
          </a:graphicData>
        </a:graphic>
      </p:graphicFrame>
      <p:graphicFrame>
        <p:nvGraphicFramePr>
          <p:cNvPr id="89" name="표 8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26732365"/>
              </p:ext>
            </p:extLst>
          </p:nvPr>
        </p:nvGraphicFramePr>
        <p:xfrm>
          <a:off x="352939" y="5966484"/>
          <a:ext cx="1563083" cy="548640"/>
        </p:xfrm>
        <a:graphic>
          <a:graphicData uri="http://schemas.openxmlformats.org/drawingml/2006/table">
            <a:tbl>
              <a:tblPr firstRow="1" bandRow="1">
                <a:tableStyleId>{5A111915-BE36-4E01-A7E5-04B1672EAD32}</a:tableStyleId>
              </a:tblPr>
              <a:tblGrid>
                <a:gridCol w="1563083">
                  <a:extLst>
                    <a:ext uri="{9D8B030D-6E8A-4147-A177-3AD203B41FA5}">
                      <a16:colId xmlns:a16="http://schemas.microsoft.com/office/drawing/2014/main" val="2590600746"/>
                    </a:ext>
                  </a:extLst>
                </a:gridCol>
              </a:tblGrid>
              <a:tr h="255244"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b="1" kern="1200" dirty="0" smtClean="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Market1501</a:t>
                      </a:r>
                      <a:endParaRPr lang="en-US" altLang="ko-KR" sz="1200" b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6890123"/>
                  </a:ext>
                </a:extLst>
              </a:tr>
              <a:tr h="255244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27178603"/>
                  </a:ext>
                </a:extLst>
              </a:tr>
            </a:tbl>
          </a:graphicData>
        </a:graphic>
      </p:graphicFrame>
      <p:cxnSp>
        <p:nvCxnSpPr>
          <p:cNvPr id="91" name="직선 화살표 연결선 90"/>
          <p:cNvCxnSpPr>
            <a:stCxn id="88" idx="2"/>
            <a:endCxn id="89" idx="0"/>
          </p:cNvCxnSpPr>
          <p:nvPr/>
        </p:nvCxnSpPr>
        <p:spPr>
          <a:xfrm>
            <a:off x="1134480" y="5813285"/>
            <a:ext cx="0" cy="15319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02" name="표 10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61207004"/>
              </p:ext>
            </p:extLst>
          </p:nvPr>
        </p:nvGraphicFramePr>
        <p:xfrm>
          <a:off x="352939" y="4558212"/>
          <a:ext cx="1563083" cy="548640"/>
        </p:xfrm>
        <a:graphic>
          <a:graphicData uri="http://schemas.openxmlformats.org/drawingml/2006/table">
            <a:tbl>
              <a:tblPr firstRow="1" bandRow="1">
                <a:tableStyleId>{1FECB4D8-DB02-4DC6-A0A2-4F2EBAE1DC90}</a:tableStyleId>
              </a:tblPr>
              <a:tblGrid>
                <a:gridCol w="1563083">
                  <a:extLst>
                    <a:ext uri="{9D8B030D-6E8A-4147-A177-3AD203B41FA5}">
                      <a16:colId xmlns:a16="http://schemas.microsoft.com/office/drawing/2014/main" val="2590600746"/>
                    </a:ext>
                  </a:extLst>
                </a:gridCol>
              </a:tblGrid>
              <a:tr h="24358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 smtClean="0"/>
                        <a:t>Dataset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6890123"/>
                  </a:ext>
                </a:extLst>
              </a:tr>
              <a:tr h="209845"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27178603"/>
                  </a:ext>
                </a:extLst>
              </a:tr>
            </a:tbl>
          </a:graphicData>
        </a:graphic>
      </p:graphicFrame>
      <p:cxnSp>
        <p:nvCxnSpPr>
          <p:cNvPr id="103" name="직선 화살표 연결선 102"/>
          <p:cNvCxnSpPr>
            <a:stCxn id="102" idx="2"/>
            <a:endCxn id="88" idx="0"/>
          </p:cNvCxnSpPr>
          <p:nvPr/>
        </p:nvCxnSpPr>
        <p:spPr>
          <a:xfrm>
            <a:off x="1134480" y="5106852"/>
            <a:ext cx="0" cy="15779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6" name="직사각형 105"/>
          <p:cNvSpPr/>
          <p:nvPr/>
        </p:nvSpPr>
        <p:spPr>
          <a:xfrm>
            <a:off x="3309399" y="4079751"/>
            <a:ext cx="2157952" cy="25391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50" dirty="0" smtClean="0">
                <a:solidFill>
                  <a:srgbClr val="C00000"/>
                </a:solidFill>
              </a:rPr>
              <a:t>train, query, gallery </a:t>
            </a:r>
            <a:r>
              <a:rPr lang="ko-KR" altLang="en-US" sz="1050" dirty="0" smtClean="0">
                <a:solidFill>
                  <a:srgbClr val="C00000"/>
                </a:solidFill>
              </a:rPr>
              <a:t>별로 수행</a:t>
            </a:r>
            <a:endParaRPr lang="ko-KR" altLang="en-US" sz="1050" dirty="0">
              <a:solidFill>
                <a:srgbClr val="C00000"/>
              </a:solidFill>
            </a:endParaRPr>
          </a:p>
        </p:txBody>
      </p:sp>
      <p:sp>
        <p:nvSpPr>
          <p:cNvPr id="51" name="직사각형 50"/>
          <p:cNvSpPr/>
          <p:nvPr/>
        </p:nvSpPr>
        <p:spPr>
          <a:xfrm>
            <a:off x="222738" y="3343430"/>
            <a:ext cx="2246430" cy="21544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800" dirty="0">
                <a:solidFill>
                  <a:srgbClr val="C00000"/>
                </a:solidFill>
              </a:rPr>
              <a:t>__</a:t>
            </a:r>
            <a:r>
              <a:rPr lang="en-US" altLang="ko-KR" sz="800" dirty="0" err="1">
                <a:solidFill>
                  <a:srgbClr val="C00000"/>
                </a:solidFill>
              </a:rPr>
              <a:t>image_datasets</a:t>
            </a:r>
            <a:r>
              <a:rPr lang="en-US" altLang="ko-KR" sz="800" dirty="0">
                <a:solidFill>
                  <a:srgbClr val="C00000"/>
                </a:solidFill>
              </a:rPr>
              <a:t>[name](**</a:t>
            </a:r>
            <a:r>
              <a:rPr lang="en-US" altLang="ko-KR" sz="800" dirty="0" err="1">
                <a:solidFill>
                  <a:srgbClr val="C00000"/>
                </a:solidFill>
              </a:rPr>
              <a:t>kwargs</a:t>
            </a:r>
            <a:r>
              <a:rPr lang="en-US" altLang="ko-KR" sz="800" dirty="0">
                <a:solidFill>
                  <a:srgbClr val="C00000"/>
                </a:solidFill>
              </a:rPr>
              <a:t>)</a:t>
            </a:r>
            <a:endParaRPr lang="ko-KR" altLang="en-US" sz="800" dirty="0">
              <a:solidFill>
                <a:srgbClr val="C00000"/>
              </a:solidFill>
            </a:endParaRPr>
          </a:p>
        </p:txBody>
      </p:sp>
      <p:sp>
        <p:nvSpPr>
          <p:cNvPr id="3" name="직사각형 2"/>
          <p:cNvSpPr/>
          <p:nvPr/>
        </p:nvSpPr>
        <p:spPr>
          <a:xfrm>
            <a:off x="5149776" y="6880257"/>
            <a:ext cx="2444900" cy="21544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800" dirty="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if relabel</a:t>
            </a:r>
            <a:r>
              <a:rPr lang="en-US" altLang="ko-KR" sz="800" dirty="0" smtClean="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: </a:t>
            </a:r>
            <a:r>
              <a:rPr lang="ko-KR" altLang="en-US" sz="800" dirty="0" smtClean="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이면 </a:t>
            </a:r>
            <a:r>
              <a:rPr lang="en-US" altLang="ko-KR" sz="800" dirty="0" err="1" smtClean="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pid</a:t>
            </a:r>
            <a:r>
              <a:rPr lang="ko-KR" altLang="en-US" sz="800" dirty="0" smtClean="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는 </a:t>
            </a:r>
            <a:r>
              <a:rPr lang="en-US" altLang="ko-KR" sz="800" dirty="0" smtClean="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0 </a:t>
            </a:r>
            <a:r>
              <a:rPr lang="ko-KR" altLang="en-US" sz="800" dirty="0" smtClean="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부터 재배치 된다</a:t>
            </a:r>
            <a:r>
              <a:rPr lang="en-US" altLang="ko-KR" sz="800" dirty="0" smtClean="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.</a:t>
            </a:r>
            <a:endParaRPr lang="en-US" altLang="ko-KR" sz="800" b="0" dirty="0">
              <a:solidFill>
                <a:schemeClr val="bg2">
                  <a:lumMod val="50000"/>
                </a:schemeClr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34357977"/>
      </p:ext>
    </p:extLst>
  </p:cSld>
  <p:clrMapOvr>
    <a:masterClrMapping/>
  </p:clrMapOvr>
  <p:transition spd="slow">
    <p:wipe/>
  </p:transition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153774" y="219280"/>
            <a:ext cx="3749968" cy="468990"/>
          </a:xfrm>
          <a:prstGeom prst="rect">
            <a:avLst/>
          </a:prstGeom>
          <a:noFill/>
        </p:spPr>
        <p:txBody>
          <a:bodyPr wrap="none" lIns="98694" tIns="49347" rIns="98694" bIns="49347">
            <a:spAutoFit/>
          </a:bodyPr>
          <a:lstStyle/>
          <a:p>
            <a:pPr algn="ctr">
              <a:spcBef>
                <a:spcPts val="648"/>
              </a:spcBef>
            </a:pPr>
            <a:r>
              <a:rPr lang="en-US" altLang="ko-KR" sz="2400" b="1" dirty="0" err="1" smtClean="0">
                <a:solidFill>
                  <a:srgbClr val="0E0585"/>
                </a:solidFill>
              </a:rPr>
              <a:t>ImageDataManager</a:t>
            </a:r>
            <a:r>
              <a:rPr lang="en-US" altLang="ko-KR" sz="2400" b="1" dirty="0" smtClean="0">
                <a:solidFill>
                  <a:srgbClr val="0E0585"/>
                </a:solidFill>
              </a:rPr>
              <a:t> end</a:t>
            </a:r>
            <a:endParaRPr lang="en-US" altLang="ko-KR" sz="2400" b="1" dirty="0">
              <a:solidFill>
                <a:srgbClr val="0E0585"/>
              </a:solidFill>
            </a:endParaRPr>
          </a:p>
        </p:txBody>
      </p:sp>
      <p:sp>
        <p:nvSpPr>
          <p:cNvPr id="45" name="직사각형 44"/>
          <p:cNvSpPr/>
          <p:nvPr/>
        </p:nvSpPr>
        <p:spPr>
          <a:xfrm>
            <a:off x="3362568" y="1640442"/>
            <a:ext cx="1732675" cy="367276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Dataset.__</a:t>
            </a:r>
            <a:r>
              <a:rPr lang="en-US" altLang="ko-KR" sz="1000" dirty="0" err="1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init</a:t>
            </a:r>
            <a:r>
              <a:rPr lang="en-US" altLang="ko-KR" sz="10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__</a:t>
            </a:r>
            <a:endParaRPr lang="en-US" altLang="ko-KR" sz="100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sp>
        <p:nvSpPr>
          <p:cNvPr id="48" name="직사각형 47"/>
          <p:cNvSpPr/>
          <p:nvPr/>
        </p:nvSpPr>
        <p:spPr>
          <a:xfrm>
            <a:off x="4438993" y="2216353"/>
            <a:ext cx="1732675" cy="367276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[(</a:t>
            </a:r>
            <a:r>
              <a:rPr lang="en-US" altLang="ko-KR" sz="1000" dirty="0" err="1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img_path</a:t>
            </a:r>
            <a:r>
              <a:rPr lang="en-US" altLang="ko-KR" sz="10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, </a:t>
            </a:r>
            <a:r>
              <a:rPr lang="en-US" altLang="ko-KR" sz="1000" dirty="0" err="1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pid</a:t>
            </a:r>
            <a:r>
              <a:rPr lang="en-US" altLang="ko-KR" sz="10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, </a:t>
            </a:r>
            <a:r>
              <a:rPr lang="en-US" altLang="ko-KR" sz="1000" dirty="0" err="1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camid</a:t>
            </a:r>
            <a:r>
              <a:rPr lang="en-US" altLang="ko-KR" sz="10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, </a:t>
            </a:r>
            <a:r>
              <a:rPr lang="en-US" altLang="ko-KR" sz="1000" dirty="0" err="1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dsetid</a:t>
            </a:r>
            <a:r>
              <a:rPr lang="en-US" altLang="ko-KR" sz="10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(0))…]</a:t>
            </a:r>
            <a:r>
              <a:rPr lang="ko-KR" altLang="en-US" sz="10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로 바꾼다</a:t>
            </a:r>
            <a:r>
              <a:rPr lang="en-US" altLang="ko-KR" sz="10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. train</a:t>
            </a:r>
            <a:endParaRPr lang="en-US" altLang="ko-KR" sz="100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sp>
        <p:nvSpPr>
          <p:cNvPr id="50" name="직사각형 49"/>
          <p:cNvSpPr/>
          <p:nvPr/>
        </p:nvSpPr>
        <p:spPr>
          <a:xfrm>
            <a:off x="4438993" y="2814815"/>
            <a:ext cx="1732675" cy="367276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[(</a:t>
            </a:r>
            <a:r>
              <a:rPr lang="en-US" altLang="ko-KR" sz="1000" dirty="0" err="1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img_path</a:t>
            </a:r>
            <a:r>
              <a:rPr lang="en-US" altLang="ko-KR" sz="10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, </a:t>
            </a:r>
            <a:r>
              <a:rPr lang="en-US" altLang="ko-KR" sz="1000" dirty="0" err="1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pid</a:t>
            </a:r>
            <a:r>
              <a:rPr lang="en-US" altLang="ko-KR" sz="10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, </a:t>
            </a:r>
            <a:r>
              <a:rPr lang="en-US" altLang="ko-KR" sz="1000" dirty="0" err="1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camid</a:t>
            </a:r>
            <a:r>
              <a:rPr lang="en-US" altLang="ko-KR" sz="10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, </a:t>
            </a:r>
            <a:r>
              <a:rPr lang="en-US" altLang="ko-KR" sz="1000" dirty="0" err="1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dsetid</a:t>
            </a:r>
            <a:r>
              <a:rPr lang="en-US" altLang="ko-KR" sz="10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(0))…]</a:t>
            </a:r>
            <a:r>
              <a:rPr lang="ko-KR" altLang="en-US" sz="10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로 바꾼다</a:t>
            </a:r>
            <a:r>
              <a:rPr lang="en-US" altLang="ko-KR" sz="10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. query</a:t>
            </a:r>
            <a:endParaRPr lang="en-US" altLang="ko-KR" sz="100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sp>
        <p:nvSpPr>
          <p:cNvPr id="51" name="직사각형 50"/>
          <p:cNvSpPr/>
          <p:nvPr/>
        </p:nvSpPr>
        <p:spPr>
          <a:xfrm>
            <a:off x="4438993" y="3406979"/>
            <a:ext cx="1732675" cy="502601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[(</a:t>
            </a:r>
            <a:r>
              <a:rPr lang="en-US" altLang="ko-KR" sz="1000" dirty="0" err="1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img_path</a:t>
            </a:r>
            <a:r>
              <a:rPr lang="en-US" altLang="ko-KR" sz="10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, </a:t>
            </a:r>
            <a:r>
              <a:rPr lang="en-US" altLang="ko-KR" sz="1000" dirty="0" err="1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pid</a:t>
            </a:r>
            <a:r>
              <a:rPr lang="en-US" altLang="ko-KR" sz="10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, </a:t>
            </a:r>
            <a:r>
              <a:rPr lang="en-US" altLang="ko-KR" sz="1000" dirty="0" err="1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camid</a:t>
            </a:r>
            <a:r>
              <a:rPr lang="en-US" altLang="ko-KR" sz="10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, </a:t>
            </a:r>
            <a:r>
              <a:rPr lang="en-US" altLang="ko-KR" sz="1000" dirty="0" err="1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dsetid</a:t>
            </a:r>
            <a:r>
              <a:rPr lang="en-US" altLang="ko-KR" sz="10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(0))…]</a:t>
            </a:r>
            <a:r>
              <a:rPr lang="ko-KR" altLang="en-US" sz="10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로 바꾼다</a:t>
            </a:r>
            <a:r>
              <a:rPr lang="en-US" altLang="ko-KR" sz="10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. gallery</a:t>
            </a:r>
            <a:endParaRPr lang="en-US" altLang="ko-KR" sz="100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cxnSp>
        <p:nvCxnSpPr>
          <p:cNvPr id="56" name="꺾인 연결선 55"/>
          <p:cNvCxnSpPr>
            <a:stCxn id="45" idx="2"/>
            <a:endCxn id="48" idx="1"/>
          </p:cNvCxnSpPr>
          <p:nvPr/>
        </p:nvCxnSpPr>
        <p:spPr>
          <a:xfrm rot="16200000" flipH="1">
            <a:off x="4137813" y="2098810"/>
            <a:ext cx="392273" cy="210087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직선 화살표 연결선 56"/>
          <p:cNvCxnSpPr>
            <a:stCxn id="48" idx="2"/>
            <a:endCxn id="50" idx="0"/>
          </p:cNvCxnSpPr>
          <p:nvPr/>
        </p:nvCxnSpPr>
        <p:spPr>
          <a:xfrm>
            <a:off x="5305331" y="2583629"/>
            <a:ext cx="0" cy="23118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직선 화살표 연결선 57"/>
          <p:cNvCxnSpPr>
            <a:stCxn id="50" idx="2"/>
            <a:endCxn id="51" idx="0"/>
          </p:cNvCxnSpPr>
          <p:nvPr/>
        </p:nvCxnSpPr>
        <p:spPr>
          <a:xfrm>
            <a:off x="5305331" y="3182091"/>
            <a:ext cx="0" cy="22488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직사각형 58"/>
          <p:cNvSpPr/>
          <p:nvPr/>
        </p:nvSpPr>
        <p:spPr>
          <a:xfrm>
            <a:off x="4438993" y="4233147"/>
            <a:ext cx="1732675" cy="1089624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mode</a:t>
            </a:r>
            <a:r>
              <a:rPr lang="ko-KR" altLang="en-US" sz="10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에 따라서 </a:t>
            </a:r>
            <a:r>
              <a:rPr lang="en-US" altLang="ko-KR" sz="1000" dirty="0" err="1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self.data</a:t>
            </a:r>
            <a:r>
              <a:rPr lang="ko-KR" altLang="en-US" sz="10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에 데이터가 바뀐다</a:t>
            </a:r>
            <a:r>
              <a:rPr lang="en-US" altLang="ko-KR" sz="10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.</a:t>
            </a:r>
          </a:p>
          <a:p>
            <a:pPr algn="ctr"/>
            <a:r>
              <a:rPr lang="ko-KR" altLang="en-US" sz="1000" dirty="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예</a:t>
            </a:r>
            <a:r>
              <a:rPr lang="en-US" altLang="ko-KR" sz="1000" dirty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)</a:t>
            </a:r>
            <a:br>
              <a:rPr lang="en-US" altLang="ko-KR" sz="1000" dirty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</a:br>
            <a:r>
              <a:rPr lang="en-US" altLang="ko-KR" sz="1000" dirty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if </a:t>
            </a:r>
            <a:r>
              <a:rPr lang="en-US" altLang="ko-KR" sz="1000" dirty="0" err="1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self.mode</a:t>
            </a:r>
            <a:r>
              <a:rPr lang="en-US" altLang="ko-KR" sz="1000" dirty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== 'train':</a:t>
            </a:r>
          </a:p>
          <a:p>
            <a:pPr algn="ctr"/>
            <a:r>
              <a:rPr lang="en-US" altLang="ko-KR" sz="1000" dirty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          </a:t>
            </a:r>
            <a:r>
              <a:rPr lang="en-US" altLang="ko-KR" sz="1000" dirty="0" err="1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self.data</a:t>
            </a:r>
            <a:r>
              <a:rPr lang="en-US" altLang="ko-KR" sz="1000" dirty="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</a:t>
            </a:r>
            <a:r>
              <a:rPr lang="en-US" altLang="ko-KR" sz="1000" dirty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= </a:t>
            </a:r>
            <a:r>
              <a:rPr lang="en-US" altLang="ko-KR" sz="1000" dirty="0" err="1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self.train</a:t>
            </a:r>
            <a:endParaRPr lang="en-US" altLang="ko-KR" sz="1000" dirty="0">
              <a:solidFill>
                <a:srgbClr val="C00000"/>
              </a:solidFill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cxnSp>
        <p:nvCxnSpPr>
          <p:cNvPr id="62" name="직선 화살표 연결선 61"/>
          <p:cNvCxnSpPr>
            <a:stCxn id="51" idx="2"/>
            <a:endCxn id="59" idx="0"/>
          </p:cNvCxnSpPr>
          <p:nvPr/>
        </p:nvCxnSpPr>
        <p:spPr>
          <a:xfrm>
            <a:off x="5305331" y="3909580"/>
            <a:ext cx="0" cy="32356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직선 화살표 연결선 62"/>
          <p:cNvCxnSpPr/>
          <p:nvPr/>
        </p:nvCxnSpPr>
        <p:spPr>
          <a:xfrm>
            <a:off x="4219919" y="1370939"/>
            <a:ext cx="0" cy="26950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직사각형 63"/>
          <p:cNvSpPr/>
          <p:nvPr/>
        </p:nvSpPr>
        <p:spPr>
          <a:xfrm>
            <a:off x="4333949" y="1243268"/>
            <a:ext cx="3721114" cy="345879"/>
          </a:xfrm>
          <a:prstGeom prst="rect">
            <a:avLst/>
          </a:prstGeom>
          <a:noFill/>
        </p:spPr>
        <p:txBody>
          <a:bodyPr wrap="none" lIns="98694" tIns="49347" rIns="98694" bIns="49347">
            <a:spAutoFit/>
          </a:bodyPr>
          <a:lstStyle/>
          <a:p>
            <a:pPr algn="ctr">
              <a:spcBef>
                <a:spcPts val="648"/>
              </a:spcBef>
            </a:pPr>
            <a:r>
              <a:rPr lang="en-US" altLang="ko-KR" sz="1600" b="1" dirty="0" smtClean="0">
                <a:solidFill>
                  <a:srgbClr val="FFC000"/>
                </a:solidFill>
              </a:rPr>
              <a:t>class </a:t>
            </a:r>
            <a:r>
              <a:rPr lang="en-US" altLang="ko-KR" sz="1600" b="1" dirty="0" err="1" smtClean="0">
                <a:solidFill>
                  <a:srgbClr val="FFC000"/>
                </a:solidFill>
              </a:rPr>
              <a:t>ImageDataset</a:t>
            </a:r>
            <a:r>
              <a:rPr lang="en-US" altLang="ko-KR" sz="1600" b="1" dirty="0" smtClean="0">
                <a:solidFill>
                  <a:srgbClr val="FFC000"/>
                </a:solidFill>
              </a:rPr>
              <a:t> -&gt; class Dataset</a:t>
            </a:r>
            <a:endParaRPr lang="en-US" altLang="ko-KR" sz="1600" b="1" dirty="0">
              <a:solidFill>
                <a:srgbClr val="FFC000"/>
              </a:solidFill>
            </a:endParaRPr>
          </a:p>
        </p:txBody>
      </p:sp>
      <p:sp>
        <p:nvSpPr>
          <p:cNvPr id="65" name="모서리가 둥근 직사각형 64"/>
          <p:cNvSpPr/>
          <p:nvPr/>
        </p:nvSpPr>
        <p:spPr>
          <a:xfrm>
            <a:off x="4434830" y="5630387"/>
            <a:ext cx="1732675" cy="367276"/>
          </a:xfrm>
          <a:prstGeom prst="roundRect">
            <a:avLst>
              <a:gd name="adj" fmla="val 37633"/>
            </a:avLst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return Dataset</a:t>
            </a:r>
            <a:endParaRPr lang="en-US" altLang="ko-KR" sz="100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cxnSp>
        <p:nvCxnSpPr>
          <p:cNvPr id="70" name="직선 화살표 연결선 69"/>
          <p:cNvCxnSpPr>
            <a:stCxn id="59" idx="2"/>
          </p:cNvCxnSpPr>
          <p:nvPr/>
        </p:nvCxnSpPr>
        <p:spPr>
          <a:xfrm flipH="1">
            <a:off x="5301168" y="5322771"/>
            <a:ext cx="4163" cy="30761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꺾인 연결선 15"/>
          <p:cNvCxnSpPr>
            <a:stCxn id="65" idx="2"/>
          </p:cNvCxnSpPr>
          <p:nvPr/>
        </p:nvCxnSpPr>
        <p:spPr>
          <a:xfrm rot="5400000">
            <a:off x="3806177" y="5050190"/>
            <a:ext cx="547519" cy="2442465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33058838"/>
      </p:ext>
    </p:extLst>
  </p:cSld>
  <p:clrMapOvr>
    <a:masterClrMapping/>
  </p:clrMapOvr>
  <p:transition spd="slow">
    <p:wipe/>
  </p:transition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505634" y="219280"/>
            <a:ext cx="3046250" cy="468990"/>
          </a:xfrm>
          <a:prstGeom prst="rect">
            <a:avLst/>
          </a:prstGeom>
          <a:noFill/>
        </p:spPr>
        <p:txBody>
          <a:bodyPr wrap="none" lIns="98694" tIns="49347" rIns="98694" bIns="49347">
            <a:spAutoFit/>
          </a:bodyPr>
          <a:lstStyle/>
          <a:p>
            <a:pPr algn="ctr">
              <a:spcBef>
                <a:spcPts val="648"/>
              </a:spcBef>
            </a:pPr>
            <a:r>
              <a:rPr lang="en-US" altLang="ko-KR" sz="2400" b="1" dirty="0" err="1" smtClean="0">
                <a:solidFill>
                  <a:srgbClr val="0E0585"/>
                </a:solidFill>
              </a:rPr>
              <a:t>build_train_sampler</a:t>
            </a:r>
            <a:endParaRPr lang="en-US" altLang="ko-KR" sz="2400" b="1" dirty="0">
              <a:solidFill>
                <a:srgbClr val="0E0585"/>
              </a:solidFill>
            </a:endParaRPr>
          </a:p>
        </p:txBody>
      </p:sp>
      <p:sp>
        <p:nvSpPr>
          <p:cNvPr id="3" name="순서도: 판단 2"/>
          <p:cNvSpPr/>
          <p:nvPr/>
        </p:nvSpPr>
        <p:spPr>
          <a:xfrm>
            <a:off x="3009362" y="2400720"/>
            <a:ext cx="2508317" cy="537956"/>
          </a:xfrm>
          <a:prstGeom prst="flowChartDecision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100" dirty="0" err="1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train_sampler</a:t>
            </a:r>
            <a:r>
              <a:rPr lang="en-US" altLang="ko-KR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</a:t>
            </a:r>
            <a:r>
              <a:rPr lang="en-US" altLang="ko-KR" sz="11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== </a:t>
            </a:r>
            <a:r>
              <a:rPr lang="en-US" altLang="ko-KR" sz="1100" dirty="0" err="1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RandomSampler</a:t>
            </a:r>
            <a:endParaRPr lang="ko-KR" altLang="en-US" sz="110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sp>
        <p:nvSpPr>
          <p:cNvPr id="4" name="직사각형 3"/>
          <p:cNvSpPr/>
          <p:nvPr/>
        </p:nvSpPr>
        <p:spPr>
          <a:xfrm>
            <a:off x="3275567" y="1910701"/>
            <a:ext cx="1975910" cy="271829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build_train_sampler</a:t>
            </a:r>
            <a:endParaRPr lang="en-US" altLang="ko-KR" sz="100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cxnSp>
        <p:nvCxnSpPr>
          <p:cNvPr id="5" name="직선 화살표 연결선 4"/>
          <p:cNvCxnSpPr>
            <a:stCxn id="4" idx="2"/>
            <a:endCxn id="3" idx="0"/>
          </p:cNvCxnSpPr>
          <p:nvPr/>
        </p:nvCxnSpPr>
        <p:spPr>
          <a:xfrm flipH="1">
            <a:off x="4263521" y="2182530"/>
            <a:ext cx="1" cy="21819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직사각형 8"/>
          <p:cNvSpPr/>
          <p:nvPr/>
        </p:nvSpPr>
        <p:spPr>
          <a:xfrm>
            <a:off x="3275566" y="3156866"/>
            <a:ext cx="1975910" cy="413557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sampler = </a:t>
            </a:r>
            <a:r>
              <a:rPr lang="en-US" altLang="ko-KR" sz="100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RandomSampler</a:t>
            </a:r>
            <a:r>
              <a:rPr lang="en-US" altLang="ko-KR" sz="10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(</a:t>
            </a:r>
            <a:r>
              <a:rPr lang="en-US" altLang="ko-KR" sz="100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data_source</a:t>
            </a:r>
            <a:r>
              <a:rPr lang="en-US" altLang="ko-KR" sz="10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)</a:t>
            </a:r>
          </a:p>
        </p:txBody>
      </p:sp>
      <p:cxnSp>
        <p:nvCxnSpPr>
          <p:cNvPr id="10" name="직선 화살표 연결선 9"/>
          <p:cNvCxnSpPr>
            <a:stCxn id="3" idx="2"/>
            <a:endCxn id="9" idx="0"/>
          </p:cNvCxnSpPr>
          <p:nvPr/>
        </p:nvCxnSpPr>
        <p:spPr>
          <a:xfrm>
            <a:off x="4263521" y="2938676"/>
            <a:ext cx="0" cy="21819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직사각형 13"/>
          <p:cNvSpPr/>
          <p:nvPr/>
        </p:nvSpPr>
        <p:spPr>
          <a:xfrm>
            <a:off x="2010646" y="1288381"/>
            <a:ext cx="1975910" cy="367276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torch.utils.data.DataLoader</a:t>
            </a:r>
            <a:endParaRPr lang="en-US" altLang="ko-KR" sz="100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sp>
        <p:nvSpPr>
          <p:cNvPr id="19" name="직사각형 18"/>
          <p:cNvSpPr/>
          <p:nvPr/>
        </p:nvSpPr>
        <p:spPr>
          <a:xfrm>
            <a:off x="4263521" y="1294987"/>
            <a:ext cx="4535217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ko-KR" sz="1100" dirty="0" err="1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torch.utils.data.DataLoader</a:t>
            </a:r>
            <a:r>
              <a:rPr lang="ko-KR" altLang="en-US" sz="1100" dirty="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를 수행하기 위한 </a:t>
            </a:r>
            <a:r>
              <a:rPr lang="ko-KR" altLang="en-US" sz="1100" dirty="0" err="1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파라미터</a:t>
            </a:r>
            <a:r>
              <a:rPr lang="ko-KR" altLang="en-US" sz="1100" dirty="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</a:t>
            </a:r>
            <a:r>
              <a:rPr lang="en-US" altLang="ko-KR" sz="1100" dirty="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sampler</a:t>
            </a:r>
            <a:r>
              <a:rPr lang="ko-KR" altLang="en-US" sz="1100" dirty="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를 생성한다</a:t>
            </a:r>
            <a:r>
              <a:rPr lang="en-US" altLang="ko-KR" sz="1100" dirty="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.</a:t>
            </a:r>
            <a:endParaRPr lang="en-US" altLang="ko-KR" sz="1100" dirty="0">
              <a:solidFill>
                <a:srgbClr val="C00000"/>
              </a:solidFill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cxnSp>
        <p:nvCxnSpPr>
          <p:cNvPr id="11" name="꺾인 연결선 10"/>
          <p:cNvCxnSpPr>
            <a:stCxn id="14" idx="2"/>
            <a:endCxn id="4" idx="1"/>
          </p:cNvCxnSpPr>
          <p:nvPr/>
        </p:nvCxnSpPr>
        <p:spPr>
          <a:xfrm rot="16200000" flipH="1">
            <a:off x="2941605" y="1712653"/>
            <a:ext cx="390959" cy="276966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직사각형 21"/>
          <p:cNvSpPr/>
          <p:nvPr/>
        </p:nvSpPr>
        <p:spPr>
          <a:xfrm>
            <a:off x="5631979" y="2454254"/>
            <a:ext cx="3429144" cy="43088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100" dirty="0" err="1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ImageDataManager</a:t>
            </a:r>
            <a:r>
              <a:rPr lang="ko-KR" altLang="en-US" sz="1100" dirty="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의 </a:t>
            </a:r>
            <a:r>
              <a:rPr lang="ko-KR" altLang="en-US" sz="1100" dirty="0" err="1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파라미터이다</a:t>
            </a:r>
            <a:r>
              <a:rPr lang="en-US" altLang="ko-KR" sz="1100" dirty="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.</a:t>
            </a:r>
          </a:p>
          <a:p>
            <a:r>
              <a:rPr lang="en-US" altLang="ko-KR" sz="1100" dirty="0" err="1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train_sample</a:t>
            </a:r>
            <a:r>
              <a:rPr lang="ko-KR" altLang="en-US" sz="1100" dirty="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의 이름의 </a:t>
            </a:r>
            <a:r>
              <a:rPr lang="en-US" altLang="ko-KR" sz="1100" dirty="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Default</a:t>
            </a:r>
            <a:r>
              <a:rPr lang="ko-KR" altLang="en-US" sz="1100" dirty="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는 </a:t>
            </a:r>
            <a:r>
              <a:rPr lang="en-US" altLang="ko-KR" sz="1100" dirty="0" err="1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RandomSampler</a:t>
            </a:r>
            <a:r>
              <a:rPr lang="ko-KR" altLang="en-US" sz="1100" dirty="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이다</a:t>
            </a:r>
            <a:r>
              <a:rPr lang="en-US" altLang="ko-KR" sz="1100" dirty="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.</a:t>
            </a:r>
            <a:endParaRPr lang="en-US" altLang="ko-KR" sz="1100" dirty="0">
              <a:solidFill>
                <a:srgbClr val="C00000"/>
              </a:solidFill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sp>
        <p:nvSpPr>
          <p:cNvPr id="23" name="모서리가 둥근 직사각형 22"/>
          <p:cNvSpPr/>
          <p:nvPr/>
        </p:nvSpPr>
        <p:spPr>
          <a:xfrm>
            <a:off x="3397182" y="3782799"/>
            <a:ext cx="1732675" cy="367276"/>
          </a:xfrm>
          <a:prstGeom prst="roundRect">
            <a:avLst>
              <a:gd name="adj" fmla="val 37633"/>
            </a:avLst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return sampler</a:t>
            </a:r>
            <a:endParaRPr lang="en-US" altLang="ko-KR" sz="100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cxnSp>
        <p:nvCxnSpPr>
          <p:cNvPr id="24" name="직선 화살표 연결선 23"/>
          <p:cNvCxnSpPr>
            <a:stCxn id="9" idx="2"/>
            <a:endCxn id="23" idx="0"/>
          </p:cNvCxnSpPr>
          <p:nvPr/>
        </p:nvCxnSpPr>
        <p:spPr>
          <a:xfrm flipH="1">
            <a:off x="4263520" y="3570423"/>
            <a:ext cx="1" cy="2123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64593111"/>
      </p:ext>
    </p:extLst>
  </p:cSld>
  <p:clrMapOvr>
    <a:masterClrMapping/>
  </p:clrMapOvr>
  <p:transition spd="slow">
    <p:wipe/>
  </p:transition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463976" y="314530"/>
            <a:ext cx="2672365" cy="468990"/>
          </a:xfrm>
          <a:prstGeom prst="rect">
            <a:avLst/>
          </a:prstGeom>
          <a:noFill/>
        </p:spPr>
        <p:txBody>
          <a:bodyPr wrap="none" lIns="98694" tIns="49347" rIns="98694" bIns="49347">
            <a:spAutoFit/>
          </a:bodyPr>
          <a:lstStyle/>
          <a:p>
            <a:pPr algn="ctr">
              <a:spcBef>
                <a:spcPts val="648"/>
              </a:spcBef>
            </a:pPr>
            <a:r>
              <a:rPr lang="en-US" altLang="ko-KR" sz="2400" b="1" dirty="0" smtClean="0">
                <a:solidFill>
                  <a:srgbClr val="0E0585"/>
                </a:solidFill>
              </a:rPr>
              <a:t>class </a:t>
            </a:r>
            <a:r>
              <a:rPr lang="en-US" altLang="ko-KR" sz="2400" b="1" dirty="0" err="1" smtClean="0">
                <a:solidFill>
                  <a:srgbClr val="0E0585"/>
                </a:solidFill>
              </a:rPr>
              <a:t>DataLoader</a:t>
            </a:r>
            <a:endParaRPr lang="en-US" altLang="ko-KR" sz="2400" b="1" dirty="0">
              <a:solidFill>
                <a:srgbClr val="0E0585"/>
              </a:solidFill>
            </a:endParaRPr>
          </a:p>
        </p:txBody>
      </p:sp>
      <p:sp>
        <p:nvSpPr>
          <p:cNvPr id="4" name="직사각형 3"/>
          <p:cNvSpPr/>
          <p:nvPr/>
        </p:nvSpPr>
        <p:spPr>
          <a:xfrm>
            <a:off x="395255" y="1173666"/>
            <a:ext cx="2088865" cy="367276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queryset</a:t>
            </a:r>
            <a:r>
              <a:rPr lang="en-US" altLang="ko-KR" sz="105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= </a:t>
            </a:r>
            <a:r>
              <a:rPr lang="en-US" altLang="ko-KR" sz="105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init_image_dataset</a:t>
            </a:r>
            <a:endParaRPr lang="en-US" altLang="ko-KR" sz="105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sp>
        <p:nvSpPr>
          <p:cNvPr id="12" name="직사각형 11"/>
          <p:cNvSpPr/>
          <p:nvPr/>
        </p:nvSpPr>
        <p:spPr>
          <a:xfrm>
            <a:off x="2054861" y="1716212"/>
            <a:ext cx="1975910" cy="367276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avai_datasets</a:t>
            </a:r>
            <a:r>
              <a:rPr lang="en-US" altLang="ko-KR" sz="10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= list(__</a:t>
            </a:r>
            <a:r>
              <a:rPr lang="en-US" altLang="ko-KR" sz="100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image_datasets.keys</a:t>
            </a:r>
            <a:r>
              <a:rPr lang="en-US" altLang="ko-KR" sz="10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())</a:t>
            </a:r>
          </a:p>
        </p:txBody>
      </p:sp>
      <p:cxnSp>
        <p:nvCxnSpPr>
          <p:cNvPr id="13" name="꺾인 연결선 12"/>
          <p:cNvCxnSpPr>
            <a:stCxn id="4" idx="2"/>
            <a:endCxn id="12" idx="1"/>
          </p:cNvCxnSpPr>
          <p:nvPr/>
        </p:nvCxnSpPr>
        <p:spPr>
          <a:xfrm rot="16200000" flipH="1">
            <a:off x="1567820" y="1412809"/>
            <a:ext cx="358908" cy="615173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직사각형 14"/>
          <p:cNvSpPr/>
          <p:nvPr/>
        </p:nvSpPr>
        <p:spPr>
          <a:xfrm>
            <a:off x="4030771" y="1667990"/>
            <a:ext cx="4352290" cy="41549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700" dirty="0" err="1"/>
              <a:t>avai_datasets</a:t>
            </a:r>
            <a:endParaRPr lang="ko-KR" altLang="en-US" sz="700" dirty="0"/>
          </a:p>
          <a:p>
            <a:r>
              <a:rPr lang="ko-KR" altLang="en-US" sz="700" dirty="0" err="1"/>
              <a:t>Out</a:t>
            </a:r>
            <a:r>
              <a:rPr lang="ko-KR" altLang="en-US" sz="700" dirty="0"/>
              <a:t>  [5]: ['market1501', 'cuhk03', '</a:t>
            </a:r>
            <a:r>
              <a:rPr lang="ko-KR" altLang="en-US" sz="700" dirty="0" err="1"/>
              <a:t>dukemtmcreid</a:t>
            </a:r>
            <a:r>
              <a:rPr lang="ko-KR" altLang="en-US" sz="700" dirty="0"/>
              <a:t>', 'msmt17', '</a:t>
            </a:r>
            <a:r>
              <a:rPr lang="ko-KR" altLang="en-US" sz="700" dirty="0" err="1"/>
              <a:t>viper</a:t>
            </a:r>
            <a:r>
              <a:rPr lang="ko-KR" altLang="en-US" sz="700" dirty="0"/>
              <a:t>', '</a:t>
            </a:r>
            <a:r>
              <a:rPr lang="ko-KR" altLang="en-US" sz="700" dirty="0" err="1"/>
              <a:t>grid</a:t>
            </a:r>
            <a:r>
              <a:rPr lang="ko-KR" altLang="en-US" sz="700" dirty="0"/>
              <a:t>', 'cuhk01', '</a:t>
            </a:r>
            <a:r>
              <a:rPr lang="ko-KR" altLang="en-US" sz="700" dirty="0" err="1"/>
              <a:t>ilids</a:t>
            </a:r>
            <a:r>
              <a:rPr lang="ko-KR" altLang="en-US" sz="700" dirty="0"/>
              <a:t>', '</a:t>
            </a:r>
            <a:r>
              <a:rPr lang="ko-KR" altLang="en-US" sz="700" dirty="0" err="1"/>
              <a:t>sensereid</a:t>
            </a:r>
            <a:r>
              <a:rPr lang="ko-KR" altLang="en-US" sz="700" dirty="0"/>
              <a:t>', '</a:t>
            </a:r>
            <a:r>
              <a:rPr lang="ko-KR" altLang="en-US" sz="700" dirty="0" err="1"/>
              <a:t>prid</a:t>
            </a:r>
            <a:r>
              <a:rPr lang="ko-KR" altLang="en-US" sz="700" dirty="0"/>
              <a:t>', 'cuhk02', 'university1652', '</a:t>
            </a:r>
            <a:r>
              <a:rPr lang="ko-KR" altLang="en-US" sz="700" dirty="0" err="1"/>
              <a:t>cuhksysu</a:t>
            </a:r>
            <a:r>
              <a:rPr lang="ko-KR" altLang="en-US" sz="700" dirty="0"/>
              <a:t>']</a:t>
            </a:r>
          </a:p>
        </p:txBody>
      </p:sp>
      <p:sp>
        <p:nvSpPr>
          <p:cNvPr id="16" name="직사각형 15"/>
          <p:cNvSpPr/>
          <p:nvPr/>
        </p:nvSpPr>
        <p:spPr>
          <a:xfrm>
            <a:off x="2054861" y="2356292"/>
            <a:ext cx="1975910" cy="367276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__</a:t>
            </a:r>
            <a:r>
              <a:rPr lang="en-US" altLang="ko-KR" sz="90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image_datasets</a:t>
            </a:r>
            <a:r>
              <a:rPr lang="en-US" altLang="ko-KR" sz="9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[name](**</a:t>
            </a:r>
            <a:r>
              <a:rPr lang="en-US" altLang="ko-KR" sz="90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kwargs</a:t>
            </a:r>
            <a:r>
              <a:rPr lang="en-US" altLang="ko-KR" sz="9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)</a:t>
            </a:r>
          </a:p>
        </p:txBody>
      </p:sp>
      <p:cxnSp>
        <p:nvCxnSpPr>
          <p:cNvPr id="17" name="직선 화살표 연결선 16"/>
          <p:cNvCxnSpPr>
            <a:stCxn id="12" idx="2"/>
            <a:endCxn id="16" idx="0"/>
          </p:cNvCxnSpPr>
          <p:nvPr/>
        </p:nvCxnSpPr>
        <p:spPr>
          <a:xfrm>
            <a:off x="3042816" y="2083488"/>
            <a:ext cx="0" cy="27280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직사각형 19"/>
          <p:cNvSpPr/>
          <p:nvPr/>
        </p:nvSpPr>
        <p:spPr>
          <a:xfrm>
            <a:off x="3404309" y="2899747"/>
            <a:ext cx="1068631" cy="367276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Market1501</a:t>
            </a:r>
          </a:p>
        </p:txBody>
      </p:sp>
      <p:cxnSp>
        <p:nvCxnSpPr>
          <p:cNvPr id="21" name="꺾인 연결선 20"/>
          <p:cNvCxnSpPr>
            <a:stCxn id="16" idx="2"/>
            <a:endCxn id="20" idx="1"/>
          </p:cNvCxnSpPr>
          <p:nvPr/>
        </p:nvCxnSpPr>
        <p:spPr>
          <a:xfrm rot="16200000" flipH="1">
            <a:off x="3043654" y="2722729"/>
            <a:ext cx="359817" cy="361493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직사각형 25"/>
          <p:cNvSpPr/>
          <p:nvPr/>
        </p:nvSpPr>
        <p:spPr>
          <a:xfrm>
            <a:off x="395254" y="3612066"/>
            <a:ext cx="2088865" cy="367276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self.test_loader</a:t>
            </a:r>
            <a:r>
              <a:rPr lang="en-US" altLang="ko-KR" sz="105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[name]['query'] = </a:t>
            </a:r>
            <a:r>
              <a:rPr lang="en-US" altLang="ko-KR" sz="105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torch.utils.data.DataLoader</a:t>
            </a:r>
            <a:endParaRPr lang="en-US" altLang="ko-KR" sz="105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cxnSp>
        <p:nvCxnSpPr>
          <p:cNvPr id="27" name="꺾인 연결선 26"/>
          <p:cNvCxnSpPr>
            <a:stCxn id="20" idx="2"/>
            <a:endCxn id="26" idx="3"/>
          </p:cNvCxnSpPr>
          <p:nvPr/>
        </p:nvCxnSpPr>
        <p:spPr>
          <a:xfrm rot="5400000">
            <a:off x="2947032" y="2804110"/>
            <a:ext cx="528681" cy="1454506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직사각형 29"/>
          <p:cNvSpPr/>
          <p:nvPr/>
        </p:nvSpPr>
        <p:spPr>
          <a:xfrm>
            <a:off x="2843059" y="3908271"/>
            <a:ext cx="3169457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1100" dirty="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이런 식으로 </a:t>
            </a:r>
            <a:r>
              <a:rPr lang="en-US" altLang="ko-KR" sz="1100" dirty="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query, gallery,  </a:t>
            </a:r>
            <a:r>
              <a:rPr lang="en-US" altLang="ko-KR" sz="1100" dirty="0" err="1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test_dataset</a:t>
            </a:r>
            <a:r>
              <a:rPr lang="ko-KR" altLang="en-US" sz="1100" dirty="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을 만든다</a:t>
            </a:r>
            <a:r>
              <a:rPr lang="en-US" altLang="ko-KR" sz="1100" dirty="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.</a:t>
            </a:r>
            <a:endParaRPr lang="en-US" altLang="ko-KR" sz="1100" dirty="0">
              <a:solidFill>
                <a:srgbClr val="C00000"/>
              </a:solidFill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86375180"/>
      </p:ext>
    </p:extLst>
  </p:cSld>
  <p:clrMapOvr>
    <a:masterClrMapping/>
  </p:clrMapOvr>
  <p:transition spd="slow">
    <p:wipe/>
  </p:transition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180856" y="314530"/>
            <a:ext cx="3238610" cy="468990"/>
          </a:xfrm>
          <a:prstGeom prst="rect">
            <a:avLst/>
          </a:prstGeom>
          <a:noFill/>
        </p:spPr>
        <p:txBody>
          <a:bodyPr wrap="none" lIns="98694" tIns="49347" rIns="98694" bIns="49347">
            <a:spAutoFit/>
          </a:bodyPr>
          <a:lstStyle/>
          <a:p>
            <a:pPr algn="ctr">
              <a:spcBef>
                <a:spcPts val="648"/>
              </a:spcBef>
            </a:pPr>
            <a:r>
              <a:rPr lang="en-US" altLang="ko-KR" sz="2400" b="1" dirty="0" smtClean="0">
                <a:solidFill>
                  <a:srgbClr val="0E0585"/>
                </a:solidFill>
              </a:rPr>
              <a:t>class Dataset(object)</a:t>
            </a:r>
            <a:endParaRPr lang="en-US" altLang="ko-KR" sz="2400" b="1" dirty="0">
              <a:solidFill>
                <a:srgbClr val="0E0585"/>
              </a:solidFill>
            </a:endParaRPr>
          </a:p>
        </p:txBody>
      </p:sp>
      <p:sp>
        <p:nvSpPr>
          <p:cNvPr id="20" name="직사각형 19"/>
          <p:cNvSpPr/>
          <p:nvPr/>
        </p:nvSpPr>
        <p:spPr>
          <a:xfrm>
            <a:off x="449354" y="1513709"/>
            <a:ext cx="1068631" cy="367276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Market1501</a:t>
            </a:r>
          </a:p>
        </p:txBody>
      </p:sp>
      <p:sp>
        <p:nvSpPr>
          <p:cNvPr id="14" name="직사각형 13"/>
          <p:cNvSpPr/>
          <p:nvPr/>
        </p:nvSpPr>
        <p:spPr>
          <a:xfrm>
            <a:off x="2632684" y="1513709"/>
            <a:ext cx="1068631" cy="367276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Dataset</a:t>
            </a:r>
            <a:endParaRPr lang="en-US" altLang="ko-KR" sz="100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cxnSp>
        <p:nvCxnSpPr>
          <p:cNvPr id="18" name="직선 화살표 연결선 17"/>
          <p:cNvCxnSpPr>
            <a:stCxn id="20" idx="3"/>
            <a:endCxn id="14" idx="1"/>
          </p:cNvCxnSpPr>
          <p:nvPr/>
        </p:nvCxnSpPr>
        <p:spPr>
          <a:xfrm>
            <a:off x="1517985" y="1697347"/>
            <a:ext cx="111469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직사각형 21"/>
          <p:cNvSpPr/>
          <p:nvPr/>
        </p:nvSpPr>
        <p:spPr>
          <a:xfrm>
            <a:off x="1555800" y="1343918"/>
            <a:ext cx="1039067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100" dirty="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super.__</a:t>
            </a:r>
            <a:r>
              <a:rPr lang="en-US" altLang="ko-KR" sz="1100" dirty="0" err="1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init</a:t>
            </a:r>
            <a:r>
              <a:rPr lang="en-US" altLang="ko-KR" sz="1100" dirty="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__</a:t>
            </a:r>
            <a:endParaRPr lang="en-US" altLang="ko-KR" sz="1100" dirty="0">
              <a:solidFill>
                <a:srgbClr val="C00000"/>
              </a:solidFill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sp>
        <p:nvSpPr>
          <p:cNvPr id="23" name="직사각형 22"/>
          <p:cNvSpPr/>
          <p:nvPr/>
        </p:nvSpPr>
        <p:spPr>
          <a:xfrm>
            <a:off x="3701315" y="2243898"/>
            <a:ext cx="1068631" cy="367276"/>
          </a:xfrm>
          <a:prstGeom prst="rect">
            <a:avLst/>
          </a:prstGeom>
          <a:gradFill>
            <a:gsLst>
              <a:gs pos="0">
                <a:schemeClr val="accent6">
                  <a:lumMod val="40000"/>
                  <a:lumOff val="60000"/>
                </a:schemeClr>
              </a:gs>
              <a:gs pos="50000">
                <a:schemeClr val="accent6">
                  <a:lumMod val="60000"/>
                  <a:lumOff val="40000"/>
                </a:schemeClr>
              </a:gs>
              <a:gs pos="100000">
                <a:schemeClr val="accent6">
                  <a:lumMod val="75000"/>
                </a:schemeClr>
              </a:gs>
            </a:gsLst>
          </a:gradFill>
          <a:ln>
            <a:noFill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__</a:t>
            </a:r>
            <a:r>
              <a:rPr lang="en-US" altLang="ko-KR" sz="1000" dirty="0" err="1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init</a:t>
            </a:r>
            <a:r>
              <a:rPr lang="en-US" altLang="ko-KR" sz="10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__</a:t>
            </a:r>
            <a:endParaRPr lang="en-US" altLang="ko-KR" sz="100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cxnSp>
        <p:nvCxnSpPr>
          <p:cNvPr id="24" name="꺾인 연결선 23"/>
          <p:cNvCxnSpPr>
            <a:stCxn id="14" idx="2"/>
            <a:endCxn id="23" idx="1"/>
          </p:cNvCxnSpPr>
          <p:nvPr/>
        </p:nvCxnSpPr>
        <p:spPr>
          <a:xfrm rot="16200000" flipH="1">
            <a:off x="3160882" y="1887102"/>
            <a:ext cx="546551" cy="534315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Rectangle 3"/>
          <p:cNvSpPr>
            <a:spLocks noChangeArrowheads="1"/>
          </p:cNvSpPr>
          <p:nvPr/>
        </p:nvSpPr>
        <p:spPr bwMode="auto">
          <a:xfrm>
            <a:off x="6818383" y="2950861"/>
            <a:ext cx="4182889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defTabSz="914400" eaLnBrk="0" fontAlgn="base" latinLnBrk="0" hangingPunct="0">
              <a:spcBef>
                <a:spcPct val="0"/>
              </a:spcBef>
              <a:spcAft>
                <a:spcPct val="0"/>
              </a:spcAft>
            </a:pPr>
            <a:r>
              <a:rPr lang="ko-KR" altLang="en-US" sz="10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리스트 형태이며</a:t>
            </a:r>
            <a:r>
              <a:rPr lang="en-US" altLang="ko-KR" sz="10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, </a:t>
            </a:r>
            <a:r>
              <a:rPr lang="en-US" altLang="ko-KR" sz="10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[(</a:t>
            </a:r>
            <a:r>
              <a:rPr lang="en-US" altLang="ko-KR" sz="1000" dirty="0" err="1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img_path</a:t>
            </a:r>
            <a:r>
              <a:rPr lang="en-US" altLang="ko-KR" sz="10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, </a:t>
            </a:r>
            <a:r>
              <a:rPr lang="en-US" altLang="ko-KR" sz="100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pid</a:t>
            </a:r>
            <a:r>
              <a:rPr lang="en-US" altLang="ko-KR" sz="10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, </a:t>
            </a:r>
            <a:r>
              <a:rPr lang="en-US" altLang="ko-KR" sz="1000" dirty="0" err="1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camid</a:t>
            </a:r>
            <a:r>
              <a:rPr lang="en-US" altLang="ko-KR" sz="10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, 0 )] </a:t>
            </a:r>
            <a:r>
              <a:rPr lang="ko-KR" altLang="en-US" sz="10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형태로 </a:t>
            </a:r>
            <a:r>
              <a:rPr lang="en-US" altLang="ko-KR" sz="10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0</a:t>
            </a:r>
            <a:r>
              <a:rPr lang="ko-KR" altLang="en-US" sz="10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을 추가한다</a:t>
            </a:r>
            <a:r>
              <a:rPr lang="en-US" altLang="ko-KR" sz="10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.</a:t>
            </a:r>
            <a:endParaRPr lang="ko-KR" altLang="ko-KR" sz="100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sp>
        <p:nvSpPr>
          <p:cNvPr id="28" name="직사각형 27"/>
          <p:cNvSpPr/>
          <p:nvPr/>
        </p:nvSpPr>
        <p:spPr>
          <a:xfrm>
            <a:off x="4566370" y="2821855"/>
            <a:ext cx="2252013" cy="504234"/>
          </a:xfrm>
          <a:prstGeom prst="rect">
            <a:avLst/>
          </a:prstGeom>
          <a:gradFill>
            <a:gsLst>
              <a:gs pos="0">
                <a:schemeClr val="accent6">
                  <a:lumMod val="40000"/>
                  <a:lumOff val="60000"/>
                </a:schemeClr>
              </a:gs>
              <a:gs pos="50000">
                <a:schemeClr val="accent6">
                  <a:lumMod val="60000"/>
                  <a:lumOff val="40000"/>
                </a:schemeClr>
              </a:gs>
              <a:gs pos="100000">
                <a:schemeClr val="accent6">
                  <a:lumMod val="75000"/>
                </a:schemeClr>
              </a:gs>
            </a:gsLst>
          </a:gradFill>
          <a:ln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train = [(*items, 0) for items in train]</a:t>
            </a:r>
          </a:p>
        </p:txBody>
      </p:sp>
      <p:cxnSp>
        <p:nvCxnSpPr>
          <p:cNvPr id="29" name="꺾인 연결선 28"/>
          <p:cNvCxnSpPr>
            <a:stCxn id="23" idx="2"/>
            <a:endCxn id="28" idx="1"/>
          </p:cNvCxnSpPr>
          <p:nvPr/>
        </p:nvCxnSpPr>
        <p:spPr>
          <a:xfrm rot="16200000" flipH="1">
            <a:off x="4169601" y="2677203"/>
            <a:ext cx="462798" cy="330739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직사각형 30"/>
          <p:cNvSpPr/>
          <p:nvPr/>
        </p:nvSpPr>
        <p:spPr>
          <a:xfrm>
            <a:off x="6818383" y="3201054"/>
            <a:ext cx="2531462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100" dirty="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train, query, gallery </a:t>
            </a:r>
            <a:r>
              <a:rPr lang="ko-KR" altLang="en-US" sz="1100" dirty="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각각에 대하여 연산</a:t>
            </a:r>
            <a:endParaRPr lang="en-US" altLang="ko-KR" sz="1100" dirty="0">
              <a:solidFill>
                <a:srgbClr val="C00000"/>
              </a:solidFill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sp>
        <p:nvSpPr>
          <p:cNvPr id="32" name="직사각형 31"/>
          <p:cNvSpPr/>
          <p:nvPr/>
        </p:nvSpPr>
        <p:spPr>
          <a:xfrm>
            <a:off x="4566370" y="3696922"/>
            <a:ext cx="2252013" cy="504234"/>
          </a:xfrm>
          <a:prstGeom prst="rect">
            <a:avLst/>
          </a:prstGeom>
          <a:gradFill>
            <a:gsLst>
              <a:gs pos="0">
                <a:schemeClr val="accent6">
                  <a:lumMod val="40000"/>
                  <a:lumOff val="60000"/>
                </a:schemeClr>
              </a:gs>
              <a:gs pos="50000">
                <a:schemeClr val="accent6">
                  <a:lumMod val="60000"/>
                  <a:lumOff val="40000"/>
                </a:schemeClr>
              </a:gs>
              <a:gs pos="100000">
                <a:schemeClr val="accent6">
                  <a:lumMod val="75000"/>
                </a:schemeClr>
              </a:gs>
            </a:gsLst>
          </a:gradFill>
          <a:ln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ex)</a:t>
            </a:r>
          </a:p>
          <a:p>
            <a:pPr algn="ctr"/>
            <a:r>
              <a:rPr lang="en-US" altLang="ko-KR" sz="1000" dirty="0" err="1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self.data</a:t>
            </a:r>
            <a:r>
              <a:rPr lang="en-US" altLang="ko-KR" sz="10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= </a:t>
            </a:r>
            <a:r>
              <a:rPr lang="en-US" altLang="ko-KR" sz="1000" dirty="0" err="1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self.train</a:t>
            </a:r>
            <a:endParaRPr lang="en-US" altLang="ko-KR" sz="100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cxnSp>
        <p:nvCxnSpPr>
          <p:cNvPr id="33" name="직선 화살표 연결선 32"/>
          <p:cNvCxnSpPr>
            <a:stCxn id="28" idx="2"/>
            <a:endCxn id="32" idx="0"/>
          </p:cNvCxnSpPr>
          <p:nvPr/>
        </p:nvCxnSpPr>
        <p:spPr>
          <a:xfrm>
            <a:off x="5692377" y="3326089"/>
            <a:ext cx="0" cy="37083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Rectangle 3"/>
          <p:cNvSpPr>
            <a:spLocks noChangeArrowheads="1"/>
          </p:cNvSpPr>
          <p:nvPr/>
        </p:nvSpPr>
        <p:spPr bwMode="auto">
          <a:xfrm>
            <a:off x="6946203" y="3748984"/>
            <a:ext cx="2886056" cy="4001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defTabSz="914400" eaLnBrk="0" fontAlgn="base" latinLnBrk="0" hangingPunct="0">
              <a:spcBef>
                <a:spcPct val="0"/>
              </a:spcBef>
              <a:spcAft>
                <a:spcPct val="0"/>
              </a:spcAft>
            </a:pPr>
            <a:r>
              <a:rPr lang="en-US" altLang="ko-KR" sz="10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train</a:t>
            </a:r>
            <a:r>
              <a:rPr lang="ko-KR" altLang="en-US" sz="10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이면 </a:t>
            </a:r>
            <a:r>
              <a:rPr lang="en-US" altLang="ko-KR" sz="1000" dirty="0" err="1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self.data</a:t>
            </a:r>
            <a:r>
              <a:rPr lang="ko-KR" altLang="en-US" sz="10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에 해당 모드를 추가한다</a:t>
            </a:r>
            <a:r>
              <a:rPr lang="en-US" altLang="ko-KR" sz="10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.</a:t>
            </a:r>
          </a:p>
          <a:p>
            <a:pPr lvl="0" defTabSz="914400" eaLnBrk="0" fontAlgn="base" latinLnBrk="0" hangingPunct="0">
              <a:spcBef>
                <a:spcPct val="0"/>
              </a:spcBef>
              <a:spcAft>
                <a:spcPct val="0"/>
              </a:spcAft>
            </a:pPr>
            <a:r>
              <a:rPr lang="en-US" altLang="ko-KR" sz="10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query</a:t>
            </a:r>
            <a:r>
              <a:rPr lang="ko-KR" altLang="en-US" sz="10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이면 </a:t>
            </a:r>
            <a:r>
              <a:rPr lang="en-US" altLang="ko-KR" sz="10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query, gallery</a:t>
            </a:r>
            <a:r>
              <a:rPr lang="ko-KR" altLang="en-US" sz="10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이면 </a:t>
            </a:r>
            <a:r>
              <a:rPr lang="en-US" altLang="ko-KR" sz="10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gallery </a:t>
            </a:r>
            <a:r>
              <a:rPr lang="ko-KR" altLang="en-US" sz="10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가 된다</a:t>
            </a:r>
            <a:r>
              <a:rPr lang="en-US" altLang="ko-KR" sz="10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.</a:t>
            </a:r>
            <a:endParaRPr lang="ko-KR" altLang="ko-KR" sz="100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327981052"/>
      </p:ext>
    </p:extLst>
  </p:cSld>
  <p:clrMapOvr>
    <a:masterClrMapping/>
  </p:clrMapOvr>
  <p:transition spd="slow">
    <p:wipe/>
  </p:transition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545540" y="314530"/>
            <a:ext cx="2509243" cy="468990"/>
          </a:xfrm>
          <a:prstGeom prst="rect">
            <a:avLst/>
          </a:prstGeom>
          <a:noFill/>
        </p:spPr>
        <p:txBody>
          <a:bodyPr wrap="none" lIns="98694" tIns="49347" rIns="98694" bIns="49347">
            <a:spAutoFit/>
          </a:bodyPr>
          <a:lstStyle/>
          <a:p>
            <a:pPr algn="ctr">
              <a:spcBef>
                <a:spcPts val="648"/>
              </a:spcBef>
            </a:pPr>
            <a:r>
              <a:rPr lang="en-US" altLang="ko-KR" sz="2400" b="1" dirty="0" smtClean="0">
                <a:solidFill>
                  <a:srgbClr val="0E0585"/>
                </a:solidFill>
              </a:rPr>
              <a:t>class </a:t>
            </a:r>
            <a:r>
              <a:rPr lang="en-US" altLang="ko-KR" sz="2400" b="1" dirty="0" err="1" smtClean="0">
                <a:solidFill>
                  <a:srgbClr val="0E0585"/>
                </a:solidFill>
              </a:rPr>
              <a:t>OSNet</a:t>
            </a:r>
            <a:r>
              <a:rPr lang="en-US" altLang="ko-KR" sz="2400" b="1" dirty="0" smtClean="0">
                <a:solidFill>
                  <a:srgbClr val="0E0585"/>
                </a:solidFill>
              </a:rPr>
              <a:t> </a:t>
            </a:r>
            <a:r>
              <a:rPr lang="en-US" altLang="ko-KR" sz="2400" b="1" dirty="0" err="1" smtClean="0">
                <a:solidFill>
                  <a:srgbClr val="0E0585"/>
                </a:solidFill>
              </a:rPr>
              <a:t>cnt</a:t>
            </a:r>
            <a:endParaRPr lang="en-US" altLang="ko-KR" sz="2400" b="1" dirty="0">
              <a:solidFill>
                <a:srgbClr val="0E0585"/>
              </a:solidFill>
            </a:endParaRPr>
          </a:p>
        </p:txBody>
      </p:sp>
      <p:sp>
        <p:nvSpPr>
          <p:cNvPr id="3" name="직사각형 2"/>
          <p:cNvSpPr/>
          <p:nvPr/>
        </p:nvSpPr>
        <p:spPr>
          <a:xfrm>
            <a:off x="634435" y="1130950"/>
            <a:ext cx="1975910" cy="367276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__</a:t>
            </a:r>
            <a:r>
              <a:rPr lang="en-US" altLang="ko-KR" sz="1400" dirty="0" err="1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init</a:t>
            </a:r>
            <a:r>
              <a:rPr lang="en-US" altLang="ko-KR" sz="14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__</a:t>
            </a:r>
            <a:endParaRPr lang="en-US" altLang="ko-KR" sz="140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sp>
        <p:nvSpPr>
          <p:cNvPr id="4" name="직사각형 3"/>
          <p:cNvSpPr/>
          <p:nvPr/>
        </p:nvSpPr>
        <p:spPr>
          <a:xfrm>
            <a:off x="2220306" y="1643606"/>
            <a:ext cx="3791515" cy="367276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self.conv1 = </a:t>
            </a:r>
            <a:r>
              <a:rPr lang="en-US" altLang="ko-KR" sz="105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ConvLayer</a:t>
            </a:r>
            <a:r>
              <a:rPr lang="en-US" altLang="ko-KR" sz="105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(3, channels[0], 7, stride=2, padding=3, IN=IN)</a:t>
            </a:r>
          </a:p>
        </p:txBody>
      </p:sp>
      <p:cxnSp>
        <p:nvCxnSpPr>
          <p:cNvPr id="5" name="꺾인 연결선 4"/>
          <p:cNvCxnSpPr>
            <a:stCxn id="3" idx="2"/>
            <a:endCxn id="4" idx="1"/>
          </p:cNvCxnSpPr>
          <p:nvPr/>
        </p:nvCxnSpPr>
        <p:spPr>
          <a:xfrm rot="16200000" flipH="1">
            <a:off x="1756839" y="1363777"/>
            <a:ext cx="329018" cy="597916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직사각형 11"/>
          <p:cNvSpPr/>
          <p:nvPr/>
        </p:nvSpPr>
        <p:spPr>
          <a:xfrm>
            <a:off x="7035235" y="1661399"/>
            <a:ext cx="1975910" cy="367276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Conv2d</a:t>
            </a:r>
            <a:endParaRPr lang="en-US" altLang="ko-KR" sz="140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sp>
        <p:nvSpPr>
          <p:cNvPr id="13" name="직사각형 12"/>
          <p:cNvSpPr/>
          <p:nvPr/>
        </p:nvSpPr>
        <p:spPr>
          <a:xfrm>
            <a:off x="8907215" y="3014835"/>
            <a:ext cx="1370260" cy="367276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BatchNorm2d</a:t>
            </a:r>
            <a:endParaRPr lang="en-US" altLang="ko-KR" sz="120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sp>
        <p:nvSpPr>
          <p:cNvPr id="14" name="직사각형 13"/>
          <p:cNvSpPr/>
          <p:nvPr/>
        </p:nvSpPr>
        <p:spPr>
          <a:xfrm>
            <a:off x="7300948" y="3632438"/>
            <a:ext cx="1444484" cy="367276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 dirty="0" err="1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ReLU</a:t>
            </a:r>
            <a:endParaRPr lang="en-US" altLang="ko-KR" sz="140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cxnSp>
        <p:nvCxnSpPr>
          <p:cNvPr id="15" name="직선 화살표 연결선 14"/>
          <p:cNvCxnSpPr>
            <a:stCxn id="12" idx="2"/>
            <a:endCxn id="37" idx="0"/>
          </p:cNvCxnSpPr>
          <p:nvPr/>
        </p:nvCxnSpPr>
        <p:spPr>
          <a:xfrm>
            <a:off x="8023190" y="2028675"/>
            <a:ext cx="0" cy="22410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9" name="표 18"/>
          <p:cNvGraphicFramePr>
            <a:graphicFrameLocks noGrp="1"/>
          </p:cNvGraphicFramePr>
          <p:nvPr>
            <p:extLst/>
          </p:nvPr>
        </p:nvGraphicFramePr>
        <p:xfrm>
          <a:off x="6978721" y="1182049"/>
          <a:ext cx="3459198" cy="2993964"/>
        </p:xfrm>
        <a:graphic>
          <a:graphicData uri="http://schemas.openxmlformats.org/drawingml/2006/table">
            <a:tbl>
              <a:tblPr firstRow="1" bandRow="1">
                <a:tableStyleId>{5A111915-BE36-4E01-A7E5-04B1672EAD32}</a:tableStyleId>
              </a:tblPr>
              <a:tblGrid>
                <a:gridCol w="3459198">
                  <a:extLst>
                    <a:ext uri="{9D8B030D-6E8A-4147-A177-3AD203B41FA5}">
                      <a16:colId xmlns:a16="http://schemas.microsoft.com/office/drawing/2014/main" val="2590600746"/>
                    </a:ext>
                  </a:extLst>
                </a:gridCol>
              </a:tblGrid>
              <a:tr h="400344"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kern="1200" dirty="0" err="1" smtClean="0">
                          <a:effectLst/>
                        </a:rPr>
                        <a:t>ConvLayer</a:t>
                      </a:r>
                      <a:endParaRPr lang="en-US" altLang="ko-KR" sz="1200" b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6890123"/>
                  </a:ext>
                </a:extLst>
              </a:tr>
              <a:tr h="2593620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27178603"/>
                  </a:ext>
                </a:extLst>
              </a:tr>
            </a:tbl>
          </a:graphicData>
        </a:graphic>
      </p:graphicFrame>
      <p:cxnSp>
        <p:nvCxnSpPr>
          <p:cNvPr id="20" name="구부러진 연결선 19"/>
          <p:cNvCxnSpPr>
            <a:stCxn id="19" idx="1"/>
            <a:endCxn id="4" idx="3"/>
          </p:cNvCxnSpPr>
          <p:nvPr/>
        </p:nvCxnSpPr>
        <p:spPr>
          <a:xfrm rot="10800000">
            <a:off x="6011821" y="1827245"/>
            <a:ext cx="966900" cy="851787"/>
          </a:xfrm>
          <a:prstGeom prst="curvedConnector3">
            <a:avLst>
              <a:gd name="adj1" fmla="val 50000"/>
            </a:avLst>
          </a:prstGeom>
          <a:ln>
            <a:solidFill>
              <a:srgbClr val="C00000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직사각형 22"/>
          <p:cNvSpPr/>
          <p:nvPr/>
        </p:nvSpPr>
        <p:spPr>
          <a:xfrm>
            <a:off x="2220306" y="2232799"/>
            <a:ext cx="3791515" cy="367276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self.maxpool</a:t>
            </a:r>
            <a:r>
              <a:rPr lang="en-US" altLang="ko-KR" sz="105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= nn.MaxPool2d(3, stride=2, padding=1)</a:t>
            </a:r>
          </a:p>
        </p:txBody>
      </p:sp>
      <p:cxnSp>
        <p:nvCxnSpPr>
          <p:cNvPr id="24" name="직선 화살표 연결선 23"/>
          <p:cNvCxnSpPr>
            <a:stCxn id="4" idx="2"/>
            <a:endCxn id="23" idx="0"/>
          </p:cNvCxnSpPr>
          <p:nvPr/>
        </p:nvCxnSpPr>
        <p:spPr>
          <a:xfrm>
            <a:off x="4116064" y="2010882"/>
            <a:ext cx="0" cy="22191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직사각형 26"/>
          <p:cNvSpPr/>
          <p:nvPr/>
        </p:nvSpPr>
        <p:spPr>
          <a:xfrm>
            <a:off x="6920511" y="4364706"/>
            <a:ext cx="3649841" cy="93871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100" dirty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nn.InstanceNorm2d</a:t>
            </a:r>
            <a:r>
              <a:rPr lang="ko-KR" altLang="en-US" sz="1100" dirty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는 이미지의 각 채널을 독립적으로 </a:t>
            </a:r>
            <a:r>
              <a:rPr lang="ko-KR" altLang="en-US" sz="1100" dirty="0" err="1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정규화하여</a:t>
            </a:r>
            <a:r>
              <a:rPr lang="en-US" altLang="ko-KR" sz="1100" dirty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, </a:t>
            </a:r>
            <a:r>
              <a:rPr lang="ko-KR" altLang="en-US" sz="1100" dirty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스타일 정보를 효과적으로 제어하고 배치 크기에 의존하지 않는 학습을 가능하게 합니다</a:t>
            </a:r>
            <a:r>
              <a:rPr lang="en-US" altLang="ko-KR" sz="1100" dirty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. </a:t>
            </a:r>
            <a:r>
              <a:rPr lang="ko-KR" altLang="en-US" sz="1100" dirty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이는 이미지 생성</a:t>
            </a:r>
            <a:r>
              <a:rPr lang="en-US" altLang="ko-KR" sz="1100" dirty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, </a:t>
            </a:r>
            <a:r>
              <a:rPr lang="ko-KR" altLang="en-US" sz="1100" dirty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스타일 전이 등 다양한 컴퓨터 비전 작업에서 중요한 역할을 합니다</a:t>
            </a:r>
            <a:r>
              <a:rPr lang="en-US" altLang="ko-KR" sz="1100" dirty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. </a:t>
            </a:r>
          </a:p>
        </p:txBody>
      </p:sp>
      <p:sp>
        <p:nvSpPr>
          <p:cNvPr id="29" name="직사각형 28"/>
          <p:cNvSpPr/>
          <p:nvPr/>
        </p:nvSpPr>
        <p:spPr>
          <a:xfrm>
            <a:off x="6920510" y="5239358"/>
            <a:ext cx="3649841" cy="76944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100" dirty="0">
                <a:solidFill>
                  <a:srgbClr val="0070C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nn.BatchNorm2d</a:t>
            </a:r>
            <a:r>
              <a:rPr lang="ko-KR" altLang="en-US" sz="1100" dirty="0">
                <a:solidFill>
                  <a:srgbClr val="0070C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는 주어진 배치</a:t>
            </a:r>
            <a:r>
              <a:rPr lang="en-US" altLang="ko-KR" sz="1100" dirty="0">
                <a:solidFill>
                  <a:srgbClr val="0070C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(batch) </a:t>
            </a:r>
            <a:r>
              <a:rPr lang="ko-KR" altLang="en-US" sz="1100" dirty="0">
                <a:solidFill>
                  <a:srgbClr val="0070C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내에서 동일한 채널에 대해 정규화를 수행합니다</a:t>
            </a:r>
            <a:r>
              <a:rPr lang="en-US" altLang="ko-KR" sz="1100" dirty="0">
                <a:solidFill>
                  <a:srgbClr val="0070C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. </a:t>
            </a:r>
            <a:r>
              <a:rPr lang="ko-KR" altLang="en-US" sz="1100" dirty="0">
                <a:solidFill>
                  <a:srgbClr val="0070C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즉</a:t>
            </a:r>
            <a:r>
              <a:rPr lang="en-US" altLang="ko-KR" sz="1100" dirty="0">
                <a:solidFill>
                  <a:srgbClr val="0070C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, </a:t>
            </a:r>
            <a:r>
              <a:rPr lang="ko-KR" altLang="en-US" sz="1100" dirty="0">
                <a:solidFill>
                  <a:srgbClr val="0070C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배치에 속한 모든 이미지를 사용하여 각 채널의 평균과 분산을 계산하고</a:t>
            </a:r>
            <a:r>
              <a:rPr lang="en-US" altLang="ko-KR" sz="1100" dirty="0">
                <a:solidFill>
                  <a:srgbClr val="0070C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, </a:t>
            </a:r>
            <a:r>
              <a:rPr lang="ko-KR" altLang="en-US" sz="1100" dirty="0">
                <a:solidFill>
                  <a:srgbClr val="0070C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이를 이용해 </a:t>
            </a:r>
            <a:r>
              <a:rPr lang="ko-KR" altLang="en-US" sz="1100" dirty="0" err="1">
                <a:solidFill>
                  <a:srgbClr val="0070C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정규화합니다</a:t>
            </a:r>
            <a:r>
              <a:rPr lang="en-US" altLang="ko-KR" sz="1100" dirty="0">
                <a:solidFill>
                  <a:srgbClr val="0070C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.</a:t>
            </a:r>
          </a:p>
        </p:txBody>
      </p:sp>
      <p:sp>
        <p:nvSpPr>
          <p:cNvPr id="37" name="순서도: 판단 36"/>
          <p:cNvSpPr/>
          <p:nvPr/>
        </p:nvSpPr>
        <p:spPr>
          <a:xfrm>
            <a:off x="7160895" y="2252777"/>
            <a:ext cx="1724590" cy="537956"/>
          </a:xfrm>
          <a:prstGeom prst="flowChartDecision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1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IN == True</a:t>
            </a:r>
            <a:endParaRPr lang="ko-KR" altLang="en-US" sz="110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cxnSp>
        <p:nvCxnSpPr>
          <p:cNvPr id="44" name="꺾인 연결선 43"/>
          <p:cNvCxnSpPr>
            <a:stCxn id="13" idx="2"/>
            <a:endCxn id="14" idx="3"/>
          </p:cNvCxnSpPr>
          <p:nvPr/>
        </p:nvCxnSpPr>
        <p:spPr>
          <a:xfrm rot="5400000">
            <a:off x="8951907" y="3175637"/>
            <a:ext cx="433965" cy="846913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직사각형 47"/>
          <p:cNvSpPr/>
          <p:nvPr/>
        </p:nvSpPr>
        <p:spPr>
          <a:xfrm>
            <a:off x="7338060" y="3014835"/>
            <a:ext cx="1370260" cy="367276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InstanceNorm2d</a:t>
            </a:r>
          </a:p>
        </p:txBody>
      </p:sp>
      <p:cxnSp>
        <p:nvCxnSpPr>
          <p:cNvPr id="50" name="직선 화살표 연결선 49"/>
          <p:cNvCxnSpPr>
            <a:stCxn id="37" idx="2"/>
            <a:endCxn id="48" idx="0"/>
          </p:cNvCxnSpPr>
          <p:nvPr/>
        </p:nvCxnSpPr>
        <p:spPr>
          <a:xfrm>
            <a:off x="8023190" y="2790733"/>
            <a:ext cx="0" cy="22410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꺾인 연결선 52"/>
          <p:cNvCxnSpPr>
            <a:stCxn id="37" idx="3"/>
            <a:endCxn id="13" idx="0"/>
          </p:cNvCxnSpPr>
          <p:nvPr/>
        </p:nvCxnSpPr>
        <p:spPr>
          <a:xfrm>
            <a:off x="8885485" y="2521755"/>
            <a:ext cx="706860" cy="493080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직선 화살표 연결선 56"/>
          <p:cNvCxnSpPr>
            <a:stCxn id="48" idx="2"/>
            <a:endCxn id="14" idx="0"/>
          </p:cNvCxnSpPr>
          <p:nvPr/>
        </p:nvCxnSpPr>
        <p:spPr>
          <a:xfrm>
            <a:off x="8023190" y="3382111"/>
            <a:ext cx="0" cy="25032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직사각형 81"/>
          <p:cNvSpPr/>
          <p:nvPr/>
        </p:nvSpPr>
        <p:spPr>
          <a:xfrm>
            <a:off x="3220678" y="447780"/>
            <a:ext cx="2570849" cy="13388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900" dirty="0"/>
              <a:t>model = </a:t>
            </a:r>
            <a:r>
              <a:rPr lang="en-US" altLang="ko-KR" sz="900" dirty="0" err="1"/>
              <a:t>OSNet</a:t>
            </a:r>
            <a:r>
              <a:rPr lang="en-US" altLang="ko-KR" sz="900" dirty="0"/>
              <a:t>(</a:t>
            </a:r>
          </a:p>
          <a:p>
            <a:r>
              <a:rPr lang="en-US" altLang="ko-KR" sz="900" dirty="0"/>
              <a:t>        </a:t>
            </a:r>
            <a:r>
              <a:rPr lang="en-US" altLang="ko-KR" sz="900" dirty="0" err="1"/>
              <a:t>num_classes</a:t>
            </a:r>
            <a:r>
              <a:rPr lang="en-US" altLang="ko-KR" sz="900" dirty="0"/>
              <a:t>,</a:t>
            </a:r>
          </a:p>
          <a:p>
            <a:r>
              <a:rPr lang="en-US" altLang="ko-KR" sz="900" dirty="0"/>
              <a:t>        blocks=[</a:t>
            </a:r>
            <a:r>
              <a:rPr lang="en-US" altLang="ko-KR" sz="900" dirty="0" err="1"/>
              <a:t>OSBlock</a:t>
            </a:r>
            <a:r>
              <a:rPr lang="en-US" altLang="ko-KR" sz="900" dirty="0"/>
              <a:t>, </a:t>
            </a:r>
            <a:r>
              <a:rPr lang="en-US" altLang="ko-KR" sz="900" dirty="0" err="1"/>
              <a:t>OSBlock</a:t>
            </a:r>
            <a:r>
              <a:rPr lang="en-US" altLang="ko-KR" sz="900" dirty="0"/>
              <a:t>, </a:t>
            </a:r>
            <a:r>
              <a:rPr lang="en-US" altLang="ko-KR" sz="900" dirty="0" err="1"/>
              <a:t>OSBlock</a:t>
            </a:r>
            <a:r>
              <a:rPr lang="en-US" altLang="ko-KR" sz="900" dirty="0"/>
              <a:t>],</a:t>
            </a:r>
          </a:p>
          <a:p>
            <a:r>
              <a:rPr lang="en-US" altLang="ko-KR" sz="900" dirty="0"/>
              <a:t>        layers=[2, 2, 2],</a:t>
            </a:r>
          </a:p>
          <a:p>
            <a:r>
              <a:rPr lang="en-US" altLang="ko-KR" sz="900" dirty="0"/>
              <a:t>        channels=[64, 256, 384, 512],</a:t>
            </a:r>
          </a:p>
          <a:p>
            <a:r>
              <a:rPr lang="en-US" altLang="ko-KR" sz="900" dirty="0"/>
              <a:t>        loss=loss,</a:t>
            </a:r>
          </a:p>
          <a:p>
            <a:r>
              <a:rPr lang="en-US" altLang="ko-KR" sz="900" dirty="0"/>
              <a:t>        IN=True,</a:t>
            </a:r>
          </a:p>
          <a:p>
            <a:r>
              <a:rPr lang="en-US" altLang="ko-KR" sz="900" dirty="0"/>
              <a:t>        **</a:t>
            </a:r>
            <a:r>
              <a:rPr lang="en-US" altLang="ko-KR" sz="900" dirty="0" err="1"/>
              <a:t>kwargs</a:t>
            </a:r>
            <a:endParaRPr lang="en-US" altLang="ko-KR" sz="900" dirty="0"/>
          </a:p>
          <a:p>
            <a:r>
              <a:rPr lang="en-US" altLang="ko-KR" sz="900" dirty="0"/>
              <a:t>    )</a:t>
            </a:r>
            <a:endParaRPr lang="ko-KR" altLang="en-US" sz="900" dirty="0"/>
          </a:p>
        </p:txBody>
      </p:sp>
      <p:cxnSp>
        <p:nvCxnSpPr>
          <p:cNvPr id="83" name="구부러진 연결선 82"/>
          <p:cNvCxnSpPr>
            <a:endCxn id="4" idx="0"/>
          </p:cNvCxnSpPr>
          <p:nvPr/>
        </p:nvCxnSpPr>
        <p:spPr>
          <a:xfrm rot="5400000">
            <a:off x="3840024" y="1190399"/>
            <a:ext cx="729247" cy="177166"/>
          </a:xfrm>
          <a:prstGeom prst="curvedConnector3">
            <a:avLst>
              <a:gd name="adj1" fmla="val 50000"/>
            </a:avLst>
          </a:prstGeom>
          <a:ln>
            <a:solidFill>
              <a:srgbClr val="C00000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직사각형 85"/>
          <p:cNvSpPr/>
          <p:nvPr/>
        </p:nvSpPr>
        <p:spPr>
          <a:xfrm>
            <a:off x="1338523" y="1991036"/>
            <a:ext cx="1189421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100" dirty="0" err="1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ch</a:t>
            </a:r>
            <a:r>
              <a:rPr lang="en-US" altLang="ko-KR" sz="1100" dirty="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: 3-&gt; 64</a:t>
            </a:r>
            <a:endParaRPr lang="en-US" altLang="ko-KR" sz="1100" dirty="0">
              <a:solidFill>
                <a:srgbClr val="C00000"/>
              </a:solidFill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sp>
        <p:nvSpPr>
          <p:cNvPr id="87" name="직사각형 86"/>
          <p:cNvSpPr/>
          <p:nvPr/>
        </p:nvSpPr>
        <p:spPr>
          <a:xfrm>
            <a:off x="2220303" y="2775799"/>
            <a:ext cx="3791515" cy="1444456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self.conv2 = self</a:t>
            </a:r>
            <a:r>
              <a:rPr lang="en-US" altLang="ko-KR" sz="1050" dirty="0">
                <a:latin typeface="경기천년바탕 Regular" panose="02020503020101020101" pitchFamily="18" charset="-127"/>
                <a:ea typeface="경기천년바탕 Regular" panose="02020503020101020101" pitchFamily="18" charset="-127"/>
                <a:hlinkClick r:id="rId2" action="ppaction://hlinksldjump"/>
              </a:rPr>
              <a:t>._</a:t>
            </a:r>
            <a:r>
              <a:rPr lang="en-US" altLang="ko-KR" sz="105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  <a:hlinkClick r:id="rId2" action="ppaction://hlinksldjump"/>
              </a:rPr>
              <a:t>make_layer</a:t>
            </a:r>
            <a:r>
              <a:rPr lang="en-US" altLang="ko-KR" sz="105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(</a:t>
            </a:r>
          </a:p>
          <a:p>
            <a:pPr algn="ctr"/>
            <a:r>
              <a:rPr lang="en-US" altLang="ko-KR" sz="105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           blocks[0],</a:t>
            </a:r>
          </a:p>
          <a:p>
            <a:pPr algn="ctr"/>
            <a:r>
              <a:rPr lang="en-US" altLang="ko-KR" sz="105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           layers[0],</a:t>
            </a:r>
          </a:p>
          <a:p>
            <a:pPr algn="ctr"/>
            <a:r>
              <a:rPr lang="en-US" altLang="ko-KR" sz="105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           channels[0],</a:t>
            </a:r>
          </a:p>
          <a:p>
            <a:pPr algn="ctr"/>
            <a:r>
              <a:rPr lang="en-US" altLang="ko-KR" sz="105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           channels[1],</a:t>
            </a:r>
          </a:p>
          <a:p>
            <a:pPr algn="ctr"/>
            <a:r>
              <a:rPr lang="en-US" altLang="ko-KR" sz="105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           </a:t>
            </a:r>
            <a:r>
              <a:rPr lang="en-US" altLang="ko-KR" sz="105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reduce_spatial_size</a:t>
            </a:r>
            <a:r>
              <a:rPr lang="en-US" altLang="ko-KR" sz="105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=True,</a:t>
            </a:r>
          </a:p>
          <a:p>
            <a:pPr algn="ctr"/>
            <a:r>
              <a:rPr lang="en-US" altLang="ko-KR" sz="105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           IN=IN</a:t>
            </a:r>
          </a:p>
          <a:p>
            <a:pPr algn="ctr"/>
            <a:r>
              <a:rPr lang="en-US" altLang="ko-KR" sz="105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       )</a:t>
            </a:r>
          </a:p>
        </p:txBody>
      </p:sp>
      <p:cxnSp>
        <p:nvCxnSpPr>
          <p:cNvPr id="88" name="직선 화살표 연결선 87"/>
          <p:cNvCxnSpPr>
            <a:stCxn id="23" idx="2"/>
            <a:endCxn id="87" idx="0"/>
          </p:cNvCxnSpPr>
          <p:nvPr/>
        </p:nvCxnSpPr>
        <p:spPr>
          <a:xfrm flipH="1">
            <a:off x="4116061" y="2600075"/>
            <a:ext cx="3" cy="17572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4" name="직사각형 93"/>
          <p:cNvSpPr/>
          <p:nvPr/>
        </p:nvSpPr>
        <p:spPr>
          <a:xfrm>
            <a:off x="2220303" y="4395979"/>
            <a:ext cx="3791515" cy="1444456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self.conv3 = self._</a:t>
            </a:r>
            <a:r>
              <a:rPr lang="en-US" altLang="ko-KR" sz="105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make_layer</a:t>
            </a:r>
            <a:r>
              <a:rPr lang="en-US" altLang="ko-KR" sz="105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(</a:t>
            </a:r>
          </a:p>
          <a:p>
            <a:pPr algn="ctr"/>
            <a:r>
              <a:rPr lang="en-US" altLang="ko-KR" sz="105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           blocks[1],</a:t>
            </a:r>
          </a:p>
          <a:p>
            <a:pPr algn="ctr"/>
            <a:r>
              <a:rPr lang="en-US" altLang="ko-KR" sz="105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           layers[1],</a:t>
            </a:r>
          </a:p>
          <a:p>
            <a:pPr algn="ctr"/>
            <a:r>
              <a:rPr lang="en-US" altLang="ko-KR" sz="105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           channels[1],</a:t>
            </a:r>
          </a:p>
          <a:p>
            <a:pPr algn="ctr"/>
            <a:r>
              <a:rPr lang="en-US" altLang="ko-KR" sz="105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           channels[2],</a:t>
            </a:r>
          </a:p>
          <a:p>
            <a:pPr algn="ctr"/>
            <a:r>
              <a:rPr lang="en-US" altLang="ko-KR" sz="105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           </a:t>
            </a:r>
            <a:r>
              <a:rPr lang="en-US" altLang="ko-KR" sz="105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reduce_spatial_size</a:t>
            </a:r>
            <a:r>
              <a:rPr lang="en-US" altLang="ko-KR" sz="105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=True</a:t>
            </a:r>
          </a:p>
          <a:p>
            <a:pPr algn="ctr"/>
            <a:r>
              <a:rPr lang="en-US" altLang="ko-KR" sz="105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       )</a:t>
            </a:r>
          </a:p>
        </p:txBody>
      </p:sp>
      <p:cxnSp>
        <p:nvCxnSpPr>
          <p:cNvPr id="95" name="직선 화살표 연결선 94"/>
          <p:cNvCxnSpPr>
            <a:stCxn id="87" idx="2"/>
            <a:endCxn id="94" idx="0"/>
          </p:cNvCxnSpPr>
          <p:nvPr/>
        </p:nvCxnSpPr>
        <p:spPr>
          <a:xfrm>
            <a:off x="4116061" y="4220255"/>
            <a:ext cx="0" cy="17572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2" name="직사각형 101"/>
          <p:cNvSpPr/>
          <p:nvPr/>
        </p:nvSpPr>
        <p:spPr>
          <a:xfrm>
            <a:off x="2220303" y="6008799"/>
            <a:ext cx="3791515" cy="1444456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self.conv4 = self._</a:t>
            </a:r>
            <a:r>
              <a:rPr lang="en-US" altLang="ko-KR" sz="105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make_layer</a:t>
            </a:r>
            <a:r>
              <a:rPr lang="en-US" altLang="ko-KR" sz="105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(</a:t>
            </a:r>
          </a:p>
          <a:p>
            <a:pPr algn="ctr"/>
            <a:r>
              <a:rPr lang="en-US" altLang="ko-KR" sz="105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           blocks[2],</a:t>
            </a:r>
          </a:p>
          <a:p>
            <a:pPr algn="ctr"/>
            <a:r>
              <a:rPr lang="en-US" altLang="ko-KR" sz="105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           layers[2],</a:t>
            </a:r>
          </a:p>
          <a:p>
            <a:pPr algn="ctr"/>
            <a:r>
              <a:rPr lang="en-US" altLang="ko-KR" sz="105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           channels[2],</a:t>
            </a:r>
          </a:p>
          <a:p>
            <a:pPr algn="ctr"/>
            <a:r>
              <a:rPr lang="en-US" altLang="ko-KR" sz="105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           channels[3],</a:t>
            </a:r>
          </a:p>
          <a:p>
            <a:pPr algn="ctr"/>
            <a:r>
              <a:rPr lang="en-US" altLang="ko-KR" sz="105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           </a:t>
            </a:r>
            <a:r>
              <a:rPr lang="en-US" altLang="ko-KR" sz="105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reduce_spatial_size</a:t>
            </a:r>
            <a:r>
              <a:rPr lang="en-US" altLang="ko-KR" sz="105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=False</a:t>
            </a:r>
          </a:p>
          <a:p>
            <a:pPr algn="ctr"/>
            <a:r>
              <a:rPr lang="en-US" altLang="ko-KR" sz="105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       )</a:t>
            </a:r>
          </a:p>
        </p:txBody>
      </p:sp>
      <p:cxnSp>
        <p:nvCxnSpPr>
          <p:cNvPr id="103" name="직선 화살표 연결선 102"/>
          <p:cNvCxnSpPr>
            <a:stCxn id="94" idx="2"/>
            <a:endCxn id="102" idx="0"/>
          </p:cNvCxnSpPr>
          <p:nvPr/>
        </p:nvCxnSpPr>
        <p:spPr>
          <a:xfrm>
            <a:off x="4116061" y="5840435"/>
            <a:ext cx="0" cy="16836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6" name="직사각형 115"/>
          <p:cNvSpPr/>
          <p:nvPr/>
        </p:nvSpPr>
        <p:spPr>
          <a:xfrm>
            <a:off x="303178" y="2530791"/>
            <a:ext cx="1938493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100" dirty="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W, H</a:t>
            </a:r>
            <a:r>
              <a:rPr lang="ko-KR" altLang="en-US" sz="1100" dirty="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가 절반 정도 줄어 </a:t>
            </a:r>
            <a:r>
              <a:rPr lang="ko-KR" altLang="en-US" sz="1100" dirty="0" err="1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듬</a:t>
            </a:r>
            <a:endParaRPr lang="en-US" altLang="ko-KR" sz="1100" dirty="0" smtClean="0">
              <a:solidFill>
                <a:srgbClr val="C00000"/>
              </a:solidFill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sp>
        <p:nvSpPr>
          <p:cNvPr id="117" name="직사각형 116"/>
          <p:cNvSpPr/>
          <p:nvPr/>
        </p:nvSpPr>
        <p:spPr>
          <a:xfrm>
            <a:off x="658689" y="2902784"/>
            <a:ext cx="1189421" cy="93871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100" dirty="0" err="1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ch</a:t>
            </a:r>
            <a:r>
              <a:rPr lang="en-US" altLang="ko-KR" sz="1100" dirty="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: 64-&gt; 256</a:t>
            </a:r>
          </a:p>
          <a:p>
            <a:r>
              <a:rPr lang="en-US" altLang="ko-KR" sz="11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AvgPool1d</a:t>
            </a:r>
            <a:r>
              <a:rPr lang="ko-KR" altLang="en-US" sz="11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을 거치므로 </a:t>
            </a:r>
            <a:r>
              <a:rPr lang="en-US" altLang="ko-KR" sz="11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W,H</a:t>
            </a:r>
            <a:r>
              <a:rPr lang="ko-KR" altLang="en-US" sz="11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가 각각 </a:t>
            </a:r>
            <a:r>
              <a:rPr lang="en-US" altLang="ko-KR" sz="11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W/2, H/2</a:t>
            </a:r>
            <a:r>
              <a:rPr lang="ko-KR" altLang="en-US" sz="11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로 줄어든다</a:t>
            </a:r>
            <a:r>
              <a:rPr lang="en-US" altLang="ko-KR" sz="11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.</a:t>
            </a:r>
            <a:endParaRPr lang="en-US" altLang="ko-KR" sz="1100" dirty="0">
              <a:solidFill>
                <a:srgbClr val="C00000"/>
              </a:solidFill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sp>
        <p:nvSpPr>
          <p:cNvPr id="118" name="직사각형 117"/>
          <p:cNvSpPr/>
          <p:nvPr/>
        </p:nvSpPr>
        <p:spPr>
          <a:xfrm>
            <a:off x="634435" y="5092014"/>
            <a:ext cx="1189421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100" dirty="0" err="1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ch</a:t>
            </a:r>
            <a:r>
              <a:rPr lang="en-US" altLang="ko-KR" sz="1100" dirty="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: 256-&gt; 384</a:t>
            </a:r>
            <a:endParaRPr lang="en-US" altLang="ko-KR" sz="1100" dirty="0">
              <a:solidFill>
                <a:srgbClr val="C00000"/>
              </a:solidFill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sp>
        <p:nvSpPr>
          <p:cNvPr id="119" name="직사각형 118"/>
          <p:cNvSpPr/>
          <p:nvPr/>
        </p:nvSpPr>
        <p:spPr>
          <a:xfrm>
            <a:off x="669824" y="6545932"/>
            <a:ext cx="1189421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100" dirty="0" err="1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ch</a:t>
            </a:r>
            <a:r>
              <a:rPr lang="en-US" altLang="ko-KR" sz="1100" dirty="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: 384-&gt; 512</a:t>
            </a:r>
            <a:endParaRPr lang="en-US" altLang="ko-KR" sz="1100" dirty="0">
              <a:solidFill>
                <a:srgbClr val="C00000"/>
              </a:solidFill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725494931"/>
      </p:ext>
    </p:extLst>
  </p:cSld>
  <p:clrMapOvr>
    <a:masterClrMapping/>
  </p:clrMapOvr>
  <p:transition spd="slow">
    <p:wipe/>
  </p:transition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499053" y="314530"/>
            <a:ext cx="2602218" cy="468990"/>
          </a:xfrm>
          <a:prstGeom prst="rect">
            <a:avLst/>
          </a:prstGeom>
          <a:noFill/>
        </p:spPr>
        <p:txBody>
          <a:bodyPr wrap="none" lIns="98694" tIns="49347" rIns="98694" bIns="49347">
            <a:spAutoFit/>
          </a:bodyPr>
          <a:lstStyle/>
          <a:p>
            <a:pPr algn="ctr">
              <a:spcBef>
                <a:spcPts val="648"/>
              </a:spcBef>
            </a:pPr>
            <a:r>
              <a:rPr lang="en-US" altLang="ko-KR" sz="2400" b="1" dirty="0" smtClean="0">
                <a:solidFill>
                  <a:srgbClr val="0E0585"/>
                </a:solidFill>
              </a:rPr>
              <a:t>class </a:t>
            </a:r>
            <a:r>
              <a:rPr lang="en-US" altLang="ko-KR" sz="2400" b="1" dirty="0" err="1" smtClean="0">
                <a:solidFill>
                  <a:srgbClr val="0E0585"/>
                </a:solidFill>
              </a:rPr>
              <a:t>OSNet</a:t>
            </a:r>
            <a:r>
              <a:rPr lang="en-US" altLang="ko-KR" sz="2400" b="1" dirty="0" smtClean="0">
                <a:solidFill>
                  <a:srgbClr val="0E0585"/>
                </a:solidFill>
              </a:rPr>
              <a:t> end</a:t>
            </a:r>
            <a:endParaRPr lang="en-US" altLang="ko-KR" sz="2400" b="1" dirty="0">
              <a:solidFill>
                <a:srgbClr val="0E0585"/>
              </a:solidFill>
            </a:endParaRPr>
          </a:p>
        </p:txBody>
      </p:sp>
      <p:sp>
        <p:nvSpPr>
          <p:cNvPr id="35" name="직사각형 34"/>
          <p:cNvSpPr/>
          <p:nvPr/>
        </p:nvSpPr>
        <p:spPr>
          <a:xfrm>
            <a:off x="1987603" y="1470070"/>
            <a:ext cx="1568497" cy="367276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Conv1x1(channels[3], channels[3])</a:t>
            </a:r>
          </a:p>
        </p:txBody>
      </p:sp>
      <p:cxnSp>
        <p:nvCxnSpPr>
          <p:cNvPr id="36" name="직선 화살표 연결선 35"/>
          <p:cNvCxnSpPr>
            <a:endCxn id="35" idx="0"/>
          </p:cNvCxnSpPr>
          <p:nvPr/>
        </p:nvCxnSpPr>
        <p:spPr>
          <a:xfrm>
            <a:off x="2771852" y="1228099"/>
            <a:ext cx="0" cy="24197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순서도: 판단 41"/>
          <p:cNvSpPr/>
          <p:nvPr/>
        </p:nvSpPr>
        <p:spPr>
          <a:xfrm>
            <a:off x="1909557" y="2079317"/>
            <a:ext cx="1724590" cy="537956"/>
          </a:xfrm>
          <a:prstGeom prst="flowChartDecision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1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pool == ‘</a:t>
            </a:r>
            <a:r>
              <a:rPr lang="en-US" altLang="ko-KR" sz="1100" dirty="0" err="1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avg</a:t>
            </a:r>
            <a:r>
              <a:rPr lang="en-US" altLang="ko-KR" sz="11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’</a:t>
            </a:r>
            <a:endParaRPr lang="ko-KR" altLang="en-US" sz="110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cxnSp>
        <p:nvCxnSpPr>
          <p:cNvPr id="45" name="직선 화살표 연결선 44"/>
          <p:cNvCxnSpPr>
            <a:stCxn id="35" idx="2"/>
            <a:endCxn id="42" idx="0"/>
          </p:cNvCxnSpPr>
          <p:nvPr/>
        </p:nvCxnSpPr>
        <p:spPr>
          <a:xfrm>
            <a:off x="2771852" y="1837346"/>
            <a:ext cx="0" cy="24197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직사각형 48"/>
          <p:cNvSpPr/>
          <p:nvPr/>
        </p:nvSpPr>
        <p:spPr>
          <a:xfrm>
            <a:off x="4195734" y="2164657"/>
            <a:ext cx="1568497" cy="367276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nn.AdaptiveMaxPool2d(1)</a:t>
            </a:r>
          </a:p>
        </p:txBody>
      </p:sp>
      <p:cxnSp>
        <p:nvCxnSpPr>
          <p:cNvPr id="51" name="직선 화살표 연결선 50"/>
          <p:cNvCxnSpPr>
            <a:stCxn id="42" idx="3"/>
            <a:endCxn id="49" idx="1"/>
          </p:cNvCxnSpPr>
          <p:nvPr/>
        </p:nvCxnSpPr>
        <p:spPr>
          <a:xfrm>
            <a:off x="3634147" y="2348295"/>
            <a:ext cx="56158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직사각형 51"/>
          <p:cNvSpPr/>
          <p:nvPr/>
        </p:nvSpPr>
        <p:spPr>
          <a:xfrm>
            <a:off x="1985107" y="2871481"/>
            <a:ext cx="1568497" cy="367276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nn.AdaptiveAvgPool2d(1)</a:t>
            </a:r>
          </a:p>
        </p:txBody>
      </p:sp>
      <p:cxnSp>
        <p:nvCxnSpPr>
          <p:cNvPr id="54" name="직선 화살표 연결선 53"/>
          <p:cNvCxnSpPr>
            <a:stCxn id="42" idx="2"/>
            <a:endCxn id="52" idx="0"/>
          </p:cNvCxnSpPr>
          <p:nvPr/>
        </p:nvCxnSpPr>
        <p:spPr>
          <a:xfrm flipH="1">
            <a:off x="2769356" y="2617273"/>
            <a:ext cx="2496" cy="2542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직사각형 55"/>
          <p:cNvSpPr/>
          <p:nvPr/>
        </p:nvSpPr>
        <p:spPr>
          <a:xfrm>
            <a:off x="3568724" y="2010255"/>
            <a:ext cx="496570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smtClean="0"/>
              <a:t>NO</a:t>
            </a:r>
            <a:endParaRPr lang="ko-KR" altLang="en-US" sz="1000" dirty="0"/>
          </a:p>
        </p:txBody>
      </p:sp>
      <p:sp>
        <p:nvSpPr>
          <p:cNvPr id="58" name="직사각형 57"/>
          <p:cNvSpPr/>
          <p:nvPr/>
        </p:nvSpPr>
        <p:spPr>
          <a:xfrm>
            <a:off x="2914442" y="2563224"/>
            <a:ext cx="963415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smtClean="0"/>
              <a:t>YES (default)</a:t>
            </a:r>
            <a:endParaRPr lang="ko-KR" altLang="en-US" sz="1000" dirty="0"/>
          </a:p>
        </p:txBody>
      </p:sp>
      <p:sp>
        <p:nvSpPr>
          <p:cNvPr id="59" name="직사각형 58"/>
          <p:cNvSpPr/>
          <p:nvPr/>
        </p:nvSpPr>
        <p:spPr>
          <a:xfrm>
            <a:off x="1985106" y="3513342"/>
            <a:ext cx="1568497" cy="367276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nn.Linear</a:t>
            </a:r>
            <a:r>
              <a:rPr lang="en-US" altLang="ko-KR" sz="105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(</a:t>
            </a:r>
            <a:r>
              <a:rPr lang="en-US" altLang="ko-KR" sz="105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self.feature_dim</a:t>
            </a:r>
            <a:r>
              <a:rPr lang="en-US" altLang="ko-KR" sz="105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, </a:t>
            </a:r>
            <a:r>
              <a:rPr lang="en-US" altLang="ko-KR" sz="105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num_classes</a:t>
            </a:r>
            <a:r>
              <a:rPr lang="en-US" altLang="ko-KR" sz="105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)</a:t>
            </a:r>
          </a:p>
        </p:txBody>
      </p:sp>
      <p:cxnSp>
        <p:nvCxnSpPr>
          <p:cNvPr id="60" name="직선 화살표 연결선 59"/>
          <p:cNvCxnSpPr>
            <a:stCxn id="52" idx="2"/>
            <a:endCxn id="59" idx="0"/>
          </p:cNvCxnSpPr>
          <p:nvPr/>
        </p:nvCxnSpPr>
        <p:spPr>
          <a:xfrm flipH="1">
            <a:off x="2769355" y="3238757"/>
            <a:ext cx="1" cy="27458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직사각형 62"/>
          <p:cNvSpPr/>
          <p:nvPr/>
        </p:nvSpPr>
        <p:spPr>
          <a:xfrm>
            <a:off x="80842" y="3566175"/>
            <a:ext cx="2183324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100" dirty="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feature(512) -&gt;</a:t>
            </a:r>
            <a:r>
              <a:rPr lang="en-US" altLang="ko-KR" sz="1100" dirty="0" err="1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num_classes</a:t>
            </a:r>
            <a:endParaRPr lang="en-US" altLang="ko-KR" sz="1100" dirty="0">
              <a:solidFill>
                <a:srgbClr val="C00000"/>
              </a:solidFill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cxnSp>
        <p:nvCxnSpPr>
          <p:cNvPr id="64" name="꺾인 연결선 63"/>
          <p:cNvCxnSpPr>
            <a:stCxn id="49" idx="2"/>
            <a:endCxn id="59" idx="3"/>
          </p:cNvCxnSpPr>
          <p:nvPr/>
        </p:nvCxnSpPr>
        <p:spPr>
          <a:xfrm rot="5400000">
            <a:off x="3684270" y="2401266"/>
            <a:ext cx="1165047" cy="1426380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직사각형 66"/>
          <p:cNvSpPr/>
          <p:nvPr/>
        </p:nvSpPr>
        <p:spPr>
          <a:xfrm>
            <a:off x="1985105" y="4956254"/>
            <a:ext cx="1568497" cy="367276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sigmoid</a:t>
            </a:r>
            <a:endParaRPr lang="en-US" altLang="ko-KR" sz="105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sp>
        <p:nvSpPr>
          <p:cNvPr id="68" name="순서도: 판단 67"/>
          <p:cNvSpPr/>
          <p:nvPr/>
        </p:nvSpPr>
        <p:spPr>
          <a:xfrm>
            <a:off x="1909557" y="4162847"/>
            <a:ext cx="1724590" cy="537956"/>
          </a:xfrm>
          <a:prstGeom prst="flowChartDecision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1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training == False</a:t>
            </a:r>
            <a:endParaRPr lang="ko-KR" altLang="en-US" sz="110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cxnSp>
        <p:nvCxnSpPr>
          <p:cNvPr id="69" name="직선 화살표 연결선 68"/>
          <p:cNvCxnSpPr>
            <a:stCxn id="68" idx="2"/>
            <a:endCxn id="67" idx="0"/>
          </p:cNvCxnSpPr>
          <p:nvPr/>
        </p:nvCxnSpPr>
        <p:spPr>
          <a:xfrm flipH="1">
            <a:off x="2769354" y="4700803"/>
            <a:ext cx="2498" cy="25545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직선 화살표 연결선 72"/>
          <p:cNvCxnSpPr>
            <a:stCxn id="59" idx="2"/>
            <a:endCxn id="68" idx="0"/>
          </p:cNvCxnSpPr>
          <p:nvPr/>
        </p:nvCxnSpPr>
        <p:spPr>
          <a:xfrm>
            <a:off x="2769355" y="3880618"/>
            <a:ext cx="2497" cy="28222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직사각형 78"/>
          <p:cNvSpPr/>
          <p:nvPr/>
        </p:nvSpPr>
        <p:spPr>
          <a:xfrm>
            <a:off x="2853261" y="4700803"/>
            <a:ext cx="496570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smtClean="0"/>
              <a:t>YES</a:t>
            </a:r>
            <a:endParaRPr lang="ko-KR" altLang="en-US" sz="1000" dirty="0"/>
          </a:p>
        </p:txBody>
      </p:sp>
      <p:sp>
        <p:nvSpPr>
          <p:cNvPr id="80" name="직사각형 79"/>
          <p:cNvSpPr/>
          <p:nvPr/>
        </p:nvSpPr>
        <p:spPr>
          <a:xfrm>
            <a:off x="3162728" y="4062494"/>
            <a:ext cx="496570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smtClean="0"/>
              <a:t>NO</a:t>
            </a:r>
            <a:endParaRPr lang="ko-KR" altLang="en-US" sz="1000" dirty="0"/>
          </a:p>
        </p:txBody>
      </p:sp>
      <p:sp>
        <p:nvSpPr>
          <p:cNvPr id="81" name="모서리가 둥근 직사각형 80"/>
          <p:cNvSpPr/>
          <p:nvPr/>
        </p:nvSpPr>
        <p:spPr>
          <a:xfrm>
            <a:off x="1963926" y="5654136"/>
            <a:ext cx="1610853" cy="447491"/>
          </a:xfrm>
          <a:prstGeom prst="roundRect">
            <a:avLst>
              <a:gd name="adj" fmla="val 50000"/>
            </a:avLst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return</a:t>
            </a:r>
            <a:endParaRPr lang="en-US" altLang="ko-KR" sz="105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cxnSp>
        <p:nvCxnSpPr>
          <p:cNvPr id="84" name="직선 화살표 연결선 83"/>
          <p:cNvCxnSpPr>
            <a:stCxn id="67" idx="2"/>
            <a:endCxn id="81" idx="0"/>
          </p:cNvCxnSpPr>
          <p:nvPr/>
        </p:nvCxnSpPr>
        <p:spPr>
          <a:xfrm flipH="1">
            <a:off x="2769353" y="5323530"/>
            <a:ext cx="1" cy="33060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9" name="모서리가 둥근 직사각형 88"/>
          <p:cNvSpPr/>
          <p:nvPr/>
        </p:nvSpPr>
        <p:spPr>
          <a:xfrm>
            <a:off x="4492431" y="4208079"/>
            <a:ext cx="1610853" cy="447491"/>
          </a:xfrm>
          <a:prstGeom prst="roundRect">
            <a:avLst>
              <a:gd name="adj" fmla="val 50000"/>
            </a:avLst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return</a:t>
            </a:r>
            <a:endParaRPr lang="en-US" altLang="ko-KR" sz="105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cxnSp>
        <p:nvCxnSpPr>
          <p:cNvPr id="90" name="직선 화살표 연결선 89"/>
          <p:cNvCxnSpPr>
            <a:stCxn id="68" idx="3"/>
            <a:endCxn id="89" idx="1"/>
          </p:cNvCxnSpPr>
          <p:nvPr/>
        </p:nvCxnSpPr>
        <p:spPr>
          <a:xfrm>
            <a:off x="3634147" y="4431825"/>
            <a:ext cx="85828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62866279"/>
      </p:ext>
    </p:extLst>
  </p:cSld>
  <p:clrMapOvr>
    <a:masterClrMapping/>
  </p:clrMapOvr>
  <p:transition spd="slow">
    <p:wipe/>
  </p:transition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529573" y="314530"/>
            <a:ext cx="2541175" cy="468990"/>
          </a:xfrm>
          <a:prstGeom prst="rect">
            <a:avLst/>
          </a:prstGeom>
          <a:noFill/>
        </p:spPr>
        <p:txBody>
          <a:bodyPr wrap="none" lIns="98694" tIns="49347" rIns="98694" bIns="49347">
            <a:spAutoFit/>
          </a:bodyPr>
          <a:lstStyle/>
          <a:p>
            <a:pPr algn="ctr">
              <a:spcBef>
                <a:spcPts val="648"/>
              </a:spcBef>
            </a:pPr>
            <a:r>
              <a:rPr lang="en-US" altLang="ko-KR" sz="2400" b="1" dirty="0" err="1">
                <a:solidFill>
                  <a:srgbClr val="0E0585"/>
                </a:solidFill>
              </a:rPr>
              <a:t>def</a:t>
            </a:r>
            <a:r>
              <a:rPr lang="en-US" altLang="ko-KR" sz="2400" b="1" dirty="0">
                <a:solidFill>
                  <a:srgbClr val="0E0585"/>
                </a:solidFill>
              </a:rPr>
              <a:t> _</a:t>
            </a:r>
            <a:r>
              <a:rPr lang="en-US" altLang="ko-KR" sz="2400" b="1" dirty="0" err="1">
                <a:solidFill>
                  <a:srgbClr val="0E0585"/>
                </a:solidFill>
              </a:rPr>
              <a:t>make_layer</a:t>
            </a:r>
            <a:endParaRPr lang="en-US" altLang="ko-KR" sz="2400" b="1" dirty="0">
              <a:solidFill>
                <a:srgbClr val="0E0585"/>
              </a:solidFill>
            </a:endParaRPr>
          </a:p>
        </p:txBody>
      </p:sp>
      <p:sp>
        <p:nvSpPr>
          <p:cNvPr id="4" name="직사각형 3"/>
          <p:cNvSpPr/>
          <p:nvPr/>
        </p:nvSpPr>
        <p:spPr>
          <a:xfrm>
            <a:off x="746761" y="1856966"/>
            <a:ext cx="1744980" cy="367276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 dirty="0" err="1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  <a:hlinkClick r:id="rId2" action="ppaction://hlinksldjump"/>
              </a:rPr>
              <a:t>OSBlock</a:t>
            </a:r>
            <a:endParaRPr lang="en-US" altLang="ko-KR" sz="105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sp>
        <p:nvSpPr>
          <p:cNvPr id="5" name="직사각형 4"/>
          <p:cNvSpPr/>
          <p:nvPr/>
        </p:nvSpPr>
        <p:spPr>
          <a:xfrm>
            <a:off x="746761" y="2703262"/>
            <a:ext cx="1744980" cy="367276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 dirty="0" err="1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OSBlock</a:t>
            </a:r>
            <a:endParaRPr lang="en-US" altLang="ko-KR" sz="105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sp>
        <p:nvSpPr>
          <p:cNvPr id="6" name="직사각형 5"/>
          <p:cNvSpPr/>
          <p:nvPr/>
        </p:nvSpPr>
        <p:spPr>
          <a:xfrm>
            <a:off x="746761" y="1182325"/>
            <a:ext cx="1744980" cy="367276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def</a:t>
            </a:r>
            <a:r>
              <a:rPr lang="en-US" altLang="ko-KR" sz="14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_</a:t>
            </a:r>
            <a:r>
              <a:rPr lang="en-US" altLang="ko-KR" sz="140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make_layer</a:t>
            </a:r>
            <a:endParaRPr lang="en-US" altLang="ko-KR" sz="140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cxnSp>
        <p:nvCxnSpPr>
          <p:cNvPr id="8" name="직선 화살표 연결선 7"/>
          <p:cNvCxnSpPr>
            <a:stCxn id="6" idx="2"/>
            <a:endCxn id="4" idx="0"/>
          </p:cNvCxnSpPr>
          <p:nvPr/>
        </p:nvCxnSpPr>
        <p:spPr>
          <a:xfrm>
            <a:off x="1619251" y="1549601"/>
            <a:ext cx="0" cy="30736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직선 화살표 연결선 9"/>
          <p:cNvCxnSpPr>
            <a:stCxn id="4" idx="2"/>
            <a:endCxn id="5" idx="0"/>
          </p:cNvCxnSpPr>
          <p:nvPr/>
        </p:nvCxnSpPr>
        <p:spPr>
          <a:xfrm>
            <a:off x="1619251" y="2224242"/>
            <a:ext cx="0" cy="47902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타원 12"/>
          <p:cNvSpPr/>
          <p:nvPr/>
        </p:nvSpPr>
        <p:spPr>
          <a:xfrm>
            <a:off x="2648426" y="2276629"/>
            <a:ext cx="97155" cy="95096"/>
          </a:xfrm>
          <a:prstGeom prst="ellips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타원 15"/>
          <p:cNvSpPr/>
          <p:nvPr/>
        </p:nvSpPr>
        <p:spPr>
          <a:xfrm>
            <a:off x="2648425" y="2416204"/>
            <a:ext cx="97155" cy="95096"/>
          </a:xfrm>
          <a:prstGeom prst="ellips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타원 16"/>
          <p:cNvSpPr/>
          <p:nvPr/>
        </p:nvSpPr>
        <p:spPr>
          <a:xfrm>
            <a:off x="2648425" y="2555779"/>
            <a:ext cx="97155" cy="95096"/>
          </a:xfrm>
          <a:prstGeom prst="ellips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직사각형 17"/>
          <p:cNvSpPr/>
          <p:nvPr/>
        </p:nvSpPr>
        <p:spPr>
          <a:xfrm>
            <a:off x="2802991" y="2511300"/>
            <a:ext cx="1428489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100" dirty="0" smtClean="0">
                <a:solidFill>
                  <a:schemeClr val="accent6">
                    <a:lumMod val="50000"/>
                  </a:schemeClr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layer </a:t>
            </a:r>
            <a:r>
              <a:rPr lang="ko-KR" altLang="en-US" sz="1100" dirty="0" smtClean="0">
                <a:solidFill>
                  <a:schemeClr val="accent6">
                    <a:lumMod val="50000"/>
                  </a:schemeClr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개수 만큼 추가</a:t>
            </a:r>
            <a:endParaRPr lang="en-US" altLang="ko-KR" sz="1100" dirty="0">
              <a:solidFill>
                <a:schemeClr val="accent6">
                  <a:lumMod val="50000"/>
                </a:schemeClr>
              </a:solidFill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sp>
        <p:nvSpPr>
          <p:cNvPr id="19" name="직사각형 18"/>
          <p:cNvSpPr/>
          <p:nvPr/>
        </p:nvSpPr>
        <p:spPr>
          <a:xfrm>
            <a:off x="1619252" y="1594080"/>
            <a:ext cx="1029174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100" dirty="0" err="1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ch</a:t>
            </a:r>
            <a:r>
              <a:rPr lang="en-US" altLang="ko-KR" sz="1100" dirty="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: </a:t>
            </a:r>
            <a:r>
              <a:rPr lang="en-US" altLang="ko-KR" sz="1100" dirty="0" err="1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in_ch</a:t>
            </a:r>
            <a:endParaRPr lang="en-US" altLang="ko-KR" sz="1100" dirty="0">
              <a:solidFill>
                <a:srgbClr val="C00000"/>
              </a:solidFill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sp>
        <p:nvSpPr>
          <p:cNvPr id="20" name="직사각형 19"/>
          <p:cNvSpPr/>
          <p:nvPr/>
        </p:nvSpPr>
        <p:spPr>
          <a:xfrm>
            <a:off x="1561839" y="2324177"/>
            <a:ext cx="1029174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100" dirty="0" err="1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ch</a:t>
            </a:r>
            <a:r>
              <a:rPr lang="en-US" altLang="ko-KR" sz="1100" dirty="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: </a:t>
            </a:r>
            <a:r>
              <a:rPr lang="en-US" altLang="ko-KR" sz="1100" dirty="0" err="1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out_ch</a:t>
            </a:r>
            <a:endParaRPr lang="en-US" altLang="ko-KR" sz="1100" dirty="0">
              <a:solidFill>
                <a:srgbClr val="C00000"/>
              </a:solidFill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sp>
        <p:nvSpPr>
          <p:cNvPr id="21" name="직사각형 20"/>
          <p:cNvSpPr/>
          <p:nvPr/>
        </p:nvSpPr>
        <p:spPr>
          <a:xfrm>
            <a:off x="1561839" y="3171749"/>
            <a:ext cx="1029174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100" dirty="0" err="1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ch</a:t>
            </a:r>
            <a:r>
              <a:rPr lang="en-US" altLang="ko-KR" sz="1100" dirty="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: </a:t>
            </a:r>
            <a:r>
              <a:rPr lang="en-US" altLang="ko-KR" sz="1100" dirty="0" err="1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out_ch</a:t>
            </a:r>
            <a:endParaRPr lang="en-US" altLang="ko-KR" sz="1100" dirty="0">
              <a:solidFill>
                <a:srgbClr val="C00000"/>
              </a:solidFill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sp>
        <p:nvSpPr>
          <p:cNvPr id="22" name="순서도: 판단 21"/>
          <p:cNvSpPr/>
          <p:nvPr/>
        </p:nvSpPr>
        <p:spPr>
          <a:xfrm>
            <a:off x="756956" y="3549558"/>
            <a:ext cx="1724590" cy="537956"/>
          </a:xfrm>
          <a:prstGeom prst="flowChartDecision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10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reduce_spatial_size</a:t>
            </a:r>
            <a:r>
              <a:rPr lang="en-US" altLang="ko-KR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</a:t>
            </a:r>
            <a:r>
              <a:rPr lang="en-US" altLang="ko-KR" sz="11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? True</a:t>
            </a:r>
            <a:endParaRPr lang="ko-KR" altLang="en-US" sz="110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cxnSp>
        <p:nvCxnSpPr>
          <p:cNvPr id="23" name="직선 화살표 연결선 22"/>
          <p:cNvCxnSpPr>
            <a:stCxn id="5" idx="2"/>
            <a:endCxn id="22" idx="0"/>
          </p:cNvCxnSpPr>
          <p:nvPr/>
        </p:nvCxnSpPr>
        <p:spPr>
          <a:xfrm>
            <a:off x="1619251" y="3070538"/>
            <a:ext cx="0" cy="47902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직사각형 26"/>
          <p:cNvSpPr/>
          <p:nvPr/>
        </p:nvSpPr>
        <p:spPr>
          <a:xfrm>
            <a:off x="1924444" y="3999754"/>
            <a:ext cx="878547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smtClean="0"/>
              <a:t>YES :default</a:t>
            </a:r>
            <a:endParaRPr lang="ko-KR" altLang="en-US" sz="1000" dirty="0"/>
          </a:p>
        </p:txBody>
      </p:sp>
      <p:sp>
        <p:nvSpPr>
          <p:cNvPr id="28" name="직사각형 27"/>
          <p:cNvSpPr/>
          <p:nvPr/>
        </p:nvSpPr>
        <p:spPr>
          <a:xfrm>
            <a:off x="2574178" y="3534570"/>
            <a:ext cx="496570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smtClean="0"/>
              <a:t>NO</a:t>
            </a:r>
            <a:endParaRPr lang="ko-KR" altLang="en-US" sz="1000" dirty="0"/>
          </a:p>
        </p:txBody>
      </p:sp>
      <p:sp>
        <p:nvSpPr>
          <p:cNvPr id="29" name="직사각형 28"/>
          <p:cNvSpPr/>
          <p:nvPr/>
        </p:nvSpPr>
        <p:spPr>
          <a:xfrm>
            <a:off x="736566" y="4434920"/>
            <a:ext cx="1744980" cy="367276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Conv1x1</a:t>
            </a:r>
            <a:endParaRPr lang="en-US" altLang="ko-KR" sz="105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cxnSp>
        <p:nvCxnSpPr>
          <p:cNvPr id="30" name="직선 화살표 연결선 29"/>
          <p:cNvCxnSpPr>
            <a:stCxn id="22" idx="2"/>
            <a:endCxn id="29" idx="0"/>
          </p:cNvCxnSpPr>
          <p:nvPr/>
        </p:nvCxnSpPr>
        <p:spPr>
          <a:xfrm flipH="1">
            <a:off x="1609056" y="4087514"/>
            <a:ext cx="10195" cy="34740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직사각형 33"/>
          <p:cNvSpPr/>
          <p:nvPr/>
        </p:nvSpPr>
        <p:spPr>
          <a:xfrm>
            <a:off x="1715056" y="4181030"/>
            <a:ext cx="1029174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100" dirty="0" err="1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ch</a:t>
            </a:r>
            <a:r>
              <a:rPr lang="en-US" altLang="ko-KR" sz="1100" dirty="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: </a:t>
            </a:r>
            <a:r>
              <a:rPr lang="en-US" altLang="ko-KR" sz="1100" dirty="0" err="1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out_ch</a:t>
            </a:r>
            <a:endParaRPr lang="en-US" altLang="ko-KR" sz="1100" dirty="0">
              <a:solidFill>
                <a:srgbClr val="C00000"/>
              </a:solidFill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sp>
        <p:nvSpPr>
          <p:cNvPr id="35" name="직사각형 34"/>
          <p:cNvSpPr/>
          <p:nvPr/>
        </p:nvSpPr>
        <p:spPr>
          <a:xfrm>
            <a:off x="1715056" y="4823746"/>
            <a:ext cx="1029174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100" dirty="0" err="1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ch</a:t>
            </a:r>
            <a:r>
              <a:rPr lang="en-US" altLang="ko-KR" sz="1100" dirty="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: </a:t>
            </a:r>
            <a:r>
              <a:rPr lang="en-US" altLang="ko-KR" sz="1100" dirty="0" err="1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out_ch</a:t>
            </a:r>
            <a:endParaRPr lang="en-US" altLang="ko-KR" sz="1100" dirty="0">
              <a:solidFill>
                <a:srgbClr val="C00000"/>
              </a:solidFill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sp>
        <p:nvSpPr>
          <p:cNvPr id="36" name="직사각형 35"/>
          <p:cNvSpPr/>
          <p:nvPr/>
        </p:nvSpPr>
        <p:spPr>
          <a:xfrm>
            <a:off x="735910" y="5268258"/>
            <a:ext cx="1744980" cy="367276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AvgPool1d(2,stride=2)</a:t>
            </a:r>
            <a:endParaRPr lang="en-US" altLang="ko-KR" sz="105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cxnSp>
        <p:nvCxnSpPr>
          <p:cNvPr id="37" name="직선 화살표 연결선 36"/>
          <p:cNvCxnSpPr>
            <a:stCxn id="29" idx="2"/>
            <a:endCxn id="36" idx="0"/>
          </p:cNvCxnSpPr>
          <p:nvPr/>
        </p:nvCxnSpPr>
        <p:spPr>
          <a:xfrm flipH="1">
            <a:off x="1608400" y="4802196"/>
            <a:ext cx="656" cy="46606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직사각형 39"/>
          <p:cNvSpPr/>
          <p:nvPr/>
        </p:nvSpPr>
        <p:spPr>
          <a:xfrm>
            <a:off x="2850230" y="4668548"/>
            <a:ext cx="3298509" cy="163121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>
                <a:solidFill>
                  <a:schemeClr val="accent6">
                    <a:lumMod val="50000"/>
                  </a:schemeClr>
                </a:solidFill>
                <a:latin typeface="+mn-ea"/>
              </a:rPr>
              <a:t>nn.AvgPool2d(2, stride=2</a:t>
            </a:r>
            <a:r>
              <a:rPr lang="en-US" altLang="ko-KR" sz="1000" dirty="0" smtClean="0">
                <a:solidFill>
                  <a:schemeClr val="accent6">
                    <a:lumMod val="50000"/>
                  </a:schemeClr>
                </a:solidFill>
                <a:latin typeface="+mn-ea"/>
              </a:rPr>
              <a:t>) </a:t>
            </a:r>
            <a:r>
              <a:rPr lang="ko-KR" altLang="en-US" sz="1000" dirty="0" smtClean="0">
                <a:solidFill>
                  <a:schemeClr val="accent6">
                    <a:lumMod val="50000"/>
                  </a:schemeClr>
                </a:solidFill>
                <a:latin typeface="+mn-ea"/>
              </a:rPr>
              <a:t>동작 </a:t>
            </a:r>
            <a:r>
              <a:rPr lang="ko-KR" altLang="en-US" sz="1000" dirty="0">
                <a:solidFill>
                  <a:schemeClr val="accent6">
                    <a:lumMod val="50000"/>
                  </a:schemeClr>
                </a:solidFill>
                <a:latin typeface="+mn-ea"/>
              </a:rPr>
              <a:t>방식</a:t>
            </a:r>
            <a:r>
              <a:rPr lang="en-US" altLang="ko-KR" sz="1000" dirty="0">
                <a:solidFill>
                  <a:schemeClr val="accent6">
                    <a:lumMod val="50000"/>
                  </a:schemeClr>
                </a:solidFill>
                <a:latin typeface="+mn-ea"/>
              </a:rPr>
              <a:t>:</a:t>
            </a:r>
          </a:p>
          <a:p>
            <a:endParaRPr lang="en-US" altLang="ko-KR" sz="1000" dirty="0">
              <a:latin typeface="+mn-ea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ko-KR" sz="1000" dirty="0">
                <a:latin typeface="+mn-ea"/>
              </a:rPr>
              <a:t>    </a:t>
            </a:r>
            <a:r>
              <a:rPr lang="ko-KR" altLang="en-US" sz="1000" dirty="0">
                <a:latin typeface="+mn-ea"/>
              </a:rPr>
              <a:t>입력 </a:t>
            </a:r>
            <a:r>
              <a:rPr lang="ko-KR" altLang="en-US" sz="1000" dirty="0" err="1">
                <a:latin typeface="+mn-ea"/>
              </a:rPr>
              <a:t>텐서</a:t>
            </a:r>
            <a:r>
              <a:rPr lang="ko-KR" altLang="en-US" sz="1000" dirty="0">
                <a:latin typeface="+mn-ea"/>
              </a:rPr>
              <a:t> 크기</a:t>
            </a:r>
            <a:r>
              <a:rPr lang="en-US" altLang="ko-KR" sz="1000" dirty="0">
                <a:latin typeface="+mn-ea"/>
              </a:rPr>
              <a:t>: (N, C, H, W)</a:t>
            </a:r>
          </a:p>
          <a:p>
            <a:r>
              <a:rPr lang="en-US" altLang="ko-KR" sz="1000" dirty="0">
                <a:latin typeface="+mn-ea"/>
              </a:rPr>
              <a:t>        NN: </a:t>
            </a:r>
            <a:r>
              <a:rPr lang="ko-KR" altLang="en-US" sz="1000" dirty="0">
                <a:latin typeface="+mn-ea"/>
              </a:rPr>
              <a:t>배치 크기</a:t>
            </a:r>
          </a:p>
          <a:p>
            <a:r>
              <a:rPr lang="ko-KR" altLang="en-US" sz="1000" dirty="0">
                <a:latin typeface="+mn-ea"/>
              </a:rPr>
              <a:t>        </a:t>
            </a:r>
            <a:r>
              <a:rPr lang="en-US" altLang="ko-KR" sz="1000" dirty="0">
                <a:latin typeface="+mn-ea"/>
              </a:rPr>
              <a:t>CC: </a:t>
            </a:r>
            <a:r>
              <a:rPr lang="ko-KR" altLang="en-US" sz="1000" dirty="0">
                <a:latin typeface="+mn-ea"/>
              </a:rPr>
              <a:t>채널 수</a:t>
            </a:r>
          </a:p>
          <a:p>
            <a:r>
              <a:rPr lang="ko-KR" altLang="en-US" sz="1000" dirty="0">
                <a:latin typeface="+mn-ea"/>
              </a:rPr>
              <a:t>        </a:t>
            </a:r>
            <a:r>
              <a:rPr lang="en-US" altLang="ko-KR" sz="1000" dirty="0">
                <a:latin typeface="+mn-ea"/>
              </a:rPr>
              <a:t>HH: </a:t>
            </a:r>
            <a:r>
              <a:rPr lang="ko-KR" altLang="en-US" sz="1000" dirty="0">
                <a:latin typeface="+mn-ea"/>
              </a:rPr>
              <a:t>높이</a:t>
            </a:r>
          </a:p>
          <a:p>
            <a:r>
              <a:rPr lang="ko-KR" altLang="en-US" sz="1000" dirty="0">
                <a:latin typeface="+mn-ea"/>
              </a:rPr>
              <a:t>        </a:t>
            </a:r>
            <a:r>
              <a:rPr lang="en-US" altLang="ko-KR" sz="1000" dirty="0">
                <a:latin typeface="+mn-ea"/>
              </a:rPr>
              <a:t>WW: </a:t>
            </a:r>
            <a:r>
              <a:rPr lang="ko-KR" altLang="en-US" sz="1000" dirty="0">
                <a:latin typeface="+mn-ea"/>
              </a:rPr>
              <a:t>너비</a:t>
            </a:r>
          </a:p>
          <a:p>
            <a:endParaRPr lang="ko-KR" altLang="en-US" sz="1000" dirty="0">
              <a:latin typeface="+mn-ea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+mn-ea"/>
              </a:rPr>
              <a:t>    출력 </a:t>
            </a:r>
            <a:r>
              <a:rPr lang="ko-KR" altLang="en-US" sz="1000" dirty="0" err="1">
                <a:latin typeface="+mn-ea"/>
              </a:rPr>
              <a:t>텐서</a:t>
            </a:r>
            <a:r>
              <a:rPr lang="ko-KR" altLang="en-US" sz="1000" dirty="0">
                <a:latin typeface="+mn-ea"/>
              </a:rPr>
              <a:t> 크기</a:t>
            </a:r>
            <a:r>
              <a:rPr lang="en-US" altLang="ko-KR" sz="1000" dirty="0">
                <a:latin typeface="+mn-ea"/>
              </a:rPr>
              <a:t>: (N, C, H/2, W/2)</a:t>
            </a:r>
          </a:p>
          <a:p>
            <a:r>
              <a:rPr lang="en-US" altLang="ko-KR" sz="1000" dirty="0">
                <a:latin typeface="+mn-ea"/>
              </a:rPr>
              <a:t>        </a:t>
            </a:r>
            <a:r>
              <a:rPr lang="ko-KR" altLang="en-US" sz="1000" dirty="0">
                <a:latin typeface="+mn-ea"/>
              </a:rPr>
              <a:t>높이와 너비가 각각 </a:t>
            </a:r>
            <a:r>
              <a:rPr lang="en-US" altLang="ko-KR" sz="1000" dirty="0">
                <a:latin typeface="+mn-ea"/>
              </a:rPr>
              <a:t>2</a:t>
            </a:r>
            <a:r>
              <a:rPr lang="ko-KR" altLang="en-US" sz="1000" dirty="0">
                <a:latin typeface="+mn-ea"/>
              </a:rPr>
              <a:t>로 나뉘어 줄어듭니다</a:t>
            </a:r>
            <a:r>
              <a:rPr lang="en-US" altLang="ko-KR" sz="1000" dirty="0">
                <a:latin typeface="+mn-ea"/>
              </a:rPr>
              <a:t>.</a:t>
            </a:r>
            <a:endParaRPr lang="ko-KR" altLang="en-US" sz="1000" dirty="0">
              <a:latin typeface="+mn-ea"/>
            </a:endParaRPr>
          </a:p>
        </p:txBody>
      </p:sp>
      <p:sp>
        <p:nvSpPr>
          <p:cNvPr id="42" name="모서리가 둥근 직사각형 41"/>
          <p:cNvSpPr/>
          <p:nvPr/>
        </p:nvSpPr>
        <p:spPr>
          <a:xfrm>
            <a:off x="577680" y="5955857"/>
            <a:ext cx="2061439" cy="447491"/>
          </a:xfrm>
          <a:prstGeom prst="roundRect">
            <a:avLst>
              <a:gd name="adj" fmla="val 50000"/>
            </a:avLst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  <a:hlinkClick r:id="rId3" action="ppaction://hlinksldjump"/>
              </a:rPr>
              <a:t>return </a:t>
            </a:r>
            <a:r>
              <a:rPr lang="en-US" altLang="ko-KR" sz="1050" dirty="0" err="1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  <a:hlinkClick r:id="rId3" action="ppaction://hlinksldjump"/>
              </a:rPr>
              <a:t>nn.Sequential</a:t>
            </a:r>
            <a:r>
              <a:rPr lang="en-US" altLang="ko-KR" sz="1050" dirty="0">
                <a:latin typeface="경기천년바탕 Regular" panose="02020503020101020101" pitchFamily="18" charset="-127"/>
                <a:ea typeface="경기천년바탕 Regular" panose="02020503020101020101" pitchFamily="18" charset="-127"/>
                <a:hlinkClick r:id="rId3" action="ppaction://hlinksldjump"/>
              </a:rPr>
              <a:t>(*layers)</a:t>
            </a:r>
            <a:endParaRPr lang="en-US" altLang="ko-KR" sz="105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cxnSp>
        <p:nvCxnSpPr>
          <p:cNvPr id="43" name="직선 화살표 연결선 42"/>
          <p:cNvCxnSpPr>
            <a:stCxn id="36" idx="2"/>
            <a:endCxn id="42" idx="0"/>
          </p:cNvCxnSpPr>
          <p:nvPr/>
        </p:nvCxnSpPr>
        <p:spPr>
          <a:xfrm>
            <a:off x="1608400" y="5635534"/>
            <a:ext cx="0" cy="32032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모서리가 둥근 직사각형 49"/>
          <p:cNvSpPr/>
          <p:nvPr/>
        </p:nvSpPr>
        <p:spPr>
          <a:xfrm>
            <a:off x="3259698" y="3594790"/>
            <a:ext cx="2061439" cy="447491"/>
          </a:xfrm>
          <a:prstGeom prst="roundRect">
            <a:avLst>
              <a:gd name="adj" fmla="val 50000"/>
            </a:avLst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return </a:t>
            </a:r>
            <a:r>
              <a:rPr lang="en-US" altLang="ko-KR" sz="1050" dirty="0" err="1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nn.Sequential</a:t>
            </a:r>
            <a:r>
              <a:rPr lang="en-US" altLang="ko-KR" sz="105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(*layers)</a:t>
            </a:r>
          </a:p>
        </p:txBody>
      </p:sp>
      <p:cxnSp>
        <p:nvCxnSpPr>
          <p:cNvPr id="51" name="직선 화살표 연결선 50"/>
          <p:cNvCxnSpPr>
            <a:stCxn id="22" idx="3"/>
            <a:endCxn id="50" idx="1"/>
          </p:cNvCxnSpPr>
          <p:nvPr/>
        </p:nvCxnSpPr>
        <p:spPr>
          <a:xfrm>
            <a:off x="2481546" y="3818536"/>
            <a:ext cx="77815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꺾인 연결선 54"/>
          <p:cNvCxnSpPr>
            <a:stCxn id="19" idx="3"/>
            <a:endCxn id="20" idx="3"/>
          </p:cNvCxnSpPr>
          <p:nvPr/>
        </p:nvCxnSpPr>
        <p:spPr>
          <a:xfrm flipH="1">
            <a:off x="2591013" y="1724885"/>
            <a:ext cx="57413" cy="730097"/>
          </a:xfrm>
          <a:prstGeom prst="bentConnector3">
            <a:avLst>
              <a:gd name="adj1" fmla="val -3079163"/>
            </a:avLst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꺾인 연결선 56"/>
          <p:cNvCxnSpPr/>
          <p:nvPr/>
        </p:nvCxnSpPr>
        <p:spPr>
          <a:xfrm flipH="1">
            <a:off x="2569024" y="2525184"/>
            <a:ext cx="57413" cy="730097"/>
          </a:xfrm>
          <a:prstGeom prst="bentConnector3">
            <a:avLst>
              <a:gd name="adj1" fmla="val -3079163"/>
            </a:avLst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직사각형 57"/>
          <p:cNvSpPr/>
          <p:nvPr/>
        </p:nvSpPr>
        <p:spPr>
          <a:xfrm>
            <a:off x="4606892" y="1959128"/>
            <a:ext cx="1428489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100" dirty="0" smtClean="0">
                <a:solidFill>
                  <a:schemeClr val="accent6">
                    <a:lumMod val="50000"/>
                  </a:schemeClr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채널 증가</a:t>
            </a:r>
            <a:endParaRPr lang="en-US" altLang="ko-KR" sz="1100" dirty="0">
              <a:solidFill>
                <a:schemeClr val="accent6">
                  <a:lumMod val="50000"/>
                </a:schemeClr>
              </a:solidFill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sp>
        <p:nvSpPr>
          <p:cNvPr id="59" name="직사각형 58"/>
          <p:cNvSpPr/>
          <p:nvPr/>
        </p:nvSpPr>
        <p:spPr>
          <a:xfrm>
            <a:off x="4606891" y="2756095"/>
            <a:ext cx="1428489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100" dirty="0" smtClean="0">
                <a:solidFill>
                  <a:schemeClr val="accent6">
                    <a:lumMod val="50000"/>
                  </a:schemeClr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채널 유지</a:t>
            </a:r>
            <a:endParaRPr lang="en-US" altLang="ko-KR" sz="1100" dirty="0">
              <a:solidFill>
                <a:schemeClr val="accent6">
                  <a:lumMod val="50000"/>
                </a:schemeClr>
              </a:solidFill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71693845"/>
      </p:ext>
    </p:extLst>
  </p:cSld>
  <p:clrMapOvr>
    <a:masterClrMapping/>
  </p:clrMapOvr>
  <p:transition spd="slow">
    <p:wipe/>
  </p:transition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480338" y="313400"/>
            <a:ext cx="2959687" cy="468990"/>
          </a:xfrm>
          <a:prstGeom prst="rect">
            <a:avLst/>
          </a:prstGeom>
          <a:noFill/>
        </p:spPr>
        <p:txBody>
          <a:bodyPr wrap="none" lIns="98694" tIns="49347" rIns="98694" bIns="49347">
            <a:spAutoFit/>
          </a:bodyPr>
          <a:lstStyle/>
          <a:p>
            <a:pPr algn="ctr">
              <a:spcBef>
                <a:spcPts val="648"/>
              </a:spcBef>
            </a:pPr>
            <a:r>
              <a:rPr lang="en-US" altLang="ko-KR" sz="2400" b="1" dirty="0" smtClean="0">
                <a:solidFill>
                  <a:srgbClr val="0E0585"/>
                </a:solidFill>
              </a:rPr>
              <a:t>class </a:t>
            </a:r>
            <a:r>
              <a:rPr lang="en-US" altLang="ko-KR" sz="2400" b="1" dirty="0" err="1" smtClean="0">
                <a:solidFill>
                  <a:srgbClr val="0E0585"/>
                </a:solidFill>
              </a:rPr>
              <a:t>OSBlock</a:t>
            </a:r>
            <a:r>
              <a:rPr lang="en-US" altLang="ko-KR" sz="2400" b="1" dirty="0" smtClean="0">
                <a:solidFill>
                  <a:srgbClr val="0E0585"/>
                </a:solidFill>
              </a:rPr>
              <a:t> </a:t>
            </a:r>
            <a:r>
              <a:rPr lang="en-US" altLang="ko-KR" sz="2400" b="1" dirty="0" err="1" smtClean="0">
                <a:solidFill>
                  <a:srgbClr val="0E0585"/>
                </a:solidFill>
              </a:rPr>
              <a:t>cont</a:t>
            </a:r>
            <a:endParaRPr lang="en-US" altLang="ko-KR" sz="2400" b="1" dirty="0">
              <a:solidFill>
                <a:srgbClr val="0E0585"/>
              </a:solidFill>
            </a:endParaRPr>
          </a:p>
        </p:txBody>
      </p:sp>
      <p:sp>
        <p:nvSpPr>
          <p:cNvPr id="3" name="직사각형 2"/>
          <p:cNvSpPr/>
          <p:nvPr/>
        </p:nvSpPr>
        <p:spPr>
          <a:xfrm>
            <a:off x="634435" y="1143949"/>
            <a:ext cx="987954" cy="367276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__</a:t>
            </a:r>
            <a:r>
              <a:rPr lang="en-US" altLang="ko-KR" sz="1400" dirty="0" err="1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init</a:t>
            </a:r>
            <a:r>
              <a:rPr lang="en-US" altLang="ko-KR" sz="14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__</a:t>
            </a:r>
            <a:endParaRPr lang="en-US" altLang="ko-KR" sz="140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sp>
        <p:nvSpPr>
          <p:cNvPr id="4" name="직사각형 3"/>
          <p:cNvSpPr/>
          <p:nvPr/>
        </p:nvSpPr>
        <p:spPr>
          <a:xfrm>
            <a:off x="2196535" y="1792791"/>
            <a:ext cx="1713584" cy="367276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  <a:hlinkClick r:id="rId2" action="ppaction://hlinksldjump"/>
              </a:rPr>
              <a:t>Conv1x1</a:t>
            </a:r>
            <a:endParaRPr lang="en-US" altLang="ko-KR" sz="105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cxnSp>
        <p:nvCxnSpPr>
          <p:cNvPr id="5" name="꺾인 연결선 4"/>
          <p:cNvCxnSpPr>
            <a:stCxn id="3" idx="2"/>
            <a:endCxn id="4" idx="1"/>
          </p:cNvCxnSpPr>
          <p:nvPr/>
        </p:nvCxnSpPr>
        <p:spPr>
          <a:xfrm rot="16200000" flipH="1">
            <a:off x="1429871" y="1209765"/>
            <a:ext cx="465204" cy="1068123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직사각형 22"/>
          <p:cNvSpPr/>
          <p:nvPr/>
        </p:nvSpPr>
        <p:spPr>
          <a:xfrm>
            <a:off x="2150745" y="2441633"/>
            <a:ext cx="1805163" cy="367276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  <a:hlinkClick r:id="rId3" action="ppaction://hlinksldjump"/>
              </a:rPr>
              <a:t>LightConv3x3</a:t>
            </a:r>
            <a:endParaRPr lang="en-US" altLang="ko-KR" sz="105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cxnSp>
        <p:nvCxnSpPr>
          <p:cNvPr id="24" name="직선 화살표 연결선 23"/>
          <p:cNvCxnSpPr>
            <a:stCxn id="4" idx="2"/>
            <a:endCxn id="23" idx="0"/>
          </p:cNvCxnSpPr>
          <p:nvPr/>
        </p:nvCxnSpPr>
        <p:spPr>
          <a:xfrm>
            <a:off x="3053327" y="2160067"/>
            <a:ext cx="0" cy="28156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직사각형 21"/>
          <p:cNvSpPr/>
          <p:nvPr/>
        </p:nvSpPr>
        <p:spPr>
          <a:xfrm>
            <a:off x="4358709" y="2447693"/>
            <a:ext cx="1805163" cy="367276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LightConv3x3</a:t>
            </a:r>
            <a:endParaRPr lang="en-US" altLang="ko-KR" sz="105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sp>
        <p:nvSpPr>
          <p:cNvPr id="25" name="직사각형 24"/>
          <p:cNvSpPr/>
          <p:nvPr/>
        </p:nvSpPr>
        <p:spPr>
          <a:xfrm>
            <a:off x="4358709" y="2994083"/>
            <a:ext cx="1805163" cy="367276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LightConv3x3</a:t>
            </a:r>
            <a:endParaRPr lang="en-US" altLang="ko-KR" sz="105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sp>
        <p:nvSpPr>
          <p:cNvPr id="26" name="직사각형 25"/>
          <p:cNvSpPr/>
          <p:nvPr/>
        </p:nvSpPr>
        <p:spPr>
          <a:xfrm>
            <a:off x="6520884" y="2441633"/>
            <a:ext cx="1805163" cy="367276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LightConv3x3</a:t>
            </a:r>
            <a:endParaRPr lang="en-US" altLang="ko-KR" sz="105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sp>
        <p:nvSpPr>
          <p:cNvPr id="28" name="직사각형 27"/>
          <p:cNvSpPr/>
          <p:nvPr/>
        </p:nvSpPr>
        <p:spPr>
          <a:xfrm>
            <a:off x="6520884" y="2988023"/>
            <a:ext cx="1805163" cy="367276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LightConv3x3</a:t>
            </a:r>
            <a:endParaRPr lang="en-US" altLang="ko-KR" sz="105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sp>
        <p:nvSpPr>
          <p:cNvPr id="30" name="직사각형 29"/>
          <p:cNvSpPr/>
          <p:nvPr/>
        </p:nvSpPr>
        <p:spPr>
          <a:xfrm>
            <a:off x="6520884" y="3534413"/>
            <a:ext cx="1805163" cy="367276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LightConv3x3</a:t>
            </a:r>
            <a:endParaRPr lang="en-US" altLang="ko-KR" sz="105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sp>
        <p:nvSpPr>
          <p:cNvPr id="31" name="직사각형 30"/>
          <p:cNvSpPr/>
          <p:nvPr/>
        </p:nvSpPr>
        <p:spPr>
          <a:xfrm>
            <a:off x="8597334" y="2441633"/>
            <a:ext cx="1805163" cy="367276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LightConv3x3</a:t>
            </a:r>
            <a:endParaRPr lang="en-US" altLang="ko-KR" sz="105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sp>
        <p:nvSpPr>
          <p:cNvPr id="32" name="직사각형 31"/>
          <p:cNvSpPr/>
          <p:nvPr/>
        </p:nvSpPr>
        <p:spPr>
          <a:xfrm>
            <a:off x="8597334" y="2988023"/>
            <a:ext cx="1805163" cy="367276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LightConv3x3</a:t>
            </a:r>
            <a:endParaRPr lang="en-US" altLang="ko-KR" sz="105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sp>
        <p:nvSpPr>
          <p:cNvPr id="33" name="직사각형 32"/>
          <p:cNvSpPr/>
          <p:nvPr/>
        </p:nvSpPr>
        <p:spPr>
          <a:xfrm>
            <a:off x="8597334" y="3534413"/>
            <a:ext cx="1805163" cy="367276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LightConv3x3</a:t>
            </a:r>
            <a:endParaRPr lang="en-US" altLang="ko-KR" sz="105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sp>
        <p:nvSpPr>
          <p:cNvPr id="34" name="직사각형 33"/>
          <p:cNvSpPr/>
          <p:nvPr/>
        </p:nvSpPr>
        <p:spPr>
          <a:xfrm>
            <a:off x="8597334" y="4080803"/>
            <a:ext cx="1805163" cy="367276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LightConv3x3</a:t>
            </a:r>
            <a:endParaRPr lang="en-US" altLang="ko-KR" sz="105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cxnSp>
        <p:nvCxnSpPr>
          <p:cNvPr id="35" name="꺾인 연결선 34"/>
          <p:cNvCxnSpPr>
            <a:stCxn id="4" idx="3"/>
            <a:endCxn id="22" idx="0"/>
          </p:cNvCxnSpPr>
          <p:nvPr/>
        </p:nvCxnSpPr>
        <p:spPr>
          <a:xfrm>
            <a:off x="3910119" y="1976429"/>
            <a:ext cx="1351172" cy="471264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꺾인 연결선 37"/>
          <p:cNvCxnSpPr>
            <a:stCxn id="4" idx="3"/>
            <a:endCxn id="26" idx="0"/>
          </p:cNvCxnSpPr>
          <p:nvPr/>
        </p:nvCxnSpPr>
        <p:spPr>
          <a:xfrm>
            <a:off x="3910119" y="1976429"/>
            <a:ext cx="3513347" cy="465204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꺾인 연결선 39"/>
          <p:cNvCxnSpPr>
            <a:stCxn id="4" idx="3"/>
            <a:endCxn id="31" idx="0"/>
          </p:cNvCxnSpPr>
          <p:nvPr/>
        </p:nvCxnSpPr>
        <p:spPr>
          <a:xfrm>
            <a:off x="3910119" y="1976429"/>
            <a:ext cx="5589797" cy="465204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직선 화살표 연결선 42"/>
          <p:cNvCxnSpPr>
            <a:stCxn id="22" idx="2"/>
            <a:endCxn id="25" idx="0"/>
          </p:cNvCxnSpPr>
          <p:nvPr/>
        </p:nvCxnSpPr>
        <p:spPr>
          <a:xfrm>
            <a:off x="5261291" y="2814969"/>
            <a:ext cx="0" cy="17911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직선 화살표 연결선 45"/>
          <p:cNvCxnSpPr>
            <a:stCxn id="26" idx="2"/>
            <a:endCxn id="28" idx="0"/>
          </p:cNvCxnSpPr>
          <p:nvPr/>
        </p:nvCxnSpPr>
        <p:spPr>
          <a:xfrm>
            <a:off x="7423466" y="2808909"/>
            <a:ext cx="0" cy="17911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화살표 연결선 48"/>
          <p:cNvCxnSpPr>
            <a:stCxn id="28" idx="2"/>
            <a:endCxn id="30" idx="0"/>
          </p:cNvCxnSpPr>
          <p:nvPr/>
        </p:nvCxnSpPr>
        <p:spPr>
          <a:xfrm>
            <a:off x="7423466" y="3355299"/>
            <a:ext cx="0" cy="17911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직선 화살표 연결선 51"/>
          <p:cNvCxnSpPr>
            <a:stCxn id="31" idx="2"/>
            <a:endCxn id="32" idx="0"/>
          </p:cNvCxnSpPr>
          <p:nvPr/>
        </p:nvCxnSpPr>
        <p:spPr>
          <a:xfrm>
            <a:off x="9499916" y="2808909"/>
            <a:ext cx="0" cy="17911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직선 화살표 연결선 54"/>
          <p:cNvCxnSpPr>
            <a:stCxn id="32" idx="2"/>
            <a:endCxn id="33" idx="0"/>
          </p:cNvCxnSpPr>
          <p:nvPr/>
        </p:nvCxnSpPr>
        <p:spPr>
          <a:xfrm>
            <a:off x="9499916" y="3355299"/>
            <a:ext cx="0" cy="17911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직선 화살표 연결선 57"/>
          <p:cNvCxnSpPr>
            <a:stCxn id="33" idx="2"/>
            <a:endCxn id="34" idx="0"/>
          </p:cNvCxnSpPr>
          <p:nvPr/>
        </p:nvCxnSpPr>
        <p:spPr>
          <a:xfrm>
            <a:off x="9499916" y="3901689"/>
            <a:ext cx="0" cy="17911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직사각형 60"/>
          <p:cNvSpPr/>
          <p:nvPr/>
        </p:nvSpPr>
        <p:spPr>
          <a:xfrm>
            <a:off x="2150745" y="4689533"/>
            <a:ext cx="1805163" cy="367276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 dirty="0" err="1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  <a:hlinkClick r:id="rId4" action="ppaction://hlinksldjump"/>
              </a:rPr>
              <a:t>ChannelGate</a:t>
            </a:r>
            <a:endParaRPr lang="en-US" altLang="ko-KR" sz="105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cxnSp>
        <p:nvCxnSpPr>
          <p:cNvPr id="62" name="직선 화살표 연결선 61"/>
          <p:cNvCxnSpPr>
            <a:stCxn id="23" idx="2"/>
            <a:endCxn id="61" idx="0"/>
          </p:cNvCxnSpPr>
          <p:nvPr/>
        </p:nvCxnSpPr>
        <p:spPr>
          <a:xfrm>
            <a:off x="3053327" y="2808909"/>
            <a:ext cx="0" cy="188062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직선 화살표 연결선 65"/>
          <p:cNvCxnSpPr>
            <a:stCxn id="25" idx="2"/>
            <a:endCxn id="69" idx="0"/>
          </p:cNvCxnSpPr>
          <p:nvPr/>
        </p:nvCxnSpPr>
        <p:spPr>
          <a:xfrm>
            <a:off x="5261291" y="3361359"/>
            <a:ext cx="5520" cy="132817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직사각형 68"/>
          <p:cNvSpPr/>
          <p:nvPr/>
        </p:nvSpPr>
        <p:spPr>
          <a:xfrm>
            <a:off x="4364229" y="4689533"/>
            <a:ext cx="1805163" cy="367276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 dirty="0" err="1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ChannelGate</a:t>
            </a:r>
            <a:endParaRPr lang="en-US" altLang="ko-KR" sz="105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cxnSp>
        <p:nvCxnSpPr>
          <p:cNvPr id="71" name="직선 화살표 연결선 70"/>
          <p:cNvCxnSpPr>
            <a:stCxn id="30" idx="2"/>
            <a:endCxn id="72" idx="0"/>
          </p:cNvCxnSpPr>
          <p:nvPr/>
        </p:nvCxnSpPr>
        <p:spPr>
          <a:xfrm>
            <a:off x="7423466" y="3901689"/>
            <a:ext cx="5520" cy="78784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직사각형 71"/>
          <p:cNvSpPr/>
          <p:nvPr/>
        </p:nvSpPr>
        <p:spPr>
          <a:xfrm>
            <a:off x="6526404" y="4689533"/>
            <a:ext cx="1805163" cy="367276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 dirty="0" err="1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ChannelGate</a:t>
            </a:r>
            <a:endParaRPr lang="en-US" altLang="ko-KR" sz="105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cxnSp>
        <p:nvCxnSpPr>
          <p:cNvPr id="74" name="직선 화살표 연결선 73"/>
          <p:cNvCxnSpPr>
            <a:stCxn id="34" idx="2"/>
            <a:endCxn id="75" idx="0"/>
          </p:cNvCxnSpPr>
          <p:nvPr/>
        </p:nvCxnSpPr>
        <p:spPr>
          <a:xfrm>
            <a:off x="9499916" y="4448079"/>
            <a:ext cx="5520" cy="2414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직사각형 74"/>
          <p:cNvSpPr/>
          <p:nvPr/>
        </p:nvSpPr>
        <p:spPr>
          <a:xfrm>
            <a:off x="8602854" y="4689533"/>
            <a:ext cx="1805163" cy="367276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 dirty="0" err="1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ChannelGate</a:t>
            </a:r>
            <a:endParaRPr lang="en-US" altLang="ko-KR" sz="105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sp>
        <p:nvSpPr>
          <p:cNvPr id="77" name="직사각형 76"/>
          <p:cNvSpPr/>
          <p:nvPr/>
        </p:nvSpPr>
        <p:spPr>
          <a:xfrm>
            <a:off x="5504054" y="5408977"/>
            <a:ext cx="1805163" cy="367276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8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  <a:sym typeface="Symbol" panose="05050102010706020507" pitchFamily="18" charset="2"/>
              </a:rPr>
              <a:t></a:t>
            </a:r>
            <a:endParaRPr lang="en-US" altLang="ko-KR" sz="180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cxnSp>
        <p:nvCxnSpPr>
          <p:cNvPr id="78" name="직선 화살표 연결선 77"/>
          <p:cNvCxnSpPr>
            <a:stCxn id="69" idx="2"/>
            <a:endCxn id="77" idx="0"/>
          </p:cNvCxnSpPr>
          <p:nvPr/>
        </p:nvCxnSpPr>
        <p:spPr>
          <a:xfrm>
            <a:off x="5266811" y="5056809"/>
            <a:ext cx="1139825" cy="35216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직선 화살표 연결선 83"/>
          <p:cNvCxnSpPr>
            <a:stCxn id="61" idx="2"/>
            <a:endCxn id="77" idx="0"/>
          </p:cNvCxnSpPr>
          <p:nvPr/>
        </p:nvCxnSpPr>
        <p:spPr>
          <a:xfrm>
            <a:off x="3053327" y="5056809"/>
            <a:ext cx="3353309" cy="35216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직선 화살표 연결선 88"/>
          <p:cNvCxnSpPr>
            <a:stCxn id="72" idx="2"/>
            <a:endCxn id="77" idx="0"/>
          </p:cNvCxnSpPr>
          <p:nvPr/>
        </p:nvCxnSpPr>
        <p:spPr>
          <a:xfrm flipH="1">
            <a:off x="6406636" y="5056809"/>
            <a:ext cx="1022350" cy="35216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직선 화살표 연결선 91"/>
          <p:cNvCxnSpPr>
            <a:stCxn id="75" idx="2"/>
            <a:endCxn id="77" idx="0"/>
          </p:cNvCxnSpPr>
          <p:nvPr/>
        </p:nvCxnSpPr>
        <p:spPr>
          <a:xfrm flipH="1">
            <a:off x="6406636" y="5056809"/>
            <a:ext cx="3098800" cy="35216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5" name="직사각형 94"/>
          <p:cNvSpPr/>
          <p:nvPr/>
        </p:nvSpPr>
        <p:spPr>
          <a:xfrm>
            <a:off x="5504051" y="5933159"/>
            <a:ext cx="1805163" cy="367276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  <a:hlinkClick r:id="rId5" action="ppaction://hlinksldjump"/>
              </a:rPr>
              <a:t>Conv1x1Linear</a:t>
            </a:r>
            <a:endParaRPr lang="en-US" altLang="ko-KR" sz="105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cxnSp>
        <p:nvCxnSpPr>
          <p:cNvPr id="96" name="직선 화살표 연결선 95"/>
          <p:cNvCxnSpPr>
            <a:stCxn id="77" idx="2"/>
            <a:endCxn id="95" idx="0"/>
          </p:cNvCxnSpPr>
          <p:nvPr/>
        </p:nvCxnSpPr>
        <p:spPr>
          <a:xfrm flipH="1">
            <a:off x="6406633" y="5776253"/>
            <a:ext cx="3" cy="15690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직사각형 102"/>
          <p:cNvSpPr/>
          <p:nvPr/>
        </p:nvSpPr>
        <p:spPr>
          <a:xfrm>
            <a:off x="5504051" y="6442642"/>
            <a:ext cx="1805163" cy="367276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8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  <a:sym typeface="Symbol" panose="05050102010706020507" pitchFamily="18" charset="2"/>
              </a:rPr>
              <a:t></a:t>
            </a:r>
            <a:endParaRPr lang="en-US" altLang="ko-KR" sz="180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cxnSp>
        <p:nvCxnSpPr>
          <p:cNvPr id="104" name="직선 화살표 연결선 103"/>
          <p:cNvCxnSpPr>
            <a:stCxn id="95" idx="2"/>
            <a:endCxn id="103" idx="0"/>
          </p:cNvCxnSpPr>
          <p:nvPr/>
        </p:nvCxnSpPr>
        <p:spPr>
          <a:xfrm>
            <a:off x="6406633" y="6300435"/>
            <a:ext cx="0" cy="14220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직선 화살표 연결선 106"/>
          <p:cNvCxnSpPr>
            <a:stCxn id="108" idx="2"/>
          </p:cNvCxnSpPr>
          <p:nvPr/>
        </p:nvCxnSpPr>
        <p:spPr>
          <a:xfrm flipH="1">
            <a:off x="3053326" y="1520371"/>
            <a:ext cx="1" cy="27242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8" name="직사각형 107"/>
          <p:cNvSpPr/>
          <p:nvPr/>
        </p:nvSpPr>
        <p:spPr>
          <a:xfrm>
            <a:off x="2196535" y="1153095"/>
            <a:ext cx="1713584" cy="367276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Input</a:t>
            </a:r>
            <a:endParaRPr lang="en-US" altLang="ko-KR" sz="105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cxnSp>
        <p:nvCxnSpPr>
          <p:cNvPr id="112" name="꺾인 연결선 111"/>
          <p:cNvCxnSpPr>
            <a:stCxn id="108" idx="1"/>
            <a:endCxn id="103" idx="1"/>
          </p:cNvCxnSpPr>
          <p:nvPr/>
        </p:nvCxnSpPr>
        <p:spPr>
          <a:xfrm rot="10800000" flipH="1" flipV="1">
            <a:off x="2196535" y="1336732"/>
            <a:ext cx="3307516" cy="5289547"/>
          </a:xfrm>
          <a:prstGeom prst="bentConnector3">
            <a:avLst>
              <a:gd name="adj1" fmla="val -6912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6" name="직사각형 115"/>
          <p:cNvSpPr/>
          <p:nvPr/>
        </p:nvSpPr>
        <p:spPr>
          <a:xfrm>
            <a:off x="5504051" y="7121071"/>
            <a:ext cx="1805163" cy="367276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100" dirty="0" err="1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  <a:sym typeface="Symbol" panose="05050102010706020507" pitchFamily="18" charset="2"/>
                <a:hlinkClick r:id="rId6" action="ppaction://hlinksldjump"/>
              </a:rPr>
              <a:t>ReLU</a:t>
            </a:r>
            <a:endParaRPr lang="en-US" altLang="ko-KR" sz="110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sp>
        <p:nvSpPr>
          <p:cNvPr id="126" name="직사각형 125"/>
          <p:cNvSpPr/>
          <p:nvPr/>
        </p:nvSpPr>
        <p:spPr>
          <a:xfrm>
            <a:off x="3959282" y="1704009"/>
            <a:ext cx="1996059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100" dirty="0" err="1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ch</a:t>
            </a:r>
            <a:r>
              <a:rPr lang="en-US" altLang="ko-KR" sz="1100" dirty="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-&gt; </a:t>
            </a:r>
            <a:r>
              <a:rPr lang="en-US" altLang="ko-KR" sz="1100" dirty="0" err="1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ch</a:t>
            </a:r>
            <a:r>
              <a:rPr lang="en-US" altLang="ko-KR" sz="1100" dirty="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/4 </a:t>
            </a:r>
            <a:r>
              <a:rPr lang="ko-KR" altLang="en-US" sz="1100" dirty="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로 채널이 감소한다</a:t>
            </a:r>
            <a:r>
              <a:rPr lang="en-US" altLang="ko-KR" sz="1100" dirty="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.</a:t>
            </a:r>
            <a:endParaRPr lang="ko-KR" altLang="en-US" sz="1100" dirty="0">
              <a:solidFill>
                <a:srgbClr val="C00000"/>
              </a:solidFill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sp>
        <p:nvSpPr>
          <p:cNvPr id="127" name="직사각형 126"/>
          <p:cNvSpPr/>
          <p:nvPr/>
        </p:nvSpPr>
        <p:spPr>
          <a:xfrm>
            <a:off x="3123878" y="2160067"/>
            <a:ext cx="437940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100" dirty="0" err="1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ch</a:t>
            </a:r>
            <a:r>
              <a:rPr lang="en-US" altLang="ko-KR" sz="1100" dirty="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/4</a:t>
            </a:r>
            <a:endParaRPr lang="ko-KR" altLang="en-US" sz="1100" dirty="0">
              <a:solidFill>
                <a:srgbClr val="C00000"/>
              </a:solidFill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sp>
        <p:nvSpPr>
          <p:cNvPr id="128" name="직사각형 127"/>
          <p:cNvSpPr/>
          <p:nvPr/>
        </p:nvSpPr>
        <p:spPr>
          <a:xfrm>
            <a:off x="3123878" y="2844085"/>
            <a:ext cx="437940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100" dirty="0" err="1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ch</a:t>
            </a:r>
            <a:r>
              <a:rPr lang="en-US" altLang="ko-KR" sz="1100" dirty="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/4</a:t>
            </a:r>
            <a:endParaRPr lang="ko-KR" altLang="en-US" sz="1100" dirty="0">
              <a:solidFill>
                <a:srgbClr val="C00000"/>
              </a:solidFill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sp>
        <p:nvSpPr>
          <p:cNvPr id="129" name="직사각형 128"/>
          <p:cNvSpPr/>
          <p:nvPr/>
        </p:nvSpPr>
        <p:spPr>
          <a:xfrm>
            <a:off x="5307469" y="2170045"/>
            <a:ext cx="437940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100" dirty="0" err="1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ch</a:t>
            </a:r>
            <a:r>
              <a:rPr lang="en-US" altLang="ko-KR" sz="1100" dirty="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/4</a:t>
            </a:r>
            <a:endParaRPr lang="ko-KR" altLang="en-US" sz="1100" dirty="0">
              <a:solidFill>
                <a:srgbClr val="C00000"/>
              </a:solidFill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sp>
        <p:nvSpPr>
          <p:cNvPr id="130" name="직사각형 129"/>
          <p:cNvSpPr/>
          <p:nvPr/>
        </p:nvSpPr>
        <p:spPr>
          <a:xfrm>
            <a:off x="5343625" y="3395364"/>
            <a:ext cx="437940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100" dirty="0" err="1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ch</a:t>
            </a:r>
            <a:r>
              <a:rPr lang="en-US" altLang="ko-KR" sz="1100" dirty="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/4</a:t>
            </a:r>
            <a:endParaRPr lang="ko-KR" altLang="en-US" sz="1100" dirty="0">
              <a:solidFill>
                <a:srgbClr val="C00000"/>
              </a:solidFill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sp>
        <p:nvSpPr>
          <p:cNvPr id="131" name="직사각형 130"/>
          <p:cNvSpPr/>
          <p:nvPr/>
        </p:nvSpPr>
        <p:spPr>
          <a:xfrm>
            <a:off x="7552797" y="2160067"/>
            <a:ext cx="437940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100" dirty="0" err="1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ch</a:t>
            </a:r>
            <a:r>
              <a:rPr lang="en-US" altLang="ko-KR" sz="1100" dirty="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/4</a:t>
            </a:r>
            <a:endParaRPr lang="ko-KR" altLang="en-US" sz="1100" dirty="0">
              <a:solidFill>
                <a:srgbClr val="C00000"/>
              </a:solidFill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sp>
        <p:nvSpPr>
          <p:cNvPr id="132" name="직사각형 131"/>
          <p:cNvSpPr/>
          <p:nvPr/>
        </p:nvSpPr>
        <p:spPr>
          <a:xfrm>
            <a:off x="7545104" y="3894641"/>
            <a:ext cx="437940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100" dirty="0" err="1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ch</a:t>
            </a:r>
            <a:r>
              <a:rPr lang="en-US" altLang="ko-KR" sz="1100" dirty="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/4</a:t>
            </a:r>
            <a:endParaRPr lang="ko-KR" altLang="en-US" sz="1100" dirty="0">
              <a:solidFill>
                <a:srgbClr val="C00000"/>
              </a:solidFill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sp>
        <p:nvSpPr>
          <p:cNvPr id="133" name="직사각형 132"/>
          <p:cNvSpPr/>
          <p:nvPr/>
        </p:nvSpPr>
        <p:spPr>
          <a:xfrm>
            <a:off x="9628611" y="2160067"/>
            <a:ext cx="437940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100" dirty="0" err="1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ch</a:t>
            </a:r>
            <a:r>
              <a:rPr lang="en-US" altLang="ko-KR" sz="1100" dirty="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/4</a:t>
            </a:r>
            <a:endParaRPr lang="ko-KR" altLang="en-US" sz="1100" dirty="0">
              <a:solidFill>
                <a:srgbClr val="C00000"/>
              </a:solidFill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sp>
        <p:nvSpPr>
          <p:cNvPr id="134" name="직사각형 133"/>
          <p:cNvSpPr/>
          <p:nvPr/>
        </p:nvSpPr>
        <p:spPr>
          <a:xfrm>
            <a:off x="9557753" y="4452951"/>
            <a:ext cx="437940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100" dirty="0" err="1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ch</a:t>
            </a:r>
            <a:r>
              <a:rPr lang="en-US" altLang="ko-KR" sz="1100" dirty="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/4</a:t>
            </a:r>
            <a:endParaRPr lang="ko-KR" altLang="en-US" sz="1100" dirty="0">
              <a:solidFill>
                <a:srgbClr val="C00000"/>
              </a:solidFill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sp>
        <p:nvSpPr>
          <p:cNvPr id="135" name="직사각형 134"/>
          <p:cNvSpPr/>
          <p:nvPr/>
        </p:nvSpPr>
        <p:spPr>
          <a:xfrm>
            <a:off x="2049458" y="5855424"/>
            <a:ext cx="1901483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100" dirty="0" err="1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downsample</a:t>
            </a:r>
            <a:r>
              <a:rPr lang="en-US" altLang="ko-KR" sz="1100" dirty="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: </a:t>
            </a:r>
            <a:r>
              <a:rPr lang="ko-KR" altLang="en-US" sz="1100" dirty="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차원을 </a:t>
            </a:r>
            <a:r>
              <a:rPr lang="ko-KR" altLang="en-US" sz="1100" dirty="0" err="1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맞춰줌</a:t>
            </a:r>
            <a:r>
              <a:rPr lang="en-US" altLang="ko-KR" sz="1100" dirty="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.</a:t>
            </a:r>
            <a:endParaRPr lang="ko-KR" altLang="en-US" sz="1100" dirty="0">
              <a:solidFill>
                <a:srgbClr val="C00000"/>
              </a:solidFill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sp>
        <p:nvSpPr>
          <p:cNvPr id="136" name="오른쪽 화살표 135"/>
          <p:cNvSpPr/>
          <p:nvPr/>
        </p:nvSpPr>
        <p:spPr>
          <a:xfrm rot="964242">
            <a:off x="3719495" y="2817604"/>
            <a:ext cx="4085906" cy="1052715"/>
          </a:xfrm>
          <a:prstGeom prst="rightArrow">
            <a:avLst/>
          </a:prstGeom>
          <a:solidFill>
            <a:srgbClr val="00B050">
              <a:alpha val="37000"/>
            </a:srgbClr>
          </a:solidFill>
          <a:ln>
            <a:solidFill>
              <a:schemeClr val="accent6"/>
            </a:solidFill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dirty="0" smtClean="0">
                <a:solidFill>
                  <a:schemeClr val="accent6">
                    <a:lumMod val="50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고차원 </a:t>
            </a:r>
            <a:r>
              <a:rPr lang="en-US" altLang="ko-KR" dirty="0" smtClean="0">
                <a:solidFill>
                  <a:schemeClr val="accent6">
                    <a:lumMod val="50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features </a:t>
            </a:r>
            <a:r>
              <a:rPr lang="ko-KR" altLang="en-US" dirty="0" smtClean="0">
                <a:solidFill>
                  <a:schemeClr val="accent6">
                    <a:lumMod val="50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생성</a:t>
            </a:r>
            <a:endParaRPr lang="ko-KR" altLang="en-US" dirty="0">
              <a:solidFill>
                <a:schemeClr val="accent6">
                  <a:lumMod val="50000"/>
                </a:schemeClr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143" name="순서도: 판단 142"/>
          <p:cNvSpPr/>
          <p:nvPr/>
        </p:nvSpPr>
        <p:spPr>
          <a:xfrm>
            <a:off x="7775325" y="6357302"/>
            <a:ext cx="1724590" cy="537956"/>
          </a:xfrm>
          <a:prstGeom prst="flowChartDecision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1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IN ? True</a:t>
            </a:r>
            <a:endParaRPr lang="ko-KR" altLang="en-US" sz="110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cxnSp>
        <p:nvCxnSpPr>
          <p:cNvPr id="144" name="직선 화살표 연결선 143"/>
          <p:cNvCxnSpPr>
            <a:stCxn id="103" idx="3"/>
            <a:endCxn id="143" idx="1"/>
          </p:cNvCxnSpPr>
          <p:nvPr/>
        </p:nvCxnSpPr>
        <p:spPr>
          <a:xfrm>
            <a:off x="7309214" y="6626280"/>
            <a:ext cx="46611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7" name="직사각형 146"/>
          <p:cNvSpPr/>
          <p:nvPr/>
        </p:nvSpPr>
        <p:spPr>
          <a:xfrm>
            <a:off x="9776723" y="6442642"/>
            <a:ext cx="773886" cy="367276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100">
                <a:latin typeface="경기천년바탕 Regular" panose="02020503020101020101" pitchFamily="18" charset="-127"/>
                <a:ea typeface="경기천년바탕 Regular" panose="02020503020101020101" pitchFamily="18" charset="-127"/>
                <a:sym typeface="Symbol" panose="05050102010706020507" pitchFamily="18" charset="2"/>
              </a:rPr>
              <a:t>InstanceNorm2d</a:t>
            </a:r>
            <a:endParaRPr lang="en-US" altLang="ko-KR" sz="110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cxnSp>
        <p:nvCxnSpPr>
          <p:cNvPr id="148" name="직선 화살표 연결선 147"/>
          <p:cNvCxnSpPr>
            <a:stCxn id="143" idx="3"/>
            <a:endCxn id="147" idx="1"/>
          </p:cNvCxnSpPr>
          <p:nvPr/>
        </p:nvCxnSpPr>
        <p:spPr>
          <a:xfrm>
            <a:off x="9499915" y="6626280"/>
            <a:ext cx="27680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꺾인 연결선 150"/>
          <p:cNvCxnSpPr>
            <a:stCxn id="147" idx="2"/>
            <a:endCxn id="116" idx="3"/>
          </p:cNvCxnSpPr>
          <p:nvPr/>
        </p:nvCxnSpPr>
        <p:spPr>
          <a:xfrm rot="5400000">
            <a:off x="8489045" y="5630087"/>
            <a:ext cx="494791" cy="2854452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꺾인 연결선 153"/>
          <p:cNvCxnSpPr>
            <a:stCxn id="143" idx="2"/>
            <a:endCxn id="116" idx="0"/>
          </p:cNvCxnSpPr>
          <p:nvPr/>
        </p:nvCxnSpPr>
        <p:spPr>
          <a:xfrm rot="5400000">
            <a:off x="7409221" y="5892671"/>
            <a:ext cx="225813" cy="2230987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7" name="직사각형 156"/>
          <p:cNvSpPr/>
          <p:nvPr/>
        </p:nvSpPr>
        <p:spPr>
          <a:xfrm>
            <a:off x="9280153" y="6302536"/>
            <a:ext cx="496570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smtClean="0"/>
              <a:t>YES</a:t>
            </a:r>
            <a:endParaRPr lang="ko-KR" altLang="en-US" sz="1000" dirty="0"/>
          </a:p>
        </p:txBody>
      </p:sp>
      <p:sp>
        <p:nvSpPr>
          <p:cNvPr id="158" name="직사각형 157"/>
          <p:cNvSpPr/>
          <p:nvPr/>
        </p:nvSpPr>
        <p:spPr>
          <a:xfrm>
            <a:off x="7529177" y="6787766"/>
            <a:ext cx="496570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smtClean="0"/>
              <a:t>NO</a:t>
            </a:r>
            <a:endParaRPr lang="ko-KR" altLang="en-US" sz="1000" dirty="0"/>
          </a:p>
        </p:txBody>
      </p:sp>
      <p:sp>
        <p:nvSpPr>
          <p:cNvPr id="159" name="직사각형 158"/>
          <p:cNvSpPr/>
          <p:nvPr/>
        </p:nvSpPr>
        <p:spPr>
          <a:xfrm>
            <a:off x="7750413" y="5679676"/>
            <a:ext cx="437940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100" dirty="0" err="1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ch</a:t>
            </a:r>
            <a:r>
              <a:rPr lang="en-US" altLang="ko-KR" sz="1100" dirty="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/4</a:t>
            </a:r>
            <a:endParaRPr lang="ko-KR" altLang="en-US" sz="1100" dirty="0">
              <a:solidFill>
                <a:srgbClr val="C00000"/>
              </a:solidFill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sp>
        <p:nvSpPr>
          <p:cNvPr id="160" name="직사각형 159"/>
          <p:cNvSpPr/>
          <p:nvPr/>
        </p:nvSpPr>
        <p:spPr>
          <a:xfrm>
            <a:off x="7446537" y="6216829"/>
            <a:ext cx="896399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100" dirty="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out channel</a:t>
            </a:r>
            <a:endParaRPr lang="ko-KR" altLang="en-US" sz="1100" dirty="0">
              <a:solidFill>
                <a:srgbClr val="C00000"/>
              </a:solidFill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sp>
        <p:nvSpPr>
          <p:cNvPr id="161" name="직사각형 160"/>
          <p:cNvSpPr/>
          <p:nvPr/>
        </p:nvSpPr>
        <p:spPr>
          <a:xfrm>
            <a:off x="182914" y="5079594"/>
            <a:ext cx="5343525" cy="507831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ko-KR" altLang="en-US" sz="900" dirty="0">
                <a:solidFill>
                  <a:srgbClr val="C00000"/>
                </a:solidFill>
              </a:rPr>
              <a:t>덧셈의 의미</a:t>
            </a:r>
            <a:r>
              <a:rPr lang="en-US" altLang="ko-KR" sz="900" dirty="0">
                <a:solidFill>
                  <a:srgbClr val="C00000"/>
                </a:solidFill>
              </a:rPr>
              <a:t>: </a:t>
            </a:r>
            <a:r>
              <a:rPr lang="ko-KR" altLang="en-US" sz="900" dirty="0">
                <a:solidFill>
                  <a:srgbClr val="C00000"/>
                </a:solidFill>
              </a:rPr>
              <a:t>네 가지 경로의 </a:t>
            </a:r>
            <a:r>
              <a:rPr lang="ko-KR" altLang="en-US" sz="900" dirty="0" err="1">
                <a:solidFill>
                  <a:srgbClr val="C00000"/>
                </a:solidFill>
              </a:rPr>
              <a:t>특징맵을</a:t>
            </a:r>
            <a:r>
              <a:rPr lang="ko-KR" altLang="en-US" sz="900" dirty="0">
                <a:solidFill>
                  <a:srgbClr val="C00000"/>
                </a:solidFill>
              </a:rPr>
              <a:t> 결합하여 다양한 스케일과 형태의 정보를 통합하고</a:t>
            </a:r>
            <a:r>
              <a:rPr lang="en-US" altLang="ko-KR" sz="900" dirty="0">
                <a:solidFill>
                  <a:srgbClr val="C00000"/>
                </a:solidFill>
              </a:rPr>
              <a:t>, </a:t>
            </a:r>
            <a:r>
              <a:rPr lang="ko-KR" altLang="en-US" sz="900" dirty="0">
                <a:solidFill>
                  <a:srgbClr val="C00000"/>
                </a:solidFill>
              </a:rPr>
              <a:t>모델의 표현력을 높이는 역할을 합니다</a:t>
            </a:r>
            <a:r>
              <a:rPr lang="en-US" altLang="ko-KR" sz="900" dirty="0">
                <a:solidFill>
                  <a:srgbClr val="C00000"/>
                </a:solidFill>
              </a:rPr>
              <a:t>. </a:t>
            </a:r>
            <a:r>
              <a:rPr lang="ko-KR" altLang="en-US" sz="900" dirty="0">
                <a:solidFill>
                  <a:srgbClr val="C00000"/>
                </a:solidFill>
              </a:rPr>
              <a:t>이로 인해 모델은 입력 데이터에 대해 보다 풍부하고 복합적인 특징을 학습할 수 있습니다</a:t>
            </a:r>
            <a:r>
              <a:rPr lang="en-US" altLang="ko-KR" sz="900" dirty="0">
                <a:solidFill>
                  <a:srgbClr val="C00000"/>
                </a:solidFill>
              </a:rPr>
              <a:t>.</a:t>
            </a:r>
            <a:endParaRPr lang="ko-KR" altLang="en-US" sz="900" dirty="0">
              <a:solidFill>
                <a:srgbClr val="C00000"/>
              </a:solidFill>
            </a:endParaRPr>
          </a:p>
        </p:txBody>
      </p:sp>
      <p:cxnSp>
        <p:nvCxnSpPr>
          <p:cNvPr id="162" name="직선 화살표 연결선 161"/>
          <p:cNvCxnSpPr>
            <a:stCxn id="159" idx="2"/>
          </p:cNvCxnSpPr>
          <p:nvPr/>
        </p:nvCxnSpPr>
        <p:spPr>
          <a:xfrm>
            <a:off x="7969383" y="5941286"/>
            <a:ext cx="0" cy="29535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5" name="오른쪽 화살표 164"/>
          <p:cNvSpPr/>
          <p:nvPr/>
        </p:nvSpPr>
        <p:spPr>
          <a:xfrm>
            <a:off x="4729981" y="918309"/>
            <a:ext cx="4085906" cy="1052715"/>
          </a:xfrm>
          <a:prstGeom prst="rightArrow">
            <a:avLst/>
          </a:prstGeom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dirty="0" smtClean="0">
                <a:solidFill>
                  <a:schemeClr val="accent1">
                    <a:lumMod val="50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좀더 넓은 영역을 관찰</a:t>
            </a:r>
            <a:endParaRPr lang="ko-KR" altLang="en-US" dirty="0">
              <a:solidFill>
                <a:schemeClr val="accent1">
                  <a:lumMod val="50000"/>
                </a:schemeClr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73" name="직사각형 72"/>
          <p:cNvSpPr/>
          <p:nvPr/>
        </p:nvSpPr>
        <p:spPr>
          <a:xfrm>
            <a:off x="3950941" y="580944"/>
            <a:ext cx="1568058" cy="43088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100" dirty="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*</a:t>
            </a:r>
            <a:r>
              <a:rPr lang="en-US" altLang="ko-KR" sz="1100" dirty="0" err="1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ch</a:t>
            </a:r>
            <a:r>
              <a:rPr lang="ko-KR" altLang="en-US" sz="1100" dirty="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는 </a:t>
            </a:r>
            <a:r>
              <a:rPr lang="en-US" altLang="ko-KR" sz="1100" dirty="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out channel</a:t>
            </a:r>
            <a:r>
              <a:rPr lang="ko-KR" altLang="en-US" sz="1100" dirty="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이다</a:t>
            </a:r>
            <a:r>
              <a:rPr lang="en-US" altLang="ko-KR" sz="1100" dirty="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.</a:t>
            </a:r>
          </a:p>
          <a:p>
            <a:r>
              <a:rPr lang="en-US" altLang="ko-KR" sz="1100" dirty="0" err="1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ch</a:t>
            </a:r>
            <a:r>
              <a:rPr lang="ko-KR" altLang="en-US" sz="1100" dirty="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는 </a:t>
            </a:r>
            <a:r>
              <a:rPr lang="en-US" altLang="ko-KR" sz="1100" dirty="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256, 384, 512 </a:t>
            </a:r>
            <a:r>
              <a:rPr lang="ko-KR" altLang="en-US" sz="1100" dirty="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이다</a:t>
            </a:r>
            <a:endParaRPr lang="ko-KR" altLang="en-US" sz="1100" dirty="0">
              <a:solidFill>
                <a:srgbClr val="C00000"/>
              </a:solidFill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sp>
        <p:nvSpPr>
          <p:cNvPr id="6" name="직사각형 5"/>
          <p:cNvSpPr/>
          <p:nvPr/>
        </p:nvSpPr>
        <p:spPr>
          <a:xfrm>
            <a:off x="219070" y="5534657"/>
            <a:ext cx="5343525" cy="230832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altLang="ko-KR" sz="900" dirty="0">
                <a:solidFill>
                  <a:srgbClr val="CCCCCC"/>
                </a:solidFill>
                <a:latin typeface="Consolas" panose="020B0609020204030204" pitchFamily="49" charset="0"/>
              </a:rPr>
              <a:t> </a:t>
            </a:r>
            <a:r>
              <a:rPr lang="en-US" altLang="ko-KR" sz="9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x2 = </a:t>
            </a:r>
            <a:r>
              <a:rPr lang="en-US" altLang="ko-KR" sz="900" dirty="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self.gate</a:t>
            </a:r>
            <a:r>
              <a:rPr lang="en-US" altLang="ko-KR" sz="9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(x2a) + </a:t>
            </a:r>
            <a:r>
              <a:rPr lang="en-US" altLang="ko-KR" sz="900" dirty="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self.gate</a:t>
            </a:r>
            <a:r>
              <a:rPr lang="en-US" altLang="ko-KR" sz="9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(x2b) + </a:t>
            </a:r>
            <a:r>
              <a:rPr lang="en-US" altLang="ko-KR" sz="900" dirty="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self.gate</a:t>
            </a:r>
            <a:r>
              <a:rPr lang="en-US" altLang="ko-KR" sz="9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(x2c) + </a:t>
            </a:r>
            <a:r>
              <a:rPr lang="en-US" altLang="ko-KR" sz="900" dirty="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self.gate</a:t>
            </a:r>
            <a:r>
              <a:rPr lang="en-US" altLang="ko-KR" sz="9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(x2d)</a:t>
            </a:r>
            <a:endParaRPr lang="en-US" altLang="ko-KR" sz="900" b="0" dirty="0">
              <a:solidFill>
                <a:schemeClr val="accent6">
                  <a:lumMod val="50000"/>
                </a:schemeClr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70997257"/>
      </p:ext>
    </p:extLst>
  </p:cSld>
  <p:clrMapOvr>
    <a:masterClrMapping/>
  </p:clrMapOvr>
  <p:transition spd="slow">
    <p:wipe/>
  </p:transition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369208" y="314530"/>
            <a:ext cx="2861904" cy="468990"/>
          </a:xfrm>
          <a:prstGeom prst="rect">
            <a:avLst/>
          </a:prstGeom>
          <a:noFill/>
        </p:spPr>
        <p:txBody>
          <a:bodyPr wrap="none" lIns="98694" tIns="49347" rIns="98694" bIns="49347">
            <a:spAutoFit/>
          </a:bodyPr>
          <a:lstStyle/>
          <a:p>
            <a:pPr algn="ctr">
              <a:spcBef>
                <a:spcPts val="648"/>
              </a:spcBef>
            </a:pPr>
            <a:r>
              <a:rPr lang="en-US" altLang="ko-KR" sz="2400" b="1" dirty="0">
                <a:solidFill>
                  <a:srgbClr val="0E0585"/>
                </a:solidFill>
              </a:rPr>
              <a:t>class </a:t>
            </a:r>
            <a:r>
              <a:rPr lang="en-US" altLang="ko-KR" sz="2400" b="1" dirty="0" err="1" smtClean="0">
                <a:solidFill>
                  <a:srgbClr val="0E0585"/>
                </a:solidFill>
              </a:rPr>
              <a:t>OSBlock</a:t>
            </a:r>
            <a:r>
              <a:rPr lang="en-US" altLang="ko-KR" sz="2400" b="1" dirty="0" smtClean="0">
                <a:solidFill>
                  <a:srgbClr val="0E0585"/>
                </a:solidFill>
              </a:rPr>
              <a:t> end</a:t>
            </a:r>
            <a:endParaRPr lang="en-US" altLang="ko-KR" sz="2400" b="1" dirty="0">
              <a:solidFill>
                <a:srgbClr val="0E0585"/>
              </a:solidFill>
            </a:endParaRPr>
          </a:p>
        </p:txBody>
      </p:sp>
      <p:sp>
        <p:nvSpPr>
          <p:cNvPr id="7" name="직사각형 6"/>
          <p:cNvSpPr/>
          <p:nvPr/>
        </p:nvSpPr>
        <p:spPr>
          <a:xfrm>
            <a:off x="554990" y="1455737"/>
            <a:ext cx="9099550" cy="507831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400" dirty="0" err="1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OSBlock</a:t>
            </a:r>
            <a:r>
              <a:rPr lang="ko-KR" altLang="en-US" sz="14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의 주요 기능</a:t>
            </a:r>
            <a:r>
              <a:rPr lang="en-US" altLang="ko-KR" sz="14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:</a:t>
            </a:r>
          </a:p>
          <a:p>
            <a:endParaRPr lang="en-US" altLang="ko-KR" sz="1100" dirty="0"/>
          </a:p>
          <a:p>
            <a:r>
              <a:rPr lang="en-US" altLang="ko-KR" sz="1100" dirty="0"/>
              <a:t>    </a:t>
            </a:r>
            <a:r>
              <a:rPr lang="ko-KR" altLang="en-US" sz="11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다양한 수용 영역의 학습</a:t>
            </a:r>
            <a:r>
              <a:rPr lang="en-US" altLang="ko-KR" sz="11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:</a:t>
            </a:r>
          </a:p>
          <a:p>
            <a:r>
              <a:rPr lang="en-US" altLang="ko-KR" sz="1100" dirty="0"/>
              <a:t>        </a:t>
            </a:r>
            <a:r>
              <a:rPr lang="en-US" altLang="ko-KR" sz="1100" dirty="0" err="1"/>
              <a:t>OSBlock</a:t>
            </a:r>
            <a:r>
              <a:rPr lang="ko-KR" altLang="en-US" sz="1100" dirty="0"/>
              <a:t>은 여러 개의 경량화된 </a:t>
            </a:r>
            <a:r>
              <a:rPr lang="en-US" altLang="ko-KR" sz="1100" dirty="0"/>
              <a:t>3x3 </a:t>
            </a:r>
            <a:r>
              <a:rPr lang="ko-KR" altLang="en-US" sz="1100" dirty="0" err="1"/>
              <a:t>컨볼루션</a:t>
            </a:r>
            <a:r>
              <a:rPr lang="en-US" altLang="ko-KR" sz="1100" dirty="0"/>
              <a:t>(LightConv3x3) </a:t>
            </a:r>
            <a:r>
              <a:rPr lang="ko-KR" altLang="en-US" sz="1100" dirty="0"/>
              <a:t>모듈을 사용하여 다양한 깊이와 경로를 통해 특징을 추출합니다</a:t>
            </a:r>
            <a:r>
              <a:rPr lang="en-US" altLang="ko-KR" sz="1100" dirty="0"/>
              <a:t>. </a:t>
            </a:r>
            <a:r>
              <a:rPr lang="ko-KR" altLang="en-US" sz="1100" dirty="0"/>
              <a:t>각 경로는 서로 다른 수의 </a:t>
            </a:r>
            <a:r>
              <a:rPr lang="en-US" altLang="ko-KR" sz="1100" dirty="0"/>
              <a:t>LightConv3x3 </a:t>
            </a:r>
            <a:r>
              <a:rPr lang="ko-KR" altLang="en-US" sz="1100" dirty="0"/>
              <a:t>레이어를 포함하여 다양한 공간적 수용 영역을 형성합니다</a:t>
            </a:r>
            <a:r>
              <a:rPr lang="en-US" altLang="ko-KR" sz="1100" dirty="0"/>
              <a:t>:</a:t>
            </a:r>
          </a:p>
          <a:p>
            <a:r>
              <a:rPr lang="en-US" altLang="ko-KR" sz="1100" dirty="0"/>
              <a:t>            conv2a: </a:t>
            </a:r>
            <a:r>
              <a:rPr lang="ko-KR" altLang="en-US" sz="1100" dirty="0"/>
              <a:t>단일 </a:t>
            </a:r>
            <a:r>
              <a:rPr lang="en-US" altLang="ko-KR" sz="1100" dirty="0"/>
              <a:t>LightConv3x3.</a:t>
            </a:r>
          </a:p>
          <a:p>
            <a:r>
              <a:rPr lang="en-US" altLang="ko-KR" sz="1100" dirty="0"/>
              <a:t>            conv2b: </a:t>
            </a:r>
            <a:r>
              <a:rPr lang="ko-KR" altLang="en-US" sz="1100" dirty="0"/>
              <a:t>두 개의 </a:t>
            </a:r>
            <a:r>
              <a:rPr lang="en-US" altLang="ko-KR" sz="1100" dirty="0"/>
              <a:t>LightConv3x3</a:t>
            </a:r>
            <a:r>
              <a:rPr lang="ko-KR" altLang="en-US" sz="1100" dirty="0"/>
              <a:t>을 순차적으로 연결</a:t>
            </a:r>
            <a:r>
              <a:rPr lang="en-US" altLang="ko-KR" sz="1100" dirty="0"/>
              <a:t>.</a:t>
            </a:r>
          </a:p>
          <a:p>
            <a:r>
              <a:rPr lang="en-US" altLang="ko-KR" sz="1100" dirty="0"/>
              <a:t>            conv2c: </a:t>
            </a:r>
            <a:r>
              <a:rPr lang="ko-KR" altLang="en-US" sz="1100" dirty="0"/>
              <a:t>세 개의 </a:t>
            </a:r>
            <a:r>
              <a:rPr lang="en-US" altLang="ko-KR" sz="1100" dirty="0"/>
              <a:t>LightConv3x3</a:t>
            </a:r>
            <a:r>
              <a:rPr lang="ko-KR" altLang="en-US" sz="1100" dirty="0"/>
              <a:t>을 순차적으로 연결</a:t>
            </a:r>
            <a:r>
              <a:rPr lang="en-US" altLang="ko-KR" sz="1100" dirty="0"/>
              <a:t>.</a:t>
            </a:r>
          </a:p>
          <a:p>
            <a:r>
              <a:rPr lang="en-US" altLang="ko-KR" sz="1100" dirty="0"/>
              <a:t>            conv2d: </a:t>
            </a:r>
            <a:r>
              <a:rPr lang="ko-KR" altLang="en-US" sz="1100" dirty="0"/>
              <a:t>네 개의 </a:t>
            </a:r>
            <a:r>
              <a:rPr lang="en-US" altLang="ko-KR" sz="1100" dirty="0"/>
              <a:t>LightConv3x3</a:t>
            </a:r>
            <a:r>
              <a:rPr lang="ko-KR" altLang="en-US" sz="1100" dirty="0"/>
              <a:t>을 순차적으로 연결</a:t>
            </a:r>
            <a:r>
              <a:rPr lang="en-US" altLang="ko-KR" sz="1100" dirty="0"/>
              <a:t>.</a:t>
            </a:r>
          </a:p>
          <a:p>
            <a:endParaRPr lang="en-US" altLang="ko-KR" sz="1100" dirty="0"/>
          </a:p>
          <a:p>
            <a:r>
              <a:rPr lang="en-US" altLang="ko-KR" sz="11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   </a:t>
            </a:r>
            <a:r>
              <a:rPr lang="ko-KR" altLang="en-US" sz="11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채널 게이트를 통한 중요도 조절</a:t>
            </a:r>
            <a:r>
              <a:rPr lang="en-US" altLang="ko-KR" sz="11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:</a:t>
            </a:r>
          </a:p>
          <a:p>
            <a:r>
              <a:rPr lang="en-US" altLang="ko-KR" sz="1100" dirty="0"/>
              <a:t>        </a:t>
            </a:r>
            <a:r>
              <a:rPr lang="ko-KR" altLang="en-US" sz="1100" dirty="0"/>
              <a:t>각 경로에서 추출된 특징 </a:t>
            </a:r>
            <a:r>
              <a:rPr lang="ko-KR" altLang="en-US" sz="1100" dirty="0" err="1"/>
              <a:t>맵들은</a:t>
            </a:r>
            <a:r>
              <a:rPr lang="ko-KR" altLang="en-US" sz="1100" dirty="0"/>
              <a:t> </a:t>
            </a:r>
            <a:r>
              <a:rPr lang="en-US" altLang="ko-KR" sz="1100" dirty="0" err="1"/>
              <a:t>ChannelGate</a:t>
            </a:r>
            <a:r>
              <a:rPr lang="ko-KR" altLang="en-US" sz="1100" dirty="0"/>
              <a:t>를 통해 </a:t>
            </a:r>
            <a:r>
              <a:rPr lang="ko-KR" altLang="en-US" sz="1100" dirty="0" err="1"/>
              <a:t>채널별</a:t>
            </a:r>
            <a:r>
              <a:rPr lang="ko-KR" altLang="en-US" sz="1100" dirty="0"/>
              <a:t> 중요도를 조절합니다</a:t>
            </a:r>
            <a:r>
              <a:rPr lang="en-US" altLang="ko-KR" sz="1100" dirty="0"/>
              <a:t>. </a:t>
            </a:r>
            <a:r>
              <a:rPr lang="en-US" altLang="ko-KR" sz="1100" dirty="0" err="1"/>
              <a:t>ChannelGate</a:t>
            </a:r>
            <a:r>
              <a:rPr lang="ko-KR" altLang="en-US" sz="1100" dirty="0"/>
              <a:t>는 입력 특징 </a:t>
            </a:r>
            <a:r>
              <a:rPr lang="ko-KR" altLang="en-US" sz="1100" dirty="0" err="1"/>
              <a:t>맵의</a:t>
            </a:r>
            <a:r>
              <a:rPr lang="ko-KR" altLang="en-US" sz="1100" dirty="0"/>
              <a:t> </a:t>
            </a:r>
            <a:r>
              <a:rPr lang="ko-KR" altLang="en-US" sz="1100" dirty="0" err="1"/>
              <a:t>채널별로</a:t>
            </a:r>
            <a:r>
              <a:rPr lang="ko-KR" altLang="en-US" sz="1100" dirty="0"/>
              <a:t> 가중치를 학습하여</a:t>
            </a:r>
            <a:r>
              <a:rPr lang="en-US" altLang="ko-KR" sz="1100" dirty="0"/>
              <a:t>, </a:t>
            </a:r>
            <a:r>
              <a:rPr lang="ko-KR" altLang="en-US" sz="1100" dirty="0"/>
              <a:t>중요도가 높은 채널의 정보를 강조하고</a:t>
            </a:r>
            <a:r>
              <a:rPr lang="en-US" altLang="ko-KR" sz="1100" dirty="0"/>
              <a:t>, </a:t>
            </a:r>
            <a:r>
              <a:rPr lang="ko-KR" altLang="en-US" sz="1100" dirty="0"/>
              <a:t>중요도가 낮은 채널의 기여를 억제합니다</a:t>
            </a:r>
            <a:r>
              <a:rPr lang="en-US" altLang="ko-KR" sz="1100" dirty="0"/>
              <a:t>.</a:t>
            </a:r>
          </a:p>
          <a:p>
            <a:endParaRPr lang="en-US" altLang="ko-KR" sz="1100" dirty="0"/>
          </a:p>
          <a:p>
            <a:r>
              <a:rPr lang="en-US" altLang="ko-KR" sz="11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   </a:t>
            </a:r>
            <a:r>
              <a:rPr lang="ko-KR" altLang="en-US" sz="11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합성된 특징 맵</a:t>
            </a:r>
            <a:r>
              <a:rPr lang="en-US" altLang="ko-KR" sz="11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:</a:t>
            </a:r>
          </a:p>
          <a:p>
            <a:r>
              <a:rPr lang="en-US" altLang="ko-KR" sz="1100" dirty="0"/>
              <a:t>        conv2a, conv2b, conv2c, conv2d</a:t>
            </a:r>
            <a:r>
              <a:rPr lang="ko-KR" altLang="en-US" sz="1100" dirty="0"/>
              <a:t>로 생성된 특징 </a:t>
            </a:r>
            <a:r>
              <a:rPr lang="ko-KR" altLang="en-US" sz="1100" dirty="0" err="1"/>
              <a:t>맵들은</a:t>
            </a:r>
            <a:r>
              <a:rPr lang="ko-KR" altLang="en-US" sz="1100" dirty="0"/>
              <a:t> 모두 </a:t>
            </a:r>
            <a:r>
              <a:rPr lang="en-US" altLang="ko-KR" sz="1100" dirty="0" err="1"/>
              <a:t>ChannelGate</a:t>
            </a:r>
            <a:r>
              <a:rPr lang="ko-KR" altLang="en-US" sz="1100" dirty="0"/>
              <a:t>를 거친 후</a:t>
            </a:r>
            <a:r>
              <a:rPr lang="en-US" altLang="ko-KR" sz="1100" dirty="0"/>
              <a:t>, </a:t>
            </a:r>
            <a:r>
              <a:rPr lang="ko-KR" altLang="en-US" sz="1100" dirty="0"/>
              <a:t>이 값들을 더하여 통합된 특징 </a:t>
            </a:r>
            <a:r>
              <a:rPr lang="ko-KR" altLang="en-US" sz="1100" dirty="0" err="1"/>
              <a:t>맵을</a:t>
            </a:r>
            <a:r>
              <a:rPr lang="ko-KR" altLang="en-US" sz="1100" dirty="0"/>
              <a:t> 형성합니다</a:t>
            </a:r>
            <a:r>
              <a:rPr lang="en-US" altLang="ko-KR" sz="1100" dirty="0"/>
              <a:t>. </a:t>
            </a:r>
            <a:r>
              <a:rPr lang="ko-KR" altLang="en-US" sz="1100" dirty="0"/>
              <a:t>이를 통해 다양한 스케일의 정보를 하나의 통합된 표현으로 결합합니다</a:t>
            </a:r>
            <a:r>
              <a:rPr lang="en-US" altLang="ko-KR" sz="1100" dirty="0"/>
              <a:t>.</a:t>
            </a:r>
          </a:p>
          <a:p>
            <a:endParaRPr lang="en-US" altLang="ko-KR" sz="1100" dirty="0"/>
          </a:p>
          <a:p>
            <a:r>
              <a:rPr lang="en-US" altLang="ko-KR" sz="1100" dirty="0"/>
              <a:t>    </a:t>
            </a:r>
            <a:r>
              <a:rPr lang="en-US" altLang="ko-KR" sz="11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1x1 </a:t>
            </a:r>
            <a:r>
              <a:rPr lang="ko-KR" altLang="en-US" sz="1100" dirty="0" err="1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컨볼루션을</a:t>
            </a:r>
            <a:r>
              <a:rPr lang="ko-KR" altLang="en-US" sz="11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통한 차원 조정</a:t>
            </a:r>
            <a:r>
              <a:rPr lang="en-US" altLang="ko-KR" sz="11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:</a:t>
            </a:r>
          </a:p>
          <a:p>
            <a:r>
              <a:rPr lang="en-US" altLang="ko-KR" sz="1100" dirty="0"/>
              <a:t>        </a:t>
            </a:r>
            <a:r>
              <a:rPr lang="ko-KR" altLang="en-US" sz="1100" dirty="0"/>
              <a:t>통합된 특징 </a:t>
            </a:r>
            <a:r>
              <a:rPr lang="ko-KR" altLang="en-US" sz="1100" dirty="0" err="1"/>
              <a:t>맵은</a:t>
            </a:r>
            <a:r>
              <a:rPr lang="ko-KR" altLang="en-US" sz="1100" dirty="0"/>
              <a:t> </a:t>
            </a:r>
            <a:r>
              <a:rPr lang="en-US" altLang="ko-KR" sz="1100" dirty="0"/>
              <a:t>Conv1x1Linear </a:t>
            </a:r>
            <a:r>
              <a:rPr lang="ko-KR" altLang="en-US" sz="1100" dirty="0"/>
              <a:t>레이어를 통과하여</a:t>
            </a:r>
            <a:r>
              <a:rPr lang="en-US" altLang="ko-KR" sz="1100" dirty="0"/>
              <a:t>, </a:t>
            </a:r>
            <a:r>
              <a:rPr lang="ko-KR" altLang="en-US" sz="1100" dirty="0"/>
              <a:t>원하는 출력 채널 수로 조정됩니다</a:t>
            </a:r>
            <a:r>
              <a:rPr lang="en-US" altLang="ko-KR" sz="1100" dirty="0"/>
              <a:t>. </a:t>
            </a:r>
            <a:r>
              <a:rPr lang="ko-KR" altLang="en-US" sz="1100" dirty="0"/>
              <a:t>이 레이어는 활성화 함수가 없는 </a:t>
            </a:r>
            <a:r>
              <a:rPr lang="en-US" altLang="ko-KR" sz="1100" dirty="0"/>
              <a:t>1x1 </a:t>
            </a:r>
            <a:r>
              <a:rPr lang="ko-KR" altLang="en-US" sz="1100" dirty="0" err="1"/>
              <a:t>컨볼루션으로</a:t>
            </a:r>
            <a:r>
              <a:rPr lang="ko-KR" altLang="en-US" sz="1100" dirty="0"/>
              <a:t> 구성되어 있어</a:t>
            </a:r>
            <a:r>
              <a:rPr lang="en-US" altLang="ko-KR" sz="1100" dirty="0"/>
              <a:t>, </a:t>
            </a:r>
            <a:r>
              <a:rPr lang="ko-KR" altLang="en-US" sz="1100" dirty="0"/>
              <a:t>특징을 선형적으로 변환합니다</a:t>
            </a:r>
            <a:r>
              <a:rPr lang="en-US" altLang="ko-KR" sz="1100" dirty="0"/>
              <a:t>.</a:t>
            </a:r>
          </a:p>
          <a:p>
            <a:endParaRPr lang="en-US" altLang="ko-KR" sz="1100" dirty="0"/>
          </a:p>
          <a:p>
            <a:r>
              <a:rPr lang="en-US" altLang="ko-KR" sz="1100" dirty="0"/>
              <a:t>    </a:t>
            </a:r>
            <a:r>
              <a:rPr lang="ko-KR" altLang="en-US" sz="1100" dirty="0" err="1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잔차</a:t>
            </a:r>
            <a:r>
              <a:rPr lang="ko-KR" altLang="en-US" sz="11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연결 </a:t>
            </a:r>
            <a:r>
              <a:rPr lang="en-US" altLang="ko-KR" sz="11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(Residual Connection):</a:t>
            </a:r>
          </a:p>
          <a:p>
            <a:r>
              <a:rPr lang="en-US" altLang="ko-KR" sz="1100" dirty="0"/>
              <a:t>        </a:t>
            </a:r>
            <a:r>
              <a:rPr lang="ko-KR" altLang="en-US" sz="1100" dirty="0"/>
              <a:t>입력 </a:t>
            </a:r>
            <a:r>
              <a:rPr lang="ko-KR" altLang="en-US" sz="1100" dirty="0" err="1"/>
              <a:t>텐서와</a:t>
            </a:r>
            <a:r>
              <a:rPr lang="ko-KR" altLang="en-US" sz="1100" dirty="0"/>
              <a:t> 통합된 특징 </a:t>
            </a:r>
            <a:r>
              <a:rPr lang="ko-KR" altLang="en-US" sz="1100" dirty="0" err="1"/>
              <a:t>맵을</a:t>
            </a:r>
            <a:r>
              <a:rPr lang="ko-KR" altLang="en-US" sz="1100" dirty="0"/>
              <a:t> 합쳐서 최종 출력을 생성합니다</a:t>
            </a:r>
            <a:r>
              <a:rPr lang="en-US" altLang="ko-KR" sz="1100" dirty="0"/>
              <a:t>. </a:t>
            </a:r>
            <a:r>
              <a:rPr lang="ko-KR" altLang="en-US" sz="1100" dirty="0"/>
              <a:t>이는 </a:t>
            </a:r>
            <a:r>
              <a:rPr lang="ko-KR" altLang="en-US" sz="1100" dirty="0" err="1"/>
              <a:t>잔차</a:t>
            </a:r>
            <a:r>
              <a:rPr lang="ko-KR" altLang="en-US" sz="1100" dirty="0"/>
              <a:t> 연결을 통해 학습을 안정화하고</a:t>
            </a:r>
            <a:r>
              <a:rPr lang="en-US" altLang="ko-KR" sz="1100" dirty="0"/>
              <a:t>, </a:t>
            </a:r>
            <a:r>
              <a:rPr lang="ko-KR" altLang="en-US" sz="1100" dirty="0"/>
              <a:t>입력 정보를 유지하며 추가적인 특징을 학습하도록 돕습니다</a:t>
            </a:r>
            <a:r>
              <a:rPr lang="en-US" altLang="ko-KR" sz="1100" dirty="0"/>
              <a:t>.</a:t>
            </a:r>
          </a:p>
          <a:p>
            <a:r>
              <a:rPr lang="en-US" altLang="ko-KR" sz="1100" dirty="0"/>
              <a:t>        </a:t>
            </a:r>
            <a:r>
              <a:rPr lang="ko-KR" altLang="en-US" sz="1100" dirty="0"/>
              <a:t>만약 입력 채널 수와 출력 채널 수가 다르면</a:t>
            </a:r>
            <a:r>
              <a:rPr lang="en-US" altLang="ko-KR" sz="1100" dirty="0"/>
              <a:t>, </a:t>
            </a:r>
            <a:r>
              <a:rPr lang="en-US" altLang="ko-KR" sz="1100" dirty="0" err="1"/>
              <a:t>downsample</a:t>
            </a:r>
            <a:r>
              <a:rPr lang="en-US" altLang="ko-KR" sz="1100" dirty="0"/>
              <a:t> </a:t>
            </a:r>
            <a:r>
              <a:rPr lang="ko-KR" altLang="en-US" sz="1100" dirty="0"/>
              <a:t>레이어를 사용하여 입력의 채널 수를 출력의 채널 수와 맞춰줍니다</a:t>
            </a:r>
            <a:r>
              <a:rPr lang="en-US" altLang="ko-KR" sz="1100" dirty="0"/>
              <a:t>.</a:t>
            </a:r>
          </a:p>
          <a:p>
            <a:endParaRPr lang="en-US" altLang="ko-KR" sz="1100" dirty="0"/>
          </a:p>
          <a:p>
            <a:r>
              <a:rPr lang="en-US" altLang="ko-KR" sz="1100" dirty="0"/>
              <a:t>    </a:t>
            </a:r>
            <a:r>
              <a:rPr lang="ko-KR" altLang="en-US" sz="11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활성화 함수</a:t>
            </a:r>
            <a:r>
              <a:rPr lang="en-US" altLang="ko-KR" sz="11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:</a:t>
            </a:r>
          </a:p>
          <a:p>
            <a:r>
              <a:rPr lang="en-US" altLang="ko-KR" sz="1100" dirty="0"/>
              <a:t>        </a:t>
            </a:r>
            <a:r>
              <a:rPr lang="ko-KR" altLang="en-US" sz="1100" dirty="0"/>
              <a:t>마지막으로</a:t>
            </a:r>
            <a:r>
              <a:rPr lang="en-US" altLang="ko-KR" sz="1100" dirty="0"/>
              <a:t>, </a:t>
            </a:r>
            <a:r>
              <a:rPr lang="ko-KR" altLang="en-US" sz="1100" dirty="0"/>
              <a:t>합성된 출력에 </a:t>
            </a:r>
            <a:r>
              <a:rPr lang="en-US" altLang="ko-KR" sz="1100" dirty="0" err="1"/>
              <a:t>ReLU</a:t>
            </a:r>
            <a:r>
              <a:rPr lang="en-US" altLang="ko-KR" sz="1100" dirty="0"/>
              <a:t> </a:t>
            </a:r>
            <a:r>
              <a:rPr lang="ko-KR" altLang="en-US" sz="1100" dirty="0"/>
              <a:t>활성화 함수가 적용되어 비선형성이 추가됩니다</a:t>
            </a:r>
            <a:r>
              <a:rPr lang="en-US" altLang="ko-KR" sz="1100" dirty="0"/>
              <a:t>.</a:t>
            </a:r>
            <a:endParaRPr lang="ko-KR" altLang="en-US" sz="1100" dirty="0"/>
          </a:p>
        </p:txBody>
      </p:sp>
    </p:spTree>
    <p:extLst>
      <p:ext uri="{BB962C8B-B14F-4D97-AF65-F5344CB8AC3E}">
        <p14:creationId xmlns:p14="http://schemas.microsoft.com/office/powerpoint/2010/main" val="791702836"/>
      </p:ext>
    </p:extLst>
  </p:cSld>
  <p:clrMapOvr>
    <a:masterClrMapping/>
  </p:clrMapOvr>
  <p:transition spd="slow">
    <p:wipe/>
  </p:transition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671375" y="314530"/>
            <a:ext cx="2257572" cy="468990"/>
          </a:xfrm>
          <a:prstGeom prst="rect">
            <a:avLst/>
          </a:prstGeom>
          <a:noFill/>
        </p:spPr>
        <p:txBody>
          <a:bodyPr wrap="none" lIns="98694" tIns="49347" rIns="98694" bIns="49347">
            <a:spAutoFit/>
          </a:bodyPr>
          <a:lstStyle/>
          <a:p>
            <a:pPr algn="ctr">
              <a:spcBef>
                <a:spcPts val="648"/>
              </a:spcBef>
            </a:pPr>
            <a:r>
              <a:rPr lang="en-US" altLang="ko-KR" sz="2400" b="1" dirty="0" smtClean="0">
                <a:solidFill>
                  <a:srgbClr val="0E0585"/>
                </a:solidFill>
              </a:rPr>
              <a:t>class Conv1x1</a:t>
            </a:r>
            <a:endParaRPr lang="en-US" altLang="ko-KR" sz="2400" b="1" dirty="0">
              <a:solidFill>
                <a:srgbClr val="0E0585"/>
              </a:solidFill>
            </a:endParaRPr>
          </a:p>
        </p:txBody>
      </p:sp>
      <p:sp>
        <p:nvSpPr>
          <p:cNvPr id="3" name="직사각형 2"/>
          <p:cNvSpPr/>
          <p:nvPr/>
        </p:nvSpPr>
        <p:spPr>
          <a:xfrm>
            <a:off x="642055" y="1248724"/>
            <a:ext cx="1975910" cy="367276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__</a:t>
            </a:r>
            <a:r>
              <a:rPr lang="en-US" altLang="ko-KR" sz="1400" dirty="0" err="1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init</a:t>
            </a:r>
            <a:r>
              <a:rPr lang="en-US" altLang="ko-KR" sz="14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__ , forward</a:t>
            </a:r>
            <a:endParaRPr lang="en-US" altLang="ko-KR" sz="140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sp>
        <p:nvSpPr>
          <p:cNvPr id="4" name="직사각형 3"/>
          <p:cNvSpPr/>
          <p:nvPr/>
        </p:nvSpPr>
        <p:spPr>
          <a:xfrm>
            <a:off x="2196535" y="1897566"/>
            <a:ext cx="2469900" cy="367276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Conv2 1x1 (kernel:1)</a:t>
            </a:r>
            <a:endParaRPr lang="en-US" altLang="ko-KR" sz="105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cxnSp>
        <p:nvCxnSpPr>
          <p:cNvPr id="5" name="꺾인 연결선 4"/>
          <p:cNvCxnSpPr>
            <a:stCxn id="3" idx="2"/>
            <a:endCxn id="4" idx="1"/>
          </p:cNvCxnSpPr>
          <p:nvPr/>
        </p:nvCxnSpPr>
        <p:spPr>
          <a:xfrm rot="16200000" flipH="1">
            <a:off x="1676860" y="1561530"/>
            <a:ext cx="465204" cy="574144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직사각형 22"/>
          <p:cNvSpPr/>
          <p:nvPr/>
        </p:nvSpPr>
        <p:spPr>
          <a:xfrm>
            <a:off x="2196534" y="2486759"/>
            <a:ext cx="2469901" cy="367276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BatchNorm2d</a:t>
            </a:r>
            <a:endParaRPr lang="en-US" altLang="ko-KR" sz="105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cxnSp>
        <p:nvCxnSpPr>
          <p:cNvPr id="24" name="직선 화살표 연결선 23"/>
          <p:cNvCxnSpPr>
            <a:stCxn id="4" idx="2"/>
            <a:endCxn id="23" idx="0"/>
          </p:cNvCxnSpPr>
          <p:nvPr/>
        </p:nvCxnSpPr>
        <p:spPr>
          <a:xfrm>
            <a:off x="3431485" y="2264842"/>
            <a:ext cx="0" cy="22191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직사각형 21"/>
          <p:cNvSpPr/>
          <p:nvPr/>
        </p:nvSpPr>
        <p:spPr>
          <a:xfrm>
            <a:off x="2196534" y="3075952"/>
            <a:ext cx="2469901" cy="367276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 dirty="0" err="1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  <a:hlinkClick r:id="rId2" action="ppaction://hlinksldjump"/>
              </a:rPr>
              <a:t>ReLU</a:t>
            </a:r>
            <a:endParaRPr lang="en-US" altLang="ko-KR" sz="105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sp>
        <p:nvSpPr>
          <p:cNvPr id="6" name="직사각형 5"/>
          <p:cNvSpPr/>
          <p:nvPr/>
        </p:nvSpPr>
        <p:spPr>
          <a:xfrm>
            <a:off x="4908653" y="1280906"/>
            <a:ext cx="5343525" cy="4493538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ko-KR" altLang="en-US" sz="1100" dirty="0" smtClean="0">
                <a:solidFill>
                  <a:srgbClr val="0070C0"/>
                </a:solidFill>
                <a:latin typeface="경기천년바탕 Bold" panose="02020803020101020101" pitchFamily="18" charset="-127"/>
                <a:ea typeface="경기천년바탕 Bold" panose="02020803020101020101" pitchFamily="18" charset="-127"/>
              </a:rPr>
              <a:t>클래스의 </a:t>
            </a:r>
            <a:r>
              <a:rPr lang="ko-KR" altLang="en-US" sz="1100" dirty="0">
                <a:solidFill>
                  <a:srgbClr val="0070C0"/>
                </a:solidFill>
                <a:latin typeface="경기천년바탕 Bold" panose="02020803020101020101" pitchFamily="18" charset="-127"/>
                <a:ea typeface="경기천년바탕 Bold" panose="02020803020101020101" pitchFamily="18" charset="-127"/>
              </a:rPr>
              <a:t>기능 요약</a:t>
            </a:r>
            <a:r>
              <a:rPr lang="en-US" altLang="ko-KR" sz="1100" dirty="0">
                <a:solidFill>
                  <a:srgbClr val="0070C0"/>
                </a:solidFill>
                <a:latin typeface="경기천년바탕 Bold" panose="02020803020101020101" pitchFamily="18" charset="-127"/>
                <a:ea typeface="경기천년바탕 Bold" panose="02020803020101020101" pitchFamily="18" charset="-127"/>
              </a:rPr>
              <a:t>:</a:t>
            </a:r>
          </a:p>
          <a:p>
            <a:endParaRPr lang="en-US" altLang="ko-KR" sz="110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  <a:p>
            <a:r>
              <a:rPr lang="en-US" altLang="ko-KR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   1x1 </a:t>
            </a:r>
            <a:r>
              <a:rPr lang="ko-KR" altLang="en-US" sz="110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컨볼루션</a:t>
            </a:r>
            <a:r>
              <a:rPr lang="en-US" altLang="ko-KR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:</a:t>
            </a:r>
          </a:p>
          <a:p>
            <a:r>
              <a:rPr lang="en-US" altLang="ko-KR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       </a:t>
            </a:r>
            <a:r>
              <a:rPr lang="ko-KR" altLang="en-US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입력 </a:t>
            </a:r>
            <a:r>
              <a:rPr lang="ko-KR" altLang="en-US" sz="110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텐서의</a:t>
            </a:r>
            <a:r>
              <a:rPr lang="ko-KR" altLang="en-US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각 위치에 대해 </a:t>
            </a:r>
            <a:r>
              <a:rPr lang="en-US" altLang="ko-KR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1x1 </a:t>
            </a:r>
            <a:r>
              <a:rPr lang="ko-KR" altLang="en-US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필터를 적용하여</a:t>
            </a:r>
            <a:r>
              <a:rPr lang="en-US" altLang="ko-KR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, </a:t>
            </a:r>
            <a:r>
              <a:rPr lang="ko-KR" altLang="en-US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공간 정보를 유지하면서 채널 수를 변환합니다</a:t>
            </a:r>
            <a:r>
              <a:rPr lang="en-US" altLang="ko-KR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.</a:t>
            </a:r>
          </a:p>
          <a:p>
            <a:r>
              <a:rPr lang="en-US" altLang="ko-KR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       </a:t>
            </a:r>
            <a:r>
              <a:rPr lang="ko-KR" altLang="en-US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채널 간의 선형 결합을 수행합니다</a:t>
            </a:r>
            <a:r>
              <a:rPr lang="en-US" altLang="ko-KR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.</a:t>
            </a:r>
          </a:p>
          <a:p>
            <a:endParaRPr lang="en-US" altLang="ko-KR" sz="110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  <a:p>
            <a:r>
              <a:rPr lang="en-US" altLang="ko-KR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   </a:t>
            </a:r>
            <a:r>
              <a:rPr lang="ko-KR" altLang="en-US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배치 정규화</a:t>
            </a:r>
            <a:r>
              <a:rPr lang="en-US" altLang="ko-KR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:</a:t>
            </a:r>
          </a:p>
          <a:p>
            <a:r>
              <a:rPr lang="en-US" altLang="ko-KR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       </a:t>
            </a:r>
            <a:r>
              <a:rPr lang="ko-KR" altLang="en-US" sz="110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컨볼루션</a:t>
            </a:r>
            <a:r>
              <a:rPr lang="ko-KR" altLang="en-US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결과를 </a:t>
            </a:r>
            <a:r>
              <a:rPr lang="ko-KR" altLang="en-US" sz="110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정규화하여</a:t>
            </a:r>
            <a:r>
              <a:rPr lang="en-US" altLang="ko-KR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, </a:t>
            </a:r>
            <a:r>
              <a:rPr lang="ko-KR" altLang="en-US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학습 속도를 높이고</a:t>
            </a:r>
            <a:r>
              <a:rPr lang="en-US" altLang="ko-KR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, </a:t>
            </a:r>
            <a:r>
              <a:rPr lang="ko-KR" altLang="en-US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학습 과정에서의 불안정성을 줄입니다</a:t>
            </a:r>
            <a:r>
              <a:rPr lang="en-US" altLang="ko-KR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.</a:t>
            </a:r>
          </a:p>
          <a:p>
            <a:endParaRPr lang="en-US" altLang="ko-KR" sz="110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  <a:p>
            <a:r>
              <a:rPr lang="en-US" altLang="ko-KR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   </a:t>
            </a:r>
            <a:r>
              <a:rPr lang="en-US" altLang="ko-KR" sz="110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ReLU</a:t>
            </a:r>
            <a:r>
              <a:rPr lang="en-US" altLang="ko-KR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</a:t>
            </a:r>
            <a:r>
              <a:rPr lang="ko-KR" altLang="en-US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활성화</a:t>
            </a:r>
            <a:r>
              <a:rPr lang="en-US" altLang="ko-KR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:</a:t>
            </a:r>
          </a:p>
          <a:p>
            <a:r>
              <a:rPr lang="en-US" altLang="ko-KR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       </a:t>
            </a:r>
            <a:r>
              <a:rPr lang="ko-KR" altLang="en-US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비선형성을 추가하여</a:t>
            </a:r>
            <a:r>
              <a:rPr lang="en-US" altLang="ko-KR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, </a:t>
            </a:r>
            <a:r>
              <a:rPr lang="ko-KR" altLang="en-US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신경망이 복잡한 패턴을 학습할 수 있도록 합니다</a:t>
            </a:r>
            <a:r>
              <a:rPr lang="en-US" altLang="ko-KR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.</a:t>
            </a:r>
          </a:p>
          <a:p>
            <a:r>
              <a:rPr lang="en-US" altLang="ko-KR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       </a:t>
            </a:r>
            <a:r>
              <a:rPr lang="en-US" altLang="ko-KR" sz="110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inplace</a:t>
            </a:r>
            <a:r>
              <a:rPr lang="en-US" altLang="ko-KR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=True</a:t>
            </a:r>
            <a:r>
              <a:rPr lang="ko-KR" altLang="en-US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는 메모리 사용을 줄이기 위해 </a:t>
            </a:r>
            <a:r>
              <a:rPr lang="ko-KR" altLang="en-US" sz="110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텐서</a:t>
            </a:r>
            <a:r>
              <a:rPr lang="ko-KR" altLang="en-US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자체를 수정하는 방식으로 </a:t>
            </a:r>
            <a:r>
              <a:rPr lang="en-US" altLang="ko-KR" sz="110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ReLU</a:t>
            </a:r>
            <a:r>
              <a:rPr lang="ko-KR" altLang="en-US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를 적용합니다</a:t>
            </a:r>
            <a:r>
              <a:rPr lang="en-US" altLang="ko-KR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.</a:t>
            </a:r>
          </a:p>
          <a:p>
            <a:endParaRPr lang="en-US" altLang="ko-KR" sz="110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  <a:p>
            <a:r>
              <a:rPr lang="ko-KR" altLang="en-US" sz="1100" dirty="0">
                <a:solidFill>
                  <a:srgbClr val="0070C0"/>
                </a:solidFill>
                <a:latin typeface="경기천년바탕 Bold" panose="02020803020101020101" pitchFamily="18" charset="-127"/>
                <a:ea typeface="경기천년바탕 Bold" panose="02020803020101020101" pitchFamily="18" charset="-127"/>
              </a:rPr>
              <a:t>사용 목적 및 용도</a:t>
            </a:r>
            <a:r>
              <a:rPr lang="en-US" altLang="ko-KR" sz="1100" dirty="0">
                <a:solidFill>
                  <a:srgbClr val="0070C0"/>
                </a:solidFill>
                <a:latin typeface="경기천년바탕 Bold" panose="02020803020101020101" pitchFamily="18" charset="-127"/>
                <a:ea typeface="경기천년바탕 Bold" panose="02020803020101020101" pitchFamily="18" charset="-127"/>
              </a:rPr>
              <a:t>:</a:t>
            </a:r>
          </a:p>
          <a:p>
            <a:endParaRPr lang="en-US" altLang="ko-KR" sz="110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  <a:p>
            <a:r>
              <a:rPr lang="en-US" altLang="ko-KR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   </a:t>
            </a:r>
            <a:r>
              <a:rPr lang="ko-KR" altLang="en-US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이 클래스는 다양한 네트워크에서 </a:t>
            </a:r>
            <a:r>
              <a:rPr lang="en-US" altLang="ko-KR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1x1 </a:t>
            </a:r>
            <a:r>
              <a:rPr lang="ko-KR" altLang="en-US" sz="110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컨볼루션을</a:t>
            </a:r>
            <a:r>
              <a:rPr lang="ko-KR" altLang="en-US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사용하고자 할 때 유용합니다</a:t>
            </a:r>
            <a:r>
              <a:rPr lang="en-US" altLang="ko-KR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.</a:t>
            </a:r>
          </a:p>
          <a:p>
            <a:r>
              <a:rPr lang="en-US" altLang="ko-KR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   1x1 </a:t>
            </a:r>
            <a:r>
              <a:rPr lang="ko-KR" altLang="en-US" sz="110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컨볼루션은</a:t>
            </a:r>
            <a:r>
              <a:rPr lang="ko-KR" altLang="en-US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채널 간의 정보를 결합하거나</a:t>
            </a:r>
            <a:r>
              <a:rPr lang="en-US" altLang="ko-KR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, </a:t>
            </a:r>
            <a:r>
              <a:rPr lang="ko-KR" altLang="en-US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채널 수를 줄이거나 늘릴 때 자주 사용됩니다</a:t>
            </a:r>
            <a:r>
              <a:rPr lang="en-US" altLang="ko-KR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.</a:t>
            </a:r>
          </a:p>
          <a:p>
            <a:r>
              <a:rPr lang="en-US" altLang="ko-KR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   </a:t>
            </a:r>
            <a:r>
              <a:rPr lang="ko-KR" altLang="en-US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배치 </a:t>
            </a:r>
            <a:r>
              <a:rPr lang="ko-KR" altLang="en-US" sz="110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정규화와</a:t>
            </a:r>
            <a:r>
              <a:rPr lang="ko-KR" altLang="en-US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</a:t>
            </a:r>
            <a:r>
              <a:rPr lang="en-US" altLang="ko-KR" sz="110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ReLU</a:t>
            </a:r>
            <a:r>
              <a:rPr lang="en-US" altLang="ko-KR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</a:t>
            </a:r>
            <a:r>
              <a:rPr lang="ko-KR" altLang="en-US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활성화를 결합함으로써</a:t>
            </a:r>
            <a:r>
              <a:rPr lang="en-US" altLang="ko-KR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, </a:t>
            </a:r>
            <a:r>
              <a:rPr lang="ko-KR" altLang="en-US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이 모듈은 전형적인 신경망에서 사용되는 표준적인 </a:t>
            </a:r>
            <a:r>
              <a:rPr lang="ko-KR" altLang="en-US" sz="110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컨볼루션</a:t>
            </a:r>
            <a:r>
              <a:rPr lang="ko-KR" altLang="en-US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블록을 형성합니다</a:t>
            </a:r>
            <a:r>
              <a:rPr lang="en-US" altLang="ko-KR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.</a:t>
            </a:r>
          </a:p>
          <a:p>
            <a:endParaRPr lang="en-US" altLang="ko-KR" sz="110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  <a:p>
            <a:r>
              <a:rPr lang="ko-KR" altLang="en-US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결론적으로</a:t>
            </a:r>
            <a:r>
              <a:rPr lang="en-US" altLang="ko-KR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, Conv1x1 </a:t>
            </a:r>
            <a:r>
              <a:rPr lang="ko-KR" altLang="en-US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클래스는 </a:t>
            </a:r>
            <a:r>
              <a:rPr lang="en-US" altLang="ko-KR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1x1 </a:t>
            </a:r>
            <a:r>
              <a:rPr lang="ko-KR" altLang="en-US" sz="110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컨볼루션</a:t>
            </a:r>
            <a:r>
              <a:rPr lang="en-US" altLang="ko-KR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, </a:t>
            </a:r>
            <a:r>
              <a:rPr lang="ko-KR" altLang="en-US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배치 정규화</a:t>
            </a:r>
            <a:r>
              <a:rPr lang="en-US" altLang="ko-KR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, </a:t>
            </a:r>
            <a:r>
              <a:rPr lang="en-US" altLang="ko-KR" sz="110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ReLU</a:t>
            </a:r>
            <a:r>
              <a:rPr lang="en-US" altLang="ko-KR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</a:t>
            </a:r>
            <a:r>
              <a:rPr lang="ko-KR" altLang="en-US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활성화를 결합하여 입력 </a:t>
            </a:r>
            <a:r>
              <a:rPr lang="ko-KR" altLang="en-US" sz="110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텐서의</a:t>
            </a:r>
            <a:r>
              <a:rPr lang="ko-KR" altLang="en-US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채널 수를 변환하고</a:t>
            </a:r>
            <a:r>
              <a:rPr lang="en-US" altLang="ko-KR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, </a:t>
            </a:r>
            <a:r>
              <a:rPr lang="ko-KR" altLang="en-US" sz="110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정규화하며</a:t>
            </a:r>
            <a:r>
              <a:rPr lang="en-US" altLang="ko-KR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, </a:t>
            </a:r>
            <a:r>
              <a:rPr lang="ko-KR" altLang="en-US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비선형성을 추가하는 기능을 수행하는 모듈입니다</a:t>
            </a:r>
            <a:r>
              <a:rPr lang="en-US" altLang="ko-KR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.</a:t>
            </a:r>
            <a:endParaRPr lang="ko-KR" altLang="en-US" sz="110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cxnSp>
        <p:nvCxnSpPr>
          <p:cNvPr id="25" name="직선 화살표 연결선 24"/>
          <p:cNvCxnSpPr>
            <a:stCxn id="23" idx="2"/>
            <a:endCxn id="22" idx="0"/>
          </p:cNvCxnSpPr>
          <p:nvPr/>
        </p:nvCxnSpPr>
        <p:spPr>
          <a:xfrm>
            <a:off x="3431485" y="2854035"/>
            <a:ext cx="0" cy="22191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79940149"/>
      </p:ext>
    </p:extLst>
  </p:cSld>
  <p:clrMapOvr>
    <a:masterClrMapping/>
  </p:clrMapOvr>
  <p:transition spd="slow">
    <p:wipe/>
  </p:transition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336644" y="314530"/>
            <a:ext cx="3145636" cy="468990"/>
          </a:xfrm>
          <a:prstGeom prst="rect">
            <a:avLst/>
          </a:prstGeom>
          <a:noFill/>
        </p:spPr>
        <p:txBody>
          <a:bodyPr wrap="none" lIns="98694" tIns="49347" rIns="98694" bIns="49347">
            <a:spAutoFit/>
          </a:bodyPr>
          <a:lstStyle/>
          <a:p>
            <a:pPr algn="ctr">
              <a:spcBef>
                <a:spcPts val="648"/>
              </a:spcBef>
            </a:pPr>
            <a:r>
              <a:rPr lang="en-US" altLang="ko-KR" sz="2400" b="1" dirty="0" smtClean="0">
                <a:solidFill>
                  <a:srgbClr val="0E0585"/>
                </a:solidFill>
              </a:rPr>
              <a:t>class Conv1x1Linear</a:t>
            </a:r>
            <a:endParaRPr lang="en-US" altLang="ko-KR" sz="2400" b="1" dirty="0">
              <a:solidFill>
                <a:srgbClr val="0E0585"/>
              </a:solidFill>
            </a:endParaRPr>
          </a:p>
        </p:txBody>
      </p:sp>
      <p:sp>
        <p:nvSpPr>
          <p:cNvPr id="3" name="직사각형 2"/>
          <p:cNvSpPr/>
          <p:nvPr/>
        </p:nvSpPr>
        <p:spPr>
          <a:xfrm>
            <a:off x="642055" y="1248724"/>
            <a:ext cx="1975910" cy="367276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__</a:t>
            </a:r>
            <a:r>
              <a:rPr lang="en-US" altLang="ko-KR" sz="1400" dirty="0" err="1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init</a:t>
            </a:r>
            <a:r>
              <a:rPr lang="en-US" altLang="ko-KR" sz="14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__ , forward</a:t>
            </a:r>
            <a:endParaRPr lang="en-US" altLang="ko-KR" sz="140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sp>
        <p:nvSpPr>
          <p:cNvPr id="4" name="직사각형 3"/>
          <p:cNvSpPr/>
          <p:nvPr/>
        </p:nvSpPr>
        <p:spPr>
          <a:xfrm>
            <a:off x="2196535" y="1897566"/>
            <a:ext cx="2469900" cy="367276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Conv2 1x1 (kernel:1)</a:t>
            </a:r>
            <a:endParaRPr lang="en-US" altLang="ko-KR" sz="105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cxnSp>
        <p:nvCxnSpPr>
          <p:cNvPr id="5" name="꺾인 연결선 4"/>
          <p:cNvCxnSpPr>
            <a:stCxn id="3" idx="2"/>
            <a:endCxn id="4" idx="1"/>
          </p:cNvCxnSpPr>
          <p:nvPr/>
        </p:nvCxnSpPr>
        <p:spPr>
          <a:xfrm rot="16200000" flipH="1">
            <a:off x="1676860" y="1561530"/>
            <a:ext cx="465204" cy="574144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직사각형 22"/>
          <p:cNvSpPr/>
          <p:nvPr/>
        </p:nvSpPr>
        <p:spPr>
          <a:xfrm>
            <a:off x="2196534" y="2486759"/>
            <a:ext cx="2469901" cy="367276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  <a:hlinkClick r:id="rId2" action="ppaction://hlinksldjump"/>
              </a:rPr>
              <a:t>BatchNorm2d</a:t>
            </a:r>
            <a:endParaRPr lang="en-US" altLang="ko-KR" sz="105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cxnSp>
        <p:nvCxnSpPr>
          <p:cNvPr id="24" name="직선 화살표 연결선 23"/>
          <p:cNvCxnSpPr>
            <a:stCxn id="4" idx="2"/>
            <a:endCxn id="23" idx="0"/>
          </p:cNvCxnSpPr>
          <p:nvPr/>
        </p:nvCxnSpPr>
        <p:spPr>
          <a:xfrm>
            <a:off x="3431485" y="2264842"/>
            <a:ext cx="0" cy="22191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직사각형 5"/>
          <p:cNvSpPr/>
          <p:nvPr/>
        </p:nvSpPr>
        <p:spPr>
          <a:xfrm>
            <a:off x="4908653" y="1280906"/>
            <a:ext cx="5343525" cy="2292935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altLang="ko-KR" sz="1100" dirty="0">
                <a:solidFill>
                  <a:srgbClr val="0070C0"/>
                </a:solidFill>
                <a:latin typeface="경기천년바탕 Bold" panose="02020803020101020101" pitchFamily="18" charset="-127"/>
                <a:ea typeface="경기천년바탕 Bold" panose="02020803020101020101" pitchFamily="18" charset="-127"/>
              </a:rPr>
              <a:t>Conv1x1Linear</a:t>
            </a:r>
            <a:r>
              <a:rPr lang="ko-KR" altLang="en-US" sz="1100" dirty="0">
                <a:solidFill>
                  <a:srgbClr val="0070C0"/>
                </a:solidFill>
                <a:latin typeface="경기천년바탕 Bold" panose="02020803020101020101" pitchFamily="18" charset="-127"/>
                <a:ea typeface="경기천년바탕 Bold" panose="02020803020101020101" pitchFamily="18" charset="-127"/>
              </a:rPr>
              <a:t>와 </a:t>
            </a:r>
            <a:r>
              <a:rPr lang="en-US" altLang="ko-KR" sz="1100" dirty="0">
                <a:solidFill>
                  <a:srgbClr val="0070C0"/>
                </a:solidFill>
                <a:latin typeface="경기천년바탕 Bold" panose="02020803020101020101" pitchFamily="18" charset="-127"/>
                <a:ea typeface="경기천년바탕 Bold" panose="02020803020101020101" pitchFamily="18" charset="-127"/>
              </a:rPr>
              <a:t>Conv1x1</a:t>
            </a:r>
            <a:r>
              <a:rPr lang="ko-KR" altLang="en-US" sz="1100" dirty="0">
                <a:solidFill>
                  <a:srgbClr val="0070C0"/>
                </a:solidFill>
                <a:latin typeface="경기천년바탕 Bold" panose="02020803020101020101" pitchFamily="18" charset="-127"/>
                <a:ea typeface="경기천년바탕 Bold" panose="02020803020101020101" pitchFamily="18" charset="-127"/>
              </a:rPr>
              <a:t>의 차이점</a:t>
            </a:r>
          </a:p>
          <a:p>
            <a:endParaRPr lang="ko-KR" altLang="en-US" sz="1100" dirty="0">
              <a:solidFill>
                <a:srgbClr val="0070C0"/>
              </a:solidFill>
              <a:latin typeface="경기천년바탕 Bold" panose="02020803020101020101" pitchFamily="18" charset="-127"/>
              <a:ea typeface="경기천년바탕 Bold" panose="02020803020101020101" pitchFamily="18" charset="-127"/>
            </a:endParaRPr>
          </a:p>
          <a:p>
            <a:r>
              <a:rPr lang="ko-KR" altLang="en-US" sz="1100" dirty="0" err="1" smtClean="0">
                <a:latin typeface="경기천년바탕 Bold" panose="02020803020101020101" pitchFamily="18" charset="-127"/>
                <a:ea typeface="경기천년바탕 Bold" panose="02020803020101020101" pitchFamily="18" charset="-127"/>
              </a:rPr>
              <a:t>비선형성</a:t>
            </a:r>
            <a:r>
              <a:rPr lang="ko-KR" altLang="en-US" sz="1100" dirty="0" smtClean="0">
                <a:latin typeface="경기천년바탕 Bold" panose="02020803020101020101" pitchFamily="18" charset="-127"/>
                <a:ea typeface="경기천년바탕 Bold" panose="02020803020101020101" pitchFamily="18" charset="-127"/>
              </a:rPr>
              <a:t> </a:t>
            </a:r>
            <a:r>
              <a:rPr lang="en-US" altLang="ko-KR" sz="1100" dirty="0">
                <a:latin typeface="경기천년바탕 Bold" panose="02020803020101020101" pitchFamily="18" charset="-127"/>
                <a:ea typeface="경기천년바탕 Bold" panose="02020803020101020101" pitchFamily="18" charset="-127"/>
              </a:rPr>
              <a:t>(</a:t>
            </a:r>
            <a:r>
              <a:rPr lang="en-US" altLang="ko-KR" sz="1100" dirty="0" err="1">
                <a:latin typeface="경기천년바탕 Bold" panose="02020803020101020101" pitchFamily="18" charset="-127"/>
                <a:ea typeface="경기천년바탕 Bold" panose="02020803020101020101" pitchFamily="18" charset="-127"/>
              </a:rPr>
              <a:t>ReLU</a:t>
            </a:r>
            <a:r>
              <a:rPr lang="en-US" altLang="ko-KR" sz="1100" dirty="0">
                <a:latin typeface="경기천년바탕 Bold" panose="02020803020101020101" pitchFamily="18" charset="-127"/>
                <a:ea typeface="경기천년바탕 Bold" panose="02020803020101020101" pitchFamily="18" charset="-127"/>
              </a:rPr>
              <a:t> </a:t>
            </a:r>
            <a:r>
              <a:rPr lang="ko-KR" altLang="en-US" sz="1100" dirty="0">
                <a:latin typeface="경기천년바탕 Bold" panose="02020803020101020101" pitchFamily="18" charset="-127"/>
                <a:ea typeface="경기천년바탕 Bold" panose="02020803020101020101" pitchFamily="18" charset="-127"/>
              </a:rPr>
              <a:t>활성화 함수</a:t>
            </a:r>
            <a:r>
              <a:rPr lang="en-US" altLang="ko-KR" sz="1100" dirty="0">
                <a:latin typeface="경기천년바탕 Bold" panose="02020803020101020101" pitchFamily="18" charset="-127"/>
                <a:ea typeface="경기천년바탕 Bold" panose="02020803020101020101" pitchFamily="18" charset="-127"/>
              </a:rPr>
              <a:t>):</a:t>
            </a:r>
          </a:p>
          <a:p>
            <a:r>
              <a:rPr lang="en-US" altLang="ko-KR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       Conv1x1Linear: </a:t>
            </a:r>
            <a:r>
              <a:rPr lang="ko-KR" altLang="en-US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비선형성을 추가하지 않습니다</a:t>
            </a:r>
            <a:r>
              <a:rPr lang="en-US" altLang="ko-KR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. </a:t>
            </a:r>
            <a:r>
              <a:rPr lang="ko-KR" altLang="en-US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즉</a:t>
            </a:r>
            <a:r>
              <a:rPr lang="en-US" altLang="ko-KR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, 1x1 </a:t>
            </a:r>
            <a:r>
              <a:rPr lang="ko-KR" altLang="en-US" sz="110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컨볼루션과</a:t>
            </a:r>
            <a:r>
              <a:rPr lang="ko-KR" altLang="en-US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배치 </a:t>
            </a:r>
            <a:r>
              <a:rPr lang="ko-KR" altLang="en-US" sz="110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정규화만</a:t>
            </a:r>
            <a:r>
              <a:rPr lang="ko-KR" altLang="en-US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수행하며</a:t>
            </a:r>
            <a:r>
              <a:rPr lang="en-US" altLang="ko-KR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, </a:t>
            </a:r>
            <a:r>
              <a:rPr lang="ko-KR" altLang="en-US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입력 데이터에 대해 순수한 선형 변환을 적용합니다</a:t>
            </a:r>
            <a:r>
              <a:rPr lang="en-US" altLang="ko-KR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.</a:t>
            </a:r>
          </a:p>
          <a:p>
            <a:r>
              <a:rPr lang="en-US" altLang="ko-KR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       Conv1x1: 1x1 </a:t>
            </a:r>
            <a:r>
              <a:rPr lang="ko-KR" altLang="en-US" sz="110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컨볼루션과</a:t>
            </a:r>
            <a:r>
              <a:rPr lang="ko-KR" altLang="en-US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배치 정규화 이후</a:t>
            </a:r>
            <a:r>
              <a:rPr lang="en-US" altLang="ko-KR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, </a:t>
            </a:r>
            <a:r>
              <a:rPr lang="en-US" altLang="ko-KR" sz="110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ReLU</a:t>
            </a:r>
            <a:r>
              <a:rPr lang="en-US" altLang="ko-KR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</a:t>
            </a:r>
            <a:r>
              <a:rPr lang="ko-KR" altLang="en-US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활성화 함수를 사용하여 비선형성을 추가합니다</a:t>
            </a:r>
            <a:r>
              <a:rPr lang="en-US" altLang="ko-KR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. </a:t>
            </a:r>
            <a:r>
              <a:rPr lang="ko-KR" altLang="en-US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이는 신경망이 더 복잡한 패턴을 학습할 수 있게 합니다</a:t>
            </a:r>
            <a:r>
              <a:rPr lang="en-US" altLang="ko-KR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.</a:t>
            </a:r>
          </a:p>
          <a:p>
            <a:endParaRPr lang="en-US" altLang="ko-KR" sz="110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  <a:p>
            <a:r>
              <a:rPr lang="ko-KR" altLang="en-US" sz="11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용도</a:t>
            </a:r>
            <a:r>
              <a:rPr lang="en-US" altLang="ko-KR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:</a:t>
            </a:r>
          </a:p>
          <a:p>
            <a:r>
              <a:rPr lang="en-US" altLang="ko-KR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       Conv1x1Linear: </a:t>
            </a:r>
            <a:r>
              <a:rPr lang="ko-KR" altLang="en-US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주로 입력을 선형적으로 변환하고</a:t>
            </a:r>
            <a:r>
              <a:rPr lang="en-US" altLang="ko-KR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, </a:t>
            </a:r>
            <a:r>
              <a:rPr lang="ko-KR" altLang="en-US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특징 </a:t>
            </a:r>
            <a:r>
              <a:rPr lang="ko-KR" altLang="en-US" sz="110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맵을</a:t>
            </a:r>
            <a:r>
              <a:rPr lang="ko-KR" altLang="en-US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결합하거나 축소할 때 사용됩니다</a:t>
            </a:r>
            <a:r>
              <a:rPr lang="en-US" altLang="ko-KR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. </a:t>
            </a:r>
            <a:r>
              <a:rPr lang="ko-KR" altLang="en-US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비선형성이 필요하지 않은 경우에 적합합니다</a:t>
            </a:r>
            <a:r>
              <a:rPr lang="en-US" altLang="ko-KR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.</a:t>
            </a:r>
          </a:p>
          <a:p>
            <a:r>
              <a:rPr lang="en-US" altLang="ko-KR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       Conv1x1: </a:t>
            </a:r>
            <a:r>
              <a:rPr lang="ko-KR" altLang="en-US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비선형성이 필요할 때 사용됩니다</a:t>
            </a:r>
            <a:r>
              <a:rPr lang="en-US" altLang="ko-KR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. </a:t>
            </a:r>
            <a:r>
              <a:rPr lang="ko-KR" altLang="en-US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예를 들어</a:t>
            </a:r>
            <a:r>
              <a:rPr lang="en-US" altLang="ko-KR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, </a:t>
            </a:r>
            <a:r>
              <a:rPr lang="ko-KR" altLang="en-US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특정 층에서 비선형 변환을 통해 모델의 표현력을 높이고자 할 때 사용됩니다</a:t>
            </a:r>
            <a:r>
              <a:rPr lang="en-US" altLang="ko-KR" sz="11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.</a:t>
            </a:r>
            <a:endParaRPr lang="ko-KR" altLang="en-US" sz="110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91910638"/>
      </p:ext>
    </p:extLst>
  </p:cSld>
  <p:clrMapOvr>
    <a:masterClrMapping/>
  </p:clrMapOvr>
  <p:transition spd="slow">
    <p:wipe/>
  </p:transition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301083" y="314530"/>
            <a:ext cx="2998160" cy="468990"/>
          </a:xfrm>
          <a:prstGeom prst="rect">
            <a:avLst/>
          </a:prstGeom>
          <a:noFill/>
        </p:spPr>
        <p:txBody>
          <a:bodyPr wrap="none" lIns="98694" tIns="49347" rIns="98694" bIns="49347">
            <a:spAutoFit/>
          </a:bodyPr>
          <a:lstStyle/>
          <a:p>
            <a:pPr algn="ctr">
              <a:spcBef>
                <a:spcPts val="648"/>
              </a:spcBef>
            </a:pPr>
            <a:r>
              <a:rPr lang="en-US" altLang="ko-KR" sz="2400" b="1" dirty="0" smtClean="0">
                <a:solidFill>
                  <a:srgbClr val="0E0585"/>
                </a:solidFill>
              </a:rPr>
              <a:t>class LightConv3x3</a:t>
            </a:r>
            <a:endParaRPr lang="en-US" altLang="ko-KR" sz="2400" b="1" dirty="0">
              <a:solidFill>
                <a:srgbClr val="0E0585"/>
              </a:solidFill>
            </a:endParaRPr>
          </a:p>
        </p:txBody>
      </p:sp>
      <p:sp>
        <p:nvSpPr>
          <p:cNvPr id="3" name="직사각형 2"/>
          <p:cNvSpPr/>
          <p:nvPr/>
        </p:nvSpPr>
        <p:spPr>
          <a:xfrm>
            <a:off x="642055" y="1248724"/>
            <a:ext cx="1975910" cy="367276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__</a:t>
            </a:r>
            <a:r>
              <a:rPr lang="en-US" altLang="ko-KR" sz="1400" dirty="0" err="1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init</a:t>
            </a:r>
            <a:r>
              <a:rPr lang="en-US" altLang="ko-KR" sz="14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__ , forward</a:t>
            </a:r>
            <a:endParaRPr lang="en-US" altLang="ko-KR" sz="140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sp>
        <p:nvSpPr>
          <p:cNvPr id="4" name="직사각형 3"/>
          <p:cNvSpPr/>
          <p:nvPr/>
        </p:nvSpPr>
        <p:spPr>
          <a:xfrm>
            <a:off x="2196535" y="1897566"/>
            <a:ext cx="2469900" cy="367276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Conv2 1x1 (kernel:1)</a:t>
            </a:r>
            <a:endParaRPr lang="en-US" altLang="ko-KR" sz="105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cxnSp>
        <p:nvCxnSpPr>
          <p:cNvPr id="5" name="꺾인 연결선 4"/>
          <p:cNvCxnSpPr>
            <a:stCxn id="3" idx="2"/>
            <a:endCxn id="4" idx="1"/>
          </p:cNvCxnSpPr>
          <p:nvPr/>
        </p:nvCxnSpPr>
        <p:spPr>
          <a:xfrm rot="16200000" flipH="1">
            <a:off x="1676860" y="1561530"/>
            <a:ext cx="465204" cy="574144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직사각형 22"/>
          <p:cNvSpPr/>
          <p:nvPr/>
        </p:nvSpPr>
        <p:spPr>
          <a:xfrm>
            <a:off x="2196534" y="3088739"/>
            <a:ext cx="2469901" cy="367276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BatchNorm2d</a:t>
            </a:r>
            <a:endParaRPr lang="en-US" altLang="ko-KR" sz="105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cxnSp>
        <p:nvCxnSpPr>
          <p:cNvPr id="24" name="직선 화살표 연결선 23"/>
          <p:cNvCxnSpPr>
            <a:stCxn id="4" idx="2"/>
            <a:endCxn id="11" idx="0"/>
          </p:cNvCxnSpPr>
          <p:nvPr/>
        </p:nvCxnSpPr>
        <p:spPr>
          <a:xfrm flipH="1">
            <a:off x="3431484" y="2264842"/>
            <a:ext cx="1" cy="22831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직사각형 21"/>
          <p:cNvSpPr/>
          <p:nvPr/>
        </p:nvSpPr>
        <p:spPr>
          <a:xfrm>
            <a:off x="2196534" y="3677932"/>
            <a:ext cx="2469901" cy="367276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 dirty="0" err="1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  <a:hlinkClick r:id="rId2" action="ppaction://hlinksldjump"/>
              </a:rPr>
              <a:t>ReLU</a:t>
            </a:r>
            <a:endParaRPr lang="en-US" altLang="ko-KR" sz="105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sp>
        <p:nvSpPr>
          <p:cNvPr id="6" name="직사각형 5"/>
          <p:cNvSpPr/>
          <p:nvPr/>
        </p:nvSpPr>
        <p:spPr>
          <a:xfrm>
            <a:off x="4893413" y="1840188"/>
            <a:ext cx="5343525" cy="1615827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ko-KR" altLang="en-US" sz="1100" b="1" dirty="0" smtClean="0"/>
              <a:t>클래스의 </a:t>
            </a:r>
            <a:r>
              <a:rPr lang="ko-KR" altLang="en-US" sz="1100" b="1" dirty="0"/>
              <a:t>기능 요약</a:t>
            </a:r>
            <a:r>
              <a:rPr lang="en-US" altLang="ko-KR" sz="1100" b="1" dirty="0"/>
              <a:t>:</a:t>
            </a:r>
          </a:p>
          <a:p>
            <a:r>
              <a:rPr lang="ko-KR" altLang="en-US" sz="1100" b="1" dirty="0"/>
              <a:t>경량화된 구조</a:t>
            </a:r>
            <a:r>
              <a:rPr lang="en-US" altLang="ko-KR" sz="1100" dirty="0"/>
              <a:t>: 1x1 </a:t>
            </a:r>
            <a:r>
              <a:rPr lang="ko-KR" altLang="en-US" sz="1100" dirty="0" err="1"/>
              <a:t>컨볼루션과</a:t>
            </a:r>
            <a:r>
              <a:rPr lang="ko-KR" altLang="en-US" sz="1100" dirty="0"/>
              <a:t> </a:t>
            </a:r>
            <a:r>
              <a:rPr lang="ko-KR" altLang="en-US" sz="1100" dirty="0" err="1"/>
              <a:t>깊이별</a:t>
            </a:r>
            <a:r>
              <a:rPr lang="ko-KR" altLang="en-US" sz="1100" dirty="0"/>
              <a:t> </a:t>
            </a:r>
            <a:r>
              <a:rPr lang="en-US" altLang="ko-KR" sz="1100" dirty="0"/>
              <a:t>3x3 </a:t>
            </a:r>
            <a:r>
              <a:rPr lang="ko-KR" altLang="en-US" sz="1100" dirty="0" err="1"/>
              <a:t>컨볼루션의</a:t>
            </a:r>
            <a:r>
              <a:rPr lang="ko-KR" altLang="en-US" sz="1100" dirty="0"/>
              <a:t> 결합으로 경량화된 네트워크를 구성할 수 있습니다</a:t>
            </a:r>
            <a:r>
              <a:rPr lang="en-US" altLang="ko-KR" sz="1100" dirty="0"/>
              <a:t>.</a:t>
            </a:r>
          </a:p>
          <a:p>
            <a:r>
              <a:rPr lang="ko-KR" altLang="en-US" sz="1100" b="1" dirty="0"/>
              <a:t>효율적인 학습</a:t>
            </a:r>
            <a:r>
              <a:rPr lang="en-US" altLang="ko-KR" sz="1100" dirty="0"/>
              <a:t>: </a:t>
            </a:r>
            <a:r>
              <a:rPr lang="ko-KR" altLang="en-US" sz="1100" dirty="0"/>
              <a:t>배치 </a:t>
            </a:r>
            <a:r>
              <a:rPr lang="ko-KR" altLang="en-US" sz="1100" dirty="0" err="1"/>
              <a:t>정규화와</a:t>
            </a:r>
            <a:r>
              <a:rPr lang="ko-KR" altLang="en-US" sz="1100" dirty="0"/>
              <a:t> </a:t>
            </a:r>
            <a:r>
              <a:rPr lang="en-US" altLang="ko-KR" sz="1100" dirty="0" err="1"/>
              <a:t>ReLU</a:t>
            </a:r>
            <a:r>
              <a:rPr lang="en-US" altLang="ko-KR" sz="1100" dirty="0"/>
              <a:t> </a:t>
            </a:r>
            <a:r>
              <a:rPr lang="ko-KR" altLang="en-US" sz="1100" dirty="0"/>
              <a:t>활성화 함수를 통해 학습 안정성을 높이고</a:t>
            </a:r>
            <a:r>
              <a:rPr lang="en-US" altLang="ko-KR" sz="1100" dirty="0"/>
              <a:t>, </a:t>
            </a:r>
            <a:r>
              <a:rPr lang="ko-KR" altLang="en-US" sz="1100" dirty="0"/>
              <a:t>비선형성을 추가하여 복잡한 패턴 학습을 가능하게 합니다</a:t>
            </a:r>
            <a:r>
              <a:rPr lang="en-US" altLang="ko-KR" sz="1100" dirty="0"/>
              <a:t>.</a:t>
            </a:r>
          </a:p>
          <a:p>
            <a:r>
              <a:rPr lang="ko-KR" altLang="en-US" sz="1100" b="1" dirty="0"/>
              <a:t>특징 추출</a:t>
            </a:r>
            <a:r>
              <a:rPr lang="en-US" altLang="ko-KR" sz="1100" dirty="0"/>
              <a:t>: 1x1 </a:t>
            </a:r>
            <a:r>
              <a:rPr lang="ko-KR" altLang="en-US" sz="1100" dirty="0" err="1"/>
              <a:t>컨볼루션으로</a:t>
            </a:r>
            <a:r>
              <a:rPr lang="ko-KR" altLang="en-US" sz="1100" dirty="0"/>
              <a:t> 채널 간의 결합을 수행하고</a:t>
            </a:r>
            <a:r>
              <a:rPr lang="en-US" altLang="ko-KR" sz="1100" dirty="0"/>
              <a:t>, </a:t>
            </a:r>
            <a:r>
              <a:rPr lang="ko-KR" altLang="en-US" sz="1100" dirty="0" err="1"/>
              <a:t>깊이별</a:t>
            </a:r>
            <a:r>
              <a:rPr lang="ko-KR" altLang="en-US" sz="1100" dirty="0"/>
              <a:t> </a:t>
            </a:r>
            <a:r>
              <a:rPr lang="en-US" altLang="ko-KR" sz="1100" dirty="0"/>
              <a:t>3x3 </a:t>
            </a:r>
            <a:r>
              <a:rPr lang="ko-KR" altLang="en-US" sz="1100" dirty="0" err="1"/>
              <a:t>컨볼루션으로</a:t>
            </a:r>
            <a:r>
              <a:rPr lang="ko-KR" altLang="en-US" sz="1100" dirty="0"/>
              <a:t> 각 채널의 공간적 특징을 추출합니다</a:t>
            </a:r>
            <a:r>
              <a:rPr lang="en-US" altLang="ko-KR" sz="1100" dirty="0"/>
              <a:t>.</a:t>
            </a:r>
          </a:p>
          <a:p>
            <a:r>
              <a:rPr lang="ko-KR" altLang="en-US" sz="1100" dirty="0"/>
              <a:t>이 모듈은 일반적인 </a:t>
            </a:r>
            <a:r>
              <a:rPr lang="en-US" altLang="ko-KR" sz="1100" dirty="0"/>
              <a:t>3x3 </a:t>
            </a:r>
            <a:r>
              <a:rPr lang="ko-KR" altLang="en-US" sz="1100" dirty="0" err="1"/>
              <a:t>컨볼루션보다</a:t>
            </a:r>
            <a:r>
              <a:rPr lang="ko-KR" altLang="en-US" sz="1100" dirty="0"/>
              <a:t> </a:t>
            </a:r>
            <a:r>
              <a:rPr lang="ko-KR" altLang="en-US" sz="1100" dirty="0" err="1"/>
              <a:t>계산량이</a:t>
            </a:r>
            <a:r>
              <a:rPr lang="ko-KR" altLang="en-US" sz="1100" dirty="0"/>
              <a:t> 적고</a:t>
            </a:r>
            <a:r>
              <a:rPr lang="en-US" altLang="ko-KR" sz="1100" dirty="0"/>
              <a:t>, </a:t>
            </a:r>
            <a:r>
              <a:rPr lang="ko-KR" altLang="en-US" sz="1100" dirty="0"/>
              <a:t>효율적인 특징 추출이 필요한 상황에서 유용하게 사용될 수 있습니다</a:t>
            </a:r>
            <a:r>
              <a:rPr lang="en-US" altLang="ko-KR" sz="1100" dirty="0"/>
              <a:t>.</a:t>
            </a:r>
          </a:p>
        </p:txBody>
      </p:sp>
      <p:cxnSp>
        <p:nvCxnSpPr>
          <p:cNvPr id="25" name="직선 화살표 연결선 24"/>
          <p:cNvCxnSpPr>
            <a:stCxn id="23" idx="2"/>
            <a:endCxn id="22" idx="0"/>
          </p:cNvCxnSpPr>
          <p:nvPr/>
        </p:nvCxnSpPr>
        <p:spPr>
          <a:xfrm>
            <a:off x="3431485" y="3456015"/>
            <a:ext cx="0" cy="22191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직사각형 10"/>
          <p:cNvSpPr/>
          <p:nvPr/>
        </p:nvSpPr>
        <p:spPr>
          <a:xfrm>
            <a:off x="2196534" y="2493152"/>
            <a:ext cx="2469900" cy="367276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Conv2 3x3 (kernel:3 S:1, P:1)</a:t>
            </a:r>
            <a:endParaRPr lang="en-US" altLang="ko-KR" sz="105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cxnSp>
        <p:nvCxnSpPr>
          <p:cNvPr id="13" name="직선 화살표 연결선 12"/>
          <p:cNvCxnSpPr>
            <a:stCxn id="11" idx="2"/>
            <a:endCxn id="23" idx="0"/>
          </p:cNvCxnSpPr>
          <p:nvPr/>
        </p:nvCxnSpPr>
        <p:spPr>
          <a:xfrm>
            <a:off x="3431484" y="2860428"/>
            <a:ext cx="1" cy="22831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직사각형 14"/>
          <p:cNvSpPr/>
          <p:nvPr/>
        </p:nvSpPr>
        <p:spPr>
          <a:xfrm>
            <a:off x="301083" y="4541611"/>
            <a:ext cx="3905844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200" b="1" dirty="0" smtClean="0">
                <a:latin typeface="+mn-ea"/>
              </a:rPr>
              <a:t>예</a:t>
            </a:r>
            <a:r>
              <a:rPr lang="en-US" altLang="ko-KR" sz="1200" b="1" dirty="0" smtClean="0">
                <a:latin typeface="+mn-ea"/>
              </a:rPr>
              <a:t>) input tensor</a:t>
            </a:r>
            <a:r>
              <a:rPr lang="ko-KR" altLang="en-US" sz="1200" b="1" dirty="0">
                <a:latin typeface="+mn-ea"/>
              </a:rPr>
              <a:t> </a:t>
            </a:r>
            <a:r>
              <a:rPr lang="ko-KR" altLang="en-US" sz="1200" b="1" dirty="0" smtClean="0">
                <a:latin typeface="+mn-ea"/>
              </a:rPr>
              <a:t>예를 통한 각 </a:t>
            </a:r>
            <a:r>
              <a:rPr lang="ko-KR" altLang="en-US" sz="1200" b="1" dirty="0" err="1" smtClean="0">
                <a:latin typeface="+mn-ea"/>
              </a:rPr>
              <a:t>레이어별</a:t>
            </a:r>
            <a:r>
              <a:rPr lang="ko-KR" altLang="en-US" sz="1200" b="1" dirty="0" smtClean="0">
                <a:latin typeface="+mn-ea"/>
              </a:rPr>
              <a:t> 크기 변화</a:t>
            </a:r>
            <a:endParaRPr lang="en-US" altLang="ko-KR" sz="1200" b="1" dirty="0" smtClean="0">
              <a:latin typeface="+mn-ea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ko-KR" altLang="en-US" sz="1200" dirty="0" smtClean="0">
                <a:latin typeface="+mn-ea"/>
              </a:rPr>
              <a:t>초기 </a:t>
            </a:r>
            <a:r>
              <a:rPr lang="ko-KR" altLang="en-US" sz="1200" dirty="0">
                <a:latin typeface="+mn-ea"/>
              </a:rPr>
              <a:t>입력 크기</a:t>
            </a:r>
            <a:r>
              <a:rPr lang="en-US" altLang="ko-KR" sz="1200" dirty="0">
                <a:latin typeface="+mn-ea"/>
              </a:rPr>
              <a:t>: (2, </a:t>
            </a:r>
            <a:r>
              <a:rPr lang="en-US" altLang="ko-KR" sz="1200" dirty="0" smtClean="0">
                <a:latin typeface="+mn-ea"/>
              </a:rPr>
              <a:t>64, </a:t>
            </a:r>
            <a:r>
              <a:rPr lang="en-US" altLang="ko-KR" sz="1200" dirty="0">
                <a:latin typeface="+mn-ea"/>
              </a:rPr>
              <a:t>64, 64)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ko-KR" sz="1200" dirty="0">
                <a:latin typeface="+mn-ea"/>
              </a:rPr>
              <a:t>1x1 </a:t>
            </a:r>
            <a:r>
              <a:rPr lang="ko-KR" altLang="en-US" sz="1200" dirty="0" err="1">
                <a:latin typeface="+mn-ea"/>
              </a:rPr>
              <a:t>컨볼루션</a:t>
            </a:r>
            <a:r>
              <a:rPr lang="ko-KR" altLang="en-US" sz="1200" dirty="0">
                <a:latin typeface="+mn-ea"/>
              </a:rPr>
              <a:t> 후</a:t>
            </a:r>
            <a:r>
              <a:rPr lang="en-US" altLang="ko-KR" sz="1200" dirty="0">
                <a:latin typeface="+mn-ea"/>
              </a:rPr>
              <a:t>: (2, 64, 64, 64)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ko-KR" altLang="en-US" sz="1200" dirty="0" err="1">
                <a:latin typeface="+mn-ea"/>
              </a:rPr>
              <a:t>깊이별</a:t>
            </a:r>
            <a:r>
              <a:rPr lang="ko-KR" altLang="en-US" sz="1200" dirty="0">
                <a:latin typeface="+mn-ea"/>
              </a:rPr>
              <a:t> </a:t>
            </a:r>
            <a:r>
              <a:rPr lang="en-US" altLang="ko-KR" sz="1200" dirty="0">
                <a:latin typeface="+mn-ea"/>
              </a:rPr>
              <a:t>3x3 </a:t>
            </a:r>
            <a:r>
              <a:rPr lang="ko-KR" altLang="en-US" sz="1200" dirty="0" err="1">
                <a:latin typeface="+mn-ea"/>
              </a:rPr>
              <a:t>컨볼루션</a:t>
            </a:r>
            <a:r>
              <a:rPr lang="ko-KR" altLang="en-US" sz="1200" dirty="0">
                <a:latin typeface="+mn-ea"/>
              </a:rPr>
              <a:t> 후</a:t>
            </a:r>
            <a:r>
              <a:rPr lang="en-US" altLang="ko-KR" sz="1200" dirty="0">
                <a:latin typeface="+mn-ea"/>
              </a:rPr>
              <a:t>: (2, 64, 64, 64)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ko-KR" altLang="en-US" sz="1200" dirty="0">
                <a:latin typeface="+mn-ea"/>
              </a:rPr>
              <a:t>배치 정규화 후</a:t>
            </a:r>
            <a:r>
              <a:rPr lang="en-US" altLang="ko-KR" sz="1200" dirty="0">
                <a:latin typeface="+mn-ea"/>
              </a:rPr>
              <a:t>: (2, 64, 64, 64)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ko-KR" sz="1200" dirty="0" err="1">
                <a:latin typeface="+mn-ea"/>
              </a:rPr>
              <a:t>ReLU</a:t>
            </a:r>
            <a:r>
              <a:rPr lang="en-US" altLang="ko-KR" sz="1200" dirty="0">
                <a:latin typeface="+mn-ea"/>
              </a:rPr>
              <a:t> </a:t>
            </a:r>
            <a:r>
              <a:rPr lang="ko-KR" altLang="en-US" sz="1200" dirty="0">
                <a:latin typeface="+mn-ea"/>
              </a:rPr>
              <a:t>활성화 후</a:t>
            </a:r>
            <a:r>
              <a:rPr lang="en-US" altLang="ko-KR" sz="1200" dirty="0">
                <a:latin typeface="+mn-ea"/>
              </a:rPr>
              <a:t>: (2, 64, 64, 64)</a:t>
            </a:r>
            <a:endParaRPr lang="ko-KR" altLang="en-US" sz="1200" dirty="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771013043"/>
      </p:ext>
    </p:extLst>
  </p:cSld>
  <p:clrMapOvr>
    <a:masterClrMapping/>
  </p:clrMapOvr>
  <p:transition spd="slow">
    <p:wipe/>
  </p:transition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373090" y="314530"/>
            <a:ext cx="2854145" cy="468990"/>
          </a:xfrm>
          <a:prstGeom prst="rect">
            <a:avLst/>
          </a:prstGeom>
          <a:noFill/>
        </p:spPr>
        <p:txBody>
          <a:bodyPr wrap="none" lIns="98694" tIns="49347" rIns="98694" bIns="49347">
            <a:spAutoFit/>
          </a:bodyPr>
          <a:lstStyle/>
          <a:p>
            <a:pPr algn="ctr">
              <a:spcBef>
                <a:spcPts val="648"/>
              </a:spcBef>
            </a:pPr>
            <a:r>
              <a:rPr lang="en-US" altLang="ko-KR" sz="2400" b="1" dirty="0">
                <a:solidFill>
                  <a:srgbClr val="0E0585"/>
                </a:solidFill>
              </a:rPr>
              <a:t>class </a:t>
            </a:r>
            <a:r>
              <a:rPr lang="en-US" altLang="ko-KR" sz="2400" b="1" dirty="0" err="1">
                <a:solidFill>
                  <a:srgbClr val="0E0585"/>
                </a:solidFill>
              </a:rPr>
              <a:t>ChannelGate</a:t>
            </a:r>
            <a:endParaRPr lang="en-US" altLang="ko-KR" sz="2400" b="1" dirty="0">
              <a:solidFill>
                <a:srgbClr val="0E0585"/>
              </a:solidFill>
            </a:endParaRPr>
          </a:p>
        </p:txBody>
      </p:sp>
      <p:sp>
        <p:nvSpPr>
          <p:cNvPr id="3" name="직사각형 2"/>
          <p:cNvSpPr/>
          <p:nvPr/>
        </p:nvSpPr>
        <p:spPr>
          <a:xfrm>
            <a:off x="642055" y="1248724"/>
            <a:ext cx="1975910" cy="367276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__</a:t>
            </a:r>
            <a:r>
              <a:rPr lang="en-US" altLang="ko-KR" sz="1400" dirty="0" err="1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init</a:t>
            </a:r>
            <a:r>
              <a:rPr lang="en-US" altLang="ko-KR" sz="14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__ , forward</a:t>
            </a:r>
            <a:endParaRPr lang="en-US" altLang="ko-KR" sz="140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sp>
        <p:nvSpPr>
          <p:cNvPr id="4" name="직사각형 3"/>
          <p:cNvSpPr/>
          <p:nvPr/>
        </p:nvSpPr>
        <p:spPr>
          <a:xfrm>
            <a:off x="2196535" y="1897566"/>
            <a:ext cx="2469900" cy="367276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nn.AdaptiveAvgPool2d(1)</a:t>
            </a:r>
          </a:p>
        </p:txBody>
      </p:sp>
      <p:cxnSp>
        <p:nvCxnSpPr>
          <p:cNvPr id="5" name="꺾인 연결선 4"/>
          <p:cNvCxnSpPr>
            <a:stCxn id="3" idx="2"/>
            <a:endCxn id="4" idx="1"/>
          </p:cNvCxnSpPr>
          <p:nvPr/>
        </p:nvCxnSpPr>
        <p:spPr>
          <a:xfrm rot="16200000" flipH="1">
            <a:off x="1676860" y="1561530"/>
            <a:ext cx="465204" cy="574144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직사각형 22"/>
          <p:cNvSpPr/>
          <p:nvPr/>
        </p:nvSpPr>
        <p:spPr>
          <a:xfrm>
            <a:off x="2196534" y="3088738"/>
            <a:ext cx="2469901" cy="702097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self.norm1 = </a:t>
            </a:r>
            <a:r>
              <a:rPr lang="en-US" altLang="ko-KR" sz="105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nn.LayerNorm</a:t>
            </a:r>
            <a:r>
              <a:rPr lang="en-US" altLang="ko-KR" sz="105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((</a:t>
            </a:r>
            <a:r>
              <a:rPr lang="en-US" altLang="ko-KR" sz="105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in_channels</a:t>
            </a:r>
            <a:r>
              <a:rPr lang="en-US" altLang="ko-KR" sz="105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// reduction, 1, 1))</a:t>
            </a:r>
          </a:p>
        </p:txBody>
      </p:sp>
      <p:cxnSp>
        <p:nvCxnSpPr>
          <p:cNvPr id="24" name="직선 화살표 연결선 23"/>
          <p:cNvCxnSpPr>
            <a:stCxn id="4" idx="2"/>
            <a:endCxn id="11" idx="0"/>
          </p:cNvCxnSpPr>
          <p:nvPr/>
        </p:nvCxnSpPr>
        <p:spPr>
          <a:xfrm flipH="1">
            <a:off x="3431484" y="2264842"/>
            <a:ext cx="1" cy="22831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직사각형 21"/>
          <p:cNvSpPr/>
          <p:nvPr/>
        </p:nvSpPr>
        <p:spPr>
          <a:xfrm>
            <a:off x="2196534" y="4096274"/>
            <a:ext cx="2469901" cy="367276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Conv2 1x1 </a:t>
            </a:r>
            <a:r>
              <a:rPr lang="en-US" altLang="ko-KR" sz="105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(out: input dim kernel:1 </a:t>
            </a:r>
            <a:r>
              <a:rPr lang="en-US" altLang="ko-KR" sz="105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P:0)</a:t>
            </a:r>
          </a:p>
        </p:txBody>
      </p:sp>
      <p:cxnSp>
        <p:nvCxnSpPr>
          <p:cNvPr id="25" name="직선 화살표 연결선 24"/>
          <p:cNvCxnSpPr>
            <a:stCxn id="23" idx="2"/>
            <a:endCxn id="22" idx="0"/>
          </p:cNvCxnSpPr>
          <p:nvPr/>
        </p:nvCxnSpPr>
        <p:spPr>
          <a:xfrm>
            <a:off x="3431485" y="3790835"/>
            <a:ext cx="0" cy="30543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직사각형 10"/>
          <p:cNvSpPr/>
          <p:nvPr/>
        </p:nvSpPr>
        <p:spPr>
          <a:xfrm>
            <a:off x="2196534" y="2493152"/>
            <a:ext cx="2469900" cy="367276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Conv2 1x1 (kernel:1 P:0)</a:t>
            </a:r>
            <a:endParaRPr lang="en-US" altLang="ko-KR" sz="105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cxnSp>
        <p:nvCxnSpPr>
          <p:cNvPr id="13" name="직선 화살표 연결선 12"/>
          <p:cNvCxnSpPr>
            <a:stCxn id="11" idx="2"/>
            <a:endCxn id="23" idx="0"/>
          </p:cNvCxnSpPr>
          <p:nvPr/>
        </p:nvCxnSpPr>
        <p:spPr>
          <a:xfrm>
            <a:off x="3431484" y="2860428"/>
            <a:ext cx="1" cy="22831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화살표 연결선 15"/>
          <p:cNvCxnSpPr>
            <a:endCxn id="4" idx="1"/>
          </p:cNvCxnSpPr>
          <p:nvPr/>
        </p:nvCxnSpPr>
        <p:spPr>
          <a:xfrm flipV="1">
            <a:off x="1089660" y="2081204"/>
            <a:ext cx="1106875" cy="129768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직사각형 19"/>
          <p:cNvSpPr/>
          <p:nvPr/>
        </p:nvSpPr>
        <p:spPr>
          <a:xfrm>
            <a:off x="301083" y="3378888"/>
            <a:ext cx="1723186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100" b="1" dirty="0" smtClean="0">
                <a:solidFill>
                  <a:srgbClr val="0070C0"/>
                </a:solidFill>
              </a:rPr>
              <a:t>1x1 </a:t>
            </a:r>
            <a:r>
              <a:rPr lang="ko-KR" altLang="en-US" sz="1100" b="1" dirty="0" smtClean="0">
                <a:solidFill>
                  <a:srgbClr val="0070C0"/>
                </a:solidFill>
              </a:rPr>
              <a:t>크기로 </a:t>
            </a:r>
            <a:r>
              <a:rPr lang="ko-KR" altLang="en-US" sz="1100" b="1" dirty="0" err="1" smtClean="0">
                <a:solidFill>
                  <a:srgbClr val="0070C0"/>
                </a:solidFill>
              </a:rPr>
              <a:t>줄어듬</a:t>
            </a:r>
            <a:endParaRPr lang="en-US" altLang="ko-KR" sz="1100" dirty="0">
              <a:solidFill>
                <a:srgbClr val="0070C0"/>
              </a:solidFill>
            </a:endParaRPr>
          </a:p>
        </p:txBody>
      </p:sp>
      <p:sp>
        <p:nvSpPr>
          <p:cNvPr id="7" name="직사각형 6"/>
          <p:cNvSpPr/>
          <p:nvPr/>
        </p:nvSpPr>
        <p:spPr>
          <a:xfrm>
            <a:off x="5012690" y="2948001"/>
            <a:ext cx="5343525" cy="861774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altLang="ko-KR" sz="1000" dirty="0">
                <a:solidFill>
                  <a:srgbClr val="C00000"/>
                </a:solidFill>
              </a:rPr>
              <a:t>self.norm1 = </a:t>
            </a:r>
            <a:r>
              <a:rPr lang="en-US" altLang="ko-KR" sz="1000" dirty="0" err="1">
                <a:solidFill>
                  <a:srgbClr val="C00000"/>
                </a:solidFill>
              </a:rPr>
              <a:t>nn.LayerNorm</a:t>
            </a:r>
            <a:r>
              <a:rPr lang="en-US" altLang="ko-KR" sz="1000" dirty="0">
                <a:solidFill>
                  <a:srgbClr val="C00000"/>
                </a:solidFill>
              </a:rPr>
              <a:t>((</a:t>
            </a:r>
            <a:r>
              <a:rPr lang="en-US" altLang="ko-KR" sz="1000" dirty="0" err="1">
                <a:solidFill>
                  <a:srgbClr val="C00000"/>
                </a:solidFill>
              </a:rPr>
              <a:t>in_channels</a:t>
            </a:r>
            <a:r>
              <a:rPr lang="en-US" altLang="ko-KR" sz="1000" dirty="0">
                <a:solidFill>
                  <a:srgbClr val="C00000"/>
                </a:solidFill>
              </a:rPr>
              <a:t> // reduction, 1, 1))</a:t>
            </a:r>
            <a:r>
              <a:rPr lang="ko-KR" altLang="en-US" sz="1000" dirty="0">
                <a:solidFill>
                  <a:srgbClr val="C00000"/>
                </a:solidFill>
              </a:rPr>
              <a:t>는 채널 수를 줄인 상태에서 각 채널의 </a:t>
            </a:r>
            <a:r>
              <a:rPr lang="en-US" altLang="ko-KR" sz="1000" dirty="0">
                <a:solidFill>
                  <a:srgbClr val="C00000"/>
                </a:solidFill>
              </a:rPr>
              <a:t>1x1 </a:t>
            </a:r>
            <a:r>
              <a:rPr lang="ko-KR" altLang="en-US" sz="1000" dirty="0">
                <a:solidFill>
                  <a:srgbClr val="C00000"/>
                </a:solidFill>
              </a:rPr>
              <a:t>크기의 </a:t>
            </a:r>
            <a:r>
              <a:rPr lang="ko-KR" altLang="en-US" sz="1000" dirty="0" err="1">
                <a:solidFill>
                  <a:srgbClr val="C00000"/>
                </a:solidFill>
              </a:rPr>
              <a:t>텐서에</a:t>
            </a:r>
            <a:r>
              <a:rPr lang="ko-KR" altLang="en-US" sz="1000" dirty="0">
                <a:solidFill>
                  <a:srgbClr val="C00000"/>
                </a:solidFill>
              </a:rPr>
              <a:t> 대해 레이어 정규화를 수행하는 레이어입니다</a:t>
            </a:r>
            <a:r>
              <a:rPr lang="en-US" altLang="ko-KR" sz="1000" dirty="0">
                <a:solidFill>
                  <a:srgbClr val="C00000"/>
                </a:solidFill>
              </a:rPr>
              <a:t>. </a:t>
            </a:r>
            <a:r>
              <a:rPr lang="ko-KR" altLang="en-US" sz="1000" dirty="0">
                <a:solidFill>
                  <a:srgbClr val="C00000"/>
                </a:solidFill>
              </a:rPr>
              <a:t>이를 통해 네트워크는 입력의 분포에 덜 민감하게 되고</a:t>
            </a:r>
            <a:r>
              <a:rPr lang="en-US" altLang="ko-KR" sz="1000" dirty="0">
                <a:solidFill>
                  <a:srgbClr val="C00000"/>
                </a:solidFill>
              </a:rPr>
              <a:t>, </a:t>
            </a:r>
            <a:r>
              <a:rPr lang="ko-KR" altLang="en-US" sz="1000" dirty="0">
                <a:solidFill>
                  <a:srgbClr val="C00000"/>
                </a:solidFill>
              </a:rPr>
              <a:t>학습 과정이 </a:t>
            </a:r>
            <a:r>
              <a:rPr lang="ko-KR" altLang="en-US" sz="1000" dirty="0" err="1">
                <a:solidFill>
                  <a:srgbClr val="C00000"/>
                </a:solidFill>
              </a:rPr>
              <a:t>안정화됩니다</a:t>
            </a:r>
            <a:r>
              <a:rPr lang="en-US" altLang="ko-KR" sz="1000" dirty="0">
                <a:solidFill>
                  <a:srgbClr val="C00000"/>
                </a:solidFill>
              </a:rPr>
              <a:t>. </a:t>
            </a:r>
            <a:r>
              <a:rPr lang="ko-KR" altLang="en-US" sz="1000" dirty="0">
                <a:solidFill>
                  <a:srgbClr val="C00000"/>
                </a:solidFill>
              </a:rPr>
              <a:t>이 레이어는 배치 크기와 상관없이 각 샘플의 </a:t>
            </a:r>
            <a:r>
              <a:rPr lang="ko-KR" altLang="en-US" sz="1000" dirty="0" err="1">
                <a:solidFill>
                  <a:srgbClr val="C00000"/>
                </a:solidFill>
              </a:rPr>
              <a:t>텐서에</a:t>
            </a:r>
            <a:r>
              <a:rPr lang="ko-KR" altLang="en-US" sz="1000" dirty="0">
                <a:solidFill>
                  <a:srgbClr val="C00000"/>
                </a:solidFill>
              </a:rPr>
              <a:t> 대해 독립적으로 동작하여</a:t>
            </a:r>
            <a:r>
              <a:rPr lang="en-US" altLang="ko-KR" sz="1000" dirty="0">
                <a:solidFill>
                  <a:srgbClr val="C00000"/>
                </a:solidFill>
              </a:rPr>
              <a:t>, </a:t>
            </a:r>
            <a:r>
              <a:rPr lang="ko-KR" altLang="en-US" sz="1000" dirty="0">
                <a:solidFill>
                  <a:srgbClr val="C00000"/>
                </a:solidFill>
              </a:rPr>
              <a:t>특정 조건에서 배치 </a:t>
            </a:r>
            <a:r>
              <a:rPr lang="ko-KR" altLang="en-US" sz="1000" dirty="0" err="1">
                <a:solidFill>
                  <a:srgbClr val="C00000"/>
                </a:solidFill>
              </a:rPr>
              <a:t>정규화보다</a:t>
            </a:r>
            <a:r>
              <a:rPr lang="ko-KR" altLang="en-US" sz="1000" dirty="0">
                <a:solidFill>
                  <a:srgbClr val="C00000"/>
                </a:solidFill>
              </a:rPr>
              <a:t> 유리할 수 있습니다</a:t>
            </a:r>
            <a:r>
              <a:rPr lang="en-US" altLang="ko-KR" sz="1000" dirty="0">
                <a:solidFill>
                  <a:srgbClr val="C00000"/>
                </a:solidFill>
              </a:rPr>
              <a:t>.</a:t>
            </a:r>
            <a:endParaRPr lang="ko-KR" altLang="en-US" sz="1000" dirty="0">
              <a:solidFill>
                <a:srgbClr val="C00000"/>
              </a:solidFill>
            </a:endParaRPr>
          </a:p>
        </p:txBody>
      </p:sp>
      <p:sp>
        <p:nvSpPr>
          <p:cNvPr id="18" name="직사각형 17"/>
          <p:cNvSpPr/>
          <p:nvPr/>
        </p:nvSpPr>
        <p:spPr>
          <a:xfrm>
            <a:off x="4041790" y="2264842"/>
            <a:ext cx="743568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smtClean="0">
                <a:solidFill>
                  <a:srgbClr val="C00000"/>
                </a:solidFill>
              </a:rPr>
              <a:t>1x1xc</a:t>
            </a:r>
            <a:endParaRPr lang="ko-KR" altLang="en-US" sz="1000" dirty="0">
              <a:solidFill>
                <a:srgbClr val="C00000"/>
              </a:solidFill>
            </a:endParaRPr>
          </a:p>
        </p:txBody>
      </p:sp>
      <p:sp>
        <p:nvSpPr>
          <p:cNvPr id="19" name="직사각형 18"/>
          <p:cNvSpPr/>
          <p:nvPr/>
        </p:nvSpPr>
        <p:spPr>
          <a:xfrm>
            <a:off x="3969852" y="2851473"/>
            <a:ext cx="868848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smtClean="0">
                <a:solidFill>
                  <a:srgbClr val="C00000"/>
                </a:solidFill>
              </a:rPr>
              <a:t>1x1xc/16</a:t>
            </a:r>
            <a:endParaRPr lang="ko-KR" altLang="en-US" sz="1000" dirty="0">
              <a:solidFill>
                <a:srgbClr val="C00000"/>
              </a:solidFill>
            </a:endParaRPr>
          </a:p>
        </p:txBody>
      </p:sp>
      <p:sp>
        <p:nvSpPr>
          <p:cNvPr id="21" name="직사각형 20"/>
          <p:cNvSpPr/>
          <p:nvPr/>
        </p:nvSpPr>
        <p:spPr>
          <a:xfrm>
            <a:off x="3969852" y="3820443"/>
            <a:ext cx="815507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smtClean="0">
                <a:solidFill>
                  <a:srgbClr val="C00000"/>
                </a:solidFill>
              </a:rPr>
              <a:t>1x1xc/16</a:t>
            </a:r>
            <a:endParaRPr lang="ko-KR" altLang="en-US" sz="1000" dirty="0">
              <a:solidFill>
                <a:srgbClr val="C00000"/>
              </a:solidFill>
            </a:endParaRPr>
          </a:p>
        </p:txBody>
      </p:sp>
      <p:sp>
        <p:nvSpPr>
          <p:cNvPr id="26" name="직사각형 25"/>
          <p:cNvSpPr/>
          <p:nvPr/>
        </p:nvSpPr>
        <p:spPr>
          <a:xfrm>
            <a:off x="3577682" y="1546145"/>
            <a:ext cx="1261018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smtClean="0">
                <a:solidFill>
                  <a:srgbClr val="C00000"/>
                </a:solidFill>
              </a:rPr>
              <a:t>input = </a:t>
            </a:r>
            <a:r>
              <a:rPr lang="en-US" altLang="ko-KR" sz="1000" dirty="0" err="1" smtClean="0">
                <a:solidFill>
                  <a:srgbClr val="C00000"/>
                </a:solidFill>
              </a:rPr>
              <a:t>dxdxc</a:t>
            </a:r>
            <a:endParaRPr lang="ko-KR" altLang="en-US" sz="1000" dirty="0">
              <a:solidFill>
                <a:srgbClr val="C00000"/>
              </a:solidFill>
            </a:endParaRPr>
          </a:p>
        </p:txBody>
      </p:sp>
      <p:sp>
        <p:nvSpPr>
          <p:cNvPr id="27" name="직사각형 26"/>
          <p:cNvSpPr/>
          <p:nvPr/>
        </p:nvSpPr>
        <p:spPr>
          <a:xfrm>
            <a:off x="2196534" y="4819023"/>
            <a:ext cx="2469901" cy="367276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Activation </a:t>
            </a:r>
            <a:r>
              <a:rPr lang="en-US" altLang="ko-KR" sz="1050" dirty="0" err="1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Func</a:t>
            </a:r>
            <a:r>
              <a:rPr lang="en-US" altLang="ko-KR" sz="105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(default sigmoid)</a:t>
            </a:r>
            <a:endParaRPr lang="en-US" altLang="ko-KR" sz="105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cxnSp>
        <p:nvCxnSpPr>
          <p:cNvPr id="28" name="직선 화살표 연결선 27"/>
          <p:cNvCxnSpPr>
            <a:stCxn id="22" idx="2"/>
            <a:endCxn id="27" idx="0"/>
          </p:cNvCxnSpPr>
          <p:nvPr/>
        </p:nvCxnSpPr>
        <p:spPr>
          <a:xfrm>
            <a:off x="3431485" y="4463550"/>
            <a:ext cx="0" cy="35547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직사각형 28"/>
          <p:cNvSpPr/>
          <p:nvPr/>
        </p:nvSpPr>
        <p:spPr>
          <a:xfrm>
            <a:off x="3969851" y="4522768"/>
            <a:ext cx="815507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smtClean="0">
                <a:solidFill>
                  <a:srgbClr val="C00000"/>
                </a:solidFill>
              </a:rPr>
              <a:t>1x1xc</a:t>
            </a:r>
            <a:endParaRPr lang="ko-KR" altLang="en-US" sz="1000" dirty="0">
              <a:solidFill>
                <a:srgbClr val="C00000"/>
              </a:solidFill>
            </a:endParaRPr>
          </a:p>
        </p:txBody>
      </p:sp>
      <p:sp>
        <p:nvSpPr>
          <p:cNvPr id="14" name="직사각형 13"/>
          <p:cNvSpPr/>
          <p:nvPr/>
        </p:nvSpPr>
        <p:spPr>
          <a:xfrm>
            <a:off x="4921250" y="1761635"/>
            <a:ext cx="5343525" cy="577081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altLang="ko-KR" sz="1050" dirty="0">
                <a:solidFill>
                  <a:srgbClr val="0070C0"/>
                </a:solidFill>
              </a:rPr>
              <a:t>nn.AdaptiveAvgPool2d(1)</a:t>
            </a:r>
            <a:r>
              <a:rPr lang="ko-KR" altLang="en-US" sz="1050" dirty="0">
                <a:solidFill>
                  <a:srgbClr val="0070C0"/>
                </a:solidFill>
              </a:rPr>
              <a:t>는 입력 </a:t>
            </a:r>
            <a:r>
              <a:rPr lang="ko-KR" altLang="en-US" sz="1050" dirty="0" err="1">
                <a:solidFill>
                  <a:srgbClr val="0070C0"/>
                </a:solidFill>
              </a:rPr>
              <a:t>텐서의</a:t>
            </a:r>
            <a:r>
              <a:rPr lang="ko-KR" altLang="en-US" sz="1050" dirty="0">
                <a:solidFill>
                  <a:srgbClr val="0070C0"/>
                </a:solidFill>
              </a:rPr>
              <a:t> 공간적 차원을 </a:t>
            </a:r>
            <a:r>
              <a:rPr lang="en-US" altLang="ko-KR" sz="1050" dirty="0">
                <a:solidFill>
                  <a:srgbClr val="0070C0"/>
                </a:solidFill>
              </a:rPr>
              <a:t>(1, 1)</a:t>
            </a:r>
            <a:r>
              <a:rPr lang="ko-KR" altLang="en-US" sz="1050" dirty="0">
                <a:solidFill>
                  <a:srgbClr val="0070C0"/>
                </a:solidFill>
              </a:rPr>
              <a:t>로 축소하는 전역 평균 </a:t>
            </a:r>
            <a:r>
              <a:rPr lang="ko-KR" altLang="en-US" sz="1050" dirty="0" err="1">
                <a:solidFill>
                  <a:srgbClr val="0070C0"/>
                </a:solidFill>
              </a:rPr>
              <a:t>풀링</a:t>
            </a:r>
            <a:r>
              <a:rPr lang="ko-KR" altLang="en-US" sz="1050" dirty="0">
                <a:solidFill>
                  <a:srgbClr val="0070C0"/>
                </a:solidFill>
              </a:rPr>
              <a:t> 레이어입니다</a:t>
            </a:r>
            <a:r>
              <a:rPr lang="en-US" altLang="ko-KR" sz="1050" dirty="0">
                <a:solidFill>
                  <a:srgbClr val="0070C0"/>
                </a:solidFill>
              </a:rPr>
              <a:t>. </a:t>
            </a:r>
            <a:r>
              <a:rPr lang="ko-KR" altLang="en-US" sz="1050" dirty="0">
                <a:solidFill>
                  <a:srgbClr val="0070C0"/>
                </a:solidFill>
              </a:rPr>
              <a:t>이는 각 채널의 전역적 특성을 요약하고</a:t>
            </a:r>
            <a:r>
              <a:rPr lang="en-US" altLang="ko-KR" sz="1050" dirty="0">
                <a:solidFill>
                  <a:srgbClr val="0070C0"/>
                </a:solidFill>
              </a:rPr>
              <a:t>, </a:t>
            </a:r>
            <a:r>
              <a:rPr lang="ko-KR" altLang="en-US" sz="1050" dirty="0">
                <a:solidFill>
                  <a:srgbClr val="0070C0"/>
                </a:solidFill>
              </a:rPr>
              <a:t>네트워크의 계산 효율성을 높이며</a:t>
            </a:r>
            <a:r>
              <a:rPr lang="en-US" altLang="ko-KR" sz="1050" dirty="0">
                <a:solidFill>
                  <a:srgbClr val="0070C0"/>
                </a:solidFill>
              </a:rPr>
              <a:t>, </a:t>
            </a:r>
            <a:r>
              <a:rPr lang="ko-KR" altLang="en-US" sz="1050" dirty="0">
                <a:solidFill>
                  <a:srgbClr val="0070C0"/>
                </a:solidFill>
              </a:rPr>
              <a:t>출력 크기를 일정하게 유지하는 데 사용됩니다</a:t>
            </a:r>
            <a:r>
              <a:rPr lang="en-US" altLang="ko-KR" sz="1050" dirty="0">
                <a:solidFill>
                  <a:srgbClr val="0070C0"/>
                </a:solidFill>
              </a:rPr>
              <a:t>.</a:t>
            </a:r>
            <a:endParaRPr lang="ko-KR" altLang="en-US" sz="1050" dirty="0">
              <a:solidFill>
                <a:srgbClr val="0070C0"/>
              </a:solidFill>
            </a:endParaRPr>
          </a:p>
        </p:txBody>
      </p:sp>
      <p:sp>
        <p:nvSpPr>
          <p:cNvPr id="30" name="순서도: 판단 29"/>
          <p:cNvSpPr/>
          <p:nvPr/>
        </p:nvSpPr>
        <p:spPr>
          <a:xfrm>
            <a:off x="2569189" y="5541772"/>
            <a:ext cx="1724590" cy="537956"/>
          </a:xfrm>
          <a:prstGeom prst="flowChartDecision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100" dirty="0" err="1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return_gates</a:t>
            </a:r>
            <a:r>
              <a:rPr lang="en-US" altLang="ko-KR" sz="11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== True</a:t>
            </a:r>
            <a:endParaRPr lang="ko-KR" altLang="en-US" sz="110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cxnSp>
        <p:nvCxnSpPr>
          <p:cNvPr id="31" name="직선 화살표 연결선 30"/>
          <p:cNvCxnSpPr>
            <a:stCxn id="27" idx="2"/>
            <a:endCxn id="30" idx="0"/>
          </p:cNvCxnSpPr>
          <p:nvPr/>
        </p:nvCxnSpPr>
        <p:spPr>
          <a:xfrm flipH="1">
            <a:off x="3431484" y="5186299"/>
            <a:ext cx="1" cy="35547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모서리가 둥근 직사각형 32"/>
          <p:cNvSpPr/>
          <p:nvPr/>
        </p:nvSpPr>
        <p:spPr>
          <a:xfrm>
            <a:off x="4838701" y="5627112"/>
            <a:ext cx="1493520" cy="367276"/>
          </a:xfrm>
          <a:prstGeom prst="roundRect">
            <a:avLst>
              <a:gd name="adj" fmla="val 50000"/>
            </a:avLst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return x</a:t>
            </a:r>
            <a:endParaRPr lang="en-US" altLang="ko-KR" sz="105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sp>
        <p:nvSpPr>
          <p:cNvPr id="34" name="직사각형 33"/>
          <p:cNvSpPr/>
          <p:nvPr/>
        </p:nvSpPr>
        <p:spPr>
          <a:xfrm>
            <a:off x="3800437" y="5259324"/>
            <a:ext cx="815507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rgbClr val="C00000"/>
                </a:solidFill>
              </a:rPr>
              <a:t>결과 </a:t>
            </a:r>
            <a:r>
              <a:rPr lang="en-US" altLang="ko-KR" sz="1000" dirty="0" smtClean="0">
                <a:solidFill>
                  <a:srgbClr val="C00000"/>
                </a:solidFill>
              </a:rPr>
              <a:t>: x</a:t>
            </a:r>
            <a:endParaRPr lang="ko-KR" altLang="en-US" sz="1000" dirty="0">
              <a:solidFill>
                <a:srgbClr val="C00000"/>
              </a:solidFill>
            </a:endParaRPr>
          </a:p>
        </p:txBody>
      </p:sp>
      <p:cxnSp>
        <p:nvCxnSpPr>
          <p:cNvPr id="35" name="직선 화살표 연결선 34"/>
          <p:cNvCxnSpPr>
            <a:stCxn id="30" idx="3"/>
            <a:endCxn id="33" idx="1"/>
          </p:cNvCxnSpPr>
          <p:nvPr/>
        </p:nvCxnSpPr>
        <p:spPr>
          <a:xfrm>
            <a:off x="4293779" y="5810750"/>
            <a:ext cx="54492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직사각형 37"/>
          <p:cNvSpPr/>
          <p:nvPr/>
        </p:nvSpPr>
        <p:spPr>
          <a:xfrm>
            <a:off x="4256875" y="5578570"/>
            <a:ext cx="496570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smtClean="0"/>
              <a:t>YES</a:t>
            </a:r>
            <a:endParaRPr lang="ko-KR" altLang="en-US" sz="1000" dirty="0"/>
          </a:p>
        </p:txBody>
      </p:sp>
      <p:sp>
        <p:nvSpPr>
          <p:cNvPr id="39" name="모서리가 둥근 직사각형 38"/>
          <p:cNvSpPr/>
          <p:nvPr/>
        </p:nvSpPr>
        <p:spPr>
          <a:xfrm>
            <a:off x="2684724" y="6526272"/>
            <a:ext cx="1493520" cy="367276"/>
          </a:xfrm>
          <a:prstGeom prst="roundRect">
            <a:avLst>
              <a:gd name="adj" fmla="val 50000"/>
            </a:avLst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  <a:hlinkClick r:id="rId2" action="ppaction://hlinksldjump"/>
              </a:rPr>
              <a:t>return input * x</a:t>
            </a:r>
            <a:endParaRPr lang="en-US" altLang="ko-KR" sz="105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cxnSp>
        <p:nvCxnSpPr>
          <p:cNvPr id="40" name="직선 화살표 연결선 39"/>
          <p:cNvCxnSpPr>
            <a:stCxn id="30" idx="2"/>
            <a:endCxn id="39" idx="0"/>
          </p:cNvCxnSpPr>
          <p:nvPr/>
        </p:nvCxnSpPr>
        <p:spPr>
          <a:xfrm>
            <a:off x="3431484" y="6079728"/>
            <a:ext cx="0" cy="44654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직사각형 42"/>
          <p:cNvSpPr/>
          <p:nvPr/>
        </p:nvSpPr>
        <p:spPr>
          <a:xfrm>
            <a:off x="3721566" y="6159123"/>
            <a:ext cx="496570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smtClean="0"/>
              <a:t>NO</a:t>
            </a:r>
            <a:endParaRPr lang="ko-KR" altLang="en-US" sz="1000" dirty="0"/>
          </a:p>
        </p:txBody>
      </p:sp>
      <p:sp>
        <p:nvSpPr>
          <p:cNvPr id="45" name="직사각형 44"/>
          <p:cNvSpPr/>
          <p:nvPr/>
        </p:nvSpPr>
        <p:spPr>
          <a:xfrm>
            <a:off x="4293779" y="6620331"/>
            <a:ext cx="2150275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rgbClr val="C00000"/>
                </a:solidFill>
              </a:rPr>
              <a:t>입력에 가중치를 곱하여 </a:t>
            </a:r>
            <a:r>
              <a:rPr lang="en-US" altLang="ko-KR" sz="1000" dirty="0" smtClean="0">
                <a:solidFill>
                  <a:srgbClr val="C00000"/>
                </a:solidFill>
              </a:rPr>
              <a:t>return</a:t>
            </a:r>
            <a:endParaRPr lang="ko-KR" altLang="en-US" sz="1000" dirty="0">
              <a:solidFill>
                <a:srgbClr val="C00000"/>
              </a:solidFill>
            </a:endParaRPr>
          </a:p>
        </p:txBody>
      </p:sp>
      <p:sp>
        <p:nvSpPr>
          <p:cNvPr id="46" name="직사각형 45"/>
          <p:cNvSpPr/>
          <p:nvPr/>
        </p:nvSpPr>
        <p:spPr>
          <a:xfrm>
            <a:off x="6473044" y="4463550"/>
            <a:ext cx="3796032" cy="218521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800" dirty="0"/>
              <a:t>클래스의 작동 방식</a:t>
            </a:r>
            <a:r>
              <a:rPr lang="en-US" altLang="ko-KR" sz="800" dirty="0"/>
              <a:t>:</a:t>
            </a:r>
          </a:p>
          <a:p>
            <a:endParaRPr lang="en-US" altLang="ko-KR" sz="800" dirty="0"/>
          </a:p>
          <a:p>
            <a:r>
              <a:rPr lang="en-US" altLang="ko-KR" sz="800" dirty="0"/>
              <a:t>    </a:t>
            </a:r>
            <a:r>
              <a:rPr lang="ko-KR" altLang="en-US" sz="800" dirty="0"/>
              <a:t>이 클래스는 입력 </a:t>
            </a:r>
            <a:r>
              <a:rPr lang="ko-KR" altLang="en-US" sz="800" dirty="0" err="1"/>
              <a:t>텐서의</a:t>
            </a:r>
            <a:r>
              <a:rPr lang="ko-KR" altLang="en-US" sz="800" dirty="0"/>
              <a:t> </a:t>
            </a:r>
            <a:r>
              <a:rPr lang="ko-KR" altLang="en-US" sz="800" dirty="0" err="1"/>
              <a:t>채널별</a:t>
            </a:r>
            <a:r>
              <a:rPr lang="ko-KR" altLang="en-US" sz="800" dirty="0"/>
              <a:t> 전역 특성을 추출하고</a:t>
            </a:r>
            <a:r>
              <a:rPr lang="en-US" altLang="ko-KR" sz="800" dirty="0"/>
              <a:t>, </a:t>
            </a:r>
            <a:r>
              <a:rPr lang="ko-KR" altLang="en-US" sz="800" dirty="0"/>
              <a:t>이를 기반으로 각 채널에 대한 게이트 값을 생성합니다</a:t>
            </a:r>
            <a:r>
              <a:rPr lang="en-US" altLang="ko-KR" sz="800" dirty="0"/>
              <a:t>.</a:t>
            </a:r>
          </a:p>
          <a:p>
            <a:r>
              <a:rPr lang="en-US" altLang="ko-KR" sz="800" dirty="0"/>
              <a:t>    </a:t>
            </a:r>
            <a:r>
              <a:rPr lang="ko-KR" altLang="en-US" sz="800" dirty="0"/>
              <a:t>게이트 값은 입력 </a:t>
            </a:r>
            <a:r>
              <a:rPr lang="ko-KR" altLang="en-US" sz="800" dirty="0" err="1"/>
              <a:t>텐서의</a:t>
            </a:r>
            <a:r>
              <a:rPr lang="ko-KR" altLang="en-US" sz="800" dirty="0"/>
              <a:t> 각 채널에 곱해져</a:t>
            </a:r>
            <a:r>
              <a:rPr lang="en-US" altLang="ko-KR" sz="800" dirty="0"/>
              <a:t>, </a:t>
            </a:r>
            <a:r>
              <a:rPr lang="ko-KR" altLang="en-US" sz="800" dirty="0"/>
              <a:t>중요도에 따라 채널의 값을 조정합니다</a:t>
            </a:r>
            <a:r>
              <a:rPr lang="en-US" altLang="ko-KR" sz="800" dirty="0"/>
              <a:t>. </a:t>
            </a:r>
            <a:r>
              <a:rPr lang="ko-KR" altLang="en-US" sz="800" dirty="0"/>
              <a:t>이를 통해 특정 채널의 정보가 강조되거나 억제될 수 있습니다</a:t>
            </a:r>
            <a:r>
              <a:rPr lang="en-US" altLang="ko-KR" sz="800" dirty="0"/>
              <a:t>.</a:t>
            </a:r>
          </a:p>
          <a:p>
            <a:r>
              <a:rPr lang="en-US" altLang="ko-KR" sz="800" dirty="0"/>
              <a:t>    </a:t>
            </a:r>
            <a:r>
              <a:rPr lang="ko-KR" altLang="en-US" sz="800" dirty="0"/>
              <a:t>예를 들어</a:t>
            </a:r>
            <a:r>
              <a:rPr lang="en-US" altLang="ko-KR" sz="800" dirty="0"/>
              <a:t>, </a:t>
            </a:r>
            <a:r>
              <a:rPr lang="ko-KR" altLang="en-US" sz="800" dirty="0"/>
              <a:t>이미지 분류 문제에서 중요한 특징을 강조하고 불필요한 정보는 줄이는 방식으로 모델의 성능을 향상시킬 수 있습니다</a:t>
            </a:r>
            <a:r>
              <a:rPr lang="en-US" altLang="ko-KR" sz="800" dirty="0"/>
              <a:t>.</a:t>
            </a:r>
          </a:p>
          <a:p>
            <a:endParaRPr lang="en-US" altLang="ko-KR" sz="800" dirty="0"/>
          </a:p>
          <a:p>
            <a:r>
              <a:rPr lang="ko-KR" altLang="en-US" sz="800" dirty="0"/>
              <a:t>요약</a:t>
            </a:r>
            <a:r>
              <a:rPr lang="en-US" altLang="ko-KR" sz="800" dirty="0"/>
              <a:t>:</a:t>
            </a:r>
          </a:p>
          <a:p>
            <a:endParaRPr lang="en-US" altLang="ko-KR" sz="800" dirty="0"/>
          </a:p>
          <a:p>
            <a:r>
              <a:rPr lang="en-US" altLang="ko-KR" sz="800" dirty="0" err="1"/>
              <a:t>ChannelGate</a:t>
            </a:r>
            <a:r>
              <a:rPr lang="en-US" altLang="ko-KR" sz="800" dirty="0"/>
              <a:t> </a:t>
            </a:r>
            <a:r>
              <a:rPr lang="ko-KR" altLang="en-US" sz="800" dirty="0"/>
              <a:t>클래스는 입력 </a:t>
            </a:r>
            <a:r>
              <a:rPr lang="ko-KR" altLang="en-US" sz="800" dirty="0" err="1"/>
              <a:t>텐서의</a:t>
            </a:r>
            <a:r>
              <a:rPr lang="ko-KR" altLang="en-US" sz="800" dirty="0"/>
              <a:t> </a:t>
            </a:r>
            <a:r>
              <a:rPr lang="ko-KR" altLang="en-US" sz="800" dirty="0" err="1"/>
              <a:t>채널별</a:t>
            </a:r>
            <a:r>
              <a:rPr lang="ko-KR" altLang="en-US" sz="800" dirty="0"/>
              <a:t> 중요도를 학습하고</a:t>
            </a:r>
            <a:r>
              <a:rPr lang="en-US" altLang="ko-KR" sz="800" dirty="0"/>
              <a:t>, </a:t>
            </a:r>
            <a:r>
              <a:rPr lang="ko-KR" altLang="en-US" sz="800" dirty="0"/>
              <a:t>이를 기반으로 채널 가중치를 조절하는 게이트를 생성합니다</a:t>
            </a:r>
            <a:r>
              <a:rPr lang="en-US" altLang="ko-KR" sz="800" dirty="0"/>
              <a:t>. </a:t>
            </a:r>
            <a:r>
              <a:rPr lang="ko-KR" altLang="en-US" sz="800" dirty="0"/>
              <a:t>전역 평균 </a:t>
            </a:r>
            <a:r>
              <a:rPr lang="ko-KR" altLang="en-US" sz="800" dirty="0" err="1"/>
              <a:t>풀링</a:t>
            </a:r>
            <a:r>
              <a:rPr lang="en-US" altLang="ko-KR" sz="800" dirty="0"/>
              <a:t>, 1x1 </a:t>
            </a:r>
            <a:r>
              <a:rPr lang="ko-KR" altLang="en-US" sz="800" dirty="0" err="1"/>
              <a:t>컨볼루션</a:t>
            </a:r>
            <a:r>
              <a:rPr lang="en-US" altLang="ko-KR" sz="800" dirty="0"/>
              <a:t>, </a:t>
            </a:r>
            <a:r>
              <a:rPr lang="ko-KR" altLang="en-US" sz="800" dirty="0"/>
              <a:t>선택적인 레이어 정규화</a:t>
            </a:r>
            <a:r>
              <a:rPr lang="en-US" altLang="ko-KR" sz="800" dirty="0"/>
              <a:t>, </a:t>
            </a:r>
            <a:r>
              <a:rPr lang="en-US" altLang="ko-KR" sz="800" dirty="0" err="1"/>
              <a:t>ReLU</a:t>
            </a:r>
            <a:r>
              <a:rPr lang="en-US" altLang="ko-KR" sz="800" dirty="0"/>
              <a:t> </a:t>
            </a:r>
            <a:r>
              <a:rPr lang="ko-KR" altLang="en-US" sz="800" dirty="0"/>
              <a:t>활성화</a:t>
            </a:r>
            <a:r>
              <a:rPr lang="en-US" altLang="ko-KR" sz="800" dirty="0"/>
              <a:t>, </a:t>
            </a:r>
            <a:r>
              <a:rPr lang="ko-KR" altLang="en-US" sz="800" dirty="0"/>
              <a:t>그리고 지정된 게이트 활성화 함수로 구성되어</a:t>
            </a:r>
            <a:r>
              <a:rPr lang="en-US" altLang="ko-KR" sz="800" dirty="0"/>
              <a:t>, </a:t>
            </a:r>
            <a:r>
              <a:rPr lang="ko-KR" altLang="en-US" sz="800" dirty="0"/>
              <a:t>입력 특징 </a:t>
            </a:r>
            <a:r>
              <a:rPr lang="ko-KR" altLang="en-US" sz="800" b="1" u="sng" dirty="0" err="1"/>
              <a:t>맵의</a:t>
            </a:r>
            <a:r>
              <a:rPr lang="ko-KR" altLang="en-US" sz="800" b="1" u="sng" dirty="0"/>
              <a:t> </a:t>
            </a:r>
            <a:r>
              <a:rPr lang="ko-KR" altLang="en-US" sz="800" b="1" u="sng" dirty="0" err="1">
                <a:solidFill>
                  <a:srgbClr val="C00000"/>
                </a:solidFill>
              </a:rPr>
              <a:t>채널별</a:t>
            </a:r>
            <a:r>
              <a:rPr lang="ko-KR" altLang="en-US" sz="800" b="1" u="sng" dirty="0">
                <a:solidFill>
                  <a:srgbClr val="C00000"/>
                </a:solidFill>
              </a:rPr>
              <a:t> 중요도를 동적으로 조정하는 기능을 </a:t>
            </a:r>
            <a:r>
              <a:rPr lang="ko-KR" altLang="en-US" sz="800" dirty="0"/>
              <a:t>수행합니다</a:t>
            </a:r>
            <a:r>
              <a:rPr lang="en-US" altLang="ko-KR" sz="800" dirty="0"/>
              <a:t>. </a:t>
            </a:r>
            <a:r>
              <a:rPr lang="ko-KR" altLang="en-US" sz="800" dirty="0"/>
              <a:t>이를 통해 모델이 더 효과적으로 특정 채널에 집중할 수 있게 하며</a:t>
            </a:r>
            <a:r>
              <a:rPr lang="en-US" altLang="ko-KR" sz="800" dirty="0"/>
              <a:t>, </a:t>
            </a:r>
            <a:r>
              <a:rPr lang="ko-KR" altLang="en-US" sz="800" dirty="0"/>
              <a:t>다양한 컴퓨터 비전 문제에서 성능을 개선하는 데 사용됩니다</a:t>
            </a:r>
            <a:r>
              <a:rPr lang="en-US" altLang="ko-KR" sz="800" dirty="0"/>
              <a:t>.</a:t>
            </a:r>
          </a:p>
        </p:txBody>
      </p:sp>
      <p:sp>
        <p:nvSpPr>
          <p:cNvPr id="48" name="직사각형 47"/>
          <p:cNvSpPr/>
          <p:nvPr/>
        </p:nvSpPr>
        <p:spPr>
          <a:xfrm>
            <a:off x="1821752" y="1648621"/>
            <a:ext cx="1802096" cy="2308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900" dirty="0" smtClean="0"/>
              <a:t>예</a:t>
            </a:r>
            <a:r>
              <a:rPr lang="en-US" altLang="ko-KR" sz="900" dirty="0" smtClean="0"/>
              <a:t>) </a:t>
            </a:r>
            <a:r>
              <a:rPr lang="ko-KR" altLang="en-US" sz="900" dirty="0" smtClean="0"/>
              <a:t>초기 </a:t>
            </a:r>
            <a:r>
              <a:rPr lang="ko-KR" altLang="en-US" sz="900" dirty="0"/>
              <a:t>입력 </a:t>
            </a:r>
            <a:r>
              <a:rPr lang="ko-KR" altLang="en-US" sz="900" dirty="0" err="1"/>
              <a:t>텐서</a:t>
            </a:r>
            <a:r>
              <a:rPr lang="en-US" altLang="ko-KR" sz="900" dirty="0"/>
              <a:t>: (2, 64, 8, 8)</a:t>
            </a:r>
            <a:endParaRPr lang="ko-KR" altLang="en-US" sz="900" dirty="0"/>
          </a:p>
        </p:txBody>
      </p:sp>
      <p:sp>
        <p:nvSpPr>
          <p:cNvPr id="49" name="직사각형 48"/>
          <p:cNvSpPr/>
          <p:nvPr/>
        </p:nvSpPr>
        <p:spPr>
          <a:xfrm>
            <a:off x="2396299" y="2272536"/>
            <a:ext cx="772969" cy="2308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900" dirty="0"/>
              <a:t>(2, 64, 1, 1)</a:t>
            </a:r>
            <a:endParaRPr lang="ko-KR" altLang="en-US" sz="900" dirty="0"/>
          </a:p>
        </p:txBody>
      </p:sp>
      <p:sp>
        <p:nvSpPr>
          <p:cNvPr id="50" name="직사각형 49"/>
          <p:cNvSpPr/>
          <p:nvPr/>
        </p:nvSpPr>
        <p:spPr>
          <a:xfrm>
            <a:off x="2381689" y="2844714"/>
            <a:ext cx="764953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/>
              <a:t>(2, 4, 1, 1)</a:t>
            </a:r>
            <a:endParaRPr lang="ko-KR" altLang="en-US" sz="1000" dirty="0"/>
          </a:p>
        </p:txBody>
      </p:sp>
      <p:sp>
        <p:nvSpPr>
          <p:cNvPr id="51" name="직사각형 50"/>
          <p:cNvSpPr/>
          <p:nvPr/>
        </p:nvSpPr>
        <p:spPr>
          <a:xfrm>
            <a:off x="2431533" y="3814915"/>
            <a:ext cx="764953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/>
              <a:t>(2, 4, 1, 1)</a:t>
            </a:r>
            <a:endParaRPr lang="ko-KR" altLang="en-US" sz="1000" dirty="0"/>
          </a:p>
        </p:txBody>
      </p:sp>
      <p:sp>
        <p:nvSpPr>
          <p:cNvPr id="52" name="직사각형 51"/>
          <p:cNvSpPr/>
          <p:nvPr/>
        </p:nvSpPr>
        <p:spPr>
          <a:xfrm>
            <a:off x="2443296" y="4512338"/>
            <a:ext cx="835485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/>
              <a:t>(2, </a:t>
            </a:r>
            <a:r>
              <a:rPr lang="en-US" altLang="ko-KR" sz="1000" dirty="0" smtClean="0"/>
              <a:t>64, </a:t>
            </a:r>
            <a:r>
              <a:rPr lang="en-US" altLang="ko-KR" sz="1000" dirty="0"/>
              <a:t>1, 1)</a:t>
            </a:r>
            <a:endParaRPr lang="ko-KR" altLang="en-US" sz="1000" dirty="0"/>
          </a:p>
        </p:txBody>
      </p:sp>
      <p:sp>
        <p:nvSpPr>
          <p:cNvPr id="54" name="직사각형 53"/>
          <p:cNvSpPr/>
          <p:nvPr/>
        </p:nvSpPr>
        <p:spPr>
          <a:xfrm>
            <a:off x="2381689" y="5243909"/>
            <a:ext cx="835485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/>
              <a:t>(2, </a:t>
            </a:r>
            <a:r>
              <a:rPr lang="en-US" altLang="ko-KR" sz="1000" dirty="0" smtClean="0"/>
              <a:t>64, </a:t>
            </a:r>
            <a:r>
              <a:rPr lang="en-US" altLang="ko-KR" sz="1000" dirty="0"/>
              <a:t>1, 1)</a:t>
            </a:r>
            <a:endParaRPr lang="ko-KR" altLang="en-US" sz="1000" dirty="0"/>
          </a:p>
        </p:txBody>
      </p:sp>
      <p:sp>
        <p:nvSpPr>
          <p:cNvPr id="55" name="직사각형 54"/>
          <p:cNvSpPr/>
          <p:nvPr/>
        </p:nvSpPr>
        <p:spPr>
          <a:xfrm>
            <a:off x="2167755" y="6948812"/>
            <a:ext cx="1505540" cy="2308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900" dirty="0" smtClean="0"/>
              <a:t>예</a:t>
            </a:r>
            <a:r>
              <a:rPr lang="en-US" altLang="ko-KR" sz="900" dirty="0" smtClean="0"/>
              <a:t>) </a:t>
            </a:r>
            <a:r>
              <a:rPr lang="ko-KR" altLang="en-US" sz="900" dirty="0" smtClean="0"/>
              <a:t>출력 크기 </a:t>
            </a:r>
            <a:r>
              <a:rPr lang="en-US" altLang="ko-KR" sz="900" dirty="0" smtClean="0"/>
              <a:t>(</a:t>
            </a:r>
            <a:r>
              <a:rPr lang="en-US" altLang="ko-KR" sz="900" dirty="0"/>
              <a:t>2, 64, 8, 8)</a:t>
            </a:r>
            <a:endParaRPr lang="ko-KR" altLang="en-US" sz="900" dirty="0"/>
          </a:p>
        </p:txBody>
      </p:sp>
      <p:sp>
        <p:nvSpPr>
          <p:cNvPr id="6" name="직사각형 5"/>
          <p:cNvSpPr/>
          <p:nvPr/>
        </p:nvSpPr>
        <p:spPr>
          <a:xfrm>
            <a:off x="4819968" y="3575712"/>
            <a:ext cx="1050288" cy="408253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dirty="0">
                <a:solidFill>
                  <a:srgbClr val="9CDCFE"/>
                </a:solidFill>
                <a:latin typeface="Consolas" panose="020B0609020204030204" pitchFamily="49" charset="0"/>
              </a:rPr>
              <a:t>losses</a:t>
            </a:r>
            <a:endParaRPr lang="en-US" altLang="ko-KR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28958779"/>
      </p:ext>
    </p:extLst>
  </p:cSld>
  <p:clrMapOvr>
    <a:masterClrMapping/>
  </p:clrMapOvr>
  <p:transition spd="slow">
    <p:wipe/>
  </p:transition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243377" y="314530"/>
            <a:ext cx="3113576" cy="468990"/>
          </a:xfrm>
          <a:prstGeom prst="rect">
            <a:avLst/>
          </a:prstGeom>
          <a:noFill/>
        </p:spPr>
        <p:txBody>
          <a:bodyPr wrap="none" lIns="98694" tIns="49347" rIns="98694" bIns="49347">
            <a:spAutoFit/>
          </a:bodyPr>
          <a:lstStyle/>
          <a:p>
            <a:pPr algn="ctr">
              <a:spcBef>
                <a:spcPts val="648"/>
              </a:spcBef>
            </a:pPr>
            <a:r>
              <a:rPr lang="en-US" altLang="ko-KR" sz="2400" b="1" dirty="0" smtClean="0">
                <a:solidFill>
                  <a:srgbClr val="0E0585"/>
                </a:solidFill>
              </a:rPr>
              <a:t>class Engine(object)</a:t>
            </a:r>
            <a:endParaRPr lang="en-US" altLang="ko-KR" sz="2400" b="1" dirty="0">
              <a:solidFill>
                <a:srgbClr val="0E0585"/>
              </a:solidFill>
            </a:endParaRPr>
          </a:p>
        </p:txBody>
      </p:sp>
      <p:sp>
        <p:nvSpPr>
          <p:cNvPr id="3" name="직사각형 2"/>
          <p:cNvSpPr/>
          <p:nvPr/>
        </p:nvSpPr>
        <p:spPr>
          <a:xfrm>
            <a:off x="2287975" y="1896216"/>
            <a:ext cx="1347854" cy="367276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 dirty="0" err="1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set_model_mode</a:t>
            </a:r>
            <a:endParaRPr lang="en-US" altLang="ko-KR" sz="105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sp>
        <p:nvSpPr>
          <p:cNvPr id="4" name="순서도: 판단 3"/>
          <p:cNvSpPr/>
          <p:nvPr/>
        </p:nvSpPr>
        <p:spPr>
          <a:xfrm>
            <a:off x="2099607" y="3056930"/>
            <a:ext cx="1724590" cy="537956"/>
          </a:xfrm>
          <a:prstGeom prst="flowChartDecision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1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mode == ‘train’</a:t>
            </a:r>
            <a:endParaRPr lang="ko-KR" altLang="en-US" sz="110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sp>
        <p:nvSpPr>
          <p:cNvPr id="5" name="직사각형 4"/>
          <p:cNvSpPr/>
          <p:nvPr/>
        </p:nvSpPr>
        <p:spPr>
          <a:xfrm>
            <a:off x="2196535" y="2494103"/>
            <a:ext cx="1530734" cy="367276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names = </a:t>
            </a:r>
            <a:r>
              <a:rPr lang="en-US" altLang="ko-KR" sz="1050" dirty="0" err="1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self.get_model_names</a:t>
            </a:r>
            <a:endParaRPr lang="en-US" altLang="ko-KR" sz="105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sp>
        <p:nvSpPr>
          <p:cNvPr id="6" name="직사각형 5"/>
          <p:cNvSpPr/>
          <p:nvPr/>
        </p:nvSpPr>
        <p:spPr>
          <a:xfrm>
            <a:off x="4386739" y="3142270"/>
            <a:ext cx="1700551" cy="367276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 dirty="0" err="1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self._models</a:t>
            </a:r>
            <a:r>
              <a:rPr lang="en-US" altLang="ko-KR" sz="105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[name].train()</a:t>
            </a:r>
            <a:endParaRPr lang="en-US" altLang="ko-KR" sz="105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sp>
        <p:nvSpPr>
          <p:cNvPr id="7" name="직사각형 6"/>
          <p:cNvSpPr/>
          <p:nvPr/>
        </p:nvSpPr>
        <p:spPr>
          <a:xfrm>
            <a:off x="2111626" y="3790437"/>
            <a:ext cx="1700551" cy="367276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 dirty="0" err="1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self._models</a:t>
            </a:r>
            <a:r>
              <a:rPr lang="en-US" altLang="ko-KR" sz="105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[name].</a:t>
            </a:r>
            <a:r>
              <a:rPr lang="en-US" altLang="ko-KR" sz="1050" dirty="0" err="1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eval</a:t>
            </a:r>
            <a:r>
              <a:rPr lang="en-US" altLang="ko-KR" sz="105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()</a:t>
            </a:r>
            <a:endParaRPr lang="en-US" altLang="ko-KR" sz="105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cxnSp>
        <p:nvCxnSpPr>
          <p:cNvPr id="8" name="직선 화살표 연결선 7"/>
          <p:cNvCxnSpPr>
            <a:stCxn id="3" idx="2"/>
            <a:endCxn id="5" idx="0"/>
          </p:cNvCxnSpPr>
          <p:nvPr/>
        </p:nvCxnSpPr>
        <p:spPr>
          <a:xfrm>
            <a:off x="2961902" y="2263492"/>
            <a:ext cx="0" cy="23061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직선 화살표 연결선 10"/>
          <p:cNvCxnSpPr>
            <a:stCxn id="5" idx="2"/>
            <a:endCxn id="4" idx="0"/>
          </p:cNvCxnSpPr>
          <p:nvPr/>
        </p:nvCxnSpPr>
        <p:spPr>
          <a:xfrm>
            <a:off x="2961902" y="2861379"/>
            <a:ext cx="0" cy="19555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직선 화살표 연결선 14"/>
          <p:cNvCxnSpPr>
            <a:stCxn id="4" idx="2"/>
            <a:endCxn id="7" idx="0"/>
          </p:cNvCxnSpPr>
          <p:nvPr/>
        </p:nvCxnSpPr>
        <p:spPr>
          <a:xfrm>
            <a:off x="2961902" y="3594886"/>
            <a:ext cx="0" cy="19555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직선 화살표 연결선 19"/>
          <p:cNvCxnSpPr>
            <a:stCxn id="4" idx="3"/>
            <a:endCxn id="6" idx="1"/>
          </p:cNvCxnSpPr>
          <p:nvPr/>
        </p:nvCxnSpPr>
        <p:spPr>
          <a:xfrm>
            <a:off x="3824197" y="3325908"/>
            <a:ext cx="56254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직사각형 23"/>
          <p:cNvSpPr/>
          <p:nvPr/>
        </p:nvSpPr>
        <p:spPr>
          <a:xfrm>
            <a:off x="1415845" y="1427493"/>
            <a:ext cx="1064813" cy="367276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train</a:t>
            </a:r>
            <a:endParaRPr lang="en-US" altLang="ko-KR" sz="140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cxnSp>
        <p:nvCxnSpPr>
          <p:cNvPr id="25" name="꺾인 연결선 24"/>
          <p:cNvCxnSpPr>
            <a:stCxn id="24" idx="2"/>
            <a:endCxn id="3" idx="1"/>
          </p:cNvCxnSpPr>
          <p:nvPr/>
        </p:nvCxnSpPr>
        <p:spPr>
          <a:xfrm rot="16200000" flipH="1">
            <a:off x="1975571" y="1767449"/>
            <a:ext cx="285085" cy="339723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직사각형 27"/>
          <p:cNvSpPr/>
          <p:nvPr/>
        </p:nvSpPr>
        <p:spPr>
          <a:xfrm>
            <a:off x="2111625" y="4477858"/>
            <a:ext cx="1700551" cy="367276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two_stepped_transfer_learning</a:t>
            </a:r>
            <a:endParaRPr lang="en-US" altLang="ko-KR" sz="105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cxnSp>
        <p:nvCxnSpPr>
          <p:cNvPr id="29" name="직선 화살표 연결선 28"/>
          <p:cNvCxnSpPr>
            <a:stCxn id="7" idx="2"/>
            <a:endCxn id="28" idx="0"/>
          </p:cNvCxnSpPr>
          <p:nvPr/>
        </p:nvCxnSpPr>
        <p:spPr>
          <a:xfrm flipH="1">
            <a:off x="2961901" y="4157713"/>
            <a:ext cx="1" cy="32014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직사각형 31"/>
          <p:cNvSpPr/>
          <p:nvPr/>
        </p:nvSpPr>
        <p:spPr>
          <a:xfrm>
            <a:off x="2123646" y="5079487"/>
            <a:ext cx="1700551" cy="367276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for loop</a:t>
            </a:r>
            <a:endParaRPr lang="en-US" altLang="ko-KR" sz="105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cxnSp>
        <p:nvCxnSpPr>
          <p:cNvPr id="33" name="직선 화살표 연결선 32"/>
          <p:cNvCxnSpPr>
            <a:stCxn id="28" idx="2"/>
            <a:endCxn id="32" idx="0"/>
          </p:cNvCxnSpPr>
          <p:nvPr/>
        </p:nvCxnSpPr>
        <p:spPr>
          <a:xfrm>
            <a:off x="2961901" y="4845134"/>
            <a:ext cx="12021" cy="23435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직사각형 36"/>
          <p:cNvSpPr/>
          <p:nvPr/>
        </p:nvSpPr>
        <p:spPr>
          <a:xfrm>
            <a:off x="3454546" y="5681116"/>
            <a:ext cx="2061439" cy="447491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self.forward_backward</a:t>
            </a:r>
            <a:r>
              <a:rPr lang="en-US" altLang="ko-KR" sz="105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(data)</a:t>
            </a:r>
          </a:p>
        </p:txBody>
      </p:sp>
      <p:cxnSp>
        <p:nvCxnSpPr>
          <p:cNvPr id="38" name="꺾인 연결선 37"/>
          <p:cNvCxnSpPr>
            <a:stCxn id="32" idx="2"/>
            <a:endCxn id="37" idx="1"/>
          </p:cNvCxnSpPr>
          <p:nvPr/>
        </p:nvCxnSpPr>
        <p:spPr>
          <a:xfrm rot="16200000" flipH="1">
            <a:off x="2985185" y="5435500"/>
            <a:ext cx="458099" cy="480624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직사각형 40"/>
          <p:cNvSpPr/>
          <p:nvPr/>
        </p:nvSpPr>
        <p:spPr>
          <a:xfrm>
            <a:off x="4711408" y="6362960"/>
            <a:ext cx="2053187" cy="367276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imgs</a:t>
            </a:r>
            <a:r>
              <a:rPr lang="en-US" altLang="ko-KR" sz="10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, </a:t>
            </a:r>
            <a:r>
              <a:rPr lang="en-US" altLang="ko-KR" sz="100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pids</a:t>
            </a:r>
            <a:r>
              <a:rPr lang="en-US" altLang="ko-KR" sz="10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= </a:t>
            </a:r>
            <a:r>
              <a:rPr lang="en-US" altLang="ko-KR" sz="100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self.parse_data_for_train</a:t>
            </a:r>
            <a:r>
              <a:rPr lang="en-US" altLang="ko-KR" sz="10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(data)</a:t>
            </a:r>
          </a:p>
        </p:txBody>
      </p:sp>
      <p:cxnSp>
        <p:nvCxnSpPr>
          <p:cNvPr id="42" name="꺾인 연결선 41"/>
          <p:cNvCxnSpPr>
            <a:stCxn id="37" idx="2"/>
            <a:endCxn id="41" idx="1"/>
          </p:cNvCxnSpPr>
          <p:nvPr/>
        </p:nvCxnSpPr>
        <p:spPr>
          <a:xfrm rot="16200000" flipH="1">
            <a:off x="4389342" y="6224531"/>
            <a:ext cx="417991" cy="226142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직사각형 44"/>
          <p:cNvSpPr/>
          <p:nvPr/>
        </p:nvSpPr>
        <p:spPr>
          <a:xfrm>
            <a:off x="948716" y="6172632"/>
            <a:ext cx="2495638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900" dirty="0" err="1">
                <a:solidFill>
                  <a:srgbClr val="569CD6"/>
                </a:solidFill>
                <a:latin typeface="Consolas" panose="020B0609020204030204" pitchFamily="49" charset="0"/>
              </a:rPr>
              <a:t>def</a:t>
            </a:r>
            <a:r>
              <a:rPr lang="en-US" altLang="ko-KR" sz="9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900" dirty="0" err="1">
                <a:solidFill>
                  <a:schemeClr val="accent4">
                    <a:lumMod val="75000"/>
                  </a:schemeClr>
                </a:solidFill>
                <a:latin typeface="Consolas" panose="020B0609020204030204" pitchFamily="49" charset="0"/>
              </a:rPr>
              <a:t>parse_data_for_train</a:t>
            </a:r>
            <a:r>
              <a:rPr lang="en-US" altLang="ko-KR" sz="9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altLang="ko-KR" sz="900" dirty="0">
                <a:solidFill>
                  <a:srgbClr val="9CDCFE"/>
                </a:solidFill>
                <a:latin typeface="Consolas" panose="020B0609020204030204" pitchFamily="49" charset="0"/>
              </a:rPr>
              <a:t>self</a:t>
            </a:r>
            <a:r>
              <a:rPr lang="en-US" altLang="ko-KR" sz="90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en-US" altLang="ko-KR" sz="900" dirty="0">
                <a:solidFill>
                  <a:srgbClr val="9CDCFE"/>
                </a:solidFill>
                <a:latin typeface="Consolas" panose="020B0609020204030204" pitchFamily="49" charset="0"/>
              </a:rPr>
              <a:t>data</a:t>
            </a:r>
            <a:r>
              <a:rPr lang="en-US" altLang="ko-KR" sz="900" dirty="0">
                <a:solidFill>
                  <a:srgbClr val="CCCCCC"/>
                </a:solidFill>
                <a:latin typeface="Consolas" panose="020B0609020204030204" pitchFamily="49" charset="0"/>
              </a:rPr>
              <a:t>):</a:t>
            </a:r>
          </a:p>
          <a:p>
            <a:r>
              <a:rPr lang="en-US" altLang="ko-KR" sz="9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en-US" altLang="ko-KR" sz="900" dirty="0" err="1">
                <a:solidFill>
                  <a:srgbClr val="9CDCFE"/>
                </a:solidFill>
                <a:latin typeface="Consolas" panose="020B0609020204030204" pitchFamily="49" charset="0"/>
              </a:rPr>
              <a:t>imgs</a:t>
            </a:r>
            <a:r>
              <a:rPr lang="en-US" altLang="ko-KR" sz="9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9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en-US" altLang="ko-KR" sz="9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900" dirty="0">
                <a:solidFill>
                  <a:srgbClr val="9CDCFE"/>
                </a:solidFill>
                <a:latin typeface="Consolas" panose="020B0609020204030204" pitchFamily="49" charset="0"/>
              </a:rPr>
              <a:t>data</a:t>
            </a:r>
            <a:r>
              <a:rPr lang="en-US" altLang="ko-KR" sz="900" dirty="0">
                <a:solidFill>
                  <a:srgbClr val="CCCCCC"/>
                </a:solidFill>
                <a:latin typeface="Consolas" panose="020B0609020204030204" pitchFamily="49" charset="0"/>
              </a:rPr>
              <a:t>[</a:t>
            </a:r>
            <a:r>
              <a:rPr lang="en-US" altLang="ko-KR" sz="900" dirty="0">
                <a:solidFill>
                  <a:srgbClr val="CE9178"/>
                </a:solidFill>
                <a:latin typeface="Consolas" panose="020B0609020204030204" pitchFamily="49" charset="0"/>
              </a:rPr>
              <a:t>'</a:t>
            </a:r>
            <a:r>
              <a:rPr lang="en-US" altLang="ko-KR" sz="900" dirty="0" err="1">
                <a:solidFill>
                  <a:srgbClr val="CE9178"/>
                </a:solidFill>
                <a:latin typeface="Consolas" panose="020B0609020204030204" pitchFamily="49" charset="0"/>
              </a:rPr>
              <a:t>img</a:t>
            </a:r>
            <a:r>
              <a:rPr lang="en-US" altLang="ko-KR" sz="900" dirty="0">
                <a:solidFill>
                  <a:srgbClr val="CE9178"/>
                </a:solidFill>
                <a:latin typeface="Consolas" panose="020B0609020204030204" pitchFamily="49" charset="0"/>
              </a:rPr>
              <a:t>'</a:t>
            </a:r>
            <a:r>
              <a:rPr lang="en-US" altLang="ko-KR" sz="900" dirty="0">
                <a:solidFill>
                  <a:srgbClr val="CCCCCC"/>
                </a:solidFill>
                <a:latin typeface="Consolas" panose="020B0609020204030204" pitchFamily="49" charset="0"/>
              </a:rPr>
              <a:t>]</a:t>
            </a:r>
          </a:p>
          <a:p>
            <a:r>
              <a:rPr lang="en-US" altLang="ko-KR" sz="9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en-US" altLang="ko-KR" sz="900" dirty="0" err="1">
                <a:solidFill>
                  <a:srgbClr val="9CDCFE"/>
                </a:solidFill>
                <a:latin typeface="Consolas" panose="020B0609020204030204" pitchFamily="49" charset="0"/>
              </a:rPr>
              <a:t>pids</a:t>
            </a:r>
            <a:r>
              <a:rPr lang="en-US" altLang="ko-KR" sz="9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9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en-US" altLang="ko-KR" sz="9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900" dirty="0">
                <a:solidFill>
                  <a:srgbClr val="9CDCFE"/>
                </a:solidFill>
                <a:latin typeface="Consolas" panose="020B0609020204030204" pitchFamily="49" charset="0"/>
              </a:rPr>
              <a:t>data</a:t>
            </a:r>
            <a:r>
              <a:rPr lang="en-US" altLang="ko-KR" sz="900" dirty="0">
                <a:solidFill>
                  <a:srgbClr val="CCCCCC"/>
                </a:solidFill>
                <a:latin typeface="Consolas" panose="020B0609020204030204" pitchFamily="49" charset="0"/>
              </a:rPr>
              <a:t>[</a:t>
            </a:r>
            <a:r>
              <a:rPr lang="en-US" altLang="ko-KR" sz="900" dirty="0">
                <a:solidFill>
                  <a:srgbClr val="CE9178"/>
                </a:solidFill>
                <a:latin typeface="Consolas" panose="020B0609020204030204" pitchFamily="49" charset="0"/>
              </a:rPr>
              <a:t>'</a:t>
            </a:r>
            <a:r>
              <a:rPr lang="en-US" altLang="ko-KR" sz="900" dirty="0" err="1">
                <a:solidFill>
                  <a:srgbClr val="CE9178"/>
                </a:solidFill>
                <a:latin typeface="Consolas" panose="020B0609020204030204" pitchFamily="49" charset="0"/>
              </a:rPr>
              <a:t>pid</a:t>
            </a:r>
            <a:r>
              <a:rPr lang="en-US" altLang="ko-KR" sz="900" dirty="0">
                <a:solidFill>
                  <a:srgbClr val="CE9178"/>
                </a:solidFill>
                <a:latin typeface="Consolas" panose="020B0609020204030204" pitchFamily="49" charset="0"/>
              </a:rPr>
              <a:t>'</a:t>
            </a:r>
            <a:r>
              <a:rPr lang="en-US" altLang="ko-KR" sz="900" dirty="0">
                <a:solidFill>
                  <a:srgbClr val="CCCCCC"/>
                </a:solidFill>
                <a:latin typeface="Consolas" panose="020B0609020204030204" pitchFamily="49" charset="0"/>
              </a:rPr>
              <a:t>]</a:t>
            </a:r>
          </a:p>
          <a:p>
            <a:r>
              <a:rPr lang="en-US" altLang="ko-KR" sz="9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en-US" altLang="ko-KR" sz="900" dirty="0">
                <a:solidFill>
                  <a:srgbClr val="C586C0"/>
                </a:solidFill>
                <a:latin typeface="Consolas" panose="020B0609020204030204" pitchFamily="49" charset="0"/>
              </a:rPr>
              <a:t>return</a:t>
            </a:r>
            <a:r>
              <a:rPr lang="en-US" altLang="ko-KR" sz="9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900" dirty="0" err="1">
                <a:solidFill>
                  <a:srgbClr val="9CDCFE"/>
                </a:solidFill>
                <a:latin typeface="Consolas" panose="020B0609020204030204" pitchFamily="49" charset="0"/>
              </a:rPr>
              <a:t>imgs</a:t>
            </a:r>
            <a:r>
              <a:rPr lang="en-US" altLang="ko-KR" sz="90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en-US" altLang="ko-KR" sz="900" dirty="0" err="1">
                <a:solidFill>
                  <a:srgbClr val="9CDCFE"/>
                </a:solidFill>
                <a:latin typeface="Consolas" panose="020B0609020204030204" pitchFamily="49" charset="0"/>
              </a:rPr>
              <a:t>pids</a:t>
            </a:r>
            <a:endParaRPr lang="en-US" altLang="ko-KR" sz="9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6" name="직사각형 45"/>
          <p:cNvSpPr/>
          <p:nvPr/>
        </p:nvSpPr>
        <p:spPr>
          <a:xfrm>
            <a:off x="4711407" y="6937662"/>
            <a:ext cx="2053187" cy="367276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outputs = </a:t>
            </a:r>
            <a:r>
              <a:rPr lang="en-US" altLang="ko-KR" sz="100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self.model</a:t>
            </a:r>
            <a:r>
              <a:rPr lang="en-US" altLang="ko-KR" sz="10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(</a:t>
            </a:r>
            <a:r>
              <a:rPr lang="en-US" altLang="ko-KR" sz="100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imgs</a:t>
            </a:r>
            <a:r>
              <a:rPr lang="en-US" altLang="ko-KR" sz="10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)</a:t>
            </a:r>
          </a:p>
        </p:txBody>
      </p:sp>
      <p:sp>
        <p:nvSpPr>
          <p:cNvPr id="47" name="직사각형 46"/>
          <p:cNvSpPr/>
          <p:nvPr/>
        </p:nvSpPr>
        <p:spPr>
          <a:xfrm>
            <a:off x="6940315" y="6955133"/>
            <a:ext cx="1261018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rgbClr val="C00000"/>
                </a:solidFill>
              </a:rPr>
              <a:t>실질적인 트레이닝 수행</a:t>
            </a:r>
            <a:endParaRPr lang="ko-KR" altLang="en-US" sz="1000" dirty="0">
              <a:solidFill>
                <a:srgbClr val="C00000"/>
              </a:solidFill>
            </a:endParaRPr>
          </a:p>
        </p:txBody>
      </p:sp>
      <p:cxnSp>
        <p:nvCxnSpPr>
          <p:cNvPr id="26" name="직선 화살표 연결선 25"/>
          <p:cNvCxnSpPr>
            <a:stCxn id="41" idx="2"/>
            <a:endCxn id="46" idx="0"/>
          </p:cNvCxnSpPr>
          <p:nvPr/>
        </p:nvCxnSpPr>
        <p:spPr>
          <a:xfrm flipH="1">
            <a:off x="5738001" y="6730236"/>
            <a:ext cx="1" cy="20742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직선 화살표 연결선 29"/>
          <p:cNvCxnSpPr>
            <a:stCxn id="46" idx="2"/>
          </p:cNvCxnSpPr>
          <p:nvPr/>
        </p:nvCxnSpPr>
        <p:spPr>
          <a:xfrm flipH="1">
            <a:off x="5738000" y="7304938"/>
            <a:ext cx="1" cy="25473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직사각형 13"/>
          <p:cNvSpPr/>
          <p:nvPr/>
        </p:nvSpPr>
        <p:spPr>
          <a:xfrm>
            <a:off x="5486969" y="3516633"/>
            <a:ext cx="5204844" cy="283923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50" dirty="0" err="1" smtClean="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def</a:t>
            </a:r>
            <a:r>
              <a:rPr lang="en-US" altLang="ko-KR" sz="1050" dirty="0" smtClean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050" dirty="0" smtClean="0">
                <a:solidFill>
                  <a:schemeClr val="accent4">
                    <a:lumMod val="50000"/>
                  </a:schemeClr>
                </a:solidFill>
                <a:latin typeface="Consolas" panose="020B0609020204030204" pitchFamily="49" charset="0"/>
              </a:rPr>
              <a:t>forward</a:t>
            </a:r>
            <a:r>
              <a:rPr lang="en-US" altLang="ko-KR" sz="105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(</a:t>
            </a:r>
            <a:r>
              <a:rPr lang="en-US" altLang="ko-KR" sz="1050" dirty="0" smtClean="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self</a:t>
            </a:r>
            <a:r>
              <a:rPr lang="en-US" altLang="ko-KR" sz="105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,</a:t>
            </a:r>
            <a:r>
              <a:rPr lang="en-US" altLang="ko-KR" sz="1050" dirty="0" smtClean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050" dirty="0" smtClean="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x</a:t>
            </a:r>
            <a:r>
              <a:rPr lang="en-US" altLang="ko-KR" sz="105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,</a:t>
            </a:r>
            <a:r>
              <a:rPr lang="en-US" altLang="ko-KR" sz="1050" dirty="0" smtClean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050" dirty="0" err="1" smtClean="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return_featuremaps</a:t>
            </a:r>
            <a:r>
              <a:rPr lang="en-US" altLang="ko-KR" sz="105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=</a:t>
            </a:r>
            <a:r>
              <a:rPr lang="en-US" altLang="ko-KR" sz="1050" dirty="0" smtClean="0">
                <a:solidFill>
                  <a:srgbClr val="569CD6"/>
                </a:solidFill>
                <a:latin typeface="Consolas" panose="020B0609020204030204" pitchFamily="49" charset="0"/>
              </a:rPr>
              <a:t>False</a:t>
            </a:r>
            <a:r>
              <a:rPr lang="en-US" altLang="ko-KR" sz="105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):</a:t>
            </a:r>
          </a:p>
          <a:p>
            <a:r>
              <a:rPr lang="en-US" altLang="ko-KR" sz="1050" dirty="0" smtClean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en-US" altLang="ko-KR" sz="1050" dirty="0" smtClean="0">
                <a:solidFill>
                  <a:srgbClr val="C00000"/>
                </a:solidFill>
                <a:latin typeface="Consolas" panose="020B0609020204030204" pitchFamily="49" charset="0"/>
              </a:rPr>
              <a:t>x = </a:t>
            </a:r>
            <a:r>
              <a:rPr lang="en-US" altLang="ko-KR" sz="1050" dirty="0" err="1" smtClean="0">
                <a:solidFill>
                  <a:srgbClr val="C00000"/>
                </a:solidFill>
                <a:latin typeface="Consolas" panose="020B0609020204030204" pitchFamily="49" charset="0"/>
              </a:rPr>
              <a:t>self.</a:t>
            </a:r>
            <a:r>
              <a:rPr lang="en-US" altLang="ko-KR" sz="1050" dirty="0" err="1" smtClean="0">
                <a:solidFill>
                  <a:schemeClr val="accent4">
                    <a:lumMod val="50000"/>
                  </a:schemeClr>
                </a:solidFill>
                <a:latin typeface="Consolas" panose="020B0609020204030204" pitchFamily="49" charset="0"/>
              </a:rPr>
              <a:t>featuremaps</a:t>
            </a:r>
            <a:r>
              <a:rPr lang="en-US" altLang="ko-KR" sz="1050" dirty="0" smtClean="0">
                <a:solidFill>
                  <a:srgbClr val="C00000"/>
                </a:solidFill>
                <a:latin typeface="Consolas" panose="020B0609020204030204" pitchFamily="49" charset="0"/>
              </a:rPr>
              <a:t>(x)</a:t>
            </a:r>
          </a:p>
          <a:p>
            <a:r>
              <a:rPr lang="en-US" altLang="ko-KR" sz="1050" dirty="0" smtClean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en-US" altLang="ko-KR" sz="1050" dirty="0" smtClean="0">
                <a:solidFill>
                  <a:srgbClr val="C586C0"/>
                </a:solidFill>
                <a:latin typeface="Consolas" panose="020B0609020204030204" pitchFamily="49" charset="0"/>
              </a:rPr>
              <a:t>if</a:t>
            </a:r>
            <a:r>
              <a:rPr lang="en-US" altLang="ko-KR" sz="1050" dirty="0" smtClean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050" dirty="0" err="1" smtClean="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return_featuremaps</a:t>
            </a:r>
            <a:r>
              <a:rPr lang="en-US" altLang="ko-KR" sz="105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:</a:t>
            </a:r>
          </a:p>
          <a:p>
            <a:r>
              <a:rPr lang="en-US" altLang="ko-KR" sz="1050" dirty="0" smtClean="0">
                <a:solidFill>
                  <a:srgbClr val="CCCCCC"/>
                </a:solidFill>
                <a:latin typeface="Consolas" panose="020B0609020204030204" pitchFamily="49" charset="0"/>
              </a:rPr>
              <a:t>            </a:t>
            </a:r>
            <a:r>
              <a:rPr lang="en-US" altLang="ko-KR" sz="1050" dirty="0" smtClean="0">
                <a:solidFill>
                  <a:srgbClr val="C586C0"/>
                </a:solidFill>
                <a:latin typeface="Consolas" panose="020B0609020204030204" pitchFamily="49" charset="0"/>
              </a:rPr>
              <a:t>return</a:t>
            </a:r>
            <a:r>
              <a:rPr lang="en-US" altLang="ko-KR" sz="1050" dirty="0" smtClean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050" dirty="0" smtClean="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x</a:t>
            </a:r>
          </a:p>
          <a:p>
            <a:r>
              <a:rPr lang="en-US" altLang="ko-KR" sz="1050" dirty="0" smtClean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en-US" altLang="ko-KR" sz="1050" dirty="0" smtClean="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v</a:t>
            </a:r>
            <a:r>
              <a:rPr lang="en-US" altLang="ko-KR" sz="1050" dirty="0" smtClean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05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=</a:t>
            </a:r>
            <a:r>
              <a:rPr lang="en-US" altLang="ko-KR" sz="1050" dirty="0" smtClean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050" dirty="0" err="1" smtClean="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self.global_avgpool</a:t>
            </a:r>
            <a:r>
              <a:rPr lang="en-US" altLang="ko-KR" sz="105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(</a:t>
            </a:r>
            <a:r>
              <a:rPr lang="en-US" altLang="ko-KR" sz="1050" dirty="0" smtClean="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x</a:t>
            </a:r>
            <a:r>
              <a:rPr lang="en-US" altLang="ko-KR" sz="105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en-US" altLang="ko-KR" sz="1050" dirty="0" smtClean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en-US" altLang="ko-KR" sz="1050" dirty="0" smtClean="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v</a:t>
            </a:r>
            <a:r>
              <a:rPr lang="en-US" altLang="ko-KR" sz="1050" dirty="0" smtClean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05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=</a:t>
            </a:r>
            <a:r>
              <a:rPr lang="en-US" altLang="ko-KR" sz="1050" dirty="0" smtClean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050" dirty="0" err="1" smtClean="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v</a:t>
            </a:r>
            <a:r>
              <a:rPr lang="en-US" altLang="ko-KR" sz="1050" dirty="0" err="1" smtClean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.view</a:t>
            </a:r>
            <a:r>
              <a:rPr lang="en-US" altLang="ko-KR" sz="105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(</a:t>
            </a:r>
            <a:r>
              <a:rPr lang="en-US" altLang="ko-KR" sz="1050" dirty="0" err="1" smtClean="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v</a:t>
            </a:r>
            <a:r>
              <a:rPr lang="en-US" altLang="ko-KR" sz="1050" dirty="0" err="1" smtClean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.size</a:t>
            </a:r>
            <a:r>
              <a:rPr lang="en-US" altLang="ko-KR" sz="105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(</a:t>
            </a:r>
            <a:r>
              <a:rPr lang="en-US" altLang="ko-KR" sz="1050" dirty="0" smtClean="0">
                <a:solidFill>
                  <a:srgbClr val="B5CEA8"/>
                </a:solidFill>
                <a:latin typeface="Consolas" panose="020B0609020204030204" pitchFamily="49" charset="0"/>
              </a:rPr>
              <a:t>0</a:t>
            </a:r>
            <a:r>
              <a:rPr lang="en-US" altLang="ko-KR" sz="105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), -</a:t>
            </a:r>
            <a:r>
              <a:rPr lang="en-US" altLang="ko-KR" sz="1050" dirty="0" smtClean="0">
                <a:solidFill>
                  <a:srgbClr val="B5CEA8"/>
                </a:solidFill>
                <a:latin typeface="Consolas" panose="020B0609020204030204" pitchFamily="49" charset="0"/>
              </a:rPr>
              <a:t>1</a:t>
            </a:r>
            <a:r>
              <a:rPr lang="en-US" altLang="ko-KR" sz="105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en-US" altLang="ko-KR" sz="1050" dirty="0" smtClean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en-US" altLang="ko-KR" sz="1050" dirty="0" smtClean="0">
                <a:solidFill>
                  <a:srgbClr val="C586C0"/>
                </a:solidFill>
                <a:latin typeface="Consolas" panose="020B0609020204030204" pitchFamily="49" charset="0"/>
              </a:rPr>
              <a:t>if</a:t>
            </a:r>
            <a:r>
              <a:rPr lang="en-US" altLang="ko-KR" sz="1050" dirty="0" smtClean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050" dirty="0" err="1" smtClean="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self</a:t>
            </a:r>
            <a:r>
              <a:rPr lang="en-US" altLang="ko-KR" sz="1050" dirty="0" err="1" smtClean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.</a:t>
            </a:r>
            <a:r>
              <a:rPr lang="en-US" altLang="ko-KR" sz="1050" dirty="0" err="1" smtClean="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fc</a:t>
            </a:r>
            <a:r>
              <a:rPr lang="en-US" altLang="ko-KR" sz="1050" dirty="0" smtClean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050" dirty="0" smtClean="0">
                <a:solidFill>
                  <a:srgbClr val="569CD6"/>
                </a:solidFill>
                <a:latin typeface="Consolas" panose="020B0609020204030204" pitchFamily="49" charset="0"/>
              </a:rPr>
              <a:t>is</a:t>
            </a:r>
            <a:r>
              <a:rPr lang="en-US" altLang="ko-KR" sz="1050" dirty="0" smtClean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050" dirty="0" smtClean="0">
                <a:solidFill>
                  <a:srgbClr val="569CD6"/>
                </a:solidFill>
                <a:latin typeface="Consolas" panose="020B0609020204030204" pitchFamily="49" charset="0"/>
              </a:rPr>
              <a:t>not</a:t>
            </a:r>
            <a:r>
              <a:rPr lang="en-US" altLang="ko-KR" sz="1050" dirty="0" smtClean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050" dirty="0" smtClean="0">
                <a:solidFill>
                  <a:srgbClr val="569CD6"/>
                </a:solidFill>
                <a:latin typeface="Consolas" panose="020B0609020204030204" pitchFamily="49" charset="0"/>
              </a:rPr>
              <a:t>None</a:t>
            </a:r>
            <a:r>
              <a:rPr lang="en-US" altLang="ko-KR" sz="105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:</a:t>
            </a:r>
          </a:p>
          <a:p>
            <a:r>
              <a:rPr lang="en-US" altLang="ko-KR" sz="1050" dirty="0" smtClean="0">
                <a:solidFill>
                  <a:srgbClr val="CCCCCC"/>
                </a:solidFill>
                <a:latin typeface="Consolas" panose="020B0609020204030204" pitchFamily="49" charset="0"/>
              </a:rPr>
              <a:t>            </a:t>
            </a:r>
            <a:r>
              <a:rPr lang="en-US" altLang="ko-KR" sz="1050" dirty="0" smtClean="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v</a:t>
            </a:r>
            <a:r>
              <a:rPr lang="en-US" altLang="ko-KR" sz="1050" dirty="0" smtClean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05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=</a:t>
            </a:r>
            <a:r>
              <a:rPr lang="en-US" altLang="ko-KR" sz="1050" dirty="0" smtClean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050" dirty="0" err="1" smtClean="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self</a:t>
            </a:r>
            <a:r>
              <a:rPr lang="en-US" altLang="ko-KR" sz="1050" dirty="0" err="1" smtClean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.</a:t>
            </a:r>
            <a:r>
              <a:rPr lang="en-US" altLang="ko-KR" sz="1050" dirty="0" err="1" smtClean="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fc</a:t>
            </a:r>
            <a:r>
              <a:rPr lang="en-US" altLang="ko-KR" sz="105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(</a:t>
            </a:r>
            <a:r>
              <a:rPr lang="en-US" altLang="ko-KR" sz="1050" dirty="0" smtClean="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v</a:t>
            </a:r>
            <a:r>
              <a:rPr lang="en-US" altLang="ko-KR" sz="105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en-US" altLang="ko-KR" sz="1050" dirty="0" smtClean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en-US" altLang="ko-KR" sz="1050" dirty="0" smtClean="0">
                <a:solidFill>
                  <a:srgbClr val="C586C0"/>
                </a:solidFill>
                <a:latin typeface="Consolas" panose="020B0609020204030204" pitchFamily="49" charset="0"/>
              </a:rPr>
              <a:t>if</a:t>
            </a:r>
            <a:r>
              <a:rPr lang="en-US" altLang="ko-KR" sz="1050" dirty="0" smtClean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050" dirty="0" smtClean="0">
                <a:solidFill>
                  <a:srgbClr val="569CD6"/>
                </a:solidFill>
                <a:latin typeface="Consolas" panose="020B0609020204030204" pitchFamily="49" charset="0"/>
              </a:rPr>
              <a:t>not</a:t>
            </a:r>
            <a:r>
              <a:rPr lang="en-US" altLang="ko-KR" sz="1050" dirty="0" smtClean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050" dirty="0" err="1" smtClean="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self</a:t>
            </a:r>
            <a:r>
              <a:rPr lang="en-US" altLang="ko-KR" sz="1050" dirty="0" err="1" smtClean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.</a:t>
            </a:r>
            <a:r>
              <a:rPr lang="en-US" altLang="ko-KR" sz="1050" dirty="0" err="1" smtClean="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training</a:t>
            </a:r>
            <a:r>
              <a:rPr lang="en-US" altLang="ko-KR" sz="105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:</a:t>
            </a:r>
          </a:p>
          <a:p>
            <a:r>
              <a:rPr lang="en-US" altLang="ko-KR" sz="1050" dirty="0" smtClean="0">
                <a:solidFill>
                  <a:srgbClr val="CCCCCC"/>
                </a:solidFill>
                <a:latin typeface="Consolas" panose="020B0609020204030204" pitchFamily="49" charset="0"/>
              </a:rPr>
              <a:t>            </a:t>
            </a:r>
            <a:r>
              <a:rPr lang="en-US" altLang="ko-KR" sz="1050" dirty="0" smtClean="0">
                <a:solidFill>
                  <a:srgbClr val="C586C0"/>
                </a:solidFill>
                <a:latin typeface="Consolas" panose="020B0609020204030204" pitchFamily="49" charset="0"/>
              </a:rPr>
              <a:t>return</a:t>
            </a:r>
            <a:r>
              <a:rPr lang="en-US" altLang="ko-KR" sz="1050" dirty="0" smtClean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050" dirty="0" smtClean="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v</a:t>
            </a:r>
          </a:p>
          <a:p>
            <a:r>
              <a:rPr lang="en-US" altLang="ko-KR" sz="1050" dirty="0" smtClean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en-US" altLang="ko-KR" sz="1050" dirty="0" smtClean="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y</a:t>
            </a:r>
            <a:r>
              <a:rPr lang="en-US" altLang="ko-KR" sz="1050" dirty="0" smtClean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05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=</a:t>
            </a:r>
            <a:r>
              <a:rPr lang="en-US" altLang="ko-KR" sz="1050" dirty="0" smtClean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050" dirty="0" err="1" smtClean="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self</a:t>
            </a:r>
            <a:r>
              <a:rPr lang="en-US" altLang="ko-KR" sz="1050" dirty="0" err="1" smtClean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.</a:t>
            </a:r>
            <a:r>
              <a:rPr lang="en-US" altLang="ko-KR" sz="1050" dirty="0" err="1" smtClean="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classifier</a:t>
            </a:r>
            <a:r>
              <a:rPr lang="en-US" altLang="ko-KR" sz="105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(</a:t>
            </a:r>
            <a:r>
              <a:rPr lang="en-US" altLang="ko-KR" sz="1050" dirty="0" smtClean="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v</a:t>
            </a:r>
            <a:r>
              <a:rPr lang="en-US" altLang="ko-KR" sz="105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en-US" altLang="ko-KR" sz="1050" dirty="0" smtClean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en-US" altLang="ko-KR" sz="1050" dirty="0" smtClean="0">
                <a:solidFill>
                  <a:srgbClr val="C586C0"/>
                </a:solidFill>
                <a:latin typeface="Consolas" panose="020B0609020204030204" pitchFamily="49" charset="0"/>
              </a:rPr>
              <a:t>if</a:t>
            </a:r>
            <a:r>
              <a:rPr lang="en-US" altLang="ko-KR" sz="1050" dirty="0" smtClean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050" dirty="0" err="1" smtClean="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self</a:t>
            </a:r>
            <a:r>
              <a:rPr lang="en-US" altLang="ko-KR" sz="1050" dirty="0" err="1" smtClean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.</a:t>
            </a:r>
            <a:r>
              <a:rPr lang="en-US" altLang="ko-KR" sz="1050" dirty="0" err="1" smtClean="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loss</a:t>
            </a:r>
            <a:r>
              <a:rPr lang="en-US" altLang="ko-KR" sz="1050" dirty="0" smtClean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05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==</a:t>
            </a:r>
            <a:r>
              <a:rPr lang="en-US" altLang="ko-KR" sz="1050" dirty="0" smtClean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050" dirty="0" smtClean="0">
                <a:solidFill>
                  <a:srgbClr val="CE9178"/>
                </a:solidFill>
                <a:latin typeface="Consolas" panose="020B0609020204030204" pitchFamily="49" charset="0"/>
              </a:rPr>
              <a:t>'</a:t>
            </a:r>
            <a:r>
              <a:rPr lang="en-US" altLang="ko-KR" sz="1050" dirty="0" err="1" smtClean="0">
                <a:solidFill>
                  <a:srgbClr val="CE9178"/>
                </a:solidFill>
                <a:latin typeface="Consolas" panose="020B0609020204030204" pitchFamily="49" charset="0"/>
              </a:rPr>
              <a:t>softmax</a:t>
            </a:r>
            <a:r>
              <a:rPr lang="en-US" altLang="ko-KR" sz="1050" dirty="0" smtClean="0">
                <a:solidFill>
                  <a:srgbClr val="CE9178"/>
                </a:solidFill>
                <a:latin typeface="Consolas" panose="020B0609020204030204" pitchFamily="49" charset="0"/>
              </a:rPr>
              <a:t>'</a:t>
            </a:r>
            <a:r>
              <a:rPr lang="en-US" altLang="ko-KR" sz="105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:</a:t>
            </a:r>
          </a:p>
          <a:p>
            <a:r>
              <a:rPr lang="en-US" altLang="ko-KR" sz="1050" dirty="0" smtClean="0">
                <a:solidFill>
                  <a:srgbClr val="CCCCCC"/>
                </a:solidFill>
                <a:latin typeface="Consolas" panose="020B0609020204030204" pitchFamily="49" charset="0"/>
              </a:rPr>
              <a:t>            </a:t>
            </a:r>
            <a:r>
              <a:rPr lang="en-US" altLang="ko-KR" sz="1050" dirty="0" smtClean="0">
                <a:solidFill>
                  <a:srgbClr val="C586C0"/>
                </a:solidFill>
                <a:latin typeface="Consolas" panose="020B0609020204030204" pitchFamily="49" charset="0"/>
              </a:rPr>
              <a:t>return</a:t>
            </a:r>
            <a:r>
              <a:rPr lang="en-US" altLang="ko-KR" sz="1050" dirty="0" smtClean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050" dirty="0" smtClean="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y</a:t>
            </a:r>
          </a:p>
          <a:p>
            <a:r>
              <a:rPr lang="en-US" altLang="ko-KR" sz="1050" dirty="0" smtClean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en-US" altLang="ko-KR" sz="1050" dirty="0" err="1" smtClean="0">
                <a:solidFill>
                  <a:srgbClr val="C586C0"/>
                </a:solidFill>
                <a:latin typeface="Consolas" panose="020B0609020204030204" pitchFamily="49" charset="0"/>
              </a:rPr>
              <a:t>elif</a:t>
            </a:r>
            <a:r>
              <a:rPr lang="en-US" altLang="ko-KR" sz="1050" dirty="0" smtClean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050" dirty="0" err="1" smtClean="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self</a:t>
            </a:r>
            <a:r>
              <a:rPr lang="en-US" altLang="ko-KR" sz="1050" dirty="0" err="1" smtClean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.</a:t>
            </a:r>
            <a:r>
              <a:rPr lang="en-US" altLang="ko-KR" sz="1050" dirty="0" err="1" smtClean="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loss</a:t>
            </a:r>
            <a:r>
              <a:rPr lang="en-US" altLang="ko-KR" sz="1050" dirty="0" smtClean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05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==</a:t>
            </a:r>
            <a:r>
              <a:rPr lang="en-US" altLang="ko-KR" sz="1050" dirty="0" smtClean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050" dirty="0" smtClean="0">
                <a:solidFill>
                  <a:srgbClr val="CE9178"/>
                </a:solidFill>
                <a:latin typeface="Consolas" panose="020B0609020204030204" pitchFamily="49" charset="0"/>
              </a:rPr>
              <a:t>'triplet'</a:t>
            </a:r>
            <a:r>
              <a:rPr lang="en-US" altLang="ko-KR" sz="105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:</a:t>
            </a:r>
          </a:p>
          <a:p>
            <a:r>
              <a:rPr lang="en-US" altLang="ko-KR" sz="1050" dirty="0" smtClean="0">
                <a:solidFill>
                  <a:srgbClr val="CCCCCC"/>
                </a:solidFill>
                <a:latin typeface="Consolas" panose="020B0609020204030204" pitchFamily="49" charset="0"/>
              </a:rPr>
              <a:t>            </a:t>
            </a:r>
            <a:r>
              <a:rPr lang="en-US" altLang="ko-KR" sz="1050" dirty="0" smtClean="0">
                <a:solidFill>
                  <a:srgbClr val="C586C0"/>
                </a:solidFill>
                <a:latin typeface="Consolas" panose="020B0609020204030204" pitchFamily="49" charset="0"/>
              </a:rPr>
              <a:t>return</a:t>
            </a:r>
            <a:r>
              <a:rPr lang="en-US" altLang="ko-KR" sz="1050" dirty="0" smtClean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050" dirty="0" smtClean="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y</a:t>
            </a:r>
            <a:r>
              <a:rPr lang="en-US" altLang="ko-KR" sz="105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,</a:t>
            </a:r>
            <a:r>
              <a:rPr lang="en-US" altLang="ko-KR" sz="1050" dirty="0" smtClean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050" dirty="0" smtClean="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v</a:t>
            </a:r>
          </a:p>
          <a:p>
            <a:r>
              <a:rPr lang="en-US" altLang="ko-KR" sz="1050" dirty="0" smtClean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en-US" altLang="ko-KR" sz="1050" dirty="0" smtClean="0">
                <a:solidFill>
                  <a:srgbClr val="C586C0"/>
                </a:solidFill>
                <a:latin typeface="Consolas" panose="020B0609020204030204" pitchFamily="49" charset="0"/>
              </a:rPr>
              <a:t>else</a:t>
            </a:r>
            <a:r>
              <a:rPr lang="en-US" altLang="ko-KR" sz="105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:</a:t>
            </a:r>
          </a:p>
          <a:p>
            <a:r>
              <a:rPr lang="en-US" altLang="ko-KR" sz="1050" dirty="0" smtClean="0">
                <a:solidFill>
                  <a:srgbClr val="CCCCCC"/>
                </a:solidFill>
                <a:latin typeface="Consolas" panose="020B0609020204030204" pitchFamily="49" charset="0"/>
              </a:rPr>
              <a:t>            </a:t>
            </a:r>
            <a:r>
              <a:rPr lang="en-US" altLang="ko-KR" sz="1050" dirty="0" smtClean="0">
                <a:solidFill>
                  <a:srgbClr val="C586C0"/>
                </a:solidFill>
                <a:latin typeface="Consolas" panose="020B0609020204030204" pitchFamily="49" charset="0"/>
              </a:rPr>
              <a:t>raise</a:t>
            </a:r>
            <a:r>
              <a:rPr lang="en-US" altLang="ko-KR" sz="1050" dirty="0" smtClean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050" dirty="0" err="1" smtClean="0">
                <a:solidFill>
                  <a:srgbClr val="4EC9B0"/>
                </a:solidFill>
                <a:latin typeface="Consolas" panose="020B0609020204030204" pitchFamily="49" charset="0"/>
              </a:rPr>
              <a:t>KeyError</a:t>
            </a:r>
            <a:r>
              <a:rPr lang="en-US" altLang="ko-KR" sz="105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(</a:t>
            </a:r>
            <a:r>
              <a:rPr lang="en-US" altLang="ko-KR" sz="1050" dirty="0" smtClean="0">
                <a:solidFill>
                  <a:srgbClr val="CE9178"/>
                </a:solidFill>
                <a:latin typeface="Consolas" panose="020B0609020204030204" pitchFamily="49" charset="0"/>
              </a:rPr>
              <a:t>"Unsupported loss: </a:t>
            </a:r>
            <a:r>
              <a:rPr lang="en-US" altLang="ko-KR" sz="1050" dirty="0" smtClean="0">
                <a:solidFill>
                  <a:srgbClr val="569CD6"/>
                </a:solidFill>
                <a:latin typeface="Consolas" panose="020B0609020204030204" pitchFamily="49" charset="0"/>
              </a:rPr>
              <a:t>{}</a:t>
            </a:r>
            <a:r>
              <a:rPr lang="en-US" altLang="ko-KR" sz="1050" dirty="0" smtClean="0">
                <a:solidFill>
                  <a:srgbClr val="CE9178"/>
                </a:solidFill>
                <a:latin typeface="Consolas" panose="020B0609020204030204" pitchFamily="49" charset="0"/>
              </a:rPr>
              <a:t>"</a:t>
            </a:r>
            <a:r>
              <a:rPr lang="en-US" altLang="ko-KR" sz="105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.</a:t>
            </a:r>
            <a:r>
              <a:rPr lang="en-US" altLang="ko-KR" sz="1050" dirty="0" smtClean="0">
                <a:solidFill>
                  <a:srgbClr val="DCDCAA"/>
                </a:solidFill>
                <a:latin typeface="Consolas" panose="020B0609020204030204" pitchFamily="49" charset="0"/>
              </a:rPr>
              <a:t>format</a:t>
            </a:r>
            <a:r>
              <a:rPr lang="en-US" altLang="ko-KR" sz="1050" dirty="0" smtClean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altLang="ko-KR" sz="1050" dirty="0" err="1" smtClean="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self</a:t>
            </a:r>
            <a:r>
              <a:rPr lang="en-US" altLang="ko-KR" sz="1050" dirty="0" err="1" smtClean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.</a:t>
            </a:r>
            <a:r>
              <a:rPr lang="en-US" altLang="ko-KR" sz="1050" dirty="0" err="1" smtClean="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loss</a:t>
            </a:r>
            <a:r>
              <a:rPr lang="en-US" altLang="ko-KR" sz="105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))</a:t>
            </a:r>
            <a:endParaRPr lang="en-US" altLang="ko-KR" sz="1050" b="0" dirty="0">
              <a:solidFill>
                <a:schemeClr val="tx1">
                  <a:lumMod val="50000"/>
                  <a:lumOff val="50000"/>
                </a:schemeClr>
              </a:solidFill>
              <a:effectLst/>
              <a:latin typeface="Consolas" panose="020B0609020204030204" pitchFamily="49" charset="0"/>
            </a:endParaRPr>
          </a:p>
        </p:txBody>
      </p:sp>
      <p:cxnSp>
        <p:nvCxnSpPr>
          <p:cNvPr id="34" name="구부러진 연결선 33"/>
          <p:cNvCxnSpPr>
            <a:stCxn id="41" idx="1"/>
            <a:endCxn id="45" idx="0"/>
          </p:cNvCxnSpPr>
          <p:nvPr/>
        </p:nvCxnSpPr>
        <p:spPr>
          <a:xfrm rot="10800000">
            <a:off x="2196536" y="6172632"/>
            <a:ext cx="2514873" cy="373966"/>
          </a:xfrm>
          <a:prstGeom prst="curvedConnector4">
            <a:avLst>
              <a:gd name="adj1" fmla="val 25191"/>
              <a:gd name="adj2" fmla="val 161129"/>
            </a:avLst>
          </a:prstGeom>
          <a:ln>
            <a:solidFill>
              <a:srgbClr val="C00000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구부러진 연결선 34"/>
          <p:cNvCxnSpPr>
            <a:stCxn id="46" idx="3"/>
            <a:endCxn id="14" idx="1"/>
          </p:cNvCxnSpPr>
          <p:nvPr/>
        </p:nvCxnSpPr>
        <p:spPr>
          <a:xfrm flipH="1" flipV="1">
            <a:off x="5486969" y="4936253"/>
            <a:ext cx="1277625" cy="2185047"/>
          </a:xfrm>
          <a:prstGeom prst="curvedConnector5">
            <a:avLst>
              <a:gd name="adj1" fmla="val -17893"/>
              <a:gd name="adj2" fmla="val 21717"/>
              <a:gd name="adj3" fmla="val 117893"/>
            </a:avLst>
          </a:prstGeom>
          <a:ln>
            <a:solidFill>
              <a:srgbClr val="C00000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직사각형 22"/>
          <p:cNvSpPr/>
          <p:nvPr/>
        </p:nvSpPr>
        <p:spPr>
          <a:xfrm>
            <a:off x="5655304" y="1356579"/>
            <a:ext cx="2788305" cy="144655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100" dirty="0" err="1">
                <a:solidFill>
                  <a:srgbClr val="569CD6"/>
                </a:solidFill>
                <a:latin typeface="Consolas" panose="020B0609020204030204" pitchFamily="49" charset="0"/>
              </a:rPr>
              <a:t>def</a:t>
            </a:r>
            <a: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100" dirty="0" err="1">
                <a:solidFill>
                  <a:schemeClr val="accent4">
                    <a:lumMod val="75000"/>
                  </a:schemeClr>
                </a:solidFill>
                <a:latin typeface="Consolas" panose="020B0609020204030204" pitchFamily="49" charset="0"/>
              </a:rPr>
              <a:t>featuremaps</a:t>
            </a:r>
            <a: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altLang="ko-KR" sz="1100" dirty="0">
                <a:solidFill>
                  <a:srgbClr val="9CDCFE"/>
                </a:solidFill>
                <a:latin typeface="Consolas" panose="020B0609020204030204" pitchFamily="49" charset="0"/>
              </a:rPr>
              <a:t>self</a:t>
            </a:r>
            <a: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en-US" altLang="ko-KR" sz="1100" dirty="0">
                <a:solidFill>
                  <a:srgbClr val="9CDCFE"/>
                </a:solidFill>
                <a:latin typeface="Consolas" panose="020B0609020204030204" pitchFamily="49" charset="0"/>
              </a:rPr>
              <a:t>x</a:t>
            </a:r>
            <a: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  <a:t>):</a:t>
            </a:r>
          </a:p>
          <a:p>
            <a: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en-US" altLang="ko-KR" sz="1100" dirty="0">
                <a:solidFill>
                  <a:srgbClr val="0070C0"/>
                </a:solidFill>
                <a:latin typeface="Consolas" panose="020B0609020204030204" pitchFamily="49" charset="0"/>
              </a:rPr>
              <a:t>x</a:t>
            </a:r>
            <a: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1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100" dirty="0">
                <a:solidFill>
                  <a:srgbClr val="0070C0"/>
                </a:solidFill>
                <a:latin typeface="Consolas" panose="020B0609020204030204" pitchFamily="49" charset="0"/>
              </a:rPr>
              <a:t>self.conv1</a:t>
            </a:r>
            <a: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altLang="ko-KR" sz="1100" dirty="0">
                <a:solidFill>
                  <a:srgbClr val="9CDCFE"/>
                </a:solidFill>
                <a:latin typeface="Consolas" panose="020B0609020204030204" pitchFamily="49" charset="0"/>
              </a:rPr>
              <a:t>x</a:t>
            </a:r>
            <a: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en-US" altLang="ko-KR" sz="1100" dirty="0">
                <a:solidFill>
                  <a:srgbClr val="0070C0"/>
                </a:solidFill>
                <a:latin typeface="Consolas" panose="020B0609020204030204" pitchFamily="49" charset="0"/>
              </a:rPr>
              <a:t>x</a:t>
            </a:r>
            <a: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1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100" dirty="0" err="1">
                <a:solidFill>
                  <a:srgbClr val="0070C0"/>
                </a:solidFill>
                <a:latin typeface="Consolas" panose="020B0609020204030204" pitchFamily="49" charset="0"/>
              </a:rPr>
              <a:t>self.maxpool</a:t>
            </a:r>
            <a: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altLang="ko-KR" sz="1100" dirty="0">
                <a:solidFill>
                  <a:srgbClr val="9CDCFE"/>
                </a:solidFill>
                <a:latin typeface="Consolas" panose="020B0609020204030204" pitchFamily="49" charset="0"/>
              </a:rPr>
              <a:t>x</a:t>
            </a:r>
            <a: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en-US" altLang="ko-KR" sz="1100" dirty="0">
                <a:solidFill>
                  <a:srgbClr val="0070C0"/>
                </a:solidFill>
                <a:latin typeface="Consolas" panose="020B0609020204030204" pitchFamily="49" charset="0"/>
              </a:rPr>
              <a:t>x</a:t>
            </a:r>
            <a: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1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100" dirty="0">
                <a:solidFill>
                  <a:srgbClr val="0070C0"/>
                </a:solidFill>
                <a:latin typeface="Consolas" panose="020B0609020204030204" pitchFamily="49" charset="0"/>
              </a:rPr>
              <a:t>self.conv2</a:t>
            </a:r>
            <a: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altLang="ko-KR" sz="1100" dirty="0">
                <a:solidFill>
                  <a:srgbClr val="9CDCFE"/>
                </a:solidFill>
                <a:latin typeface="Consolas" panose="020B0609020204030204" pitchFamily="49" charset="0"/>
              </a:rPr>
              <a:t>x</a:t>
            </a:r>
            <a: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en-US" altLang="ko-KR" sz="1100" dirty="0">
                <a:solidFill>
                  <a:srgbClr val="0070C0"/>
                </a:solidFill>
                <a:latin typeface="Consolas" panose="020B0609020204030204" pitchFamily="49" charset="0"/>
              </a:rPr>
              <a:t>x</a:t>
            </a:r>
            <a: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1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100" dirty="0">
                <a:solidFill>
                  <a:srgbClr val="0070C0"/>
                </a:solidFill>
                <a:latin typeface="Consolas" panose="020B0609020204030204" pitchFamily="49" charset="0"/>
              </a:rPr>
              <a:t>self.conv3</a:t>
            </a:r>
            <a: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altLang="ko-KR" sz="1100" dirty="0">
                <a:solidFill>
                  <a:srgbClr val="9CDCFE"/>
                </a:solidFill>
                <a:latin typeface="Consolas" panose="020B0609020204030204" pitchFamily="49" charset="0"/>
              </a:rPr>
              <a:t>x</a:t>
            </a:r>
            <a: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en-US" altLang="ko-KR" sz="1100" dirty="0">
                <a:solidFill>
                  <a:srgbClr val="0070C0"/>
                </a:solidFill>
                <a:latin typeface="Consolas" panose="020B0609020204030204" pitchFamily="49" charset="0"/>
              </a:rPr>
              <a:t>x</a:t>
            </a:r>
            <a: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1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100" dirty="0" smtClean="0">
                <a:solidFill>
                  <a:srgbClr val="0070C0"/>
                </a:solidFill>
                <a:latin typeface="Consolas" panose="020B0609020204030204" pitchFamily="49" charset="0"/>
              </a:rPr>
              <a:t>self.conv4</a:t>
            </a:r>
            <a:r>
              <a:rPr lang="en-US" altLang="ko-KR" sz="1100" dirty="0" smtClean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altLang="ko-KR" sz="1100" dirty="0" smtClean="0">
                <a:solidFill>
                  <a:srgbClr val="9CDCFE"/>
                </a:solidFill>
                <a:latin typeface="Consolas" panose="020B0609020204030204" pitchFamily="49" charset="0"/>
              </a:rPr>
              <a:t>x</a:t>
            </a:r>
            <a: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en-US" altLang="ko-KR" sz="1100" dirty="0">
                <a:solidFill>
                  <a:srgbClr val="0070C0"/>
                </a:solidFill>
                <a:latin typeface="Consolas" panose="020B0609020204030204" pitchFamily="49" charset="0"/>
              </a:rPr>
              <a:t>x</a:t>
            </a:r>
            <a: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1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100" dirty="0" smtClean="0">
                <a:solidFill>
                  <a:srgbClr val="0070C0"/>
                </a:solidFill>
                <a:latin typeface="Consolas" panose="020B0609020204030204" pitchFamily="49" charset="0"/>
              </a:rPr>
              <a:t>self.conv5</a:t>
            </a:r>
            <a:r>
              <a:rPr lang="en-US" altLang="ko-KR" sz="1100" dirty="0" smtClean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altLang="ko-KR" sz="1100" dirty="0" smtClean="0">
                <a:solidFill>
                  <a:srgbClr val="9CDCFE"/>
                </a:solidFill>
                <a:latin typeface="Consolas" panose="020B0609020204030204" pitchFamily="49" charset="0"/>
              </a:rPr>
              <a:t>x</a:t>
            </a:r>
            <a: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en-US" altLang="ko-KR" sz="1100" dirty="0">
                <a:solidFill>
                  <a:srgbClr val="C586C0"/>
                </a:solidFill>
                <a:latin typeface="Consolas" panose="020B0609020204030204" pitchFamily="49" charset="0"/>
              </a:rPr>
              <a:t>return</a:t>
            </a:r>
            <a: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100" dirty="0">
                <a:solidFill>
                  <a:srgbClr val="0070C0"/>
                </a:solidFill>
                <a:latin typeface="Consolas" panose="020B0609020204030204" pitchFamily="49" charset="0"/>
              </a:rPr>
              <a:t>x</a:t>
            </a:r>
            <a:endParaRPr lang="en-US" altLang="ko-KR" sz="1100" b="0" dirty="0">
              <a:solidFill>
                <a:srgbClr val="0070C0"/>
              </a:solidFill>
              <a:effectLst/>
              <a:latin typeface="Consolas" panose="020B0609020204030204" pitchFamily="49" charset="0"/>
            </a:endParaRPr>
          </a:p>
        </p:txBody>
      </p:sp>
      <p:cxnSp>
        <p:nvCxnSpPr>
          <p:cNvPr id="43" name="구부러진 연결선 42"/>
          <p:cNvCxnSpPr>
            <a:endCxn id="23" idx="2"/>
          </p:cNvCxnSpPr>
          <p:nvPr/>
        </p:nvCxnSpPr>
        <p:spPr>
          <a:xfrm rot="16200000" flipV="1">
            <a:off x="6963978" y="2888608"/>
            <a:ext cx="987308" cy="816349"/>
          </a:xfrm>
          <a:prstGeom prst="curvedConnector3">
            <a:avLst>
              <a:gd name="adj1" fmla="val 50000"/>
            </a:avLst>
          </a:prstGeom>
          <a:ln>
            <a:solidFill>
              <a:srgbClr val="C00000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직사각형 47"/>
          <p:cNvSpPr/>
          <p:nvPr/>
        </p:nvSpPr>
        <p:spPr>
          <a:xfrm>
            <a:off x="7000139" y="6423487"/>
            <a:ext cx="865668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smtClean="0">
                <a:solidFill>
                  <a:srgbClr val="7030A0"/>
                </a:solidFill>
              </a:rPr>
              <a:t>softmax.py</a:t>
            </a:r>
            <a:endParaRPr lang="ko-KR" altLang="en-US" sz="1000" dirty="0">
              <a:solidFill>
                <a:srgbClr val="7030A0"/>
              </a:solidFill>
            </a:endParaRPr>
          </a:p>
        </p:txBody>
      </p:sp>
      <p:sp>
        <p:nvSpPr>
          <p:cNvPr id="49" name="직사각형 48"/>
          <p:cNvSpPr/>
          <p:nvPr/>
        </p:nvSpPr>
        <p:spPr>
          <a:xfrm>
            <a:off x="80496" y="1080514"/>
            <a:ext cx="1152498" cy="367276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run</a:t>
            </a:r>
            <a:endParaRPr lang="en-US" altLang="ko-KR" sz="140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cxnSp>
        <p:nvCxnSpPr>
          <p:cNvPr id="50" name="꺾인 연결선 49"/>
          <p:cNvCxnSpPr>
            <a:stCxn id="49" idx="2"/>
            <a:endCxn id="24" idx="1"/>
          </p:cNvCxnSpPr>
          <p:nvPr/>
        </p:nvCxnSpPr>
        <p:spPr>
          <a:xfrm rot="16200000" flipH="1">
            <a:off x="954625" y="1149910"/>
            <a:ext cx="163341" cy="759100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직사각형 51"/>
          <p:cNvSpPr/>
          <p:nvPr/>
        </p:nvSpPr>
        <p:spPr>
          <a:xfrm>
            <a:off x="2570335" y="1512689"/>
            <a:ext cx="865668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smtClean="0">
                <a:solidFill>
                  <a:srgbClr val="7030A0"/>
                </a:solidFill>
              </a:rPr>
              <a:t>engine.py</a:t>
            </a:r>
            <a:endParaRPr lang="ko-KR" altLang="en-US" sz="1000" dirty="0">
              <a:solidFill>
                <a:srgbClr val="7030A0"/>
              </a:solidFill>
            </a:endParaRPr>
          </a:p>
        </p:txBody>
      </p:sp>
      <p:sp>
        <p:nvSpPr>
          <p:cNvPr id="36" name="직사각형 35"/>
          <p:cNvSpPr/>
          <p:nvPr/>
        </p:nvSpPr>
        <p:spPr>
          <a:xfrm>
            <a:off x="9213801" y="3516759"/>
            <a:ext cx="865668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smtClean="0">
                <a:solidFill>
                  <a:srgbClr val="7030A0"/>
                </a:solidFill>
              </a:rPr>
              <a:t>osnet</a:t>
            </a:r>
            <a:r>
              <a:rPr lang="en-US" altLang="ko-KR" sz="1000" dirty="0" smtClean="0">
                <a:solidFill>
                  <a:srgbClr val="7030A0"/>
                </a:solidFill>
              </a:rPr>
              <a:t>.py</a:t>
            </a:r>
            <a:endParaRPr lang="ko-KR" altLang="en-US" sz="1000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89970012"/>
      </p:ext>
    </p:extLst>
  </p:cSld>
  <p:clrMapOvr>
    <a:masterClrMapping/>
  </p:clrMapOvr>
  <p:transition spd="slow">
    <p:wipe/>
  </p:transition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188550" y="295719"/>
            <a:ext cx="3870192" cy="468990"/>
          </a:xfrm>
          <a:prstGeom prst="rect">
            <a:avLst/>
          </a:prstGeom>
          <a:noFill/>
        </p:spPr>
        <p:txBody>
          <a:bodyPr wrap="none" lIns="98694" tIns="49347" rIns="98694" bIns="49347">
            <a:spAutoFit/>
          </a:bodyPr>
          <a:lstStyle/>
          <a:p>
            <a:pPr algn="ctr">
              <a:spcBef>
                <a:spcPts val="648"/>
              </a:spcBef>
            </a:pPr>
            <a:r>
              <a:rPr lang="en-US" altLang="ko-KR" sz="2400" b="1" dirty="0" smtClean="0">
                <a:solidFill>
                  <a:srgbClr val="0E0585"/>
                </a:solidFill>
              </a:rPr>
              <a:t>class Engine(object) </a:t>
            </a:r>
            <a:r>
              <a:rPr lang="en-US" altLang="ko-KR" sz="2400" b="1" dirty="0" err="1" smtClean="0">
                <a:solidFill>
                  <a:srgbClr val="0E0585"/>
                </a:solidFill>
              </a:rPr>
              <a:t>cont</a:t>
            </a:r>
            <a:endParaRPr lang="en-US" altLang="ko-KR" sz="2400" b="1" dirty="0">
              <a:solidFill>
                <a:srgbClr val="0E0585"/>
              </a:solidFill>
            </a:endParaRPr>
          </a:p>
        </p:txBody>
      </p:sp>
      <p:sp>
        <p:nvSpPr>
          <p:cNvPr id="48" name="직사각형 47"/>
          <p:cNvSpPr/>
          <p:nvPr/>
        </p:nvSpPr>
        <p:spPr>
          <a:xfrm>
            <a:off x="3972232" y="1225120"/>
            <a:ext cx="3106993" cy="367276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loss = </a:t>
            </a:r>
            <a:r>
              <a:rPr lang="en-US" altLang="ko-KR" sz="100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self.compute_loss</a:t>
            </a:r>
            <a:r>
              <a:rPr lang="en-US" altLang="ko-KR" sz="10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(</a:t>
            </a:r>
            <a:r>
              <a:rPr lang="en-US" altLang="ko-KR" sz="100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self.criterion</a:t>
            </a:r>
            <a:r>
              <a:rPr lang="en-US" altLang="ko-KR" sz="10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, outputs, </a:t>
            </a:r>
            <a:r>
              <a:rPr lang="en-US" altLang="ko-KR" sz="100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pids</a:t>
            </a:r>
            <a:r>
              <a:rPr lang="en-US" altLang="ko-KR" sz="10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)</a:t>
            </a:r>
          </a:p>
        </p:txBody>
      </p:sp>
      <p:sp>
        <p:nvSpPr>
          <p:cNvPr id="49" name="직사각형 48"/>
          <p:cNvSpPr/>
          <p:nvPr/>
        </p:nvSpPr>
        <p:spPr>
          <a:xfrm>
            <a:off x="7392599" y="1285647"/>
            <a:ext cx="1261018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smtClean="0">
                <a:solidFill>
                  <a:srgbClr val="C00000"/>
                </a:solidFill>
              </a:rPr>
              <a:t>loss </a:t>
            </a:r>
            <a:r>
              <a:rPr lang="ko-KR" altLang="en-US" sz="1000" dirty="0" smtClean="0">
                <a:solidFill>
                  <a:srgbClr val="C00000"/>
                </a:solidFill>
              </a:rPr>
              <a:t>계산</a:t>
            </a:r>
            <a:endParaRPr lang="ko-KR" altLang="en-US" sz="1000" dirty="0">
              <a:solidFill>
                <a:srgbClr val="C00000"/>
              </a:solidFill>
            </a:endParaRPr>
          </a:p>
        </p:txBody>
      </p:sp>
      <p:sp>
        <p:nvSpPr>
          <p:cNvPr id="50" name="직사각형 49"/>
          <p:cNvSpPr/>
          <p:nvPr/>
        </p:nvSpPr>
        <p:spPr>
          <a:xfrm>
            <a:off x="5793657" y="1761014"/>
            <a:ext cx="2571135" cy="367276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loss = criterion(outputs, targets)</a:t>
            </a:r>
          </a:p>
        </p:txBody>
      </p:sp>
      <p:cxnSp>
        <p:nvCxnSpPr>
          <p:cNvPr id="51" name="꺾인 연결선 50"/>
          <p:cNvCxnSpPr>
            <a:stCxn id="48" idx="2"/>
            <a:endCxn id="50" idx="1"/>
          </p:cNvCxnSpPr>
          <p:nvPr/>
        </p:nvCxnSpPr>
        <p:spPr>
          <a:xfrm rot="16200000" flipH="1">
            <a:off x="5483565" y="1634560"/>
            <a:ext cx="352256" cy="267928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직사각형 54"/>
          <p:cNvSpPr/>
          <p:nvPr/>
        </p:nvSpPr>
        <p:spPr>
          <a:xfrm>
            <a:off x="2956890" y="2447174"/>
            <a:ext cx="7227969" cy="263149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100" dirty="0" err="1">
                <a:solidFill>
                  <a:srgbClr val="569CD6"/>
                </a:solidFill>
                <a:latin typeface="Consolas" panose="020B0609020204030204" pitchFamily="49" charset="0"/>
              </a:rPr>
              <a:t>def</a:t>
            </a:r>
            <a: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100" dirty="0">
                <a:solidFill>
                  <a:schemeClr val="accent4">
                    <a:lumMod val="75000"/>
                  </a:schemeClr>
                </a:solidFill>
                <a:latin typeface="Consolas" panose="020B0609020204030204" pitchFamily="49" charset="0"/>
              </a:rPr>
              <a:t>forward</a:t>
            </a:r>
            <a:r>
              <a:rPr lang="en-US" altLang="ko-KR" sz="1100" dirty="0">
                <a:solidFill>
                  <a:srgbClr val="0070C0"/>
                </a:solidFill>
                <a:latin typeface="Consolas" panose="020B0609020204030204" pitchFamily="49" charset="0"/>
              </a:rPr>
              <a:t>(self, inputs, targets):</a:t>
            </a:r>
          </a:p>
          <a:p>
            <a: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en-US" altLang="ko-KR" sz="1100" dirty="0">
                <a:solidFill>
                  <a:srgbClr val="CE9178"/>
                </a:solidFill>
                <a:latin typeface="Consolas" panose="020B0609020204030204" pitchFamily="49" charset="0"/>
              </a:rPr>
              <a:t>"""</a:t>
            </a:r>
            <a:endParaRPr lang="en-US" altLang="ko-KR" sz="11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r>
              <a:rPr lang="en-US" altLang="ko-KR" sz="1100" dirty="0">
                <a:solidFill>
                  <a:srgbClr val="CE9178"/>
                </a:solidFill>
                <a:latin typeface="Consolas" panose="020B0609020204030204" pitchFamily="49" charset="0"/>
              </a:rPr>
              <a:t>        </a:t>
            </a:r>
            <a:r>
              <a:rPr lang="en-US" altLang="ko-KR" sz="1100" dirty="0" err="1">
                <a:solidFill>
                  <a:srgbClr val="CE9178"/>
                </a:solidFill>
                <a:latin typeface="Consolas" panose="020B0609020204030204" pitchFamily="49" charset="0"/>
              </a:rPr>
              <a:t>Args</a:t>
            </a:r>
            <a:r>
              <a:rPr lang="en-US" altLang="ko-KR" sz="1100" dirty="0">
                <a:solidFill>
                  <a:srgbClr val="CE9178"/>
                </a:solidFill>
                <a:latin typeface="Consolas" panose="020B0609020204030204" pitchFamily="49" charset="0"/>
              </a:rPr>
              <a:t>:</a:t>
            </a:r>
            <a:endParaRPr lang="en-US" altLang="ko-KR" sz="11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r>
              <a:rPr lang="en-US" altLang="ko-KR" sz="1100" dirty="0">
                <a:solidFill>
                  <a:srgbClr val="CE9178"/>
                </a:solidFill>
                <a:latin typeface="Consolas" panose="020B0609020204030204" pitchFamily="49" charset="0"/>
              </a:rPr>
              <a:t>            inputs (</a:t>
            </a:r>
            <a:r>
              <a:rPr lang="en-US" altLang="ko-KR" sz="1100" dirty="0" err="1">
                <a:solidFill>
                  <a:srgbClr val="CE9178"/>
                </a:solidFill>
                <a:latin typeface="Consolas" panose="020B0609020204030204" pitchFamily="49" charset="0"/>
              </a:rPr>
              <a:t>torch.Tensor</a:t>
            </a:r>
            <a:r>
              <a:rPr lang="en-US" altLang="ko-KR" sz="1100" dirty="0">
                <a:solidFill>
                  <a:srgbClr val="CE9178"/>
                </a:solidFill>
                <a:latin typeface="Consolas" panose="020B0609020204030204" pitchFamily="49" charset="0"/>
              </a:rPr>
              <a:t>): prediction matrix (before </a:t>
            </a:r>
            <a:r>
              <a:rPr lang="en-US" altLang="ko-KR" sz="1100" dirty="0" err="1">
                <a:solidFill>
                  <a:srgbClr val="CE9178"/>
                </a:solidFill>
                <a:latin typeface="Consolas" panose="020B0609020204030204" pitchFamily="49" charset="0"/>
              </a:rPr>
              <a:t>softmax</a:t>
            </a:r>
            <a:r>
              <a:rPr lang="en-US" altLang="ko-KR" sz="1100" dirty="0">
                <a:solidFill>
                  <a:srgbClr val="CE9178"/>
                </a:solidFill>
                <a:latin typeface="Consolas" panose="020B0609020204030204" pitchFamily="49" charset="0"/>
              </a:rPr>
              <a:t>) with</a:t>
            </a:r>
            <a:endParaRPr lang="en-US" altLang="ko-KR" sz="11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r>
              <a:rPr lang="en-US" altLang="ko-KR" sz="1100" dirty="0">
                <a:solidFill>
                  <a:srgbClr val="CE9178"/>
                </a:solidFill>
                <a:latin typeface="Consolas" panose="020B0609020204030204" pitchFamily="49" charset="0"/>
              </a:rPr>
              <a:t>                shape (</a:t>
            </a:r>
            <a:r>
              <a:rPr lang="en-US" altLang="ko-KR" sz="1100" dirty="0" err="1">
                <a:solidFill>
                  <a:srgbClr val="CE9178"/>
                </a:solidFill>
                <a:latin typeface="Consolas" panose="020B0609020204030204" pitchFamily="49" charset="0"/>
              </a:rPr>
              <a:t>batch_size</a:t>
            </a:r>
            <a:r>
              <a:rPr lang="en-US" altLang="ko-KR" sz="1100" dirty="0">
                <a:solidFill>
                  <a:srgbClr val="CE9178"/>
                </a:solidFill>
                <a:latin typeface="Consolas" panose="020B0609020204030204" pitchFamily="49" charset="0"/>
              </a:rPr>
              <a:t>, </a:t>
            </a:r>
            <a:r>
              <a:rPr lang="en-US" altLang="ko-KR" sz="1100" dirty="0" err="1">
                <a:solidFill>
                  <a:srgbClr val="CE9178"/>
                </a:solidFill>
                <a:latin typeface="Consolas" panose="020B0609020204030204" pitchFamily="49" charset="0"/>
              </a:rPr>
              <a:t>num_classes</a:t>
            </a:r>
            <a:r>
              <a:rPr lang="en-US" altLang="ko-KR" sz="1100" dirty="0">
                <a:solidFill>
                  <a:srgbClr val="CE9178"/>
                </a:solidFill>
                <a:latin typeface="Consolas" panose="020B0609020204030204" pitchFamily="49" charset="0"/>
              </a:rPr>
              <a:t>).</a:t>
            </a:r>
            <a:endParaRPr lang="en-US" altLang="ko-KR" sz="11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r>
              <a:rPr lang="en-US" altLang="ko-KR" sz="1100" dirty="0">
                <a:solidFill>
                  <a:srgbClr val="CE9178"/>
                </a:solidFill>
                <a:latin typeface="Consolas" panose="020B0609020204030204" pitchFamily="49" charset="0"/>
              </a:rPr>
              <a:t>            targets (</a:t>
            </a:r>
            <a:r>
              <a:rPr lang="en-US" altLang="ko-KR" sz="1100" dirty="0" err="1">
                <a:solidFill>
                  <a:srgbClr val="CE9178"/>
                </a:solidFill>
                <a:latin typeface="Consolas" panose="020B0609020204030204" pitchFamily="49" charset="0"/>
              </a:rPr>
              <a:t>torch.LongTensor</a:t>
            </a:r>
            <a:r>
              <a:rPr lang="en-US" altLang="ko-KR" sz="1100" dirty="0">
                <a:solidFill>
                  <a:srgbClr val="CE9178"/>
                </a:solidFill>
                <a:latin typeface="Consolas" panose="020B0609020204030204" pitchFamily="49" charset="0"/>
              </a:rPr>
              <a:t>): ground truth labels with shape (</a:t>
            </a:r>
            <a:r>
              <a:rPr lang="en-US" altLang="ko-KR" sz="1100" dirty="0" err="1">
                <a:solidFill>
                  <a:srgbClr val="CE9178"/>
                </a:solidFill>
                <a:latin typeface="Consolas" panose="020B0609020204030204" pitchFamily="49" charset="0"/>
              </a:rPr>
              <a:t>batch_size</a:t>
            </a:r>
            <a:r>
              <a:rPr lang="en-US" altLang="ko-KR" sz="1100" dirty="0">
                <a:solidFill>
                  <a:srgbClr val="CE9178"/>
                </a:solidFill>
                <a:latin typeface="Consolas" panose="020B0609020204030204" pitchFamily="49" charset="0"/>
              </a:rPr>
              <a:t>).</a:t>
            </a:r>
            <a:endParaRPr lang="en-US" altLang="ko-KR" sz="11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r>
              <a:rPr lang="en-US" altLang="ko-KR" sz="1100" dirty="0">
                <a:solidFill>
                  <a:srgbClr val="CE9178"/>
                </a:solidFill>
                <a:latin typeface="Consolas" panose="020B0609020204030204" pitchFamily="49" charset="0"/>
              </a:rPr>
              <a:t>                Each position contains the label index.</a:t>
            </a:r>
            <a:endParaRPr lang="en-US" altLang="ko-KR" sz="11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r>
              <a:rPr lang="en-US" altLang="ko-KR" sz="1100" dirty="0">
                <a:solidFill>
                  <a:srgbClr val="CE9178"/>
                </a:solidFill>
                <a:latin typeface="Consolas" panose="020B0609020204030204" pitchFamily="49" charset="0"/>
              </a:rPr>
              <a:t>        """</a:t>
            </a:r>
            <a:endParaRPr lang="en-US" altLang="ko-KR" sz="11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en-US" altLang="ko-KR" sz="1100" dirty="0" err="1">
                <a:solidFill>
                  <a:srgbClr val="0070C0"/>
                </a:solidFill>
                <a:latin typeface="Consolas" panose="020B0609020204030204" pitchFamily="49" charset="0"/>
              </a:rPr>
              <a:t>log_probs</a:t>
            </a:r>
            <a:r>
              <a:rPr lang="en-US" altLang="ko-KR" sz="1100" dirty="0">
                <a:solidFill>
                  <a:srgbClr val="0070C0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=</a:t>
            </a:r>
            <a:r>
              <a:rPr lang="en-US" altLang="ko-KR" sz="1100" dirty="0">
                <a:solidFill>
                  <a:srgbClr val="0070C0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100" dirty="0" err="1">
                <a:solidFill>
                  <a:srgbClr val="0070C0"/>
                </a:solidFill>
                <a:latin typeface="Consolas" panose="020B0609020204030204" pitchFamily="49" charset="0"/>
              </a:rPr>
              <a:t>self.logsoftmax</a:t>
            </a:r>
            <a:r>
              <a:rPr lang="en-US" altLang="ko-KR" sz="1100" dirty="0">
                <a:solidFill>
                  <a:srgbClr val="0070C0"/>
                </a:solidFill>
                <a:latin typeface="Consolas" panose="020B0609020204030204" pitchFamily="49" charset="0"/>
              </a:rPr>
              <a:t>(inputs)</a:t>
            </a:r>
          </a:p>
          <a:p>
            <a: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en-US" altLang="ko-KR" sz="1100" dirty="0">
                <a:solidFill>
                  <a:srgbClr val="0070C0"/>
                </a:solidFill>
                <a:latin typeface="Consolas" panose="020B0609020204030204" pitchFamily="49" charset="0"/>
              </a:rPr>
              <a:t>zeros</a:t>
            </a:r>
            <a: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=</a:t>
            </a:r>
            <a: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100" dirty="0" err="1">
                <a:solidFill>
                  <a:srgbClr val="4EC9B0"/>
                </a:solidFill>
                <a:latin typeface="Consolas" panose="020B0609020204030204" pitchFamily="49" charset="0"/>
              </a:rPr>
              <a:t>torch</a:t>
            </a:r>
            <a:r>
              <a:rPr lang="en-US" altLang="ko-KR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.</a:t>
            </a:r>
            <a:r>
              <a:rPr lang="en-US" altLang="ko-KR" sz="1100" dirty="0" err="1">
                <a:solidFill>
                  <a:schemeClr val="accent4">
                    <a:lumMod val="75000"/>
                  </a:schemeClr>
                </a:solidFill>
                <a:latin typeface="Consolas" panose="020B0609020204030204" pitchFamily="49" charset="0"/>
              </a:rPr>
              <a:t>zeros</a:t>
            </a:r>
            <a:r>
              <a:rPr lang="en-US" altLang="ko-KR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(</a:t>
            </a:r>
            <a:r>
              <a:rPr lang="en-US" altLang="ko-KR" sz="1100" dirty="0" err="1">
                <a:solidFill>
                  <a:srgbClr val="0070C0"/>
                </a:solidFill>
                <a:latin typeface="Consolas" panose="020B0609020204030204" pitchFamily="49" charset="0"/>
              </a:rPr>
              <a:t>log_probs</a:t>
            </a:r>
            <a:r>
              <a:rPr lang="en-US" altLang="ko-KR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.size</a:t>
            </a:r>
            <a:r>
              <a:rPr lang="en-US" altLang="ko-KR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())</a:t>
            </a:r>
          </a:p>
          <a:p>
            <a: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en-US" altLang="ko-KR" sz="1100" dirty="0">
                <a:solidFill>
                  <a:srgbClr val="0070C0"/>
                </a:solidFill>
                <a:latin typeface="Consolas" panose="020B0609020204030204" pitchFamily="49" charset="0"/>
              </a:rPr>
              <a:t>targets = </a:t>
            </a:r>
            <a:r>
              <a:rPr lang="en-US" altLang="ko-KR" sz="1100" dirty="0" err="1">
                <a:solidFill>
                  <a:srgbClr val="0070C0"/>
                </a:solidFill>
                <a:latin typeface="Consolas" panose="020B0609020204030204" pitchFamily="49" charset="0"/>
              </a:rPr>
              <a:t>zeros</a:t>
            </a:r>
            <a:r>
              <a:rPr lang="en-US" altLang="ko-KR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.</a:t>
            </a:r>
            <a:r>
              <a:rPr lang="en-US" altLang="ko-KR" sz="1100" dirty="0" err="1">
                <a:solidFill>
                  <a:schemeClr val="accent4">
                    <a:lumMod val="75000"/>
                  </a:schemeClr>
                </a:solidFill>
                <a:latin typeface="Consolas" panose="020B0609020204030204" pitchFamily="49" charset="0"/>
              </a:rPr>
              <a:t>scatter</a:t>
            </a:r>
            <a:r>
              <a:rPr lang="en-US" altLang="ko-KR" sz="1100" dirty="0">
                <a:solidFill>
                  <a:schemeClr val="accent4">
                    <a:lumMod val="75000"/>
                  </a:schemeClr>
                </a:solidFill>
                <a:latin typeface="Consolas" panose="020B0609020204030204" pitchFamily="49" charset="0"/>
              </a:rPr>
              <a:t>_</a:t>
            </a:r>
            <a:r>
              <a:rPr lang="en-US" altLang="ko-KR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(</a:t>
            </a:r>
            <a:r>
              <a:rPr lang="en-US" altLang="ko-KR" sz="1100" dirty="0">
                <a:solidFill>
                  <a:srgbClr val="B5CEA8"/>
                </a:solidFill>
                <a:latin typeface="Consolas" panose="020B0609020204030204" pitchFamily="49" charset="0"/>
              </a:rPr>
              <a:t>1</a:t>
            </a:r>
            <a:r>
              <a:rPr lang="en-US" altLang="ko-KR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,</a:t>
            </a:r>
            <a: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100" dirty="0" err="1">
                <a:solidFill>
                  <a:srgbClr val="0070C0"/>
                </a:solidFill>
                <a:latin typeface="Consolas" panose="020B0609020204030204" pitchFamily="49" charset="0"/>
              </a:rPr>
              <a:t>targets</a:t>
            </a:r>
            <a:r>
              <a:rPr lang="en-US" altLang="ko-KR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.unsqueeze</a:t>
            </a:r>
            <a:r>
              <a:rPr lang="en-US" altLang="ko-KR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(</a:t>
            </a:r>
            <a:r>
              <a:rPr lang="en-US" altLang="ko-KR" sz="1100" dirty="0">
                <a:solidFill>
                  <a:srgbClr val="B5CEA8"/>
                </a:solidFill>
                <a:latin typeface="Consolas" panose="020B0609020204030204" pitchFamily="49" charset="0"/>
              </a:rPr>
              <a:t>1</a:t>
            </a:r>
            <a:r>
              <a:rPr lang="en-US" altLang="ko-KR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).</a:t>
            </a:r>
            <a:r>
              <a:rPr lang="en-US" altLang="ko-KR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data.cpu</a:t>
            </a:r>
            <a:r>
              <a:rPr lang="en-US" altLang="ko-KR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(),</a:t>
            </a:r>
            <a: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100" dirty="0">
                <a:solidFill>
                  <a:srgbClr val="B5CEA8"/>
                </a:solidFill>
                <a:latin typeface="Consolas" panose="020B0609020204030204" pitchFamily="49" charset="0"/>
              </a:rPr>
              <a:t>1</a:t>
            </a:r>
            <a:r>
              <a:rPr lang="en-US" altLang="ko-KR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en-US" altLang="ko-KR" sz="1100" dirty="0">
                <a:solidFill>
                  <a:srgbClr val="C586C0"/>
                </a:solidFill>
                <a:latin typeface="Consolas" panose="020B0609020204030204" pitchFamily="49" charset="0"/>
              </a:rPr>
              <a:t>if</a:t>
            </a:r>
            <a: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100" dirty="0" err="1">
                <a:solidFill>
                  <a:srgbClr val="0070C0"/>
                </a:solidFill>
                <a:latin typeface="Consolas" panose="020B0609020204030204" pitchFamily="49" charset="0"/>
              </a:rPr>
              <a:t>self.use_gpu</a:t>
            </a:r>
            <a: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  <a:t>:</a:t>
            </a:r>
          </a:p>
          <a:p>
            <a: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    </a:t>
            </a:r>
            <a:r>
              <a:rPr lang="en-US" altLang="ko-KR" sz="1100" dirty="0">
                <a:solidFill>
                  <a:srgbClr val="0070C0"/>
                </a:solidFill>
                <a:latin typeface="Consolas" panose="020B0609020204030204" pitchFamily="49" charset="0"/>
              </a:rPr>
              <a:t>targets</a:t>
            </a:r>
            <a: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=</a:t>
            </a:r>
            <a: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100" dirty="0" err="1">
                <a:solidFill>
                  <a:srgbClr val="0070C0"/>
                </a:solidFill>
                <a:latin typeface="Consolas" panose="020B0609020204030204" pitchFamily="49" charset="0"/>
              </a:rPr>
              <a:t>targets</a:t>
            </a:r>
            <a:r>
              <a:rPr lang="en-US" altLang="ko-KR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.</a:t>
            </a:r>
            <a:r>
              <a:rPr lang="en-US" altLang="ko-KR" sz="1100" dirty="0" err="1">
                <a:solidFill>
                  <a:schemeClr val="accent4">
                    <a:lumMod val="75000"/>
                  </a:schemeClr>
                </a:solidFill>
                <a:latin typeface="Consolas" panose="020B0609020204030204" pitchFamily="49" charset="0"/>
              </a:rPr>
              <a:t>cuda</a:t>
            </a:r>
            <a:r>
              <a:rPr lang="en-US" altLang="ko-KR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()</a:t>
            </a:r>
          </a:p>
          <a:p>
            <a: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en-US" altLang="ko-KR" sz="1100" dirty="0">
                <a:solidFill>
                  <a:srgbClr val="0070C0"/>
                </a:solidFill>
                <a:latin typeface="Consolas" panose="020B0609020204030204" pitchFamily="49" charset="0"/>
              </a:rPr>
              <a:t>targets</a:t>
            </a:r>
            <a: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=</a:t>
            </a:r>
            <a: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(</a:t>
            </a:r>
            <a:r>
              <a:rPr lang="en-US" altLang="ko-KR" sz="1100" dirty="0">
                <a:solidFill>
                  <a:srgbClr val="B5CEA8"/>
                </a:solidFill>
                <a:latin typeface="Consolas" panose="020B0609020204030204" pitchFamily="49" charset="0"/>
              </a:rPr>
              <a:t>1</a:t>
            </a:r>
            <a: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-</a:t>
            </a:r>
            <a: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100" dirty="0" err="1">
                <a:solidFill>
                  <a:srgbClr val="0070C0"/>
                </a:solidFill>
                <a:latin typeface="Consolas" panose="020B0609020204030204" pitchFamily="49" charset="0"/>
              </a:rPr>
              <a:t>self.eps</a:t>
            </a:r>
            <a:r>
              <a:rPr lang="en-US" altLang="ko-KR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)</a:t>
            </a:r>
            <a: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100" dirty="0">
                <a:solidFill>
                  <a:srgbClr val="DCDCAA"/>
                </a:solidFill>
                <a:latin typeface="Consolas" panose="020B0609020204030204" pitchFamily="49" charset="0"/>
              </a:rPr>
              <a:t>*</a:t>
            </a:r>
            <a: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100" dirty="0">
                <a:solidFill>
                  <a:srgbClr val="0070C0"/>
                </a:solidFill>
                <a:latin typeface="Consolas" panose="020B0609020204030204" pitchFamily="49" charset="0"/>
              </a:rPr>
              <a:t>targets</a:t>
            </a:r>
            <a: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100" dirty="0">
                <a:solidFill>
                  <a:srgbClr val="DCDCAA"/>
                </a:solidFill>
                <a:latin typeface="Consolas" panose="020B0609020204030204" pitchFamily="49" charset="0"/>
              </a:rPr>
              <a:t>+</a:t>
            </a:r>
            <a: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100" dirty="0" err="1">
                <a:solidFill>
                  <a:srgbClr val="0070C0"/>
                </a:solidFill>
                <a:latin typeface="Consolas" panose="020B0609020204030204" pitchFamily="49" charset="0"/>
              </a:rPr>
              <a:t>self.eps</a:t>
            </a:r>
            <a: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/</a:t>
            </a:r>
            <a: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100" dirty="0" err="1">
                <a:solidFill>
                  <a:srgbClr val="0070C0"/>
                </a:solidFill>
                <a:latin typeface="Consolas" panose="020B0609020204030204" pitchFamily="49" charset="0"/>
              </a:rPr>
              <a:t>self.num_classes</a:t>
            </a:r>
            <a:endParaRPr lang="en-US" altLang="ko-KR" sz="1100" dirty="0">
              <a:solidFill>
                <a:srgbClr val="0070C0"/>
              </a:solidFill>
              <a:latin typeface="Consolas" panose="020B0609020204030204" pitchFamily="49" charset="0"/>
            </a:endParaRPr>
          </a:p>
          <a:p>
            <a: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en-US" altLang="ko-KR" sz="1100" dirty="0">
                <a:solidFill>
                  <a:srgbClr val="C586C0"/>
                </a:solidFill>
                <a:latin typeface="Consolas" panose="020B0609020204030204" pitchFamily="49" charset="0"/>
              </a:rPr>
              <a:t>return</a:t>
            </a:r>
            <a: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(</a:t>
            </a:r>
            <a:r>
              <a:rPr lang="en-US" altLang="ko-KR" sz="1100" dirty="0">
                <a:solidFill>
                  <a:srgbClr val="DCDCAA"/>
                </a:solidFill>
                <a:latin typeface="Consolas" panose="020B0609020204030204" pitchFamily="49" charset="0"/>
              </a:rPr>
              <a:t>-</a:t>
            </a:r>
            <a:r>
              <a:rPr lang="en-US" altLang="ko-KR" sz="1100" dirty="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targets</a:t>
            </a:r>
            <a: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100" dirty="0">
                <a:solidFill>
                  <a:srgbClr val="DCDCAA"/>
                </a:solidFill>
                <a:latin typeface="Consolas" panose="020B0609020204030204" pitchFamily="49" charset="0"/>
              </a:rPr>
              <a:t>*</a:t>
            </a:r>
            <a: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100" dirty="0" err="1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log_probs</a:t>
            </a:r>
            <a:r>
              <a:rPr lang="en-US" altLang="ko-KR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).mean(</a:t>
            </a:r>
            <a:r>
              <a:rPr lang="en-US" altLang="ko-KR" sz="1100" dirty="0">
                <a:solidFill>
                  <a:srgbClr val="B5CEA8"/>
                </a:solidFill>
                <a:latin typeface="Consolas" panose="020B0609020204030204" pitchFamily="49" charset="0"/>
              </a:rPr>
              <a:t>0</a:t>
            </a:r>
            <a:r>
              <a:rPr lang="en-US" altLang="ko-KR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).sum()</a:t>
            </a:r>
            <a:endParaRPr lang="en-US" altLang="ko-KR" sz="1100" b="0" dirty="0">
              <a:solidFill>
                <a:schemeClr val="tx1">
                  <a:lumMod val="50000"/>
                  <a:lumOff val="50000"/>
                </a:schemeClr>
              </a:solidFill>
              <a:effectLst/>
              <a:latin typeface="Consolas" panose="020B0609020204030204" pitchFamily="49" charset="0"/>
            </a:endParaRPr>
          </a:p>
        </p:txBody>
      </p:sp>
      <p:cxnSp>
        <p:nvCxnSpPr>
          <p:cNvPr id="56" name="구부러진 연결선 55"/>
          <p:cNvCxnSpPr>
            <a:stCxn id="50" idx="2"/>
            <a:endCxn id="55" idx="0"/>
          </p:cNvCxnSpPr>
          <p:nvPr/>
        </p:nvCxnSpPr>
        <p:spPr>
          <a:xfrm rot="5400000">
            <a:off x="6665608" y="2033557"/>
            <a:ext cx="318884" cy="508350"/>
          </a:xfrm>
          <a:prstGeom prst="curvedConnector3">
            <a:avLst>
              <a:gd name="adj1" fmla="val 50000"/>
            </a:avLst>
          </a:prstGeom>
          <a:ln>
            <a:solidFill>
              <a:srgbClr val="C00000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직사각형 60"/>
          <p:cNvSpPr/>
          <p:nvPr/>
        </p:nvSpPr>
        <p:spPr>
          <a:xfrm>
            <a:off x="517907" y="5255903"/>
            <a:ext cx="5343525" cy="938719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altLang="ko-KR" sz="1100" dirty="0" err="1">
                <a:solidFill>
                  <a:srgbClr val="0070C0"/>
                </a:solidFill>
                <a:latin typeface="Consolas" panose="020B0609020204030204" pitchFamily="49" charset="0"/>
              </a:rPr>
              <a:t>self.criterion</a:t>
            </a:r>
            <a: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1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100" dirty="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CrossEntropyLoss</a:t>
            </a:r>
            <a: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</a:p>
          <a:p>
            <a: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    </a:t>
            </a:r>
            <a:r>
              <a:rPr lang="en-US" altLang="ko-KR" sz="1100" dirty="0" err="1">
                <a:solidFill>
                  <a:schemeClr val="accent5">
                    <a:lumMod val="50000"/>
                  </a:schemeClr>
                </a:solidFill>
                <a:latin typeface="Consolas" panose="020B0609020204030204" pitchFamily="49" charset="0"/>
              </a:rPr>
              <a:t>num_classes</a:t>
            </a:r>
            <a:r>
              <a:rPr lang="en-US" altLang="ko-KR" sz="11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en-US" altLang="ko-KR" sz="1100" dirty="0" err="1">
                <a:solidFill>
                  <a:schemeClr val="accent5">
                    <a:lumMod val="50000"/>
                  </a:schemeClr>
                </a:solidFill>
                <a:latin typeface="Consolas" panose="020B0609020204030204" pitchFamily="49" charset="0"/>
              </a:rPr>
              <a:t>self.datamanager</a:t>
            </a:r>
            <a:r>
              <a:rPr lang="en-US" altLang="ko-KR" sz="1100" dirty="0" err="1">
                <a:solidFill>
                  <a:srgbClr val="CCCCCC"/>
                </a:solidFill>
                <a:latin typeface="Consolas" panose="020B0609020204030204" pitchFamily="49" charset="0"/>
              </a:rPr>
              <a:t>.num_train_pids</a:t>
            </a:r>
            <a: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  <a:t>,</a:t>
            </a:r>
          </a:p>
          <a:p>
            <a: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    </a:t>
            </a:r>
            <a:r>
              <a:rPr lang="en-US" altLang="ko-KR" sz="1100" dirty="0" err="1">
                <a:solidFill>
                  <a:schemeClr val="accent5">
                    <a:lumMod val="50000"/>
                  </a:schemeClr>
                </a:solidFill>
                <a:latin typeface="Consolas" panose="020B0609020204030204" pitchFamily="49" charset="0"/>
              </a:rPr>
              <a:t>use_gpu</a:t>
            </a:r>
            <a:r>
              <a:rPr lang="en-US" altLang="ko-KR" sz="11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en-US" altLang="ko-KR" sz="1100" dirty="0" err="1">
                <a:solidFill>
                  <a:schemeClr val="accent5">
                    <a:lumMod val="50000"/>
                  </a:schemeClr>
                </a:solidFill>
                <a:latin typeface="Consolas" panose="020B0609020204030204" pitchFamily="49" charset="0"/>
              </a:rPr>
              <a:t>self.use_gpu</a:t>
            </a:r>
            <a: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  <a:t>,</a:t>
            </a:r>
          </a:p>
          <a:p>
            <a: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    </a:t>
            </a:r>
            <a:r>
              <a:rPr lang="en-US" altLang="ko-KR" sz="1100" dirty="0" err="1">
                <a:solidFill>
                  <a:schemeClr val="accent5">
                    <a:lumMod val="50000"/>
                  </a:schemeClr>
                </a:solidFill>
                <a:latin typeface="Consolas" panose="020B0609020204030204" pitchFamily="49" charset="0"/>
              </a:rPr>
              <a:t>label_smooth</a:t>
            </a:r>
            <a:r>
              <a:rPr lang="en-US" altLang="ko-KR" sz="11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en-US" altLang="ko-KR" sz="1100" dirty="0" err="1">
                <a:solidFill>
                  <a:schemeClr val="accent5">
                    <a:lumMod val="50000"/>
                  </a:schemeClr>
                </a:solidFill>
                <a:latin typeface="Consolas" panose="020B0609020204030204" pitchFamily="49" charset="0"/>
              </a:rPr>
              <a:t>label_smooth</a:t>
            </a:r>
            <a:endParaRPr lang="en-US" altLang="ko-KR" sz="1100" dirty="0">
              <a:solidFill>
                <a:schemeClr val="accent5">
                  <a:lumMod val="50000"/>
                </a:schemeClr>
              </a:solidFill>
              <a:latin typeface="Consolas" panose="020B0609020204030204" pitchFamily="49" charset="0"/>
            </a:endParaRPr>
          </a:p>
          <a:p>
            <a: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)</a:t>
            </a:r>
            <a:endParaRPr lang="en-US" altLang="ko-KR" sz="11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cxnSp>
        <p:nvCxnSpPr>
          <p:cNvPr id="62" name="구부러진 연결선 61"/>
          <p:cNvCxnSpPr>
            <a:endCxn id="61" idx="0"/>
          </p:cNvCxnSpPr>
          <p:nvPr/>
        </p:nvCxnSpPr>
        <p:spPr>
          <a:xfrm rot="5400000">
            <a:off x="2517796" y="2114005"/>
            <a:ext cx="3813773" cy="2470023"/>
          </a:xfrm>
          <a:prstGeom prst="curvedConnector3">
            <a:avLst>
              <a:gd name="adj1" fmla="val 50000"/>
            </a:avLst>
          </a:prstGeom>
          <a:ln>
            <a:solidFill>
              <a:srgbClr val="C00000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5" name="그림 6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384" y="1577398"/>
            <a:ext cx="2807439" cy="692537"/>
          </a:xfrm>
          <a:prstGeom prst="rect">
            <a:avLst/>
          </a:prstGeom>
        </p:spPr>
      </p:pic>
      <p:sp>
        <p:nvSpPr>
          <p:cNvPr id="66" name="직사각형 65"/>
          <p:cNvSpPr/>
          <p:nvPr/>
        </p:nvSpPr>
        <p:spPr>
          <a:xfrm>
            <a:off x="6232486" y="5274437"/>
            <a:ext cx="2827693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smtClean="0">
                <a:solidFill>
                  <a:srgbClr val="C00000"/>
                </a:solidFill>
              </a:rPr>
              <a:t>training</a:t>
            </a:r>
            <a:r>
              <a:rPr lang="ko-KR" altLang="en-US" sz="1000" dirty="0" smtClean="0">
                <a:solidFill>
                  <a:srgbClr val="C00000"/>
                </a:solidFill>
              </a:rPr>
              <a:t>시 에는 </a:t>
            </a:r>
            <a:r>
              <a:rPr lang="en-US" altLang="ko-KR" sz="1000" dirty="0" err="1" smtClean="0">
                <a:solidFill>
                  <a:srgbClr val="C00000"/>
                </a:solidFill>
              </a:rPr>
              <a:t>pid</a:t>
            </a:r>
            <a:r>
              <a:rPr lang="ko-KR" altLang="en-US" sz="1000" dirty="0" smtClean="0">
                <a:solidFill>
                  <a:srgbClr val="C00000"/>
                </a:solidFill>
              </a:rPr>
              <a:t>가 맞는지 확인하고</a:t>
            </a:r>
            <a:r>
              <a:rPr lang="en-US" altLang="ko-KR" sz="1000" dirty="0" smtClean="0">
                <a:solidFill>
                  <a:srgbClr val="C00000"/>
                </a:solidFill>
              </a:rPr>
              <a:t>, test</a:t>
            </a:r>
            <a:r>
              <a:rPr lang="ko-KR" altLang="en-US" sz="1000" dirty="0" smtClean="0">
                <a:solidFill>
                  <a:srgbClr val="C00000"/>
                </a:solidFill>
              </a:rPr>
              <a:t>시에는 </a:t>
            </a:r>
            <a:r>
              <a:rPr lang="en-US" altLang="ko-KR" sz="1000" dirty="0" smtClean="0">
                <a:solidFill>
                  <a:srgbClr val="C00000"/>
                </a:solidFill>
              </a:rPr>
              <a:t>feature</a:t>
            </a:r>
            <a:r>
              <a:rPr lang="ko-KR" altLang="en-US" sz="1000" dirty="0" smtClean="0">
                <a:solidFill>
                  <a:srgbClr val="C00000"/>
                </a:solidFill>
              </a:rPr>
              <a:t>가 유사 한지를 확인한다</a:t>
            </a:r>
            <a:r>
              <a:rPr lang="en-US" altLang="ko-KR" sz="1000" dirty="0" smtClean="0">
                <a:solidFill>
                  <a:srgbClr val="C00000"/>
                </a:solidFill>
              </a:rPr>
              <a:t>.</a:t>
            </a:r>
            <a:endParaRPr lang="ko-KR" altLang="en-US" sz="1000" dirty="0">
              <a:solidFill>
                <a:srgbClr val="C00000"/>
              </a:solidFill>
            </a:endParaRPr>
          </a:p>
        </p:txBody>
      </p:sp>
      <p:sp>
        <p:nvSpPr>
          <p:cNvPr id="67" name="직사각형 66"/>
          <p:cNvSpPr/>
          <p:nvPr/>
        </p:nvSpPr>
        <p:spPr>
          <a:xfrm>
            <a:off x="3560723" y="5870320"/>
            <a:ext cx="5343525" cy="1631216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altLang="ko-KR" sz="1000" dirty="0" err="1"/>
              <a:t>OSNet</a:t>
            </a:r>
            <a:r>
              <a:rPr lang="en-US" altLang="ko-KR" sz="1000" dirty="0"/>
              <a:t> </a:t>
            </a:r>
            <a:r>
              <a:rPr lang="ko-KR" altLang="en-US" sz="1000" dirty="0"/>
              <a:t>기반의 </a:t>
            </a:r>
            <a:r>
              <a:rPr lang="en-US" altLang="ko-KR" sz="1000" dirty="0"/>
              <a:t>person re-ID </a:t>
            </a:r>
            <a:r>
              <a:rPr lang="ko-KR" altLang="en-US" sz="1000" dirty="0"/>
              <a:t>모델은 일반적으로 다음과 같이 동작합니다</a:t>
            </a:r>
            <a:r>
              <a:rPr lang="en-US" altLang="ko-KR" sz="1000" dirty="0"/>
              <a:t>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ko-KR" sz="1000" b="1" dirty="0"/>
              <a:t>Training </a:t>
            </a:r>
            <a:r>
              <a:rPr lang="ko-KR" altLang="en-US" sz="1000" b="1" dirty="0"/>
              <a:t>시</a:t>
            </a:r>
            <a:r>
              <a:rPr lang="en-US" altLang="ko-KR" sz="1000" b="1" dirty="0"/>
              <a:t>:</a:t>
            </a:r>
            <a:r>
              <a:rPr lang="ko-KR" altLang="en-US" sz="1000" dirty="0"/>
              <a:t/>
            </a:r>
            <a:br>
              <a:rPr lang="ko-KR" altLang="en-US" sz="1000" dirty="0"/>
            </a:br>
            <a:r>
              <a:rPr lang="ko-KR" altLang="en-US" sz="1000" dirty="0"/>
              <a:t>모델은 각 입력 이미지에 대해 해당 사람의 </a:t>
            </a:r>
            <a:r>
              <a:rPr lang="en-US" altLang="ko-KR" sz="1000" dirty="0"/>
              <a:t>ID (PID)</a:t>
            </a:r>
            <a:r>
              <a:rPr lang="ko-KR" altLang="en-US" sz="1000" dirty="0"/>
              <a:t>를 예측하도록 학습합니다</a:t>
            </a:r>
            <a:r>
              <a:rPr lang="en-US" altLang="ko-KR" sz="1000" dirty="0"/>
              <a:t>. </a:t>
            </a:r>
            <a:r>
              <a:rPr lang="ko-KR" altLang="en-US" sz="1000" dirty="0"/>
              <a:t>이때 </a:t>
            </a:r>
            <a:r>
              <a:rPr lang="en-US" altLang="ko-KR" sz="1000" dirty="0"/>
              <a:t>Cross-Entropy Loss</a:t>
            </a:r>
            <a:r>
              <a:rPr lang="ko-KR" altLang="en-US" sz="1000" dirty="0"/>
              <a:t>와 같은 분류 손실 및 경우에 따라 </a:t>
            </a:r>
            <a:r>
              <a:rPr lang="en-US" altLang="ko-KR" sz="1000" dirty="0"/>
              <a:t>Triplet Loss </a:t>
            </a:r>
            <a:r>
              <a:rPr lang="ko-KR" altLang="en-US" sz="1000" dirty="0"/>
              <a:t>등의 </a:t>
            </a:r>
            <a:r>
              <a:rPr lang="en-US" altLang="ko-KR" sz="1000" dirty="0"/>
              <a:t>metric learning </a:t>
            </a:r>
            <a:r>
              <a:rPr lang="ko-KR" altLang="en-US" sz="1000" dirty="0"/>
              <a:t>기법을 사용하여</a:t>
            </a:r>
            <a:r>
              <a:rPr lang="en-US" altLang="ko-KR" sz="1000" dirty="0"/>
              <a:t>, </a:t>
            </a:r>
            <a:r>
              <a:rPr lang="ko-KR" altLang="en-US" sz="1000" dirty="0"/>
              <a:t>같은 사람끼리는 </a:t>
            </a:r>
            <a:r>
              <a:rPr lang="en-US" altLang="ko-KR" sz="1000" dirty="0"/>
              <a:t>feature</a:t>
            </a:r>
            <a:r>
              <a:rPr lang="ko-KR" altLang="en-US" sz="1000" dirty="0"/>
              <a:t>가 가깝게</a:t>
            </a:r>
            <a:r>
              <a:rPr lang="en-US" altLang="ko-KR" sz="1000" dirty="0"/>
              <a:t>, </a:t>
            </a:r>
            <a:r>
              <a:rPr lang="ko-KR" altLang="en-US" sz="1000" dirty="0"/>
              <a:t>다른 사람은 멀게 </a:t>
            </a:r>
            <a:r>
              <a:rPr lang="ko-KR" altLang="en-US" sz="1000" dirty="0" err="1"/>
              <a:t>매핑되도록</a:t>
            </a:r>
            <a:r>
              <a:rPr lang="ko-KR" altLang="en-US" sz="1000" dirty="0"/>
              <a:t> 합니다</a:t>
            </a:r>
            <a:r>
              <a:rPr lang="en-US" altLang="ko-KR" sz="1000" dirty="0"/>
              <a:t>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ko-KR" sz="1000" b="1" dirty="0"/>
              <a:t>Test </a:t>
            </a:r>
            <a:r>
              <a:rPr lang="ko-KR" altLang="en-US" sz="1000" b="1" dirty="0"/>
              <a:t>시</a:t>
            </a:r>
            <a:r>
              <a:rPr lang="en-US" altLang="ko-KR" sz="1000" b="1" dirty="0"/>
              <a:t>:</a:t>
            </a:r>
            <a:r>
              <a:rPr lang="ko-KR" altLang="en-US" sz="1000" dirty="0"/>
              <a:t/>
            </a:r>
            <a:br>
              <a:rPr lang="ko-KR" altLang="en-US" sz="1000" dirty="0"/>
            </a:br>
            <a:r>
              <a:rPr lang="ko-KR" altLang="en-US" sz="1000" dirty="0"/>
              <a:t>학습된 네트워크는 이미지를 </a:t>
            </a:r>
            <a:r>
              <a:rPr lang="en-US" altLang="ko-KR" sz="1000" dirty="0"/>
              <a:t>feature </a:t>
            </a:r>
            <a:r>
              <a:rPr lang="ko-KR" altLang="en-US" sz="1000" dirty="0"/>
              <a:t>벡터로 매핑하고</a:t>
            </a:r>
            <a:r>
              <a:rPr lang="en-US" altLang="ko-KR" sz="1000" dirty="0"/>
              <a:t>, </a:t>
            </a:r>
            <a:r>
              <a:rPr lang="ko-KR" altLang="en-US" sz="1000" dirty="0"/>
              <a:t>이 벡터들 간의 유사도 </a:t>
            </a:r>
            <a:r>
              <a:rPr lang="en-US" altLang="ko-KR" sz="1000" dirty="0"/>
              <a:t>(</a:t>
            </a:r>
            <a:r>
              <a:rPr lang="ko-KR" altLang="en-US" sz="1000" dirty="0"/>
              <a:t>예</a:t>
            </a:r>
            <a:r>
              <a:rPr lang="en-US" altLang="ko-KR" sz="1000" dirty="0"/>
              <a:t>: cosine similarity, Euclidean distance </a:t>
            </a:r>
            <a:r>
              <a:rPr lang="ko-KR" altLang="en-US" sz="1000" dirty="0"/>
              <a:t>등</a:t>
            </a:r>
            <a:r>
              <a:rPr lang="en-US" altLang="ko-KR" sz="1000" dirty="0"/>
              <a:t>)</a:t>
            </a:r>
            <a:r>
              <a:rPr lang="ko-KR" altLang="en-US" sz="1000" dirty="0"/>
              <a:t>를 계산하여</a:t>
            </a:r>
            <a:r>
              <a:rPr lang="en-US" altLang="ko-KR" sz="1000" dirty="0"/>
              <a:t>, </a:t>
            </a:r>
            <a:r>
              <a:rPr lang="ko-KR" altLang="en-US" sz="1000" dirty="0"/>
              <a:t>서로 같은 사람인지 판단합니다</a:t>
            </a:r>
            <a:r>
              <a:rPr lang="en-US" altLang="ko-KR" sz="1000" dirty="0"/>
              <a:t>.</a:t>
            </a:r>
          </a:p>
          <a:p>
            <a:r>
              <a:rPr lang="ko-KR" altLang="en-US" sz="1000" dirty="0"/>
              <a:t>따라서</a:t>
            </a:r>
            <a:r>
              <a:rPr lang="en-US" altLang="ko-KR" sz="1000" dirty="0"/>
              <a:t>, training </a:t>
            </a:r>
            <a:r>
              <a:rPr lang="ko-KR" altLang="en-US" sz="1000" dirty="0"/>
              <a:t>단계에서는 </a:t>
            </a:r>
            <a:r>
              <a:rPr lang="en-US" altLang="ko-KR" sz="1000" dirty="0"/>
              <a:t>PID</a:t>
            </a:r>
            <a:r>
              <a:rPr lang="ko-KR" altLang="en-US" sz="1000" dirty="0"/>
              <a:t>를 기준으로 올바른 분류를 하는지 확인하고</a:t>
            </a:r>
            <a:r>
              <a:rPr lang="en-US" altLang="ko-KR" sz="1000" dirty="0"/>
              <a:t>, test </a:t>
            </a:r>
            <a:r>
              <a:rPr lang="ko-KR" altLang="en-US" sz="1000" dirty="0"/>
              <a:t>단계에서는 추출된 </a:t>
            </a:r>
            <a:r>
              <a:rPr lang="en-US" altLang="ko-KR" sz="1000" dirty="0"/>
              <a:t>feature</a:t>
            </a:r>
            <a:r>
              <a:rPr lang="ko-KR" altLang="en-US" sz="1000" dirty="0"/>
              <a:t>들이 서로 </a:t>
            </a:r>
            <a:r>
              <a:rPr lang="ko-KR" altLang="en-US" sz="1000" dirty="0" err="1"/>
              <a:t>유사한지</a:t>
            </a:r>
            <a:r>
              <a:rPr lang="ko-KR" altLang="en-US" sz="1000" dirty="0"/>
              <a:t> 비교하는 방식으로 동작합니다</a:t>
            </a:r>
            <a:r>
              <a:rPr lang="en-US" altLang="ko-KR" sz="1000" dirty="0"/>
              <a:t>.</a:t>
            </a:r>
          </a:p>
        </p:txBody>
      </p:sp>
      <p:sp>
        <p:nvSpPr>
          <p:cNvPr id="14" name="직사각형 13"/>
          <p:cNvSpPr/>
          <p:nvPr/>
        </p:nvSpPr>
        <p:spPr>
          <a:xfrm>
            <a:off x="758928" y="2447174"/>
            <a:ext cx="2172199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smtClean="0">
                <a:solidFill>
                  <a:srgbClr val="C00000"/>
                </a:solidFill>
              </a:rPr>
              <a:t>class </a:t>
            </a:r>
            <a:r>
              <a:rPr lang="en-US" altLang="ko-KR" sz="1000" dirty="0" err="1" smtClean="0">
                <a:solidFill>
                  <a:srgbClr val="C00000"/>
                </a:solidFill>
              </a:rPr>
              <a:t>CrossEntropyLoss</a:t>
            </a:r>
            <a:r>
              <a:rPr lang="en-US" altLang="ko-KR" sz="1000" dirty="0" smtClean="0">
                <a:solidFill>
                  <a:srgbClr val="C00000"/>
                </a:solidFill>
              </a:rPr>
              <a:t>::forward</a:t>
            </a:r>
          </a:p>
          <a:p>
            <a:r>
              <a:rPr lang="en-US" altLang="ko-KR" sz="1000" dirty="0" smtClean="0">
                <a:solidFill>
                  <a:srgbClr val="C00000"/>
                </a:solidFill>
              </a:rPr>
              <a:t>cross_entropy_loss.py</a:t>
            </a:r>
            <a:endParaRPr lang="ko-KR" altLang="en-US" sz="1000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11748499"/>
      </p:ext>
    </p:extLst>
  </p:cSld>
  <p:clrMapOvr>
    <a:masterClrMapping/>
  </p:clrMapOvr>
  <p:transition spd="slow">
    <p:wipe/>
  </p:transition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188550" y="295719"/>
            <a:ext cx="3870192" cy="468990"/>
          </a:xfrm>
          <a:prstGeom prst="rect">
            <a:avLst/>
          </a:prstGeom>
          <a:noFill/>
        </p:spPr>
        <p:txBody>
          <a:bodyPr wrap="none" lIns="98694" tIns="49347" rIns="98694" bIns="49347">
            <a:spAutoFit/>
          </a:bodyPr>
          <a:lstStyle/>
          <a:p>
            <a:pPr algn="ctr">
              <a:spcBef>
                <a:spcPts val="648"/>
              </a:spcBef>
            </a:pPr>
            <a:r>
              <a:rPr lang="en-US" altLang="ko-KR" sz="2400" b="1" dirty="0" smtClean="0">
                <a:solidFill>
                  <a:srgbClr val="0E0585"/>
                </a:solidFill>
              </a:rPr>
              <a:t>class Engine(object) </a:t>
            </a:r>
            <a:r>
              <a:rPr lang="en-US" altLang="ko-KR" sz="2400" b="1" dirty="0" err="1" smtClean="0">
                <a:solidFill>
                  <a:srgbClr val="0E0585"/>
                </a:solidFill>
              </a:rPr>
              <a:t>cont</a:t>
            </a:r>
            <a:endParaRPr lang="en-US" altLang="ko-KR" sz="2400" b="1" dirty="0">
              <a:solidFill>
                <a:srgbClr val="0E0585"/>
              </a:solidFill>
            </a:endParaRPr>
          </a:p>
        </p:txBody>
      </p:sp>
      <p:sp>
        <p:nvSpPr>
          <p:cNvPr id="12" name="직사각형 11"/>
          <p:cNvSpPr/>
          <p:nvPr/>
        </p:nvSpPr>
        <p:spPr>
          <a:xfrm>
            <a:off x="2080103" y="1526857"/>
            <a:ext cx="2061439" cy="447491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 dirty="0" err="1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losses.update</a:t>
            </a:r>
            <a:r>
              <a:rPr lang="en-US" altLang="ko-KR" sz="105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(</a:t>
            </a:r>
            <a:r>
              <a:rPr lang="en-US" altLang="ko-KR" sz="1050" dirty="0" err="1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loss_summary</a:t>
            </a:r>
            <a:r>
              <a:rPr lang="en-US" altLang="ko-KR" sz="105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)</a:t>
            </a:r>
            <a:endParaRPr lang="en-US" altLang="ko-KR" sz="105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sp>
        <p:nvSpPr>
          <p:cNvPr id="13" name="직사각형 12"/>
          <p:cNvSpPr/>
          <p:nvPr/>
        </p:nvSpPr>
        <p:spPr>
          <a:xfrm>
            <a:off x="2080101" y="3150535"/>
            <a:ext cx="2061439" cy="447491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self.update_lr</a:t>
            </a:r>
            <a:r>
              <a:rPr lang="en-US" altLang="ko-KR" sz="105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()</a:t>
            </a:r>
          </a:p>
        </p:txBody>
      </p:sp>
      <p:cxnSp>
        <p:nvCxnSpPr>
          <p:cNvPr id="14" name="직선 화살표 연결선 13"/>
          <p:cNvCxnSpPr>
            <a:stCxn id="12" idx="2"/>
            <a:endCxn id="27" idx="0"/>
          </p:cNvCxnSpPr>
          <p:nvPr/>
        </p:nvCxnSpPr>
        <p:spPr>
          <a:xfrm flipH="1">
            <a:off x="3110822" y="1974348"/>
            <a:ext cx="1" cy="36434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구부러진 연결선 20"/>
          <p:cNvCxnSpPr/>
          <p:nvPr/>
        </p:nvCxnSpPr>
        <p:spPr>
          <a:xfrm>
            <a:off x="3439886" y="1793966"/>
            <a:ext cx="1732376" cy="466143"/>
          </a:xfrm>
          <a:prstGeom prst="curvedConnector3">
            <a:avLst>
              <a:gd name="adj1" fmla="val 50000"/>
            </a:avLst>
          </a:prstGeom>
          <a:ln>
            <a:solidFill>
              <a:srgbClr val="C00000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294811" y="2106220"/>
            <a:ext cx="183255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100" dirty="0" smtClean="0">
                <a:latin typeface="+mn-ea"/>
              </a:rPr>
              <a:t>loss, </a:t>
            </a:r>
            <a:r>
              <a:rPr lang="en-US" altLang="ko-KR" sz="1100" dirty="0" err="1" smtClean="0">
                <a:latin typeface="+mn-ea"/>
              </a:rPr>
              <a:t>acc</a:t>
            </a:r>
            <a:r>
              <a:rPr lang="ko-KR" altLang="en-US" sz="1100" dirty="0" smtClean="0">
                <a:latin typeface="+mn-ea"/>
              </a:rPr>
              <a:t>가 계산되어 있다</a:t>
            </a:r>
            <a:r>
              <a:rPr lang="en-US" altLang="ko-KR" sz="1100" dirty="0" smtClean="0">
                <a:latin typeface="+mn-ea"/>
              </a:rPr>
              <a:t>.</a:t>
            </a:r>
            <a:endParaRPr lang="ko-KR" altLang="en-US" sz="1100" dirty="0">
              <a:latin typeface="+mn-ea"/>
            </a:endParaRPr>
          </a:p>
        </p:txBody>
      </p:sp>
      <p:sp>
        <p:nvSpPr>
          <p:cNvPr id="27" name="직사각형 26"/>
          <p:cNvSpPr/>
          <p:nvPr/>
        </p:nvSpPr>
        <p:spPr>
          <a:xfrm>
            <a:off x="2080102" y="2338696"/>
            <a:ext cx="2061439" cy="447491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sz="105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일정 시간 마다 프린트</a:t>
            </a:r>
            <a:endParaRPr lang="en-US" altLang="ko-KR" sz="105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cxnSp>
        <p:nvCxnSpPr>
          <p:cNvPr id="28" name="직선 화살표 연결선 27"/>
          <p:cNvCxnSpPr>
            <a:stCxn id="27" idx="2"/>
            <a:endCxn id="13" idx="0"/>
          </p:cNvCxnSpPr>
          <p:nvPr/>
        </p:nvCxnSpPr>
        <p:spPr>
          <a:xfrm flipH="1">
            <a:off x="3110821" y="2786187"/>
            <a:ext cx="1" cy="36434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47587487"/>
      </p:ext>
    </p:extLst>
  </p:cSld>
  <p:clrMapOvr>
    <a:masterClrMapping/>
  </p:clrMapOvr>
  <p:transition spd="slow">
    <p:wipe/>
  </p:transition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188550" y="295719"/>
            <a:ext cx="3870192" cy="468990"/>
          </a:xfrm>
          <a:prstGeom prst="rect">
            <a:avLst/>
          </a:prstGeom>
          <a:noFill/>
        </p:spPr>
        <p:txBody>
          <a:bodyPr wrap="none" lIns="98694" tIns="49347" rIns="98694" bIns="49347">
            <a:spAutoFit/>
          </a:bodyPr>
          <a:lstStyle/>
          <a:p>
            <a:pPr algn="ctr">
              <a:spcBef>
                <a:spcPts val="648"/>
              </a:spcBef>
            </a:pPr>
            <a:r>
              <a:rPr lang="en-US" altLang="ko-KR" sz="2400" b="1" dirty="0" smtClean="0">
                <a:solidFill>
                  <a:srgbClr val="0E0585"/>
                </a:solidFill>
              </a:rPr>
              <a:t>class Engine(object) </a:t>
            </a:r>
            <a:r>
              <a:rPr lang="en-US" altLang="ko-KR" sz="2400" b="1" dirty="0" err="1" smtClean="0">
                <a:solidFill>
                  <a:srgbClr val="0E0585"/>
                </a:solidFill>
              </a:rPr>
              <a:t>cont</a:t>
            </a:r>
            <a:endParaRPr lang="en-US" altLang="ko-KR" sz="2400" b="1" dirty="0">
              <a:solidFill>
                <a:srgbClr val="0E0585"/>
              </a:solidFill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1415845" y="1427493"/>
            <a:ext cx="1064813" cy="367276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test</a:t>
            </a:r>
            <a:endParaRPr lang="en-US" altLang="ko-KR" sz="140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sp>
        <p:nvSpPr>
          <p:cNvPr id="11" name="직사각형 10"/>
          <p:cNvSpPr/>
          <p:nvPr/>
        </p:nvSpPr>
        <p:spPr>
          <a:xfrm>
            <a:off x="2480659" y="1927780"/>
            <a:ext cx="1578084" cy="387404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rank1 = </a:t>
            </a:r>
            <a:r>
              <a:rPr lang="en-US" altLang="ko-KR" sz="105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self.test</a:t>
            </a:r>
            <a:endParaRPr lang="en-US" altLang="ko-KR" sz="105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cxnSp>
        <p:nvCxnSpPr>
          <p:cNvPr id="15" name="꺾인 연결선 14"/>
          <p:cNvCxnSpPr>
            <a:stCxn id="10" idx="2"/>
            <a:endCxn id="11" idx="1"/>
          </p:cNvCxnSpPr>
          <p:nvPr/>
        </p:nvCxnSpPr>
        <p:spPr>
          <a:xfrm rot="16200000" flipH="1">
            <a:off x="2051099" y="1691921"/>
            <a:ext cx="326713" cy="532407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직사각형 16"/>
          <p:cNvSpPr/>
          <p:nvPr/>
        </p:nvSpPr>
        <p:spPr>
          <a:xfrm>
            <a:off x="3561532" y="2448195"/>
            <a:ext cx="1671949" cy="420394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set_model_mode</a:t>
            </a:r>
            <a:r>
              <a:rPr lang="en-US" altLang="ko-KR" sz="10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('</a:t>
            </a:r>
            <a:r>
              <a:rPr lang="en-US" altLang="ko-KR" sz="100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eval</a:t>
            </a:r>
            <a:r>
              <a:rPr lang="en-US" altLang="ko-KR" sz="10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')</a:t>
            </a:r>
          </a:p>
        </p:txBody>
      </p:sp>
      <p:cxnSp>
        <p:nvCxnSpPr>
          <p:cNvPr id="19" name="꺾인 연결선 18"/>
          <p:cNvCxnSpPr>
            <a:stCxn id="11" idx="2"/>
            <a:endCxn id="17" idx="1"/>
          </p:cNvCxnSpPr>
          <p:nvPr/>
        </p:nvCxnSpPr>
        <p:spPr>
          <a:xfrm rot="16200000" flipH="1">
            <a:off x="3244012" y="2340872"/>
            <a:ext cx="343208" cy="291831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직사각형 24"/>
          <p:cNvSpPr/>
          <p:nvPr/>
        </p:nvSpPr>
        <p:spPr>
          <a:xfrm>
            <a:off x="3454527" y="3235068"/>
            <a:ext cx="1885958" cy="420394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query_loader</a:t>
            </a:r>
            <a:r>
              <a:rPr lang="en-US" altLang="ko-KR" sz="10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= </a:t>
            </a:r>
            <a:r>
              <a:rPr lang="en-US" altLang="ko-KR" sz="100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self.test_loader</a:t>
            </a:r>
            <a:r>
              <a:rPr lang="en-US" altLang="ko-KR" sz="10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[name]['query']</a:t>
            </a:r>
          </a:p>
        </p:txBody>
      </p:sp>
      <p:sp>
        <p:nvSpPr>
          <p:cNvPr id="26" name="직사각형 25"/>
          <p:cNvSpPr/>
          <p:nvPr/>
        </p:nvSpPr>
        <p:spPr>
          <a:xfrm>
            <a:off x="3454527" y="3941541"/>
            <a:ext cx="1885959" cy="420394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gallery_loader</a:t>
            </a:r>
            <a:r>
              <a:rPr lang="en-US" altLang="ko-KR" sz="10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= </a:t>
            </a:r>
            <a:r>
              <a:rPr lang="en-US" altLang="ko-KR" sz="100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self.test_loader</a:t>
            </a:r>
            <a:r>
              <a:rPr lang="en-US" altLang="ko-KR" sz="10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[name]['gallery']</a:t>
            </a:r>
          </a:p>
        </p:txBody>
      </p:sp>
      <p:cxnSp>
        <p:nvCxnSpPr>
          <p:cNvPr id="29" name="직선 화살표 연결선 28"/>
          <p:cNvCxnSpPr>
            <a:stCxn id="17" idx="2"/>
            <a:endCxn id="25" idx="0"/>
          </p:cNvCxnSpPr>
          <p:nvPr/>
        </p:nvCxnSpPr>
        <p:spPr>
          <a:xfrm flipH="1">
            <a:off x="4397506" y="2868589"/>
            <a:ext cx="1" cy="36647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직선 화살표 연결선 30"/>
          <p:cNvCxnSpPr>
            <a:stCxn id="25" idx="2"/>
            <a:endCxn id="26" idx="0"/>
          </p:cNvCxnSpPr>
          <p:nvPr/>
        </p:nvCxnSpPr>
        <p:spPr>
          <a:xfrm>
            <a:off x="4397506" y="3655462"/>
            <a:ext cx="1" cy="28607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직사각형 34"/>
          <p:cNvSpPr/>
          <p:nvPr/>
        </p:nvSpPr>
        <p:spPr>
          <a:xfrm>
            <a:off x="3454526" y="4676727"/>
            <a:ext cx="1885959" cy="420394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rank1, </a:t>
            </a:r>
            <a:r>
              <a:rPr lang="en-US" altLang="ko-KR" sz="100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mAP</a:t>
            </a:r>
            <a:r>
              <a:rPr lang="en-US" altLang="ko-KR" sz="100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= </a:t>
            </a:r>
            <a:r>
              <a:rPr lang="en-US" altLang="ko-KR" sz="100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self._</a:t>
            </a:r>
            <a:r>
              <a:rPr lang="en-US" altLang="ko-KR" sz="1000" dirty="0" err="1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evaluate</a:t>
            </a:r>
            <a:r>
              <a:rPr lang="en-US" altLang="ko-KR" sz="100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()</a:t>
            </a:r>
            <a:endParaRPr lang="en-US" altLang="ko-KR" sz="100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sp>
        <p:nvSpPr>
          <p:cNvPr id="36" name="직사각형 35"/>
          <p:cNvSpPr/>
          <p:nvPr/>
        </p:nvSpPr>
        <p:spPr>
          <a:xfrm>
            <a:off x="4818208" y="5306521"/>
            <a:ext cx="1700551" cy="367276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_evaluate()</a:t>
            </a:r>
            <a:endParaRPr lang="en-US" altLang="ko-KR" sz="105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cxnSp>
        <p:nvCxnSpPr>
          <p:cNvPr id="37" name="직선 화살표 연결선 36"/>
          <p:cNvCxnSpPr>
            <a:stCxn id="26" idx="2"/>
            <a:endCxn id="35" idx="0"/>
          </p:cNvCxnSpPr>
          <p:nvPr/>
        </p:nvCxnSpPr>
        <p:spPr>
          <a:xfrm flipH="1">
            <a:off x="4397506" y="4361935"/>
            <a:ext cx="1" cy="31479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꺾인 연결선 39"/>
          <p:cNvCxnSpPr>
            <a:stCxn id="35" idx="2"/>
            <a:endCxn id="36" idx="1"/>
          </p:cNvCxnSpPr>
          <p:nvPr/>
        </p:nvCxnSpPr>
        <p:spPr>
          <a:xfrm rot="16200000" flipH="1">
            <a:off x="4411338" y="5083289"/>
            <a:ext cx="393038" cy="420702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11453882"/>
      </p:ext>
    </p:extLst>
  </p:cSld>
  <p:clrMapOvr>
    <a:masterClrMapping/>
  </p:clrMapOvr>
  <p:transition spd="slow">
    <p:wipe/>
  </p:transition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729924" y="314530"/>
            <a:ext cx="2140489" cy="468990"/>
          </a:xfrm>
          <a:prstGeom prst="rect">
            <a:avLst/>
          </a:prstGeom>
          <a:noFill/>
        </p:spPr>
        <p:txBody>
          <a:bodyPr wrap="none" lIns="98694" tIns="49347" rIns="98694" bIns="49347">
            <a:spAutoFit/>
          </a:bodyPr>
          <a:lstStyle/>
          <a:p>
            <a:pPr algn="ctr">
              <a:spcBef>
                <a:spcPts val="648"/>
              </a:spcBef>
            </a:pPr>
            <a:r>
              <a:rPr lang="en-US" altLang="ko-KR" sz="2400" b="1" dirty="0" err="1" smtClean="0">
                <a:solidFill>
                  <a:srgbClr val="0E0585"/>
                </a:solidFill>
              </a:rPr>
              <a:t>def</a:t>
            </a:r>
            <a:r>
              <a:rPr lang="en-US" altLang="ko-KR" sz="2400" b="1" dirty="0" smtClean="0">
                <a:solidFill>
                  <a:srgbClr val="0E0585"/>
                </a:solidFill>
              </a:rPr>
              <a:t> _evaluate</a:t>
            </a:r>
            <a:endParaRPr lang="en-US" altLang="ko-KR" sz="2400" b="1" dirty="0">
              <a:solidFill>
                <a:srgbClr val="0E0585"/>
              </a:solidFill>
            </a:endParaRPr>
          </a:p>
        </p:txBody>
      </p:sp>
      <p:sp>
        <p:nvSpPr>
          <p:cNvPr id="3" name="직사각형 2"/>
          <p:cNvSpPr/>
          <p:nvPr/>
        </p:nvSpPr>
        <p:spPr>
          <a:xfrm>
            <a:off x="729924" y="1288997"/>
            <a:ext cx="1526893" cy="393888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_evaluate()</a:t>
            </a:r>
            <a:endParaRPr lang="en-US" altLang="ko-KR" sz="105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2551611" y="1355136"/>
            <a:ext cx="803425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100" dirty="0" smtClean="0">
                <a:latin typeface="+mn-ea"/>
              </a:rPr>
              <a:t>engine.py</a:t>
            </a:r>
            <a:endParaRPr lang="ko-KR" altLang="en-US" sz="1100" dirty="0">
              <a:latin typeface="+mn-ea"/>
            </a:endParaRPr>
          </a:p>
        </p:txBody>
      </p:sp>
      <p:sp>
        <p:nvSpPr>
          <p:cNvPr id="5" name="직사각형 4"/>
          <p:cNvSpPr/>
          <p:nvPr/>
        </p:nvSpPr>
        <p:spPr>
          <a:xfrm>
            <a:off x="1762569" y="1867097"/>
            <a:ext cx="1578084" cy="387404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batch_time</a:t>
            </a:r>
            <a:r>
              <a:rPr lang="en-US" altLang="ko-KR" sz="105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= </a:t>
            </a:r>
            <a:r>
              <a:rPr lang="en-US" altLang="ko-KR" sz="105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AverageMeter</a:t>
            </a:r>
            <a:r>
              <a:rPr lang="en-US" altLang="ko-KR" sz="105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()</a:t>
            </a:r>
          </a:p>
        </p:txBody>
      </p:sp>
      <p:cxnSp>
        <p:nvCxnSpPr>
          <p:cNvPr id="6" name="꺾인 연결선 5"/>
          <p:cNvCxnSpPr>
            <a:stCxn id="3" idx="2"/>
            <a:endCxn id="5" idx="1"/>
          </p:cNvCxnSpPr>
          <p:nvPr/>
        </p:nvCxnSpPr>
        <p:spPr>
          <a:xfrm rot="16200000" flipH="1">
            <a:off x="1439013" y="1737243"/>
            <a:ext cx="377914" cy="269198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직사각형 9"/>
          <p:cNvSpPr/>
          <p:nvPr/>
        </p:nvSpPr>
        <p:spPr>
          <a:xfrm>
            <a:off x="1290502" y="2504852"/>
            <a:ext cx="2522218" cy="387404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qf</a:t>
            </a:r>
            <a:r>
              <a:rPr lang="en-US" altLang="ko-KR" sz="105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, </a:t>
            </a:r>
            <a:r>
              <a:rPr lang="en-US" altLang="ko-KR" sz="105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q_pids</a:t>
            </a:r>
            <a:r>
              <a:rPr lang="en-US" altLang="ko-KR" sz="105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, </a:t>
            </a:r>
            <a:r>
              <a:rPr lang="en-US" altLang="ko-KR" sz="105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q_camids</a:t>
            </a:r>
            <a:r>
              <a:rPr lang="en-US" altLang="ko-KR" sz="105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= _</a:t>
            </a:r>
            <a:r>
              <a:rPr lang="en-US" altLang="ko-KR" sz="105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feature_extraction</a:t>
            </a:r>
            <a:r>
              <a:rPr lang="en-US" altLang="ko-KR" sz="105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(</a:t>
            </a:r>
            <a:r>
              <a:rPr lang="en-US" altLang="ko-KR" sz="105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query_loader</a:t>
            </a:r>
            <a:r>
              <a:rPr lang="en-US" altLang="ko-KR" sz="105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)</a:t>
            </a:r>
          </a:p>
        </p:txBody>
      </p:sp>
      <p:cxnSp>
        <p:nvCxnSpPr>
          <p:cNvPr id="11" name="직선 화살표 연결선 10"/>
          <p:cNvCxnSpPr>
            <a:stCxn id="5" idx="2"/>
            <a:endCxn id="10" idx="0"/>
          </p:cNvCxnSpPr>
          <p:nvPr/>
        </p:nvCxnSpPr>
        <p:spPr>
          <a:xfrm>
            <a:off x="2551611" y="2254501"/>
            <a:ext cx="0" cy="25035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직사각형 13"/>
          <p:cNvSpPr/>
          <p:nvPr/>
        </p:nvSpPr>
        <p:spPr>
          <a:xfrm>
            <a:off x="4187623" y="1197974"/>
            <a:ext cx="5970789" cy="3231654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  <a:prstDash val="dash"/>
          </a:ln>
        </p:spPr>
        <p:txBody>
          <a:bodyPr wrap="square">
            <a:spAutoFit/>
          </a:bodyPr>
          <a:lstStyle/>
          <a:p>
            <a:r>
              <a:rPr lang="en-US" altLang="ko-KR" sz="1200" dirty="0" err="1">
                <a:solidFill>
                  <a:srgbClr val="569CD6"/>
                </a:solidFill>
                <a:latin typeface="Consolas" panose="020B0609020204030204" pitchFamily="49" charset="0"/>
              </a:rPr>
              <a:t>def</a:t>
            </a:r>
            <a:r>
              <a:rPr lang="en-US" altLang="ko-KR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200" dirty="0">
                <a:solidFill>
                  <a:schemeClr val="accent4">
                    <a:lumMod val="75000"/>
                  </a:schemeClr>
                </a:solidFill>
                <a:latin typeface="Consolas" panose="020B0609020204030204" pitchFamily="49" charset="0"/>
              </a:rPr>
              <a:t>_</a:t>
            </a:r>
            <a:r>
              <a:rPr lang="en-US" altLang="ko-KR" sz="1200" dirty="0" err="1">
                <a:solidFill>
                  <a:schemeClr val="accent4">
                    <a:lumMod val="75000"/>
                  </a:schemeClr>
                </a:solidFill>
                <a:latin typeface="Consolas" panose="020B0609020204030204" pitchFamily="49" charset="0"/>
              </a:rPr>
              <a:t>feature_extraction</a:t>
            </a:r>
            <a:r>
              <a:rPr lang="en-US" altLang="ko-KR" sz="12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altLang="ko-KR" sz="1200" dirty="0" err="1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data_loader</a:t>
            </a:r>
            <a:r>
              <a:rPr lang="en-US" altLang="ko-KR" sz="1200" dirty="0">
                <a:solidFill>
                  <a:srgbClr val="CCCCCC"/>
                </a:solidFill>
                <a:latin typeface="Consolas" panose="020B0609020204030204" pitchFamily="49" charset="0"/>
              </a:rPr>
              <a:t>):</a:t>
            </a:r>
          </a:p>
          <a:p>
            <a:r>
              <a:rPr lang="en-US" altLang="ko-KR" sz="12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    </a:t>
            </a:r>
            <a:r>
              <a:rPr lang="en-US" altLang="ko-KR" sz="1200" dirty="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f_</a:t>
            </a:r>
            <a:r>
              <a:rPr lang="en-US" altLang="ko-KR" sz="120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en-US" altLang="ko-KR" sz="1200" dirty="0" err="1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pids</a:t>
            </a:r>
            <a:r>
              <a:rPr lang="en-US" altLang="ko-KR" sz="1200" dirty="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_</a:t>
            </a:r>
            <a:r>
              <a:rPr lang="en-US" altLang="ko-KR" sz="120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en-US" altLang="ko-KR" sz="1200" dirty="0" err="1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camids</a:t>
            </a:r>
            <a:r>
              <a:rPr lang="en-US" altLang="ko-KR" sz="1200" dirty="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_</a:t>
            </a:r>
            <a:r>
              <a:rPr lang="en-US" altLang="ko-KR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2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en-US" altLang="ko-KR" sz="1200" dirty="0">
                <a:solidFill>
                  <a:srgbClr val="CCCCCC"/>
                </a:solidFill>
                <a:latin typeface="Consolas" panose="020B0609020204030204" pitchFamily="49" charset="0"/>
              </a:rPr>
              <a:t> [], [], []</a:t>
            </a:r>
          </a:p>
          <a:p>
            <a:r>
              <a:rPr lang="en-US" altLang="ko-KR" sz="12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    </a:t>
            </a:r>
            <a:r>
              <a:rPr lang="en-US" altLang="ko-KR" sz="1200" dirty="0">
                <a:solidFill>
                  <a:srgbClr val="C586C0"/>
                </a:solidFill>
                <a:latin typeface="Consolas" panose="020B0609020204030204" pitchFamily="49" charset="0"/>
              </a:rPr>
              <a:t>for</a:t>
            </a:r>
            <a:r>
              <a:rPr lang="en-US" altLang="ko-KR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200" dirty="0" err="1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batch_idx</a:t>
            </a:r>
            <a:r>
              <a:rPr lang="en-US" altLang="ko-KR" sz="120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en-US" altLang="ko-KR" sz="1200" dirty="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data</a:t>
            </a:r>
            <a:r>
              <a:rPr lang="en-US" altLang="ko-KR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200" dirty="0">
                <a:solidFill>
                  <a:srgbClr val="C586C0"/>
                </a:solidFill>
                <a:latin typeface="Consolas" panose="020B0609020204030204" pitchFamily="49" charset="0"/>
              </a:rPr>
              <a:t>in</a:t>
            </a:r>
            <a:r>
              <a:rPr lang="en-US" altLang="ko-KR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200" dirty="0">
                <a:solidFill>
                  <a:srgbClr val="4EC9B0"/>
                </a:solidFill>
                <a:latin typeface="Consolas" panose="020B0609020204030204" pitchFamily="49" charset="0"/>
              </a:rPr>
              <a:t>enumerate</a:t>
            </a:r>
            <a:r>
              <a:rPr lang="en-US" altLang="ko-KR" sz="12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altLang="ko-KR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data_loader</a:t>
            </a:r>
            <a:r>
              <a:rPr lang="en-US" altLang="ko-KR" sz="1200" dirty="0">
                <a:solidFill>
                  <a:srgbClr val="CCCCCC"/>
                </a:solidFill>
                <a:latin typeface="Consolas" panose="020B0609020204030204" pitchFamily="49" charset="0"/>
              </a:rPr>
              <a:t>):</a:t>
            </a:r>
          </a:p>
          <a:p>
            <a:r>
              <a:rPr lang="en-US" altLang="ko-KR" sz="12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        </a:t>
            </a:r>
            <a:r>
              <a:rPr lang="en-US" altLang="ko-KR" sz="1200" dirty="0" err="1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imgs</a:t>
            </a:r>
            <a:r>
              <a:rPr lang="en-US" altLang="ko-KR" sz="120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en-US" altLang="ko-KR" sz="1200" dirty="0" err="1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pids</a:t>
            </a:r>
            <a:r>
              <a:rPr lang="en-US" altLang="ko-KR" sz="120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en-US" altLang="ko-KR" sz="1200" dirty="0" err="1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camids</a:t>
            </a:r>
            <a:r>
              <a:rPr lang="en-US" altLang="ko-KR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2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en-US" altLang="ko-KR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200" dirty="0" err="1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self</a:t>
            </a:r>
            <a:r>
              <a:rPr lang="en-US" altLang="ko-KR" sz="1200" dirty="0" err="1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en-US" altLang="ko-KR" sz="1200" dirty="0" err="1">
                <a:solidFill>
                  <a:schemeClr val="accent4">
                    <a:lumMod val="75000"/>
                  </a:schemeClr>
                </a:solidFill>
                <a:latin typeface="Consolas" panose="020B0609020204030204" pitchFamily="49" charset="0"/>
              </a:rPr>
              <a:t>parse_data_for_eval</a:t>
            </a:r>
            <a:r>
              <a:rPr lang="en-US" altLang="ko-KR" sz="12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altLang="ko-KR" sz="1200" dirty="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data</a:t>
            </a:r>
            <a:r>
              <a:rPr lang="en-US" altLang="ko-KR" sz="1200" dirty="0">
                <a:solidFill>
                  <a:srgbClr val="CCCCCC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en-US" altLang="ko-KR" sz="12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        </a:t>
            </a:r>
            <a:r>
              <a:rPr lang="en-US" altLang="ko-KR" sz="1200" dirty="0">
                <a:solidFill>
                  <a:srgbClr val="C586C0"/>
                </a:solidFill>
                <a:latin typeface="Consolas" panose="020B0609020204030204" pitchFamily="49" charset="0"/>
              </a:rPr>
              <a:t>if</a:t>
            </a:r>
            <a:r>
              <a:rPr lang="en-US" altLang="ko-KR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200" dirty="0" err="1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self</a:t>
            </a:r>
            <a:r>
              <a:rPr lang="en-US" altLang="ko-KR" sz="1200" dirty="0" err="1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en-US" altLang="ko-KR" sz="1200" dirty="0" err="1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use_gpu</a:t>
            </a:r>
            <a:r>
              <a:rPr lang="en-US" altLang="ko-KR" sz="1200" dirty="0">
                <a:solidFill>
                  <a:srgbClr val="CCCCCC"/>
                </a:solidFill>
                <a:latin typeface="Consolas" panose="020B0609020204030204" pitchFamily="49" charset="0"/>
              </a:rPr>
              <a:t>:</a:t>
            </a:r>
          </a:p>
          <a:p>
            <a:r>
              <a:rPr lang="en-US" altLang="ko-KR" sz="12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            </a:t>
            </a:r>
            <a:r>
              <a:rPr lang="en-US" altLang="ko-KR" sz="1200" dirty="0" err="1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imgs</a:t>
            </a:r>
            <a:r>
              <a:rPr lang="en-US" altLang="ko-KR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2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en-US" altLang="ko-KR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200" dirty="0" err="1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imgs</a:t>
            </a:r>
            <a:r>
              <a:rPr lang="en-US" altLang="ko-KR" sz="1200" dirty="0" err="1">
                <a:solidFill>
                  <a:srgbClr val="CCCCCC"/>
                </a:solidFill>
                <a:latin typeface="Consolas" panose="020B0609020204030204" pitchFamily="49" charset="0"/>
              </a:rPr>
              <a:t>.cuda</a:t>
            </a:r>
            <a:r>
              <a:rPr lang="en-US" altLang="ko-KR" sz="1200" dirty="0">
                <a:solidFill>
                  <a:srgbClr val="CCCCCC"/>
                </a:solidFill>
                <a:latin typeface="Consolas" panose="020B0609020204030204" pitchFamily="49" charset="0"/>
              </a:rPr>
              <a:t>()</a:t>
            </a:r>
          </a:p>
          <a:p>
            <a:r>
              <a:rPr lang="en-US" altLang="ko-KR" sz="12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        </a:t>
            </a:r>
            <a:r>
              <a:rPr lang="en-US" altLang="ko-KR" sz="1200" dirty="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end</a:t>
            </a:r>
            <a:r>
              <a:rPr lang="en-US" altLang="ko-KR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2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en-US" altLang="ko-KR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200" dirty="0" err="1">
                <a:solidFill>
                  <a:srgbClr val="4EC9B0"/>
                </a:solidFill>
                <a:latin typeface="Consolas" panose="020B0609020204030204" pitchFamily="49" charset="0"/>
              </a:rPr>
              <a:t>time</a:t>
            </a:r>
            <a:r>
              <a:rPr lang="en-US" altLang="ko-KR" sz="1200" dirty="0" err="1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en-US" altLang="ko-KR" sz="1200" dirty="0" err="1">
                <a:solidFill>
                  <a:schemeClr val="accent4">
                    <a:lumMod val="75000"/>
                  </a:schemeClr>
                </a:solidFill>
                <a:latin typeface="Consolas" panose="020B0609020204030204" pitchFamily="49" charset="0"/>
              </a:rPr>
              <a:t>time</a:t>
            </a:r>
            <a:r>
              <a:rPr lang="en-US" altLang="ko-KR" sz="1200" dirty="0">
                <a:solidFill>
                  <a:srgbClr val="CCCCCC"/>
                </a:solidFill>
                <a:latin typeface="Consolas" panose="020B0609020204030204" pitchFamily="49" charset="0"/>
              </a:rPr>
              <a:t>()</a:t>
            </a:r>
          </a:p>
          <a:p>
            <a:r>
              <a:rPr lang="en-US" altLang="ko-KR" sz="12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        </a:t>
            </a:r>
            <a:r>
              <a:rPr lang="en-US" altLang="ko-KR" sz="1200" dirty="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features</a:t>
            </a:r>
            <a:r>
              <a:rPr lang="en-US" altLang="ko-KR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2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en-US" altLang="ko-KR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200" dirty="0" err="1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self</a:t>
            </a:r>
            <a:r>
              <a:rPr lang="en-US" altLang="ko-KR" sz="1200" dirty="0" err="1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en-US" altLang="ko-KR" sz="1200" dirty="0" err="1">
                <a:solidFill>
                  <a:schemeClr val="accent4">
                    <a:lumMod val="75000"/>
                  </a:schemeClr>
                </a:solidFill>
                <a:latin typeface="Consolas" panose="020B0609020204030204" pitchFamily="49" charset="0"/>
              </a:rPr>
              <a:t>extract_features</a:t>
            </a:r>
            <a:r>
              <a:rPr lang="en-US" altLang="ko-KR" sz="12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altLang="ko-KR" sz="1200" dirty="0" err="1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imgs</a:t>
            </a:r>
            <a:r>
              <a:rPr lang="en-US" altLang="ko-KR" sz="1200" dirty="0">
                <a:solidFill>
                  <a:srgbClr val="CCCCCC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en-US" altLang="ko-KR" sz="12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        </a:t>
            </a:r>
            <a:r>
              <a:rPr lang="en-US" altLang="ko-KR" sz="1200" dirty="0" err="1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batch_time</a:t>
            </a:r>
            <a:r>
              <a:rPr lang="en-US" altLang="ko-KR" sz="1200" dirty="0" err="1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en-US" altLang="ko-KR" sz="1200" dirty="0" err="1">
                <a:solidFill>
                  <a:schemeClr val="accent4">
                    <a:lumMod val="75000"/>
                  </a:schemeClr>
                </a:solidFill>
                <a:latin typeface="Consolas" panose="020B0609020204030204" pitchFamily="49" charset="0"/>
              </a:rPr>
              <a:t>update</a:t>
            </a:r>
            <a:r>
              <a:rPr lang="en-US" altLang="ko-KR" sz="12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altLang="ko-KR" sz="1200" dirty="0" err="1">
                <a:solidFill>
                  <a:srgbClr val="4EC9B0"/>
                </a:solidFill>
                <a:latin typeface="Consolas" panose="020B0609020204030204" pitchFamily="49" charset="0"/>
              </a:rPr>
              <a:t>time</a:t>
            </a:r>
            <a:r>
              <a:rPr lang="en-US" altLang="ko-KR" sz="1200" dirty="0" err="1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en-US" altLang="ko-KR" sz="1200" dirty="0" err="1">
                <a:solidFill>
                  <a:schemeClr val="accent4">
                    <a:lumMod val="75000"/>
                  </a:schemeClr>
                </a:solidFill>
                <a:latin typeface="Consolas" panose="020B0609020204030204" pitchFamily="49" charset="0"/>
              </a:rPr>
              <a:t>time</a:t>
            </a:r>
            <a:r>
              <a:rPr lang="en-US" altLang="ko-KR" sz="1200" dirty="0">
                <a:solidFill>
                  <a:srgbClr val="CCCCCC"/>
                </a:solidFill>
                <a:latin typeface="Consolas" panose="020B0609020204030204" pitchFamily="49" charset="0"/>
              </a:rPr>
              <a:t>() </a:t>
            </a:r>
            <a:r>
              <a:rPr lang="en-US" altLang="ko-KR" sz="1200" dirty="0">
                <a:solidFill>
                  <a:srgbClr val="D4D4D4"/>
                </a:solidFill>
                <a:latin typeface="Consolas" panose="020B0609020204030204" pitchFamily="49" charset="0"/>
              </a:rPr>
              <a:t>-</a:t>
            </a:r>
            <a:r>
              <a:rPr lang="en-US" altLang="ko-KR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200" dirty="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end</a:t>
            </a:r>
            <a:r>
              <a:rPr lang="en-US" altLang="ko-KR" sz="1200" dirty="0">
                <a:solidFill>
                  <a:srgbClr val="CCCCCC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en-US" altLang="ko-KR" sz="12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        </a:t>
            </a:r>
            <a:r>
              <a:rPr lang="en-US" altLang="ko-KR" sz="1200" dirty="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features</a:t>
            </a:r>
            <a:r>
              <a:rPr lang="en-US" altLang="ko-KR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2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en-US" altLang="ko-KR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200" dirty="0" err="1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features</a:t>
            </a:r>
            <a:r>
              <a:rPr lang="en-US" altLang="ko-KR" sz="1200" dirty="0" err="1">
                <a:solidFill>
                  <a:srgbClr val="CCCCCC"/>
                </a:solidFill>
                <a:latin typeface="Consolas" panose="020B0609020204030204" pitchFamily="49" charset="0"/>
              </a:rPr>
              <a:t>.cpu</a:t>
            </a:r>
            <a:r>
              <a:rPr lang="en-US" altLang="ko-KR" sz="1200" dirty="0">
                <a:solidFill>
                  <a:srgbClr val="CCCCCC"/>
                </a:solidFill>
                <a:latin typeface="Consolas" panose="020B0609020204030204" pitchFamily="49" charset="0"/>
              </a:rPr>
              <a:t>()</a:t>
            </a:r>
          </a:p>
          <a:p>
            <a:r>
              <a:rPr lang="en-US" altLang="ko-KR" sz="12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        </a:t>
            </a:r>
            <a:r>
              <a:rPr lang="en-US" altLang="ko-KR" sz="1200" dirty="0" err="1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f_</a:t>
            </a:r>
            <a:r>
              <a:rPr lang="en-US" altLang="ko-KR" sz="1200" dirty="0" err="1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en-US" altLang="ko-KR" sz="1200" dirty="0" err="1">
                <a:solidFill>
                  <a:schemeClr val="accent4">
                    <a:lumMod val="75000"/>
                  </a:schemeClr>
                </a:solidFill>
                <a:latin typeface="Consolas" panose="020B0609020204030204" pitchFamily="49" charset="0"/>
              </a:rPr>
              <a:t>append</a:t>
            </a:r>
            <a:r>
              <a:rPr lang="en-US" altLang="ko-KR" sz="12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altLang="ko-KR" sz="1200" dirty="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features</a:t>
            </a:r>
            <a:r>
              <a:rPr lang="en-US" altLang="ko-KR" sz="1200" dirty="0">
                <a:solidFill>
                  <a:srgbClr val="CCCCCC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en-US" altLang="ko-KR" sz="12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        </a:t>
            </a:r>
            <a:r>
              <a:rPr lang="en-US" altLang="ko-KR" sz="1200" dirty="0" err="1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pids</a:t>
            </a:r>
            <a:r>
              <a:rPr lang="en-US" altLang="ko-KR" sz="1200" dirty="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_</a:t>
            </a:r>
            <a:r>
              <a:rPr lang="en-US" altLang="ko-KR" sz="1200" dirty="0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en-US" altLang="ko-KR" sz="1200" dirty="0">
                <a:solidFill>
                  <a:schemeClr val="accent4">
                    <a:lumMod val="75000"/>
                  </a:schemeClr>
                </a:solidFill>
                <a:latin typeface="Consolas" panose="020B0609020204030204" pitchFamily="49" charset="0"/>
              </a:rPr>
              <a:t>extend</a:t>
            </a:r>
            <a:r>
              <a:rPr lang="en-US" altLang="ko-KR" sz="12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altLang="ko-KR" sz="1200" dirty="0" err="1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pids</a:t>
            </a:r>
            <a:r>
              <a:rPr lang="en-US" altLang="ko-KR" sz="1200" dirty="0" err="1">
                <a:solidFill>
                  <a:srgbClr val="CCCCCC"/>
                </a:solidFill>
                <a:latin typeface="Consolas" panose="020B0609020204030204" pitchFamily="49" charset="0"/>
              </a:rPr>
              <a:t>.tolist</a:t>
            </a:r>
            <a:r>
              <a:rPr lang="en-US" altLang="ko-KR" sz="1200" dirty="0">
                <a:solidFill>
                  <a:srgbClr val="CCCCCC"/>
                </a:solidFill>
                <a:latin typeface="Consolas" panose="020B0609020204030204" pitchFamily="49" charset="0"/>
              </a:rPr>
              <a:t>())</a:t>
            </a:r>
          </a:p>
          <a:p>
            <a:r>
              <a:rPr lang="en-US" altLang="ko-KR" sz="12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        </a:t>
            </a:r>
            <a:r>
              <a:rPr lang="en-US" altLang="ko-KR" sz="1200" dirty="0" err="1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camids</a:t>
            </a:r>
            <a:r>
              <a:rPr lang="en-US" altLang="ko-KR" sz="1200" dirty="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_</a:t>
            </a:r>
            <a:r>
              <a:rPr lang="en-US" altLang="ko-KR" sz="1200" dirty="0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en-US" altLang="ko-KR" sz="1200" dirty="0">
                <a:solidFill>
                  <a:schemeClr val="accent4">
                    <a:lumMod val="75000"/>
                  </a:schemeClr>
                </a:solidFill>
                <a:latin typeface="Consolas" panose="020B0609020204030204" pitchFamily="49" charset="0"/>
              </a:rPr>
              <a:t>extend</a:t>
            </a:r>
            <a:r>
              <a:rPr lang="en-US" altLang="ko-KR" sz="12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altLang="ko-KR" sz="1200" dirty="0" err="1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camids</a:t>
            </a:r>
            <a:r>
              <a:rPr lang="en-US" altLang="ko-KR" sz="1200" dirty="0" err="1">
                <a:solidFill>
                  <a:srgbClr val="CCCCCC"/>
                </a:solidFill>
                <a:latin typeface="Consolas" panose="020B0609020204030204" pitchFamily="49" charset="0"/>
              </a:rPr>
              <a:t>.tolist</a:t>
            </a:r>
            <a:r>
              <a:rPr lang="en-US" altLang="ko-KR" sz="1200" dirty="0">
                <a:solidFill>
                  <a:srgbClr val="CCCCCC"/>
                </a:solidFill>
                <a:latin typeface="Consolas" panose="020B0609020204030204" pitchFamily="49" charset="0"/>
              </a:rPr>
              <a:t>())</a:t>
            </a:r>
          </a:p>
          <a:p>
            <a:r>
              <a:rPr lang="en-US" altLang="ko-KR" sz="12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    </a:t>
            </a:r>
            <a:r>
              <a:rPr lang="en-US" altLang="ko-KR" sz="1200" dirty="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f_</a:t>
            </a:r>
            <a:r>
              <a:rPr lang="en-US" altLang="ko-KR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2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en-US" altLang="ko-KR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200" dirty="0">
                <a:solidFill>
                  <a:srgbClr val="4EC9B0"/>
                </a:solidFill>
                <a:latin typeface="Consolas" panose="020B0609020204030204" pitchFamily="49" charset="0"/>
              </a:rPr>
              <a:t>torch</a:t>
            </a:r>
            <a:r>
              <a:rPr lang="en-US" altLang="ko-KR" sz="1200" dirty="0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en-US" altLang="ko-KR" sz="1200" dirty="0">
                <a:solidFill>
                  <a:schemeClr val="accent4">
                    <a:lumMod val="75000"/>
                  </a:schemeClr>
                </a:solidFill>
                <a:latin typeface="Consolas" panose="020B0609020204030204" pitchFamily="49" charset="0"/>
              </a:rPr>
              <a:t>cat</a:t>
            </a:r>
            <a:r>
              <a:rPr lang="en-US" altLang="ko-KR" sz="12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altLang="ko-KR" sz="1200" dirty="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f_</a:t>
            </a:r>
            <a:r>
              <a:rPr lang="en-US" altLang="ko-KR" sz="120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en-US" altLang="ko-KR" sz="1200" dirty="0">
                <a:solidFill>
                  <a:srgbClr val="B5CEA8"/>
                </a:solidFill>
                <a:latin typeface="Consolas" panose="020B0609020204030204" pitchFamily="49" charset="0"/>
              </a:rPr>
              <a:t>0</a:t>
            </a:r>
            <a:r>
              <a:rPr lang="en-US" altLang="ko-KR" sz="1200" dirty="0">
                <a:solidFill>
                  <a:srgbClr val="CCCCCC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en-US" altLang="ko-KR" sz="12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    </a:t>
            </a:r>
            <a:r>
              <a:rPr lang="en-US" altLang="ko-KR" sz="1200" dirty="0" err="1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pids</a:t>
            </a:r>
            <a:r>
              <a:rPr lang="en-US" altLang="ko-KR" sz="1200" dirty="0">
                <a:solidFill>
                  <a:srgbClr val="9CDCFE"/>
                </a:solidFill>
                <a:latin typeface="Consolas" panose="020B0609020204030204" pitchFamily="49" charset="0"/>
              </a:rPr>
              <a:t>_</a:t>
            </a:r>
            <a:r>
              <a:rPr lang="en-US" altLang="ko-KR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2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en-US" altLang="ko-KR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200" dirty="0" err="1">
                <a:solidFill>
                  <a:srgbClr val="4EC9B0"/>
                </a:solidFill>
                <a:latin typeface="Consolas" panose="020B0609020204030204" pitchFamily="49" charset="0"/>
              </a:rPr>
              <a:t>np</a:t>
            </a:r>
            <a:r>
              <a:rPr lang="en-US" altLang="ko-KR" sz="1200" dirty="0" err="1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en-US" altLang="ko-KR" sz="1200" dirty="0" err="1">
                <a:solidFill>
                  <a:schemeClr val="accent4">
                    <a:lumMod val="75000"/>
                  </a:schemeClr>
                </a:solidFill>
                <a:latin typeface="Consolas" panose="020B0609020204030204" pitchFamily="49" charset="0"/>
              </a:rPr>
              <a:t>asarray</a:t>
            </a:r>
            <a:r>
              <a:rPr lang="en-US" altLang="ko-KR" sz="12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altLang="ko-KR" sz="1200" dirty="0" err="1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pids</a:t>
            </a:r>
            <a:r>
              <a:rPr lang="en-US" altLang="ko-KR" sz="1200" dirty="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_</a:t>
            </a:r>
            <a:r>
              <a:rPr lang="en-US" altLang="ko-KR" sz="1200" dirty="0">
                <a:solidFill>
                  <a:srgbClr val="CCCCCC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en-US" altLang="ko-KR" sz="12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    </a:t>
            </a:r>
            <a:r>
              <a:rPr lang="en-US" altLang="ko-KR" sz="1200" dirty="0" err="1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camids</a:t>
            </a:r>
            <a:r>
              <a:rPr lang="en-US" altLang="ko-KR" sz="1200" dirty="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_ </a:t>
            </a:r>
            <a:r>
              <a:rPr lang="en-US" altLang="ko-KR" sz="12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en-US" altLang="ko-KR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200" dirty="0" err="1" smtClean="0">
                <a:solidFill>
                  <a:srgbClr val="4EC9B0"/>
                </a:solidFill>
                <a:latin typeface="Consolas" panose="020B0609020204030204" pitchFamily="49" charset="0"/>
              </a:rPr>
              <a:t>np</a:t>
            </a:r>
            <a:r>
              <a:rPr lang="en-US" altLang="ko-KR" sz="1200" dirty="0" err="1" smtClean="0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en-US" altLang="ko-KR" sz="1200" dirty="0" err="1" smtClean="0">
                <a:solidFill>
                  <a:schemeClr val="accent4">
                    <a:lumMod val="75000"/>
                  </a:schemeClr>
                </a:solidFill>
                <a:latin typeface="Consolas" panose="020B0609020204030204" pitchFamily="49" charset="0"/>
              </a:rPr>
              <a:t>asarray</a:t>
            </a:r>
            <a:r>
              <a:rPr lang="en-US" altLang="ko-KR" sz="1200" dirty="0" smtClean="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(</a:t>
            </a:r>
            <a:r>
              <a:rPr lang="en-US" altLang="ko-KR" sz="1200" dirty="0" err="1" smtClean="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camids</a:t>
            </a:r>
            <a:r>
              <a:rPr lang="en-US" altLang="ko-KR" sz="1200" dirty="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_</a:t>
            </a:r>
            <a:r>
              <a:rPr lang="en-US" altLang="ko-KR" sz="1200" dirty="0">
                <a:solidFill>
                  <a:srgbClr val="CCCCCC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en-US" altLang="ko-KR" sz="12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    </a:t>
            </a:r>
            <a:r>
              <a:rPr lang="en-US" altLang="ko-KR" sz="1200" dirty="0">
                <a:solidFill>
                  <a:srgbClr val="C586C0"/>
                </a:solidFill>
                <a:latin typeface="Consolas" panose="020B0609020204030204" pitchFamily="49" charset="0"/>
              </a:rPr>
              <a:t>return</a:t>
            </a:r>
            <a:r>
              <a:rPr lang="en-US" altLang="ko-KR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200" dirty="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f_</a:t>
            </a:r>
            <a:r>
              <a:rPr lang="en-US" altLang="ko-KR" sz="120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en-US" altLang="ko-KR" sz="1200" dirty="0" err="1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pids</a:t>
            </a:r>
            <a:r>
              <a:rPr lang="en-US" altLang="ko-KR" sz="1200" dirty="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_</a:t>
            </a:r>
            <a:r>
              <a:rPr lang="en-US" altLang="ko-KR" sz="120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en-US" altLang="ko-KR" sz="1200" dirty="0" err="1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camids</a:t>
            </a:r>
            <a:r>
              <a:rPr lang="en-US" altLang="ko-KR" sz="1200" dirty="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_</a:t>
            </a:r>
            <a:endParaRPr lang="en-US" altLang="ko-KR" sz="1200" b="0" dirty="0">
              <a:solidFill>
                <a:schemeClr val="accent1">
                  <a:lumMod val="75000"/>
                </a:schemeClr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5" name="직사각형 14"/>
          <p:cNvSpPr/>
          <p:nvPr/>
        </p:nvSpPr>
        <p:spPr>
          <a:xfrm>
            <a:off x="8773123" y="2504852"/>
            <a:ext cx="2113952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100" dirty="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실질적인 </a:t>
            </a:r>
            <a:r>
              <a:rPr lang="en-US" altLang="ko-KR" sz="1100" dirty="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inference</a:t>
            </a:r>
            <a:r>
              <a:rPr lang="ko-KR" altLang="en-US" sz="1100" dirty="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하는 코드</a:t>
            </a:r>
            <a:endParaRPr lang="en-US" altLang="ko-KR" sz="1100" dirty="0">
              <a:solidFill>
                <a:srgbClr val="C00000"/>
              </a:solidFill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cxnSp>
        <p:nvCxnSpPr>
          <p:cNvPr id="16" name="구부러진 연결선 15"/>
          <p:cNvCxnSpPr>
            <a:stCxn id="10" idx="3"/>
          </p:cNvCxnSpPr>
          <p:nvPr/>
        </p:nvCxnSpPr>
        <p:spPr>
          <a:xfrm flipV="1">
            <a:off x="3812720" y="1414463"/>
            <a:ext cx="964068" cy="1284091"/>
          </a:xfrm>
          <a:prstGeom prst="curvedConnector2">
            <a:avLst/>
          </a:prstGeom>
          <a:ln>
            <a:solidFill>
              <a:srgbClr val="C00000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직사각형 18"/>
          <p:cNvSpPr/>
          <p:nvPr/>
        </p:nvSpPr>
        <p:spPr>
          <a:xfrm>
            <a:off x="1290502" y="3176687"/>
            <a:ext cx="2522218" cy="387404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gf, </a:t>
            </a:r>
            <a:r>
              <a:rPr lang="en-US" altLang="ko-KR" sz="105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g_pids</a:t>
            </a:r>
            <a:r>
              <a:rPr lang="en-US" altLang="ko-KR" sz="105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, </a:t>
            </a:r>
            <a:r>
              <a:rPr lang="en-US" altLang="ko-KR" sz="105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g_camids</a:t>
            </a:r>
            <a:r>
              <a:rPr lang="en-US" altLang="ko-KR" sz="105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= _</a:t>
            </a:r>
            <a:r>
              <a:rPr lang="en-US" altLang="ko-KR" sz="105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feature_extraction</a:t>
            </a:r>
            <a:r>
              <a:rPr lang="en-US" altLang="ko-KR" sz="105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(</a:t>
            </a:r>
            <a:r>
              <a:rPr lang="en-US" altLang="ko-KR" sz="105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gallery_loader</a:t>
            </a:r>
            <a:r>
              <a:rPr lang="en-US" altLang="ko-KR" sz="105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)</a:t>
            </a:r>
          </a:p>
        </p:txBody>
      </p:sp>
      <p:cxnSp>
        <p:nvCxnSpPr>
          <p:cNvPr id="20" name="직선 화살표 연결선 19"/>
          <p:cNvCxnSpPr>
            <a:stCxn id="10" idx="2"/>
            <a:endCxn id="19" idx="0"/>
          </p:cNvCxnSpPr>
          <p:nvPr/>
        </p:nvCxnSpPr>
        <p:spPr>
          <a:xfrm>
            <a:off x="2551611" y="2892256"/>
            <a:ext cx="0" cy="28443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직사각형 22"/>
          <p:cNvSpPr/>
          <p:nvPr/>
        </p:nvSpPr>
        <p:spPr>
          <a:xfrm>
            <a:off x="1119384" y="3917273"/>
            <a:ext cx="2864453" cy="387404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distmat</a:t>
            </a:r>
            <a:r>
              <a:rPr lang="en-US" altLang="ko-KR" sz="105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= </a:t>
            </a:r>
            <a:r>
              <a:rPr lang="en-US" altLang="ko-KR" sz="105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metrics.compute_distance_matrix</a:t>
            </a:r>
            <a:r>
              <a:rPr lang="en-US" altLang="ko-KR" sz="105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(</a:t>
            </a:r>
            <a:r>
              <a:rPr lang="en-US" altLang="ko-KR" sz="105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qf</a:t>
            </a:r>
            <a:r>
              <a:rPr lang="en-US" altLang="ko-KR" sz="105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, gf, </a:t>
            </a:r>
            <a:r>
              <a:rPr lang="en-US" altLang="ko-KR" sz="105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dist_metric</a:t>
            </a:r>
            <a:r>
              <a:rPr lang="en-US" altLang="ko-KR" sz="105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)</a:t>
            </a:r>
          </a:p>
        </p:txBody>
      </p:sp>
      <p:cxnSp>
        <p:nvCxnSpPr>
          <p:cNvPr id="24" name="직선 화살표 연결선 23"/>
          <p:cNvCxnSpPr>
            <a:stCxn id="19" idx="2"/>
            <a:endCxn id="23" idx="0"/>
          </p:cNvCxnSpPr>
          <p:nvPr/>
        </p:nvCxnSpPr>
        <p:spPr>
          <a:xfrm>
            <a:off x="2551611" y="3564091"/>
            <a:ext cx="0" cy="35318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직사각형 29"/>
          <p:cNvSpPr/>
          <p:nvPr/>
        </p:nvSpPr>
        <p:spPr>
          <a:xfrm>
            <a:off x="2842083" y="4358084"/>
            <a:ext cx="2487294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100" dirty="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query</a:t>
            </a:r>
            <a:r>
              <a:rPr lang="ko-KR" altLang="en-US" sz="1100" dirty="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와 </a:t>
            </a:r>
            <a:r>
              <a:rPr lang="en-US" altLang="ko-KR" sz="1100" dirty="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gallery</a:t>
            </a:r>
            <a:r>
              <a:rPr lang="ko-KR" altLang="en-US" sz="1100" dirty="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사이의 차이를 구함</a:t>
            </a:r>
            <a:endParaRPr lang="en-US" altLang="ko-KR" sz="1100" dirty="0">
              <a:solidFill>
                <a:srgbClr val="C00000"/>
              </a:solidFill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sp>
        <p:nvSpPr>
          <p:cNvPr id="31" name="직사각형 30"/>
          <p:cNvSpPr/>
          <p:nvPr/>
        </p:nvSpPr>
        <p:spPr>
          <a:xfrm>
            <a:off x="4294754" y="4687484"/>
            <a:ext cx="5343525" cy="461665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altLang="ko-KR" sz="1200" dirty="0">
                <a:solidFill>
                  <a:srgbClr val="C586C0"/>
                </a:solidFill>
                <a:latin typeface="Consolas" panose="020B0609020204030204" pitchFamily="49" charset="0"/>
              </a:rPr>
              <a:t>if</a:t>
            </a:r>
            <a:r>
              <a:rPr lang="en-US" altLang="ko-KR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200" dirty="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metric</a:t>
            </a:r>
            <a:r>
              <a:rPr lang="en-US" altLang="ko-KR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200" dirty="0">
                <a:solidFill>
                  <a:srgbClr val="D4D4D4"/>
                </a:solidFill>
                <a:latin typeface="Consolas" panose="020B0609020204030204" pitchFamily="49" charset="0"/>
              </a:rPr>
              <a:t>==</a:t>
            </a:r>
            <a:r>
              <a:rPr lang="en-US" altLang="ko-KR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200" dirty="0">
                <a:solidFill>
                  <a:srgbClr val="CE9178"/>
                </a:solidFill>
                <a:latin typeface="Consolas" panose="020B0609020204030204" pitchFamily="49" charset="0"/>
              </a:rPr>
              <a:t>'</a:t>
            </a:r>
            <a:r>
              <a:rPr lang="en-US" altLang="ko-KR" sz="1200" dirty="0" err="1">
                <a:solidFill>
                  <a:srgbClr val="CE9178"/>
                </a:solidFill>
                <a:latin typeface="Consolas" panose="020B0609020204030204" pitchFamily="49" charset="0"/>
              </a:rPr>
              <a:t>euclidean</a:t>
            </a:r>
            <a:r>
              <a:rPr lang="en-US" altLang="ko-KR" sz="1200" dirty="0">
                <a:solidFill>
                  <a:srgbClr val="CE9178"/>
                </a:solidFill>
                <a:latin typeface="Consolas" panose="020B0609020204030204" pitchFamily="49" charset="0"/>
              </a:rPr>
              <a:t>'</a:t>
            </a:r>
            <a:r>
              <a:rPr lang="en-US" altLang="ko-KR" sz="1200" dirty="0">
                <a:solidFill>
                  <a:srgbClr val="CCCCCC"/>
                </a:solidFill>
                <a:latin typeface="Consolas" panose="020B0609020204030204" pitchFamily="49" charset="0"/>
              </a:rPr>
              <a:t>:</a:t>
            </a:r>
          </a:p>
          <a:p>
            <a:r>
              <a:rPr lang="en-US" altLang="ko-KR" sz="12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en-US" altLang="ko-KR" sz="1200" dirty="0" err="1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distmat</a:t>
            </a:r>
            <a:r>
              <a:rPr lang="en-US" altLang="ko-KR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2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en-US" altLang="ko-KR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200" dirty="0" err="1">
                <a:solidFill>
                  <a:schemeClr val="accent4">
                    <a:lumMod val="75000"/>
                  </a:schemeClr>
                </a:solidFill>
                <a:latin typeface="Consolas" panose="020B0609020204030204" pitchFamily="49" charset="0"/>
              </a:rPr>
              <a:t>euclidean_squared_distance</a:t>
            </a:r>
            <a:r>
              <a:rPr lang="en-US" altLang="ko-KR" sz="12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altLang="ko-KR" sz="1200" dirty="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input1</a:t>
            </a:r>
            <a:r>
              <a:rPr lang="en-US" altLang="ko-KR" sz="120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en-US" altLang="ko-KR" sz="1200" dirty="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input2</a:t>
            </a:r>
            <a:r>
              <a:rPr lang="en-US" altLang="ko-KR" sz="1200" dirty="0">
                <a:solidFill>
                  <a:srgbClr val="CCCCCC"/>
                </a:solidFill>
                <a:latin typeface="Consolas" panose="020B0609020204030204" pitchFamily="49" charset="0"/>
              </a:rPr>
              <a:t>)</a:t>
            </a:r>
            <a:endParaRPr lang="en-US" altLang="ko-KR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cxnSp>
        <p:nvCxnSpPr>
          <p:cNvPr id="32" name="구부러진 연결선 31"/>
          <p:cNvCxnSpPr>
            <a:stCxn id="23" idx="3"/>
          </p:cNvCxnSpPr>
          <p:nvPr/>
        </p:nvCxnSpPr>
        <p:spPr>
          <a:xfrm>
            <a:off x="3983837" y="4110975"/>
            <a:ext cx="882308" cy="908065"/>
          </a:xfrm>
          <a:prstGeom prst="curvedConnector2">
            <a:avLst/>
          </a:prstGeom>
          <a:ln>
            <a:solidFill>
              <a:srgbClr val="C00000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직사각형 34"/>
          <p:cNvSpPr/>
          <p:nvPr/>
        </p:nvSpPr>
        <p:spPr>
          <a:xfrm>
            <a:off x="6538351" y="4656706"/>
            <a:ext cx="1269331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100" dirty="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내부적 동작 코드</a:t>
            </a:r>
            <a:endParaRPr lang="en-US" altLang="ko-KR" sz="1100" dirty="0">
              <a:solidFill>
                <a:srgbClr val="C00000"/>
              </a:solidFill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822703885"/>
      </p:ext>
    </p:extLst>
  </p:cSld>
  <p:clrMapOvr>
    <a:masterClrMapping/>
  </p:clrMapOvr>
  <p:transition spd="slow">
    <p:wipe/>
  </p:transition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729093" y="314530"/>
            <a:ext cx="2142155" cy="468990"/>
          </a:xfrm>
          <a:prstGeom prst="rect">
            <a:avLst/>
          </a:prstGeom>
          <a:noFill/>
        </p:spPr>
        <p:txBody>
          <a:bodyPr wrap="none" lIns="98694" tIns="49347" rIns="98694" bIns="49347">
            <a:spAutoFit/>
          </a:bodyPr>
          <a:lstStyle/>
          <a:p>
            <a:pPr algn="ctr">
              <a:spcBef>
                <a:spcPts val="648"/>
              </a:spcBef>
            </a:pPr>
            <a:r>
              <a:rPr lang="en-US" altLang="ko-KR" sz="2400" b="1" dirty="0" smtClean="0">
                <a:solidFill>
                  <a:srgbClr val="0E0585"/>
                </a:solidFill>
              </a:rPr>
              <a:t>loss, </a:t>
            </a:r>
            <a:r>
              <a:rPr lang="en-US" altLang="ko-KR" sz="2400" b="1" dirty="0" err="1" smtClean="0">
                <a:solidFill>
                  <a:srgbClr val="0E0585"/>
                </a:solidFill>
              </a:rPr>
              <a:t>acc</a:t>
            </a:r>
            <a:r>
              <a:rPr lang="en-US" altLang="ko-KR" sz="2400" b="1" dirty="0" smtClean="0">
                <a:solidFill>
                  <a:srgbClr val="0E0585"/>
                </a:solidFill>
              </a:rPr>
              <a:t> </a:t>
            </a:r>
            <a:r>
              <a:rPr lang="ko-KR" altLang="en-US" sz="2400" b="1" dirty="0" smtClean="0">
                <a:solidFill>
                  <a:srgbClr val="0E0585"/>
                </a:solidFill>
              </a:rPr>
              <a:t>계산</a:t>
            </a:r>
            <a:endParaRPr lang="en-US" altLang="ko-KR" sz="2400" b="1" dirty="0">
              <a:solidFill>
                <a:srgbClr val="0E0585"/>
              </a:solidFill>
            </a:endParaRPr>
          </a:p>
        </p:txBody>
      </p:sp>
      <p:sp>
        <p:nvSpPr>
          <p:cNvPr id="3" name="직사각형 2"/>
          <p:cNvSpPr/>
          <p:nvPr/>
        </p:nvSpPr>
        <p:spPr>
          <a:xfrm>
            <a:off x="2123646" y="1908323"/>
            <a:ext cx="2061439" cy="447491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outputs = </a:t>
            </a:r>
            <a:r>
              <a:rPr lang="en-US" altLang="ko-KR" sz="105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self.model</a:t>
            </a:r>
            <a:r>
              <a:rPr lang="en-US" altLang="ko-KR" sz="105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(</a:t>
            </a:r>
            <a:r>
              <a:rPr lang="en-US" altLang="ko-KR" sz="105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imgs</a:t>
            </a:r>
            <a:r>
              <a:rPr lang="en-US" altLang="ko-KR" sz="105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))</a:t>
            </a:r>
          </a:p>
        </p:txBody>
      </p:sp>
      <p:sp>
        <p:nvSpPr>
          <p:cNvPr id="4" name="직사각형 3"/>
          <p:cNvSpPr/>
          <p:nvPr/>
        </p:nvSpPr>
        <p:spPr>
          <a:xfrm>
            <a:off x="885218" y="1363493"/>
            <a:ext cx="1673262" cy="367276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 dirty="0" err="1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forward_backward</a:t>
            </a:r>
            <a:endParaRPr lang="en-US" altLang="ko-KR" sz="140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cxnSp>
        <p:nvCxnSpPr>
          <p:cNvPr id="5" name="꺾인 연결선 4"/>
          <p:cNvCxnSpPr>
            <a:stCxn id="4" idx="2"/>
            <a:endCxn id="3" idx="1"/>
          </p:cNvCxnSpPr>
          <p:nvPr/>
        </p:nvCxnSpPr>
        <p:spPr>
          <a:xfrm rot="16200000" flipH="1">
            <a:off x="1722097" y="1730520"/>
            <a:ext cx="401300" cy="401797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직사각형 7"/>
          <p:cNvSpPr/>
          <p:nvPr/>
        </p:nvSpPr>
        <p:spPr>
          <a:xfrm>
            <a:off x="2134973" y="2688382"/>
            <a:ext cx="2061439" cy="447491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 dirty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loss = </a:t>
            </a:r>
            <a:r>
              <a:rPr lang="en-US" altLang="ko-KR" sz="1050" dirty="0" err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self.compute_loss</a:t>
            </a:r>
            <a:endParaRPr lang="en-US" altLang="ko-KR" sz="105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cxnSp>
        <p:nvCxnSpPr>
          <p:cNvPr id="9" name="직선 화살표 연결선 8"/>
          <p:cNvCxnSpPr>
            <a:stCxn id="3" idx="2"/>
            <a:endCxn id="8" idx="0"/>
          </p:cNvCxnSpPr>
          <p:nvPr/>
        </p:nvCxnSpPr>
        <p:spPr>
          <a:xfrm>
            <a:off x="3154366" y="2355814"/>
            <a:ext cx="11327" cy="33256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직사각형 13"/>
          <p:cNvSpPr/>
          <p:nvPr/>
        </p:nvSpPr>
        <p:spPr>
          <a:xfrm>
            <a:off x="1196468" y="5448841"/>
            <a:ext cx="6955276" cy="10772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600" dirty="0" err="1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loss_summary</a:t>
            </a:r>
            <a:r>
              <a:rPr lang="en-US" altLang="ko-KR" sz="16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600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= {</a:t>
            </a:r>
          </a:p>
          <a:p>
            <a:r>
              <a:rPr lang="en-US" altLang="ko-KR" sz="16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    </a:t>
            </a:r>
            <a:r>
              <a:rPr lang="en-US" altLang="ko-KR" sz="1600" dirty="0">
                <a:solidFill>
                  <a:srgbClr val="CE9178"/>
                </a:solidFill>
                <a:latin typeface="Consolas" panose="020B0609020204030204" pitchFamily="49" charset="0"/>
              </a:rPr>
              <a:t>'loss'</a:t>
            </a:r>
            <a:r>
              <a:rPr lang="en-US" altLang="ko-KR" sz="1600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:</a:t>
            </a:r>
            <a:r>
              <a:rPr lang="en-US" altLang="ko-KR" sz="16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600" dirty="0" err="1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loss</a:t>
            </a:r>
            <a:r>
              <a:rPr lang="en-US" altLang="ko-KR" sz="16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.item</a:t>
            </a:r>
            <a:r>
              <a:rPr lang="en-US" altLang="ko-KR" sz="1600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(),</a:t>
            </a:r>
          </a:p>
          <a:p>
            <a:r>
              <a:rPr lang="en-US" altLang="ko-KR" sz="16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    </a:t>
            </a:r>
            <a:r>
              <a:rPr lang="en-US" altLang="ko-KR" sz="1600" dirty="0">
                <a:solidFill>
                  <a:srgbClr val="CE9178"/>
                </a:solidFill>
                <a:latin typeface="Consolas" panose="020B0609020204030204" pitchFamily="49" charset="0"/>
              </a:rPr>
              <a:t>'</a:t>
            </a:r>
            <a:r>
              <a:rPr lang="en-US" altLang="ko-KR" sz="1600" dirty="0" err="1">
                <a:solidFill>
                  <a:srgbClr val="CE9178"/>
                </a:solidFill>
                <a:latin typeface="Consolas" panose="020B0609020204030204" pitchFamily="49" charset="0"/>
              </a:rPr>
              <a:t>acc</a:t>
            </a:r>
            <a:r>
              <a:rPr lang="en-US" altLang="ko-KR" sz="1600" dirty="0">
                <a:solidFill>
                  <a:srgbClr val="CE9178"/>
                </a:solidFill>
                <a:latin typeface="Consolas" panose="020B0609020204030204" pitchFamily="49" charset="0"/>
              </a:rPr>
              <a:t>'</a:t>
            </a:r>
            <a:r>
              <a:rPr lang="en-US" altLang="ko-KR" sz="1600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:</a:t>
            </a:r>
            <a:r>
              <a:rPr lang="en-US" altLang="ko-KR" sz="16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600" dirty="0" err="1">
                <a:solidFill>
                  <a:srgbClr val="4EC9B0"/>
                </a:solidFill>
                <a:latin typeface="Consolas" panose="020B0609020204030204" pitchFamily="49" charset="0"/>
              </a:rPr>
              <a:t>metrics</a:t>
            </a:r>
            <a:r>
              <a:rPr lang="en-US" altLang="ko-KR" sz="1600" dirty="0" err="1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en-US" altLang="ko-KR" sz="1600" dirty="0" err="1">
                <a:solidFill>
                  <a:srgbClr val="4EC9B0"/>
                </a:solidFill>
                <a:latin typeface="Consolas" panose="020B0609020204030204" pitchFamily="49" charset="0"/>
              </a:rPr>
              <a:t>accuracy</a:t>
            </a:r>
            <a:r>
              <a:rPr lang="en-US" altLang="ko-KR" sz="1600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(</a:t>
            </a:r>
            <a:r>
              <a:rPr lang="en-US" altLang="ko-KR" sz="1600" dirty="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outputs</a:t>
            </a:r>
            <a:r>
              <a:rPr lang="en-US" altLang="ko-KR" sz="1600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,</a:t>
            </a:r>
            <a:r>
              <a:rPr lang="en-US" altLang="ko-KR" sz="16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600" dirty="0" err="1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pids</a:t>
            </a:r>
            <a:r>
              <a:rPr lang="en-US" altLang="ko-KR" sz="1600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)[</a:t>
            </a:r>
            <a:r>
              <a:rPr lang="en-US" altLang="ko-KR" sz="1600" dirty="0">
                <a:solidFill>
                  <a:srgbClr val="B5CEA8"/>
                </a:solidFill>
                <a:latin typeface="Consolas" panose="020B0609020204030204" pitchFamily="49" charset="0"/>
              </a:rPr>
              <a:t>0</a:t>
            </a:r>
            <a:r>
              <a:rPr lang="en-US" altLang="ko-KR" sz="1600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].item()</a:t>
            </a:r>
          </a:p>
          <a:p>
            <a:r>
              <a:rPr lang="en-US" altLang="ko-KR" sz="1600" dirty="0">
                <a:solidFill>
                  <a:srgbClr val="CCCCCC"/>
                </a:solidFill>
                <a:latin typeface="Consolas" panose="020B0609020204030204" pitchFamily="49" charset="0"/>
              </a:rPr>
              <a:t>       </a:t>
            </a:r>
            <a:r>
              <a:rPr lang="en-US" altLang="ko-KR" sz="1600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 }</a:t>
            </a:r>
            <a:endParaRPr lang="en-US" altLang="ko-KR" sz="1600" b="0" dirty="0">
              <a:solidFill>
                <a:schemeClr val="tx1">
                  <a:lumMod val="50000"/>
                  <a:lumOff val="50000"/>
                </a:schemeClr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5" name="직사각형 14"/>
          <p:cNvSpPr/>
          <p:nvPr/>
        </p:nvSpPr>
        <p:spPr>
          <a:xfrm>
            <a:off x="2134973" y="3486011"/>
            <a:ext cx="2061439" cy="447491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 dirty="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return </a:t>
            </a:r>
            <a:r>
              <a:rPr lang="en-US" altLang="ko-KR" sz="1050" dirty="0" err="1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loss_summary</a:t>
            </a:r>
            <a:endParaRPr lang="en-US" altLang="ko-KR" sz="1050" dirty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cxnSp>
        <p:nvCxnSpPr>
          <p:cNvPr id="16" name="직선 화살표 연결선 15"/>
          <p:cNvCxnSpPr>
            <a:stCxn id="8" idx="2"/>
            <a:endCxn id="15" idx="0"/>
          </p:cNvCxnSpPr>
          <p:nvPr/>
        </p:nvCxnSpPr>
        <p:spPr>
          <a:xfrm>
            <a:off x="3165693" y="3135873"/>
            <a:ext cx="0" cy="35013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구부러진 연결선 19"/>
          <p:cNvCxnSpPr>
            <a:stCxn id="15" idx="3"/>
          </p:cNvCxnSpPr>
          <p:nvPr/>
        </p:nvCxnSpPr>
        <p:spPr>
          <a:xfrm flipH="1">
            <a:off x="2343573" y="3709757"/>
            <a:ext cx="1852839" cy="1810510"/>
          </a:xfrm>
          <a:prstGeom prst="curvedConnector3">
            <a:avLst>
              <a:gd name="adj1" fmla="val -12338"/>
            </a:avLst>
          </a:prstGeom>
          <a:ln>
            <a:solidFill>
              <a:srgbClr val="C00000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직사각형 22"/>
          <p:cNvSpPr/>
          <p:nvPr/>
        </p:nvSpPr>
        <p:spPr>
          <a:xfrm>
            <a:off x="4308345" y="1970818"/>
            <a:ext cx="6332561" cy="34778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100" dirty="0" err="1">
                <a:solidFill>
                  <a:srgbClr val="569CD6"/>
                </a:solidFill>
                <a:latin typeface="Consolas" panose="020B0609020204030204" pitchFamily="49" charset="0"/>
              </a:rPr>
              <a:t>def</a:t>
            </a:r>
            <a: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100" dirty="0">
                <a:solidFill>
                  <a:schemeClr val="accent4">
                    <a:lumMod val="75000"/>
                  </a:schemeClr>
                </a:solidFill>
                <a:latin typeface="Consolas" panose="020B0609020204030204" pitchFamily="49" charset="0"/>
              </a:rPr>
              <a:t>accuracy</a:t>
            </a:r>
            <a: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altLang="ko-KR" sz="1100" dirty="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output</a:t>
            </a:r>
            <a: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en-US" altLang="ko-KR" sz="1100" dirty="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target</a:t>
            </a:r>
            <a: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en-US" altLang="ko-KR" sz="1100" dirty="0" err="1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topk</a:t>
            </a:r>
            <a:r>
              <a:rPr lang="en-US" altLang="ko-KR" sz="11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altLang="ko-KR" sz="1100" dirty="0">
                <a:solidFill>
                  <a:srgbClr val="B5CEA8"/>
                </a:solidFill>
                <a:latin typeface="Consolas" panose="020B0609020204030204" pitchFamily="49" charset="0"/>
              </a:rPr>
              <a:t>1</a:t>
            </a:r>
            <a: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  <a:t>, )):</a:t>
            </a:r>
          </a:p>
          <a:p>
            <a: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US" altLang="ko-KR" sz="1100" dirty="0">
                <a:solidFill>
                  <a:srgbClr val="CE9178"/>
                </a:solidFill>
                <a:latin typeface="Consolas" panose="020B0609020204030204" pitchFamily="49" charset="0"/>
              </a:rPr>
              <a:t>"""Computes the accuracy over the k top predictions for</a:t>
            </a:r>
            <a:endParaRPr lang="en-US" altLang="ko-KR" sz="11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r>
              <a:rPr lang="en-US" altLang="ko-KR" sz="1100" dirty="0">
                <a:solidFill>
                  <a:srgbClr val="CE9178"/>
                </a:solidFill>
                <a:latin typeface="Consolas" panose="020B0609020204030204" pitchFamily="49" charset="0"/>
              </a:rPr>
              <a:t>    the specified values of k.</a:t>
            </a:r>
            <a:endParaRPr lang="en-US" altLang="ko-KR" sz="11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US" altLang="ko-KR" sz="1100" dirty="0" err="1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maxk</a:t>
            </a:r>
            <a: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1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100" dirty="0">
                <a:solidFill>
                  <a:srgbClr val="DCDCAA"/>
                </a:solidFill>
                <a:latin typeface="Consolas" panose="020B0609020204030204" pitchFamily="49" charset="0"/>
              </a:rPr>
              <a:t>max</a:t>
            </a:r>
            <a: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altLang="ko-KR" sz="1100" dirty="0" err="1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topk</a:t>
            </a:r>
            <a: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US" altLang="ko-KR" sz="1100" dirty="0" err="1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batch_size</a:t>
            </a:r>
            <a: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1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100" dirty="0" err="1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target</a:t>
            </a:r>
            <a:r>
              <a:rPr lang="en-US" altLang="ko-KR" sz="1100" dirty="0" err="1">
                <a:solidFill>
                  <a:srgbClr val="CCCCCC"/>
                </a:solidFill>
                <a:latin typeface="Consolas" panose="020B0609020204030204" pitchFamily="49" charset="0"/>
              </a:rPr>
              <a:t>.size</a:t>
            </a:r>
            <a: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altLang="ko-KR" sz="1100" dirty="0">
                <a:solidFill>
                  <a:srgbClr val="B5CEA8"/>
                </a:solidFill>
                <a:latin typeface="Consolas" panose="020B0609020204030204" pitchFamily="49" charset="0"/>
              </a:rPr>
              <a:t>0</a:t>
            </a:r>
            <a: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  <a:t/>
            </a:r>
            <a:b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</a:br>
            <a: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US" altLang="ko-KR" sz="1100" dirty="0">
                <a:solidFill>
                  <a:srgbClr val="C586C0"/>
                </a:solidFill>
                <a:latin typeface="Consolas" panose="020B0609020204030204" pitchFamily="49" charset="0"/>
              </a:rPr>
              <a:t>if</a:t>
            </a:r>
            <a: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100" dirty="0" err="1">
                <a:solidFill>
                  <a:srgbClr val="DCDCAA"/>
                </a:solidFill>
                <a:latin typeface="Consolas" panose="020B0609020204030204" pitchFamily="49" charset="0"/>
              </a:rPr>
              <a:t>isinstance</a:t>
            </a:r>
            <a: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altLang="ko-KR" sz="1100" dirty="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output</a:t>
            </a:r>
            <a: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  <a:t>, (</a:t>
            </a:r>
            <a:r>
              <a:rPr lang="en-US" altLang="ko-KR" sz="1100" dirty="0">
                <a:solidFill>
                  <a:srgbClr val="4EC9B0"/>
                </a:solidFill>
                <a:latin typeface="Consolas" panose="020B0609020204030204" pitchFamily="49" charset="0"/>
              </a:rPr>
              <a:t>tuple</a:t>
            </a:r>
            <a: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en-US" altLang="ko-KR" sz="1100" dirty="0">
                <a:solidFill>
                  <a:srgbClr val="4EC9B0"/>
                </a:solidFill>
                <a:latin typeface="Consolas" panose="020B0609020204030204" pitchFamily="49" charset="0"/>
              </a:rPr>
              <a:t>list</a:t>
            </a:r>
            <a: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  <a:t>)):</a:t>
            </a:r>
          </a:p>
          <a:p>
            <a: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en-US" altLang="ko-KR" sz="1100" dirty="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output</a:t>
            </a:r>
            <a: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1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100" dirty="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output</a:t>
            </a:r>
            <a: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  <a:t>[</a:t>
            </a:r>
            <a:r>
              <a:rPr lang="en-US" altLang="ko-KR" sz="1100" dirty="0">
                <a:solidFill>
                  <a:srgbClr val="B5CEA8"/>
                </a:solidFill>
                <a:latin typeface="Consolas" panose="020B0609020204030204" pitchFamily="49" charset="0"/>
              </a:rPr>
              <a:t>0</a:t>
            </a:r>
            <a: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  <a:t>]</a:t>
            </a:r>
          </a:p>
          <a:p>
            <a: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  <a:t/>
            </a:r>
            <a:b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</a:br>
            <a: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US" altLang="ko-KR" sz="1100" dirty="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_</a:t>
            </a:r>
            <a: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en-US" altLang="ko-KR" sz="1100" dirty="0" err="1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pred</a:t>
            </a:r>
            <a: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1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100" dirty="0" err="1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output</a:t>
            </a:r>
            <a:r>
              <a:rPr lang="en-US" altLang="ko-KR" sz="1100" dirty="0" err="1">
                <a:solidFill>
                  <a:srgbClr val="CCCCCC"/>
                </a:solidFill>
                <a:latin typeface="Consolas" panose="020B0609020204030204" pitchFamily="49" charset="0"/>
              </a:rPr>
              <a:t>.topk</a:t>
            </a:r>
            <a: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altLang="ko-KR" sz="1100" dirty="0" err="1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maxk</a:t>
            </a:r>
            <a: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en-US" altLang="ko-KR" sz="1100" dirty="0">
                <a:solidFill>
                  <a:srgbClr val="B5CEA8"/>
                </a:solidFill>
                <a:latin typeface="Consolas" panose="020B0609020204030204" pitchFamily="49" charset="0"/>
              </a:rPr>
              <a:t>1</a:t>
            </a:r>
            <a: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en-US" altLang="ko-KR" sz="1100" dirty="0">
                <a:solidFill>
                  <a:srgbClr val="569CD6"/>
                </a:solidFill>
                <a:latin typeface="Consolas" panose="020B0609020204030204" pitchFamily="49" charset="0"/>
              </a:rPr>
              <a:t>True</a:t>
            </a:r>
            <a: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en-US" altLang="ko-KR" sz="1100" dirty="0">
                <a:solidFill>
                  <a:srgbClr val="569CD6"/>
                </a:solidFill>
                <a:latin typeface="Consolas" panose="020B0609020204030204" pitchFamily="49" charset="0"/>
              </a:rPr>
              <a:t>True</a:t>
            </a:r>
            <a: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US" altLang="ko-KR" sz="1100" dirty="0" err="1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pred</a:t>
            </a:r>
            <a: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1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100" dirty="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pred</a:t>
            </a:r>
            <a: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  <a:t>.t()</a:t>
            </a:r>
          </a:p>
          <a:p>
            <a: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US" altLang="ko-KR" sz="1100" dirty="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correct</a:t>
            </a:r>
            <a: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1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100" dirty="0" err="1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pred</a:t>
            </a:r>
            <a:r>
              <a:rPr lang="en-US" altLang="ko-KR" sz="1100" dirty="0" err="1">
                <a:solidFill>
                  <a:srgbClr val="CCCCCC"/>
                </a:solidFill>
                <a:latin typeface="Consolas" panose="020B0609020204030204" pitchFamily="49" charset="0"/>
              </a:rPr>
              <a:t>.eq</a:t>
            </a:r>
            <a: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altLang="ko-KR" sz="1100" dirty="0" err="1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target</a:t>
            </a:r>
            <a:r>
              <a:rPr lang="en-US" altLang="ko-KR" sz="1100" dirty="0" err="1">
                <a:solidFill>
                  <a:srgbClr val="CCCCCC"/>
                </a:solidFill>
                <a:latin typeface="Consolas" panose="020B0609020204030204" pitchFamily="49" charset="0"/>
              </a:rPr>
              <a:t>.view</a:t>
            </a:r>
            <a: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altLang="ko-KR" sz="1100" dirty="0">
                <a:solidFill>
                  <a:srgbClr val="B5CEA8"/>
                </a:solidFill>
                <a:latin typeface="Consolas" panose="020B0609020204030204" pitchFamily="49" charset="0"/>
              </a:rPr>
              <a:t>1</a:t>
            </a:r>
            <a: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en-US" altLang="ko-KR" sz="1100" dirty="0">
                <a:solidFill>
                  <a:srgbClr val="D4D4D4"/>
                </a:solidFill>
                <a:latin typeface="Consolas" panose="020B0609020204030204" pitchFamily="49" charset="0"/>
              </a:rPr>
              <a:t>-</a:t>
            </a:r>
            <a:r>
              <a:rPr lang="en-US" altLang="ko-KR" sz="1100" dirty="0">
                <a:solidFill>
                  <a:srgbClr val="B5CEA8"/>
                </a:solidFill>
                <a:latin typeface="Consolas" panose="020B0609020204030204" pitchFamily="49" charset="0"/>
              </a:rPr>
              <a:t>1</a:t>
            </a:r>
            <a: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  <a:t>).</a:t>
            </a:r>
            <a:r>
              <a:rPr lang="en-US" altLang="ko-KR" sz="1100" dirty="0" err="1">
                <a:solidFill>
                  <a:srgbClr val="CCCCCC"/>
                </a:solidFill>
                <a:latin typeface="Consolas" panose="020B0609020204030204" pitchFamily="49" charset="0"/>
              </a:rPr>
              <a:t>expand_as</a:t>
            </a:r>
            <a: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altLang="ko-KR" sz="1100" dirty="0" err="1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pred</a:t>
            </a:r>
            <a: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  <a:t>))</a:t>
            </a:r>
          </a:p>
          <a:p>
            <a: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  <a:t/>
            </a:r>
            <a:b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</a:br>
            <a: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US" altLang="ko-KR" sz="1100" dirty="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res</a:t>
            </a:r>
            <a: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1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  <a:t> []</a:t>
            </a:r>
          </a:p>
          <a:p>
            <a: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US" altLang="ko-KR" sz="1100" dirty="0">
                <a:solidFill>
                  <a:srgbClr val="C586C0"/>
                </a:solidFill>
                <a:latin typeface="Consolas" panose="020B0609020204030204" pitchFamily="49" charset="0"/>
              </a:rPr>
              <a:t>for</a:t>
            </a:r>
            <a: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100" dirty="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k</a:t>
            </a:r>
            <a: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100" dirty="0">
                <a:solidFill>
                  <a:srgbClr val="C586C0"/>
                </a:solidFill>
                <a:latin typeface="Consolas" panose="020B0609020204030204" pitchFamily="49" charset="0"/>
              </a:rPr>
              <a:t>in</a:t>
            </a:r>
            <a: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100" dirty="0" err="1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topk</a:t>
            </a:r>
            <a: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  <a:t>:</a:t>
            </a:r>
          </a:p>
          <a:p>
            <a: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en-US" altLang="ko-KR" sz="1100" dirty="0" err="1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correct_k</a:t>
            </a:r>
            <a: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1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100" dirty="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correct</a:t>
            </a:r>
            <a: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  <a:t>[:</a:t>
            </a:r>
            <a:r>
              <a:rPr lang="en-US" altLang="ko-KR" sz="1100" dirty="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k</a:t>
            </a:r>
            <a: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  <a:t>].view(</a:t>
            </a:r>
            <a:r>
              <a:rPr lang="en-US" altLang="ko-KR" sz="1100" dirty="0">
                <a:solidFill>
                  <a:srgbClr val="D4D4D4"/>
                </a:solidFill>
                <a:latin typeface="Consolas" panose="020B0609020204030204" pitchFamily="49" charset="0"/>
              </a:rPr>
              <a:t>-</a:t>
            </a:r>
            <a:r>
              <a:rPr lang="en-US" altLang="ko-KR" sz="1100" dirty="0">
                <a:solidFill>
                  <a:srgbClr val="B5CEA8"/>
                </a:solidFill>
                <a:latin typeface="Consolas" panose="020B0609020204030204" pitchFamily="49" charset="0"/>
              </a:rPr>
              <a:t>1</a:t>
            </a:r>
            <a: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  <a:t>).float().sum(</a:t>
            </a:r>
            <a:r>
              <a:rPr lang="en-US" altLang="ko-KR" sz="1100" dirty="0">
                <a:solidFill>
                  <a:srgbClr val="B5CEA8"/>
                </a:solidFill>
                <a:latin typeface="Consolas" panose="020B0609020204030204" pitchFamily="49" charset="0"/>
              </a:rPr>
              <a:t>0</a:t>
            </a:r>
            <a: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en-US" altLang="ko-KR" sz="1100" dirty="0" err="1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keepdim</a:t>
            </a:r>
            <a:r>
              <a:rPr lang="en-US" altLang="ko-KR" sz="11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en-US" altLang="ko-KR" sz="1100" dirty="0">
                <a:solidFill>
                  <a:srgbClr val="569CD6"/>
                </a:solidFill>
                <a:latin typeface="Consolas" panose="020B0609020204030204" pitchFamily="49" charset="0"/>
              </a:rPr>
              <a:t>True</a:t>
            </a:r>
            <a: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en-US" altLang="ko-KR" sz="1100" dirty="0" err="1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acc</a:t>
            </a:r>
            <a: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1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100" dirty="0" err="1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correct_k</a:t>
            </a:r>
            <a:r>
              <a:rPr lang="en-US" altLang="ko-KR" sz="1100" dirty="0" err="1">
                <a:solidFill>
                  <a:srgbClr val="CCCCCC"/>
                </a:solidFill>
                <a:latin typeface="Consolas" panose="020B0609020204030204" pitchFamily="49" charset="0"/>
              </a:rPr>
              <a:t>.mul</a:t>
            </a:r>
            <a: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  <a:t>_(</a:t>
            </a:r>
            <a:r>
              <a:rPr lang="en-US" altLang="ko-KR" sz="1100" dirty="0">
                <a:solidFill>
                  <a:srgbClr val="B5CEA8"/>
                </a:solidFill>
                <a:latin typeface="Consolas" panose="020B0609020204030204" pitchFamily="49" charset="0"/>
              </a:rPr>
              <a:t>100.0</a:t>
            </a:r>
            <a: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100" dirty="0">
                <a:solidFill>
                  <a:srgbClr val="D4D4D4"/>
                </a:solidFill>
                <a:latin typeface="Consolas" panose="020B0609020204030204" pitchFamily="49" charset="0"/>
              </a:rPr>
              <a:t>/</a:t>
            </a:r>
            <a: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100" dirty="0" err="1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batch_size</a:t>
            </a:r>
            <a: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en-US" altLang="ko-KR" sz="1100" dirty="0" err="1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res</a:t>
            </a:r>
            <a:r>
              <a:rPr lang="en-US" altLang="ko-KR" sz="1100" dirty="0" err="1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en-US" altLang="ko-KR" sz="1100" dirty="0" err="1">
                <a:solidFill>
                  <a:srgbClr val="DCDCAA"/>
                </a:solidFill>
                <a:latin typeface="Consolas" panose="020B0609020204030204" pitchFamily="49" charset="0"/>
              </a:rPr>
              <a:t>append</a:t>
            </a:r>
            <a: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altLang="ko-KR" sz="1100" dirty="0" err="1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acc</a:t>
            </a:r>
            <a: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  <a:t/>
            </a:r>
            <a:b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</a:br>
            <a: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US" altLang="ko-KR" sz="1100" dirty="0">
                <a:solidFill>
                  <a:srgbClr val="C586C0"/>
                </a:solidFill>
                <a:latin typeface="Consolas" panose="020B0609020204030204" pitchFamily="49" charset="0"/>
              </a:rPr>
              <a:t>return</a:t>
            </a:r>
            <a:r>
              <a:rPr lang="en-US" altLang="ko-KR" sz="11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100" dirty="0">
                <a:solidFill>
                  <a:srgbClr val="9CDCFE"/>
                </a:solidFill>
                <a:latin typeface="Consolas" panose="020B0609020204030204" pitchFamily="49" charset="0"/>
              </a:rPr>
              <a:t>res</a:t>
            </a:r>
            <a:endParaRPr lang="en-US" altLang="ko-KR" sz="11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cxnSp>
        <p:nvCxnSpPr>
          <p:cNvPr id="25" name="구부러진 연결선 24"/>
          <p:cNvCxnSpPr>
            <a:endCxn id="23" idx="2"/>
          </p:cNvCxnSpPr>
          <p:nvPr/>
        </p:nvCxnSpPr>
        <p:spPr>
          <a:xfrm flipV="1">
            <a:off x="4741335" y="5448693"/>
            <a:ext cx="2733291" cy="572800"/>
          </a:xfrm>
          <a:prstGeom prst="curvedConnector2">
            <a:avLst/>
          </a:prstGeom>
          <a:ln>
            <a:solidFill>
              <a:srgbClr val="C00000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42830601"/>
      </p:ext>
    </p:extLst>
  </p:cSld>
  <p:clrMapOvr>
    <a:masterClrMapping/>
  </p:clrMapOvr>
  <p:transition spd="slow">
    <p:wipe/>
  </p:transition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392617" y="314530"/>
            <a:ext cx="2815096" cy="468990"/>
          </a:xfrm>
          <a:prstGeom prst="rect">
            <a:avLst/>
          </a:prstGeom>
          <a:noFill/>
        </p:spPr>
        <p:txBody>
          <a:bodyPr wrap="none" lIns="98694" tIns="49347" rIns="98694" bIns="49347">
            <a:spAutoFit/>
          </a:bodyPr>
          <a:lstStyle/>
          <a:p>
            <a:pPr algn="ctr">
              <a:spcBef>
                <a:spcPts val="648"/>
              </a:spcBef>
            </a:pPr>
            <a:r>
              <a:rPr lang="en-US" altLang="ko-KR" sz="2400" b="1" dirty="0" smtClean="0">
                <a:solidFill>
                  <a:srgbClr val="0E0585"/>
                </a:solidFill>
              </a:rPr>
              <a:t>class </a:t>
            </a:r>
            <a:r>
              <a:rPr lang="en-US" altLang="ko-KR" sz="2400" b="1" dirty="0" err="1" smtClean="0">
                <a:solidFill>
                  <a:srgbClr val="0E0585"/>
                </a:solidFill>
              </a:rPr>
              <a:t>MetricMeter</a:t>
            </a:r>
            <a:endParaRPr lang="en-US" altLang="ko-KR" sz="2400" b="1" dirty="0">
              <a:solidFill>
                <a:srgbClr val="0E058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51266373"/>
      </p:ext>
    </p:extLst>
  </p:cSld>
  <p:clrMapOvr>
    <a:masterClrMapping/>
  </p:clrMapOvr>
  <p:transition spd="slow">
    <p:wipe/>
  </p:transition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263638" y="337390"/>
            <a:ext cx="4319290" cy="468990"/>
          </a:xfrm>
          <a:prstGeom prst="rect">
            <a:avLst/>
          </a:prstGeom>
          <a:noFill/>
        </p:spPr>
        <p:txBody>
          <a:bodyPr wrap="none" lIns="98694" tIns="49347" rIns="98694" bIns="49347">
            <a:spAutoFit/>
          </a:bodyPr>
          <a:lstStyle/>
          <a:p>
            <a:pPr algn="ctr">
              <a:spcBef>
                <a:spcPts val="648"/>
              </a:spcBef>
            </a:pPr>
            <a:r>
              <a:rPr lang="en-US" altLang="ko-KR" sz="2400" b="1" dirty="0">
                <a:solidFill>
                  <a:srgbClr val="0E0585"/>
                </a:solidFill>
              </a:rPr>
              <a:t>class </a:t>
            </a:r>
            <a:r>
              <a:rPr lang="en-US" altLang="ko-KR" sz="2400" b="1" dirty="0" err="1" smtClean="0">
                <a:solidFill>
                  <a:srgbClr val="0E0585"/>
                </a:solidFill>
              </a:rPr>
              <a:t>CrossEntropyLoss</a:t>
            </a:r>
            <a:r>
              <a:rPr lang="en-US" altLang="ko-KR" sz="2400" b="1" dirty="0" smtClean="0">
                <a:solidFill>
                  <a:srgbClr val="0E0585"/>
                </a:solidFill>
              </a:rPr>
              <a:t> </a:t>
            </a:r>
            <a:r>
              <a:rPr lang="en-US" altLang="ko-KR" sz="2400" b="1" dirty="0" err="1" smtClean="0">
                <a:solidFill>
                  <a:srgbClr val="0E0585"/>
                </a:solidFill>
              </a:rPr>
              <a:t>cont</a:t>
            </a:r>
            <a:endParaRPr lang="en-US" altLang="ko-KR" sz="2400" b="1" dirty="0">
              <a:solidFill>
                <a:srgbClr val="0E0585"/>
              </a:solidFill>
            </a:endParaRPr>
          </a:p>
        </p:txBody>
      </p:sp>
      <p:sp>
        <p:nvSpPr>
          <p:cNvPr id="3" name="직사각형 2"/>
          <p:cNvSpPr/>
          <p:nvPr/>
        </p:nvSpPr>
        <p:spPr>
          <a:xfrm>
            <a:off x="263638" y="1161506"/>
            <a:ext cx="9870066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200" dirty="0" err="1">
                <a:latin typeface="+mn-ea"/>
              </a:rPr>
              <a:t>CrossEntropyLoss</a:t>
            </a:r>
            <a:r>
              <a:rPr lang="en-US" altLang="ko-KR" sz="1200" dirty="0">
                <a:latin typeface="+mn-ea"/>
              </a:rPr>
              <a:t> </a:t>
            </a:r>
            <a:r>
              <a:rPr lang="ko-KR" altLang="en-US" sz="1200" dirty="0">
                <a:latin typeface="+mn-ea"/>
              </a:rPr>
              <a:t>클래스는 레이블 </a:t>
            </a:r>
            <a:r>
              <a:rPr lang="ko-KR" altLang="en-US" sz="1200" dirty="0" err="1">
                <a:latin typeface="+mn-ea"/>
              </a:rPr>
              <a:t>스무딩</a:t>
            </a:r>
            <a:r>
              <a:rPr lang="en-US" altLang="ko-KR" sz="1200" dirty="0">
                <a:latin typeface="+mn-ea"/>
              </a:rPr>
              <a:t>(Label Smoothing) </a:t>
            </a:r>
            <a:r>
              <a:rPr lang="ko-KR" altLang="en-US" sz="1200" dirty="0" err="1">
                <a:latin typeface="+mn-ea"/>
              </a:rPr>
              <a:t>정규화가</a:t>
            </a:r>
            <a:r>
              <a:rPr lang="ko-KR" altLang="en-US" sz="1200" dirty="0">
                <a:latin typeface="+mn-ea"/>
              </a:rPr>
              <a:t> 적용된 교차 엔트로피 손실</a:t>
            </a:r>
            <a:r>
              <a:rPr lang="en-US" altLang="ko-KR" sz="1200" dirty="0">
                <a:latin typeface="+mn-ea"/>
              </a:rPr>
              <a:t>(Cross Entropy Loss)</a:t>
            </a:r>
            <a:r>
              <a:rPr lang="ko-KR" altLang="en-US" sz="1200" dirty="0">
                <a:latin typeface="+mn-ea"/>
              </a:rPr>
              <a:t>을 구현한 사용자 정의 손실 </a:t>
            </a:r>
            <a:r>
              <a:rPr lang="ko-KR" altLang="en-US" sz="1200" dirty="0" smtClean="0">
                <a:latin typeface="+mn-ea"/>
              </a:rPr>
              <a:t>함수</a:t>
            </a:r>
            <a:r>
              <a:rPr lang="en-US" altLang="ko-KR" sz="1200" dirty="0" smtClean="0">
                <a:latin typeface="+mn-ea"/>
              </a:rPr>
              <a:t>. </a:t>
            </a:r>
            <a:r>
              <a:rPr lang="ko-KR" altLang="en-US" sz="1200" dirty="0">
                <a:latin typeface="+mn-ea"/>
              </a:rPr>
              <a:t>이 클래스는 모델의 출력과 실제 레이블 간의 손실을 계산하여 모델 학습에 사용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/>
              <p:cNvSpPr txBox="1"/>
              <p:nvPr/>
            </p:nvSpPr>
            <p:spPr>
              <a:xfrm>
                <a:off x="263638" y="1623171"/>
                <a:ext cx="9940065" cy="288995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ko-KR" altLang="en-US" sz="2000" dirty="0" smtClean="0">
                    <a:latin typeface="KoPub돋움체 Bold" panose="02020603020101020101" pitchFamily="18" charset="-127"/>
                    <a:ea typeface="KoPub돋움체 Bold" panose="02020603020101020101" pitchFamily="18" charset="-127"/>
                  </a:rPr>
                  <a:t>레이블 </a:t>
                </a:r>
                <a:r>
                  <a:rPr lang="ko-KR" altLang="en-US" sz="2000" dirty="0" err="1">
                    <a:latin typeface="KoPub돋움체 Bold" panose="02020603020101020101" pitchFamily="18" charset="-127"/>
                    <a:ea typeface="KoPub돋움체 Bold" panose="02020603020101020101" pitchFamily="18" charset="-127"/>
                  </a:rPr>
                  <a:t>스무딩</a:t>
                </a:r>
                <a:r>
                  <a:rPr lang="en-US" altLang="ko-KR" sz="2000" dirty="0">
                    <a:latin typeface="KoPub돋움체 Bold" panose="02020603020101020101" pitchFamily="18" charset="-127"/>
                    <a:ea typeface="KoPub돋움체 Bold" panose="02020603020101020101" pitchFamily="18" charset="-127"/>
                  </a:rPr>
                  <a:t>(Label Smoothing)</a:t>
                </a:r>
              </a:p>
              <a:p>
                <a:endParaRPr lang="en-US" altLang="ko-KR" sz="1200" dirty="0"/>
              </a:p>
              <a:p>
                <a:r>
                  <a:rPr lang="en-US" altLang="ko-KR" sz="1200" dirty="0"/>
                  <a:t>    </a:t>
                </a:r>
                <a:r>
                  <a:rPr lang="ko-KR" altLang="en-US" sz="1200" dirty="0"/>
                  <a:t>레이블 </a:t>
                </a:r>
                <a:r>
                  <a:rPr lang="ko-KR" altLang="en-US" sz="1200" dirty="0" err="1"/>
                  <a:t>스무딩은</a:t>
                </a:r>
                <a:r>
                  <a:rPr lang="ko-KR" altLang="en-US" sz="1200" dirty="0"/>
                  <a:t> 모델이 지나치게 확신을 가지는 것을 방지하여 </a:t>
                </a:r>
                <a:r>
                  <a:rPr lang="ko-KR" altLang="en-US" sz="1200" dirty="0" err="1"/>
                  <a:t>과적합을</a:t>
                </a:r>
                <a:r>
                  <a:rPr lang="ko-KR" altLang="en-US" sz="1200" dirty="0"/>
                  <a:t> 줄이고 일반화 성능을 높이기 위해 </a:t>
                </a:r>
                <a:r>
                  <a:rPr lang="ko-KR" altLang="en-US" sz="1200" dirty="0" smtClean="0"/>
                  <a:t>사용됨</a:t>
                </a:r>
                <a:r>
                  <a:rPr lang="en-US" altLang="ko-KR" sz="1200" dirty="0" smtClean="0"/>
                  <a:t>.</a:t>
                </a:r>
                <a:endParaRPr lang="en-US" altLang="ko-KR" sz="1200" dirty="0"/>
              </a:p>
              <a:p>
                <a:r>
                  <a:rPr lang="en-US" altLang="ko-KR" sz="1200" dirty="0"/>
                  <a:t>    </a:t>
                </a:r>
                <a:r>
                  <a:rPr lang="ko-KR" altLang="en-US" sz="1200" dirty="0"/>
                  <a:t>일반적인 교차 엔트로피 손실은 정답 클래스에 </a:t>
                </a:r>
                <a:r>
                  <a:rPr lang="en-US" altLang="ko-KR" sz="1200" dirty="0"/>
                  <a:t>1, </a:t>
                </a:r>
                <a:r>
                  <a:rPr lang="ko-KR" altLang="en-US" sz="1200" dirty="0"/>
                  <a:t>나머지 클래스에 </a:t>
                </a:r>
                <a:r>
                  <a:rPr lang="en-US" altLang="ko-KR" sz="1200" dirty="0"/>
                  <a:t>0</a:t>
                </a:r>
                <a:r>
                  <a:rPr lang="ko-KR" altLang="en-US" sz="1200" dirty="0"/>
                  <a:t>을 할당하는 원</a:t>
                </a:r>
                <a:r>
                  <a:rPr lang="en-US" altLang="ko-KR" sz="1200" dirty="0"/>
                  <a:t>-</a:t>
                </a:r>
                <a:r>
                  <a:rPr lang="ko-KR" altLang="en-US" sz="1200" dirty="0" err="1"/>
                  <a:t>핫</a:t>
                </a:r>
                <a:r>
                  <a:rPr lang="ko-KR" altLang="en-US" sz="1200" dirty="0"/>
                  <a:t> </a:t>
                </a:r>
                <a:r>
                  <a:rPr lang="ko-KR" altLang="en-US" sz="1200" dirty="0" err="1"/>
                  <a:t>인코딩을</a:t>
                </a:r>
                <a:r>
                  <a:rPr lang="ko-KR" altLang="en-US" sz="1200" dirty="0"/>
                  <a:t> </a:t>
                </a:r>
                <a:r>
                  <a:rPr lang="ko-KR" altLang="en-US" sz="1200" dirty="0" smtClean="0"/>
                  <a:t>사용함</a:t>
                </a:r>
                <a:r>
                  <a:rPr lang="en-US" altLang="ko-KR" sz="1200" dirty="0" smtClean="0"/>
                  <a:t>. </a:t>
                </a:r>
                <a:r>
                  <a:rPr lang="ko-KR" altLang="en-US" sz="1200" dirty="0"/>
                  <a:t>반면</a:t>
                </a:r>
                <a:r>
                  <a:rPr lang="en-US" altLang="ko-KR" sz="1200" dirty="0"/>
                  <a:t>, </a:t>
                </a:r>
                <a:r>
                  <a:rPr lang="ko-KR" altLang="en-US" sz="1200" dirty="0"/>
                  <a:t>레이블 </a:t>
                </a:r>
                <a:r>
                  <a:rPr lang="ko-KR" altLang="en-US" sz="1200" dirty="0" err="1"/>
                  <a:t>스무딩은</a:t>
                </a:r>
                <a:r>
                  <a:rPr lang="ko-KR" altLang="en-US" sz="1200" dirty="0"/>
                  <a:t> 정답 클래스에 </a:t>
                </a:r>
                <a:r>
                  <a:rPr lang="en-US" altLang="ko-KR" sz="1200" dirty="0"/>
                  <a:t>1</a:t>
                </a:r>
                <a:r>
                  <a:rPr lang="ko-KR" altLang="en-US" sz="1200" dirty="0"/>
                  <a:t>이 아닌 </a:t>
                </a:r>
                <a14:m>
                  <m:oMath xmlns:m="http://schemas.openxmlformats.org/officeDocument/2006/math">
                    <m:r>
                      <a:rPr lang="en-US" altLang="ko-KR" sz="1200" b="0" i="1" smtClean="0">
                        <a:latin typeface="Cambria Math" panose="02040503050406030204" pitchFamily="18" charset="0"/>
                      </a:rPr>
                      <m:t>(1−</m:t>
                    </m:r>
                    <m:r>
                      <a:rPr lang="en-US" altLang="ko-KR" sz="1200" b="0" i="1" smtClean="0">
                        <a:latin typeface="Cambria Math" panose="02040503050406030204" pitchFamily="18" charset="0"/>
                      </a:rPr>
                      <m:t>𝑒</m:t>
                    </m:r>
                    <m:r>
                      <a:rPr lang="en-US" altLang="ko-KR" sz="12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ko-KR" altLang="en-US" sz="1200" dirty="0" smtClean="0"/>
                  <a:t>을 </a:t>
                </a:r>
                <a:r>
                  <a:rPr lang="ko-KR" altLang="en-US" sz="1200" dirty="0"/>
                  <a:t>할당하고</a:t>
                </a:r>
                <a:r>
                  <a:rPr lang="en-US" altLang="ko-KR" sz="1200" dirty="0"/>
                  <a:t>, </a:t>
                </a:r>
                <a:r>
                  <a:rPr lang="ko-KR" altLang="en-US" sz="1200" dirty="0"/>
                  <a:t>나머지 클래스에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ko-KR" sz="16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num>
                      <m:den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</m:den>
                    </m:f>
                  </m:oMath>
                </a14:m>
                <a:r>
                  <a:rPr lang="en-US" altLang="ko-KR" sz="1600" dirty="0" smtClean="0"/>
                  <a:t>​</a:t>
                </a:r>
                <a:r>
                  <a:rPr lang="ko-KR" altLang="en-US" sz="1200" dirty="0"/>
                  <a:t>을 할당합니다</a:t>
                </a:r>
                <a:r>
                  <a:rPr lang="en-US" altLang="ko-KR" sz="1200" dirty="0"/>
                  <a:t>. </a:t>
                </a:r>
                <a:r>
                  <a:rPr lang="ko-KR" altLang="en-US" sz="1200" dirty="0"/>
                  <a:t>여기서 </a:t>
                </a:r>
                <a14:m>
                  <m:oMath xmlns:m="http://schemas.openxmlformats.org/officeDocument/2006/math">
                    <m:r>
                      <a:rPr lang="en-US" altLang="ko-KR" sz="1200" b="0" i="1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ko-KR" altLang="en-US" sz="1200" dirty="0" smtClean="0"/>
                  <a:t>는 </a:t>
                </a:r>
                <a:r>
                  <a:rPr lang="ko-KR" altLang="en-US" sz="1200" dirty="0"/>
                  <a:t>클래스의 개수</a:t>
                </a:r>
                <a:r>
                  <a:rPr lang="en-US" altLang="ko-KR" sz="1200" dirty="0"/>
                  <a:t>, </a:t>
                </a:r>
                <a:r>
                  <a:rPr lang="en-US" altLang="ko-KR" sz="1200" dirty="0" smtClean="0"/>
                  <a:t>ϵ</a:t>
                </a:r>
                <a:r>
                  <a:rPr lang="ko-KR" altLang="en-US" sz="1200" dirty="0"/>
                  <a:t>은 </a:t>
                </a:r>
                <a:r>
                  <a:rPr lang="ko-KR" altLang="en-US" sz="1200" dirty="0" err="1"/>
                  <a:t>스무딩</a:t>
                </a:r>
                <a:r>
                  <a:rPr lang="ko-KR" altLang="en-US" sz="1200" dirty="0"/>
                  <a:t> </a:t>
                </a:r>
                <a:r>
                  <a:rPr lang="ko-KR" altLang="en-US" sz="1200" dirty="0" err="1" smtClean="0"/>
                  <a:t>파라미터임</a:t>
                </a:r>
                <a:r>
                  <a:rPr lang="en-US" altLang="ko-KR" sz="1200" dirty="0" smtClean="0"/>
                  <a:t>.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1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altLang="ko-KR" sz="120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ko-KR" sz="1200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altLang="ko-KR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</m:d>
                      <m:r>
                        <a:rPr lang="en-US" altLang="ko-KR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sSub>
                        <m:sSubPr>
                          <m:ctrlPr>
                            <a:rPr lang="en-US" altLang="ko-K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altLang="ko-KR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altLang="ko-K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𝑒</m:t>
                          </m:r>
                        </m:num>
                        <m:den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𝐾</m:t>
                          </m:r>
                        </m:den>
                      </m:f>
                    </m:oMath>
                  </m:oMathPara>
                </a14:m>
                <a:endParaRPr lang="en-US" altLang="ko-KR" sz="1200" dirty="0" smtClean="0"/>
              </a:p>
              <a:p>
                <a:endParaRPr lang="en-US" altLang="ko-KR" sz="1200" dirty="0"/>
              </a:p>
              <a:p>
                <a:r>
                  <a:rPr lang="ko-KR" altLang="en-US" sz="1200" dirty="0"/>
                  <a:t>여기서</a:t>
                </a:r>
                <a:r>
                  <a:rPr lang="en-US" altLang="ko-KR" sz="1200" dirty="0"/>
                  <a:t>: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altLang="ko-KR" sz="12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ko-KR" sz="120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US" altLang="ko-KR" sz="12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ko-KR" altLang="en-US" sz="1200" dirty="0" smtClean="0"/>
                  <a:t>는 </a:t>
                </a:r>
                <a:r>
                  <a:rPr lang="ko-KR" altLang="en-US" sz="1200" dirty="0"/>
                  <a:t>변형된 레이블 </a:t>
                </a:r>
                <a:r>
                  <a:rPr lang="ko-KR" altLang="en-US" sz="1200" dirty="0" smtClean="0"/>
                  <a:t>값</a:t>
                </a:r>
                <a:r>
                  <a:rPr lang="en-US" altLang="ko-KR" sz="1200" dirty="0" smtClean="0"/>
                  <a:t>.</a:t>
                </a:r>
                <a:endParaRPr lang="en-US" altLang="ko-KR" sz="1200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altLang="ko-K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ko-KR" altLang="en-US" sz="1200" dirty="0" smtClean="0"/>
                  <a:t>는 </a:t>
                </a:r>
                <a:r>
                  <a:rPr lang="ko-KR" altLang="en-US" sz="1200" dirty="0"/>
                  <a:t>원</a:t>
                </a:r>
                <a:r>
                  <a:rPr lang="en-US" altLang="ko-KR" sz="1200" dirty="0"/>
                  <a:t>-</a:t>
                </a:r>
                <a:r>
                  <a:rPr lang="ko-KR" altLang="en-US" sz="1200" dirty="0" err="1"/>
                  <a:t>핫</a:t>
                </a:r>
                <a:r>
                  <a:rPr lang="ko-KR" altLang="en-US" sz="1200" dirty="0"/>
                  <a:t> </a:t>
                </a:r>
                <a:r>
                  <a:rPr lang="ko-KR" altLang="en-US" sz="1200" dirty="0" err="1"/>
                  <a:t>인코딩된</a:t>
                </a:r>
                <a:r>
                  <a:rPr lang="ko-KR" altLang="en-US" sz="1200" dirty="0"/>
                  <a:t> 레이블 </a:t>
                </a:r>
                <a:r>
                  <a:rPr lang="ko-KR" altLang="en-US" sz="1200" dirty="0" smtClean="0"/>
                  <a:t>값 </a:t>
                </a:r>
                <a:r>
                  <a:rPr lang="en-US" altLang="ko-KR" sz="1200" dirty="0"/>
                  <a:t>(</a:t>
                </a:r>
                <a:r>
                  <a:rPr lang="ko-KR" altLang="en-US" sz="1200" dirty="0"/>
                  <a:t>정답 클래스에는 </a:t>
                </a:r>
                <a:r>
                  <a:rPr lang="en-US" altLang="ko-KR" sz="1200" dirty="0"/>
                  <a:t>1, </a:t>
                </a:r>
                <a:r>
                  <a:rPr lang="ko-KR" altLang="en-US" sz="1200" dirty="0"/>
                  <a:t>나머지에는 </a:t>
                </a:r>
                <a:r>
                  <a:rPr lang="en-US" altLang="ko-KR" sz="1200" dirty="0"/>
                  <a:t>0).</a:t>
                </a:r>
              </a:p>
              <a:p>
                <a14:m>
                  <m:oMath xmlns:m="http://schemas.openxmlformats.org/officeDocument/2006/math">
                    <m:r>
                      <a:rPr lang="en-US" altLang="ko-KR" sz="1200" i="1">
                        <a:latin typeface="Cambria Math" panose="02040503050406030204" pitchFamily="18" charset="0"/>
                      </a:rPr>
                      <m:t>𝑒</m:t>
                    </m:r>
                    <m:r>
                      <a:rPr lang="en-US" altLang="ko-KR" sz="12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ko-KR" altLang="en-US" sz="1200" dirty="0"/>
                  <a:t>은 레이블 </a:t>
                </a:r>
                <a:r>
                  <a:rPr lang="ko-KR" altLang="en-US" sz="1200" dirty="0" err="1"/>
                  <a:t>스무딩</a:t>
                </a:r>
                <a:r>
                  <a:rPr lang="ko-KR" altLang="en-US" sz="1200" dirty="0"/>
                  <a:t> </a:t>
                </a:r>
                <a:r>
                  <a:rPr lang="ko-KR" altLang="en-US" sz="1200" dirty="0" err="1" smtClean="0"/>
                  <a:t>파라미터</a:t>
                </a:r>
                <a:endParaRPr lang="en-US" altLang="ko-KR" sz="1200" dirty="0"/>
              </a:p>
              <a:p>
                <a14:m>
                  <m:oMath xmlns:m="http://schemas.openxmlformats.org/officeDocument/2006/math">
                    <m:r>
                      <a:rPr lang="en-US" altLang="ko-KR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𝐾</m:t>
                    </m:r>
                    <m:r>
                      <a:rPr lang="en-US" altLang="ko-KR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ko-KR" altLang="en-US" sz="1200" dirty="0"/>
                  <a:t>는 클래스의 개수입니다</a:t>
                </a:r>
                <a:r>
                  <a:rPr lang="en-US" altLang="ko-KR" sz="1200" dirty="0"/>
                  <a:t>.</a:t>
                </a:r>
              </a:p>
              <a:p>
                <a:endParaRPr lang="ko-KR" altLang="en-US" sz="1200" dirty="0"/>
              </a:p>
            </p:txBody>
          </p:sp>
        </mc:Choice>
        <mc:Fallback xmlns="">
          <p:sp>
            <p:nvSpPr>
              <p:cNvPr id="4" name="TextBox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3638" y="1623171"/>
                <a:ext cx="9940065" cy="2889958"/>
              </a:xfrm>
              <a:prstGeom prst="rect">
                <a:avLst/>
              </a:prstGeom>
              <a:blipFill>
                <a:blip r:embed="rId2"/>
                <a:stretch>
                  <a:fillRect l="-552" t="-84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/>
              <p:cNvSpPr txBox="1"/>
              <p:nvPr/>
            </p:nvSpPr>
            <p:spPr>
              <a:xfrm>
                <a:off x="263638" y="4404471"/>
                <a:ext cx="9940065" cy="28167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ko-KR" altLang="en-US" sz="2000" dirty="0" smtClean="0">
                    <a:latin typeface="KoPub돋움체 Bold" panose="02020603020101020101" pitchFamily="18" charset="-127"/>
                    <a:ea typeface="KoPub돋움체 Bold" panose="02020603020101020101" pitchFamily="18" charset="-127"/>
                  </a:rPr>
                  <a:t>손실 계산</a:t>
                </a:r>
                <a:endParaRPr lang="en-US" altLang="ko-KR" sz="2000" dirty="0">
                  <a:latin typeface="KoPub돋움체 Bold" panose="02020603020101020101" pitchFamily="18" charset="-127"/>
                  <a:ea typeface="KoPub돋움체 Bold" panose="02020603020101020101" pitchFamily="18" charset="-127"/>
                </a:endParaRPr>
              </a:p>
              <a:p>
                <a:endParaRPr lang="en-US" altLang="ko-KR" sz="1200" dirty="0"/>
              </a:p>
              <a:p>
                <a:r>
                  <a:rPr lang="en-US" altLang="ko-KR" sz="1200" dirty="0"/>
                  <a:t>    </a:t>
                </a:r>
                <a:r>
                  <a:rPr lang="ko-KR" altLang="en-US" sz="1200" dirty="0"/>
                  <a:t>레이블 </a:t>
                </a:r>
                <a:r>
                  <a:rPr lang="ko-KR" altLang="en-US" sz="1200" dirty="0" err="1"/>
                  <a:t>스무딩이</a:t>
                </a:r>
                <a:r>
                  <a:rPr lang="ko-KR" altLang="en-US" sz="1200" dirty="0"/>
                  <a:t> 적용된 레이블과 로그 확률을 곱하고 이를 </a:t>
                </a:r>
                <a:r>
                  <a:rPr lang="ko-KR" altLang="en-US" sz="1200" dirty="0" err="1"/>
                  <a:t>평균내어</a:t>
                </a:r>
                <a:r>
                  <a:rPr lang="ko-KR" altLang="en-US" sz="1200" dirty="0"/>
                  <a:t> 최종 손실 값을 </a:t>
                </a:r>
                <a:r>
                  <a:rPr lang="ko-KR" altLang="en-US" sz="1200" dirty="0" smtClean="0"/>
                  <a:t>계산함</a:t>
                </a:r>
                <a:r>
                  <a:rPr lang="en-US" altLang="ko-KR" sz="1200" dirty="0" smtClean="0"/>
                  <a:t>.</a:t>
                </a:r>
                <a:endParaRPr lang="en-US" altLang="ko-KR" sz="1200" i="1" dirty="0" smtClean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1200" b="0" i="1" dirty="0" smtClean="0"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en-US" altLang="ko-KR" sz="1200" b="0" i="1" smtClean="0">
                          <a:latin typeface="Cambria Math" panose="02040503050406030204" pitchFamily="18" charset="0"/>
                        </a:rPr>
                        <m:t>=−</m:t>
                      </m:r>
                      <m:f>
                        <m:fPr>
                          <m:ctrlP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nary>
                            <m:naryPr>
                              <m:chr m:val="∑"/>
                              <m:ctrlPr>
                                <a:rPr lang="en-US" altLang="ko-K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altLang="ko-KR" sz="1200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en-US" altLang="ko-KR" sz="1200" b="0" i="1" smtClean="0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altLang="ko-KR" sz="1200" b="0" i="1" smtClean="0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en-US" altLang="ko-K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̂"/>
                                      <m:ctrlPr>
                                        <a:rPr lang="en-US" altLang="ko-KR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altLang="ko-KR" sz="1200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en-US" altLang="ko-KR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en-US" altLang="ko-KR" sz="1200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altLang="ko-KR" sz="1200" b="0" i="1" smtClean="0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a:rPr lang="en-US" altLang="ko-KR" sz="1200" b="0" i="0" smtClean="0"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  <m:r>
                                <a:rPr lang="en-US" altLang="ko-KR" sz="1200" b="0" i="1" smtClean="0">
                                  <a:latin typeface="Cambria Math" panose="02040503050406030204" pitchFamily="18" charset="0"/>
                                </a:rPr>
                                <m:t>⁡(</m:t>
                              </m:r>
                              <m:sSub>
                                <m:sSubPr>
                                  <m:ctrlPr>
                                    <a:rPr lang="en-US" altLang="ko-K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sz="1200" b="0" i="1" smtClean="0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e>
                                <m:sub>
                                  <m:r>
                                    <a:rPr lang="en-US" altLang="ko-KR" sz="1200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en-US" altLang="ko-KR" sz="1200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altLang="ko-KR" sz="1200" b="0" i="1" smtClean="0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  <m:r>
                                <a:rPr lang="en-US" altLang="ko-KR" sz="1200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nary>
                        </m:e>
                      </m:nary>
                    </m:oMath>
                  </m:oMathPara>
                </a14:m>
                <a:endParaRPr lang="en-US" altLang="ko-KR" sz="1200" dirty="0" smtClean="0"/>
              </a:p>
              <a:p>
                <a:endParaRPr lang="en-US" altLang="ko-KR" sz="1200" dirty="0"/>
              </a:p>
              <a:p>
                <a:r>
                  <a:rPr lang="ko-KR" altLang="en-US" sz="1200" dirty="0"/>
                  <a:t>여기서</a:t>
                </a:r>
                <a:r>
                  <a:rPr lang="en-US" altLang="ko-KR" sz="1200" dirty="0"/>
                  <a:t>:</a:t>
                </a:r>
              </a:p>
              <a:p>
                <a14:m>
                  <m:oMath xmlns:m="http://schemas.openxmlformats.org/officeDocument/2006/math">
                    <m:r>
                      <a:rPr lang="en-US" altLang="ko-KR" sz="1200" i="1" dirty="0">
                        <a:latin typeface="Cambria Math" panose="02040503050406030204" pitchFamily="18" charset="0"/>
                      </a:rPr>
                      <m:t>𝐿</m:t>
                    </m:r>
                    <m:r>
                      <a:rPr lang="en-US" altLang="ko-KR" sz="1200" i="1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ko-KR" altLang="en-US" sz="1200" dirty="0"/>
                  <a:t>은 최종 손실 </a:t>
                </a:r>
                <a:r>
                  <a:rPr lang="ko-KR" altLang="en-US" sz="1200" dirty="0" smtClean="0"/>
                  <a:t>값</a:t>
                </a:r>
                <a:r>
                  <a:rPr lang="en-US" altLang="ko-KR" sz="1200" dirty="0" smtClean="0"/>
                  <a:t>.</a:t>
                </a:r>
                <a:endParaRPr lang="en-US" altLang="ko-KR" sz="1200" dirty="0"/>
              </a:p>
              <a:p>
                <a14:m>
                  <m:oMath xmlns:m="http://schemas.openxmlformats.org/officeDocument/2006/math">
                    <m:r>
                      <a:rPr lang="en-US" altLang="ko-KR" sz="1200" i="1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altLang="ko-KR" sz="12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ko-KR" altLang="en-US" sz="1200" dirty="0"/>
                  <a:t>은 배치 </a:t>
                </a:r>
                <a:r>
                  <a:rPr lang="ko-KR" altLang="en-US" sz="1200" dirty="0" smtClean="0"/>
                  <a:t>크기</a:t>
                </a:r>
                <a:r>
                  <a:rPr lang="en-US" altLang="ko-KR" sz="1200" dirty="0" smtClean="0"/>
                  <a:t>.</a:t>
                </a:r>
                <a:endParaRPr lang="en-US" altLang="ko-KR" sz="1200" dirty="0"/>
              </a:p>
              <a:p>
                <a14:m>
                  <m:oMath xmlns:m="http://schemas.openxmlformats.org/officeDocument/2006/math">
                    <m:r>
                      <a:rPr lang="en-US" altLang="ko-KR" sz="1200" i="1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altLang="ko-KR" sz="12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ko-KR" altLang="en-US" sz="1200" dirty="0"/>
                  <a:t>는 클래스의 </a:t>
                </a:r>
                <a:r>
                  <a:rPr lang="ko-KR" altLang="en-US" sz="1200" dirty="0" smtClean="0"/>
                  <a:t>개수</a:t>
                </a:r>
                <a:r>
                  <a:rPr lang="en-US" altLang="ko-KR" sz="1200" dirty="0" smtClean="0"/>
                  <a:t>.</a:t>
                </a:r>
                <a:endParaRPr lang="en-US" altLang="ko-KR" sz="1200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altLang="ko-KR" sz="12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ko-KR" sz="120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US" altLang="ko-KR" sz="12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altLang="ko-KR" sz="12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altLang="ko-KR" sz="1200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ko-KR" altLang="en-US" sz="1200" dirty="0"/>
                  <a:t>는 변형된 레이블의 </a:t>
                </a:r>
                <a:r>
                  <a:rPr lang="en-US" altLang="ko-KR" sz="1200" dirty="0" err="1"/>
                  <a:t>i</a:t>
                </a:r>
                <a:r>
                  <a:rPr lang="en-US" altLang="ko-KR" sz="1200" dirty="0" smtClean="0"/>
                  <a:t>-</a:t>
                </a:r>
                <a:r>
                  <a:rPr lang="ko-KR" altLang="en-US" sz="1200" dirty="0"/>
                  <a:t>번째 샘플에 대한 </a:t>
                </a:r>
                <a:r>
                  <a:rPr lang="en-US" altLang="ko-KR" sz="1200" dirty="0" smtClean="0"/>
                  <a:t>j-</a:t>
                </a:r>
                <a:r>
                  <a:rPr lang="ko-KR" altLang="en-US" sz="1200" dirty="0"/>
                  <a:t>번째 클래스 </a:t>
                </a:r>
                <a:r>
                  <a:rPr lang="ko-KR" altLang="en-US" sz="1200" dirty="0" smtClean="0"/>
                  <a:t>값</a:t>
                </a:r>
                <a:r>
                  <a:rPr lang="en-US" altLang="ko-KR" sz="1200" dirty="0" smtClean="0"/>
                  <a:t>.</a:t>
                </a:r>
                <a:endParaRPr lang="en-US" altLang="ko-KR" sz="1200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2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altLang="ko-KR" sz="12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altLang="ko-KR" sz="12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altLang="ko-KR" sz="1200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altLang="ko-KR" sz="1200" dirty="0"/>
                  <a:t>​</a:t>
                </a:r>
                <a:r>
                  <a:rPr lang="ko-KR" altLang="en-US" sz="1200" dirty="0"/>
                  <a:t>는 </a:t>
                </a:r>
                <a:r>
                  <a:rPr lang="en-US" altLang="ko-KR" sz="1200" dirty="0" err="1" smtClean="0"/>
                  <a:t>i</a:t>
                </a:r>
                <a:r>
                  <a:rPr lang="en-US" altLang="ko-KR" sz="1200" dirty="0" smtClean="0"/>
                  <a:t>-</a:t>
                </a:r>
                <a:r>
                  <a:rPr lang="ko-KR" altLang="en-US" sz="1200" dirty="0"/>
                  <a:t>번째 샘플에 대한 </a:t>
                </a:r>
                <a:r>
                  <a:rPr lang="en-US" altLang="ko-KR" sz="1200" dirty="0" smtClean="0"/>
                  <a:t>j-</a:t>
                </a:r>
                <a:r>
                  <a:rPr lang="ko-KR" altLang="en-US" sz="1200" dirty="0"/>
                  <a:t>번째 클래스의 로그 </a:t>
                </a:r>
                <a:r>
                  <a:rPr lang="ko-KR" altLang="en-US" sz="1200" dirty="0" smtClean="0"/>
                  <a:t>확률 </a:t>
                </a:r>
                <a:r>
                  <a:rPr lang="en-US" altLang="ko-KR" sz="1200" dirty="0"/>
                  <a:t>(</a:t>
                </a:r>
                <a:r>
                  <a:rPr lang="en-US" altLang="ko-KR" sz="1200" dirty="0" err="1"/>
                  <a:t>LogSoftmax</a:t>
                </a:r>
                <a:r>
                  <a:rPr lang="ko-KR" altLang="en-US" sz="1200" dirty="0"/>
                  <a:t>의 결과</a:t>
                </a:r>
                <a:r>
                  <a:rPr lang="en-US" altLang="ko-KR" sz="1200" dirty="0"/>
                  <a:t>).</a:t>
                </a:r>
              </a:p>
              <a:p>
                <a:endParaRPr lang="ko-KR" altLang="en-US" sz="1200" dirty="0"/>
              </a:p>
            </p:txBody>
          </p:sp>
        </mc:Choice>
        <mc:Fallback xmlns="">
          <p:sp>
            <p:nvSpPr>
              <p:cNvPr id="29" name="TextBox 2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3638" y="4404471"/>
                <a:ext cx="9940065" cy="2816733"/>
              </a:xfrm>
              <a:prstGeom prst="rect">
                <a:avLst/>
              </a:prstGeom>
              <a:blipFill>
                <a:blip r:embed="rId3"/>
                <a:stretch>
                  <a:fillRect l="-552" t="-108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76870019"/>
      </p:ext>
    </p:extLst>
  </p:cSld>
  <p:clrMapOvr>
    <a:masterClrMapping/>
  </p:clrMapOvr>
  <p:transition spd="slow">
    <p:wipe/>
  </p:transition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207569" y="322150"/>
            <a:ext cx="4221507" cy="468990"/>
          </a:xfrm>
          <a:prstGeom prst="rect">
            <a:avLst/>
          </a:prstGeom>
          <a:noFill/>
        </p:spPr>
        <p:txBody>
          <a:bodyPr wrap="none" lIns="98694" tIns="49347" rIns="98694" bIns="49347">
            <a:spAutoFit/>
          </a:bodyPr>
          <a:lstStyle/>
          <a:p>
            <a:pPr algn="ctr">
              <a:spcBef>
                <a:spcPts val="648"/>
              </a:spcBef>
            </a:pPr>
            <a:r>
              <a:rPr lang="en-US" altLang="ko-KR" sz="2400" b="1" dirty="0">
                <a:solidFill>
                  <a:srgbClr val="0E0585"/>
                </a:solidFill>
              </a:rPr>
              <a:t>class </a:t>
            </a:r>
            <a:r>
              <a:rPr lang="en-US" altLang="ko-KR" sz="2400" b="1" dirty="0" err="1" smtClean="0">
                <a:solidFill>
                  <a:srgbClr val="0E0585"/>
                </a:solidFill>
              </a:rPr>
              <a:t>CrossEntropyLoss</a:t>
            </a:r>
            <a:r>
              <a:rPr lang="en-US" altLang="ko-KR" sz="2400" b="1" dirty="0" smtClean="0">
                <a:solidFill>
                  <a:srgbClr val="0E0585"/>
                </a:solidFill>
              </a:rPr>
              <a:t> end</a:t>
            </a:r>
            <a:endParaRPr lang="en-US" altLang="ko-KR" sz="2400" b="1" dirty="0">
              <a:solidFill>
                <a:srgbClr val="0E0585"/>
              </a:solidFill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207569" y="1341231"/>
            <a:ext cx="9940065" cy="58708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ko-KR" altLang="en-US" sz="2000" dirty="0" smtClean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코드 이해</a:t>
            </a:r>
            <a:endParaRPr lang="en-US" altLang="ko-KR" sz="2000" dirty="0"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  <a:p>
            <a:endParaRPr lang="en-US" altLang="ko-KR" sz="1200" dirty="0"/>
          </a:p>
          <a:p>
            <a:r>
              <a:rPr lang="en-US" altLang="ko-KR" sz="1000" dirty="0" err="1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def</a:t>
            </a:r>
            <a:r>
              <a:rPr lang="en-US" altLang="ko-KR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000" dirty="0">
                <a:solidFill>
                  <a:srgbClr val="DCDCAA"/>
                </a:solidFill>
                <a:latin typeface="Consolas" panose="020B0609020204030204" pitchFamily="49" charset="0"/>
              </a:rPr>
              <a:t>forward</a:t>
            </a:r>
            <a:r>
              <a:rPr lang="en-US" altLang="ko-KR" sz="10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altLang="ko-KR" sz="1000" dirty="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self</a:t>
            </a:r>
            <a:r>
              <a:rPr lang="en-US" altLang="ko-KR" sz="100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en-US" altLang="ko-KR" sz="1000" dirty="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inputs</a:t>
            </a:r>
            <a:r>
              <a:rPr lang="en-US" altLang="ko-KR" sz="100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en-US" altLang="ko-KR" sz="1000" dirty="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targets</a:t>
            </a:r>
            <a:r>
              <a:rPr lang="en-US" altLang="ko-KR" sz="1000" dirty="0">
                <a:solidFill>
                  <a:srgbClr val="CCCCCC"/>
                </a:solidFill>
                <a:latin typeface="Consolas" panose="020B0609020204030204" pitchFamily="49" charset="0"/>
              </a:rPr>
              <a:t>):</a:t>
            </a:r>
          </a:p>
          <a:p>
            <a:r>
              <a:rPr lang="en-US" altLang="ko-KR" sz="10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en-US" altLang="ko-KR" sz="1000" dirty="0">
                <a:solidFill>
                  <a:srgbClr val="CE9178"/>
                </a:solidFill>
                <a:latin typeface="Consolas" panose="020B0609020204030204" pitchFamily="49" charset="0"/>
              </a:rPr>
              <a:t>"""</a:t>
            </a:r>
            <a:endParaRPr lang="en-US" altLang="ko-KR" sz="10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r>
              <a:rPr lang="en-US" altLang="ko-KR" sz="1000" dirty="0">
                <a:solidFill>
                  <a:srgbClr val="CE9178"/>
                </a:solidFill>
                <a:latin typeface="Consolas" panose="020B0609020204030204" pitchFamily="49" charset="0"/>
              </a:rPr>
              <a:t>        </a:t>
            </a:r>
            <a:r>
              <a:rPr lang="en-US" altLang="ko-KR" sz="1000" dirty="0" err="1">
                <a:solidFill>
                  <a:srgbClr val="CE9178"/>
                </a:solidFill>
                <a:latin typeface="Consolas" panose="020B0609020204030204" pitchFamily="49" charset="0"/>
              </a:rPr>
              <a:t>Args</a:t>
            </a:r>
            <a:r>
              <a:rPr lang="en-US" altLang="ko-KR" sz="1000" dirty="0">
                <a:solidFill>
                  <a:srgbClr val="CE9178"/>
                </a:solidFill>
                <a:latin typeface="Consolas" panose="020B0609020204030204" pitchFamily="49" charset="0"/>
              </a:rPr>
              <a:t>:</a:t>
            </a:r>
            <a:endParaRPr lang="en-US" altLang="ko-KR" sz="10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r>
              <a:rPr lang="en-US" altLang="ko-KR" sz="1000" dirty="0">
                <a:solidFill>
                  <a:srgbClr val="CE9178"/>
                </a:solidFill>
                <a:latin typeface="Consolas" panose="020B0609020204030204" pitchFamily="49" charset="0"/>
              </a:rPr>
              <a:t>            inputs (</a:t>
            </a:r>
            <a:r>
              <a:rPr lang="en-US" altLang="ko-KR" sz="1000" dirty="0" err="1">
                <a:solidFill>
                  <a:srgbClr val="CE9178"/>
                </a:solidFill>
                <a:latin typeface="Consolas" panose="020B0609020204030204" pitchFamily="49" charset="0"/>
              </a:rPr>
              <a:t>torch.Tensor</a:t>
            </a:r>
            <a:r>
              <a:rPr lang="en-US" altLang="ko-KR" sz="1000" dirty="0">
                <a:solidFill>
                  <a:srgbClr val="CE9178"/>
                </a:solidFill>
                <a:latin typeface="Consolas" panose="020B0609020204030204" pitchFamily="49" charset="0"/>
              </a:rPr>
              <a:t>): prediction matrix (before </a:t>
            </a:r>
            <a:r>
              <a:rPr lang="en-US" altLang="ko-KR" sz="1000" dirty="0" err="1">
                <a:solidFill>
                  <a:srgbClr val="CE9178"/>
                </a:solidFill>
                <a:latin typeface="Consolas" panose="020B0609020204030204" pitchFamily="49" charset="0"/>
              </a:rPr>
              <a:t>softmax</a:t>
            </a:r>
            <a:r>
              <a:rPr lang="en-US" altLang="ko-KR" sz="1000" dirty="0">
                <a:solidFill>
                  <a:srgbClr val="CE9178"/>
                </a:solidFill>
                <a:latin typeface="Consolas" panose="020B0609020204030204" pitchFamily="49" charset="0"/>
              </a:rPr>
              <a:t>) with</a:t>
            </a:r>
            <a:endParaRPr lang="en-US" altLang="ko-KR" sz="10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r>
              <a:rPr lang="en-US" altLang="ko-KR" sz="1000" dirty="0">
                <a:solidFill>
                  <a:srgbClr val="CE9178"/>
                </a:solidFill>
                <a:latin typeface="Consolas" panose="020B0609020204030204" pitchFamily="49" charset="0"/>
              </a:rPr>
              <a:t>                shape (</a:t>
            </a:r>
            <a:r>
              <a:rPr lang="en-US" altLang="ko-KR" sz="1000" dirty="0" err="1">
                <a:solidFill>
                  <a:srgbClr val="CE9178"/>
                </a:solidFill>
                <a:latin typeface="Consolas" panose="020B0609020204030204" pitchFamily="49" charset="0"/>
              </a:rPr>
              <a:t>batch_size</a:t>
            </a:r>
            <a:r>
              <a:rPr lang="en-US" altLang="ko-KR" sz="1000" dirty="0">
                <a:solidFill>
                  <a:srgbClr val="CE9178"/>
                </a:solidFill>
                <a:latin typeface="Consolas" panose="020B0609020204030204" pitchFamily="49" charset="0"/>
              </a:rPr>
              <a:t>, </a:t>
            </a:r>
            <a:r>
              <a:rPr lang="en-US" altLang="ko-KR" sz="1000" dirty="0" err="1">
                <a:solidFill>
                  <a:srgbClr val="CE9178"/>
                </a:solidFill>
                <a:latin typeface="Consolas" panose="020B0609020204030204" pitchFamily="49" charset="0"/>
              </a:rPr>
              <a:t>num_classes</a:t>
            </a:r>
            <a:r>
              <a:rPr lang="en-US" altLang="ko-KR" sz="1000" dirty="0">
                <a:solidFill>
                  <a:srgbClr val="CE9178"/>
                </a:solidFill>
                <a:latin typeface="Consolas" panose="020B0609020204030204" pitchFamily="49" charset="0"/>
              </a:rPr>
              <a:t>).</a:t>
            </a:r>
            <a:endParaRPr lang="en-US" altLang="ko-KR" sz="10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r>
              <a:rPr lang="en-US" altLang="ko-KR" sz="1000" dirty="0">
                <a:solidFill>
                  <a:srgbClr val="CE9178"/>
                </a:solidFill>
                <a:latin typeface="Consolas" panose="020B0609020204030204" pitchFamily="49" charset="0"/>
              </a:rPr>
              <a:t>            targets (</a:t>
            </a:r>
            <a:r>
              <a:rPr lang="en-US" altLang="ko-KR" sz="1000" dirty="0" err="1">
                <a:solidFill>
                  <a:srgbClr val="CE9178"/>
                </a:solidFill>
                <a:latin typeface="Consolas" panose="020B0609020204030204" pitchFamily="49" charset="0"/>
              </a:rPr>
              <a:t>torch.LongTensor</a:t>
            </a:r>
            <a:r>
              <a:rPr lang="en-US" altLang="ko-KR" sz="1000" dirty="0">
                <a:solidFill>
                  <a:srgbClr val="CE9178"/>
                </a:solidFill>
                <a:latin typeface="Consolas" panose="020B0609020204030204" pitchFamily="49" charset="0"/>
              </a:rPr>
              <a:t>): ground truth labels with shape (</a:t>
            </a:r>
            <a:r>
              <a:rPr lang="en-US" altLang="ko-KR" sz="1000" dirty="0" err="1">
                <a:solidFill>
                  <a:srgbClr val="CE9178"/>
                </a:solidFill>
                <a:latin typeface="Consolas" panose="020B0609020204030204" pitchFamily="49" charset="0"/>
              </a:rPr>
              <a:t>batch_size</a:t>
            </a:r>
            <a:r>
              <a:rPr lang="en-US" altLang="ko-KR" sz="1000" dirty="0">
                <a:solidFill>
                  <a:srgbClr val="CE9178"/>
                </a:solidFill>
                <a:latin typeface="Consolas" panose="020B0609020204030204" pitchFamily="49" charset="0"/>
              </a:rPr>
              <a:t>).</a:t>
            </a:r>
            <a:endParaRPr lang="en-US" altLang="ko-KR" sz="10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r>
              <a:rPr lang="en-US" altLang="ko-KR" sz="1000" dirty="0">
                <a:solidFill>
                  <a:srgbClr val="CE9178"/>
                </a:solidFill>
                <a:latin typeface="Consolas" panose="020B0609020204030204" pitchFamily="49" charset="0"/>
              </a:rPr>
              <a:t>                Each position contains the label index.</a:t>
            </a:r>
            <a:endParaRPr lang="en-US" altLang="ko-KR" sz="10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r>
              <a:rPr lang="en-US" altLang="ko-KR" sz="1000" dirty="0">
                <a:solidFill>
                  <a:srgbClr val="CE9178"/>
                </a:solidFill>
                <a:latin typeface="Consolas" panose="020B0609020204030204" pitchFamily="49" charset="0"/>
              </a:rPr>
              <a:t>        """</a:t>
            </a:r>
            <a:endParaRPr lang="en-US" altLang="ko-KR" sz="10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r>
              <a:rPr lang="en-US" altLang="ko-KR" sz="10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en-US" altLang="ko-KR" sz="1000" dirty="0" err="1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log_probs</a:t>
            </a:r>
            <a:r>
              <a:rPr lang="en-US" altLang="ko-KR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0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en-US" altLang="ko-KR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000" dirty="0" err="1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self</a:t>
            </a:r>
            <a:r>
              <a:rPr lang="en-US" altLang="ko-KR" sz="1000" dirty="0" err="1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en-US" altLang="ko-KR" sz="1000" dirty="0" err="1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logsoftmax</a:t>
            </a:r>
            <a:r>
              <a:rPr lang="en-US" altLang="ko-KR" sz="10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altLang="ko-KR" sz="1000" dirty="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inputs</a:t>
            </a:r>
            <a:r>
              <a:rPr lang="en-US" altLang="ko-KR" sz="1000" dirty="0">
                <a:solidFill>
                  <a:srgbClr val="CCCCCC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en-US" altLang="ko-KR" sz="10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en-US" altLang="ko-KR" sz="1000" dirty="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zeros</a:t>
            </a:r>
            <a:r>
              <a:rPr lang="en-US" altLang="ko-KR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0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en-US" altLang="ko-KR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000" dirty="0" err="1">
                <a:solidFill>
                  <a:srgbClr val="4EC9B0"/>
                </a:solidFill>
                <a:latin typeface="Consolas" panose="020B0609020204030204" pitchFamily="49" charset="0"/>
              </a:rPr>
              <a:t>torch</a:t>
            </a:r>
            <a:r>
              <a:rPr lang="en-US" altLang="ko-KR" sz="1000" dirty="0" err="1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en-US" altLang="ko-KR" sz="1000" dirty="0" err="1">
                <a:solidFill>
                  <a:srgbClr val="DCDCAA"/>
                </a:solidFill>
                <a:latin typeface="Consolas" panose="020B0609020204030204" pitchFamily="49" charset="0"/>
              </a:rPr>
              <a:t>zeros</a:t>
            </a:r>
            <a:r>
              <a:rPr lang="en-US" altLang="ko-KR" sz="10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altLang="ko-KR" sz="1000" dirty="0" err="1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log_probs</a:t>
            </a:r>
            <a:r>
              <a:rPr lang="en-US" altLang="ko-KR" sz="1000" dirty="0" err="1">
                <a:solidFill>
                  <a:srgbClr val="CCCCCC"/>
                </a:solidFill>
                <a:latin typeface="Consolas" panose="020B0609020204030204" pitchFamily="49" charset="0"/>
              </a:rPr>
              <a:t>.size</a:t>
            </a:r>
            <a:r>
              <a:rPr lang="en-US" altLang="ko-KR" sz="1000" dirty="0">
                <a:solidFill>
                  <a:srgbClr val="CCCCCC"/>
                </a:solidFill>
                <a:latin typeface="Consolas" panose="020B0609020204030204" pitchFamily="49" charset="0"/>
              </a:rPr>
              <a:t>())</a:t>
            </a:r>
          </a:p>
          <a:p>
            <a:r>
              <a:rPr lang="en-US" altLang="ko-KR" sz="10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en-US" altLang="ko-KR" sz="1000" dirty="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targets</a:t>
            </a:r>
            <a:r>
              <a:rPr lang="en-US" altLang="ko-KR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0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en-US" altLang="ko-KR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000" dirty="0" err="1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zeros</a:t>
            </a:r>
            <a:r>
              <a:rPr lang="en-US" altLang="ko-KR" sz="1000" dirty="0" err="1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en-US" altLang="ko-KR" sz="1000" dirty="0" err="1">
                <a:solidFill>
                  <a:srgbClr val="DCDCAA"/>
                </a:solidFill>
                <a:latin typeface="Consolas" panose="020B0609020204030204" pitchFamily="49" charset="0"/>
              </a:rPr>
              <a:t>scatter</a:t>
            </a:r>
            <a:r>
              <a:rPr lang="en-US" altLang="ko-KR" sz="1000" dirty="0">
                <a:solidFill>
                  <a:srgbClr val="DCDCAA"/>
                </a:solidFill>
                <a:latin typeface="Consolas" panose="020B0609020204030204" pitchFamily="49" charset="0"/>
              </a:rPr>
              <a:t>_</a:t>
            </a:r>
            <a:r>
              <a:rPr lang="en-US" altLang="ko-KR" sz="10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altLang="ko-KR" sz="1000" dirty="0">
                <a:solidFill>
                  <a:srgbClr val="B5CEA8"/>
                </a:solidFill>
                <a:latin typeface="Consolas" panose="020B0609020204030204" pitchFamily="49" charset="0"/>
              </a:rPr>
              <a:t>1</a:t>
            </a:r>
            <a:r>
              <a:rPr lang="en-US" altLang="ko-KR" sz="100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en-US" altLang="ko-KR" sz="1000" dirty="0" err="1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targets</a:t>
            </a:r>
            <a:r>
              <a:rPr lang="en-US" altLang="ko-KR" sz="1000" dirty="0" err="1">
                <a:solidFill>
                  <a:srgbClr val="CCCCCC"/>
                </a:solidFill>
                <a:latin typeface="Consolas" panose="020B0609020204030204" pitchFamily="49" charset="0"/>
              </a:rPr>
              <a:t>.unsqueeze</a:t>
            </a:r>
            <a:r>
              <a:rPr lang="en-US" altLang="ko-KR" sz="10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altLang="ko-KR" sz="1000" dirty="0">
                <a:solidFill>
                  <a:srgbClr val="B5CEA8"/>
                </a:solidFill>
                <a:latin typeface="Consolas" panose="020B0609020204030204" pitchFamily="49" charset="0"/>
              </a:rPr>
              <a:t>1</a:t>
            </a:r>
            <a:r>
              <a:rPr lang="en-US" altLang="ko-KR" sz="1000" dirty="0">
                <a:solidFill>
                  <a:srgbClr val="CCCCCC"/>
                </a:solidFill>
                <a:latin typeface="Consolas" panose="020B0609020204030204" pitchFamily="49" charset="0"/>
              </a:rPr>
              <a:t>).</a:t>
            </a:r>
            <a:r>
              <a:rPr lang="en-US" altLang="ko-KR" sz="1000" dirty="0" err="1">
                <a:solidFill>
                  <a:srgbClr val="CCCCCC"/>
                </a:solidFill>
                <a:latin typeface="Consolas" panose="020B0609020204030204" pitchFamily="49" charset="0"/>
              </a:rPr>
              <a:t>data.cpu</a:t>
            </a:r>
            <a:r>
              <a:rPr lang="en-US" altLang="ko-KR" sz="1000" dirty="0">
                <a:solidFill>
                  <a:srgbClr val="CCCCCC"/>
                </a:solidFill>
                <a:latin typeface="Consolas" panose="020B0609020204030204" pitchFamily="49" charset="0"/>
              </a:rPr>
              <a:t>(), </a:t>
            </a:r>
            <a:r>
              <a:rPr lang="en-US" altLang="ko-KR" sz="1000" dirty="0">
                <a:solidFill>
                  <a:srgbClr val="B5CEA8"/>
                </a:solidFill>
                <a:latin typeface="Consolas" panose="020B0609020204030204" pitchFamily="49" charset="0"/>
              </a:rPr>
              <a:t>1</a:t>
            </a:r>
            <a:r>
              <a:rPr lang="en-US" altLang="ko-KR" sz="1000" dirty="0">
                <a:solidFill>
                  <a:srgbClr val="CCCCCC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en-US" altLang="ko-KR" sz="10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en-US" altLang="ko-KR" sz="1000" dirty="0">
                <a:solidFill>
                  <a:srgbClr val="C586C0"/>
                </a:solidFill>
                <a:latin typeface="Consolas" panose="020B0609020204030204" pitchFamily="49" charset="0"/>
              </a:rPr>
              <a:t>if</a:t>
            </a:r>
            <a:r>
              <a:rPr lang="en-US" altLang="ko-KR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000" dirty="0" err="1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self</a:t>
            </a:r>
            <a:r>
              <a:rPr lang="en-US" altLang="ko-KR" sz="1000" dirty="0" err="1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en-US" altLang="ko-KR" sz="1000" dirty="0" err="1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use_gpu</a:t>
            </a:r>
            <a:r>
              <a:rPr lang="en-US" altLang="ko-KR" sz="1000" dirty="0">
                <a:solidFill>
                  <a:srgbClr val="CCCCCC"/>
                </a:solidFill>
                <a:latin typeface="Consolas" panose="020B0609020204030204" pitchFamily="49" charset="0"/>
              </a:rPr>
              <a:t>:</a:t>
            </a:r>
          </a:p>
          <a:p>
            <a:r>
              <a:rPr lang="en-US" altLang="ko-KR" sz="10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    </a:t>
            </a:r>
            <a:r>
              <a:rPr lang="en-US" altLang="ko-KR" sz="1000" dirty="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targets</a:t>
            </a:r>
            <a:r>
              <a:rPr lang="en-US" altLang="ko-KR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0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en-US" altLang="ko-KR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000" dirty="0" err="1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targets</a:t>
            </a:r>
            <a:r>
              <a:rPr lang="en-US" altLang="ko-KR" sz="1000" dirty="0" err="1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en-US" altLang="ko-KR" sz="1000" dirty="0" err="1">
                <a:solidFill>
                  <a:srgbClr val="DCDCAA"/>
                </a:solidFill>
                <a:latin typeface="Consolas" panose="020B0609020204030204" pitchFamily="49" charset="0"/>
              </a:rPr>
              <a:t>cuda</a:t>
            </a:r>
            <a:r>
              <a:rPr lang="en-US" altLang="ko-KR" sz="1000" dirty="0">
                <a:solidFill>
                  <a:srgbClr val="CCCCCC"/>
                </a:solidFill>
                <a:latin typeface="Consolas" panose="020B0609020204030204" pitchFamily="49" charset="0"/>
              </a:rPr>
              <a:t>()</a:t>
            </a:r>
          </a:p>
          <a:p>
            <a:r>
              <a:rPr lang="en-US" altLang="ko-KR" sz="10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en-US" altLang="ko-KR" sz="1000" dirty="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targets </a:t>
            </a:r>
            <a:r>
              <a:rPr lang="en-US" altLang="ko-KR" sz="10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en-US" altLang="ko-KR" sz="1000" dirty="0">
                <a:solidFill>
                  <a:srgbClr val="CCCCCC"/>
                </a:solidFill>
                <a:latin typeface="Consolas" panose="020B0609020204030204" pitchFamily="49" charset="0"/>
              </a:rPr>
              <a:t> (</a:t>
            </a:r>
            <a:r>
              <a:rPr lang="en-US" altLang="ko-KR" sz="1000" dirty="0">
                <a:solidFill>
                  <a:srgbClr val="B5CEA8"/>
                </a:solidFill>
                <a:latin typeface="Consolas" panose="020B0609020204030204" pitchFamily="49" charset="0"/>
              </a:rPr>
              <a:t>1</a:t>
            </a:r>
            <a:r>
              <a:rPr lang="en-US" altLang="ko-KR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000" dirty="0">
                <a:solidFill>
                  <a:srgbClr val="D4D4D4"/>
                </a:solidFill>
                <a:latin typeface="Consolas" panose="020B0609020204030204" pitchFamily="49" charset="0"/>
              </a:rPr>
              <a:t>-</a:t>
            </a:r>
            <a:r>
              <a:rPr lang="en-US" altLang="ko-KR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000" dirty="0" err="1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self</a:t>
            </a:r>
            <a:r>
              <a:rPr lang="en-US" altLang="ko-KR" sz="1000" dirty="0" err="1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en-US" altLang="ko-KR" sz="1000" dirty="0" err="1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eps</a:t>
            </a:r>
            <a:r>
              <a:rPr lang="en-US" altLang="ko-KR" sz="1000" dirty="0">
                <a:solidFill>
                  <a:srgbClr val="CCCCCC"/>
                </a:solidFill>
                <a:latin typeface="Consolas" panose="020B0609020204030204" pitchFamily="49" charset="0"/>
              </a:rPr>
              <a:t>) </a:t>
            </a:r>
            <a:r>
              <a:rPr lang="en-US" altLang="ko-KR" sz="1000" dirty="0">
                <a:solidFill>
                  <a:srgbClr val="DCDCAA"/>
                </a:solidFill>
                <a:latin typeface="Consolas" panose="020B0609020204030204" pitchFamily="49" charset="0"/>
              </a:rPr>
              <a:t>*</a:t>
            </a:r>
            <a:r>
              <a:rPr lang="en-US" altLang="ko-KR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000" dirty="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targets</a:t>
            </a:r>
            <a:r>
              <a:rPr lang="en-US" altLang="ko-KR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000" dirty="0">
                <a:solidFill>
                  <a:srgbClr val="DCDCAA"/>
                </a:solidFill>
                <a:latin typeface="Consolas" panose="020B0609020204030204" pitchFamily="49" charset="0"/>
              </a:rPr>
              <a:t>+</a:t>
            </a:r>
            <a:r>
              <a:rPr lang="en-US" altLang="ko-KR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000" dirty="0" err="1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self</a:t>
            </a:r>
            <a:r>
              <a:rPr lang="en-US" altLang="ko-KR" sz="1000" dirty="0" err="1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en-US" altLang="ko-KR" sz="1000" dirty="0" err="1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eps</a:t>
            </a:r>
            <a:r>
              <a:rPr lang="en-US" altLang="ko-KR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000" dirty="0">
                <a:solidFill>
                  <a:srgbClr val="D4D4D4"/>
                </a:solidFill>
                <a:latin typeface="Consolas" panose="020B0609020204030204" pitchFamily="49" charset="0"/>
              </a:rPr>
              <a:t>/</a:t>
            </a:r>
            <a:r>
              <a:rPr lang="en-US" altLang="ko-KR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000" dirty="0" err="1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self</a:t>
            </a:r>
            <a:r>
              <a:rPr lang="en-US" altLang="ko-KR" sz="1000" dirty="0" err="1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en-US" altLang="ko-KR" sz="1000" dirty="0" err="1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num_classes</a:t>
            </a:r>
            <a:endParaRPr lang="en-US" altLang="ko-KR" sz="1000" dirty="0">
              <a:solidFill>
                <a:schemeClr val="accent1">
                  <a:lumMod val="75000"/>
                </a:schemeClr>
              </a:solidFill>
              <a:latin typeface="Consolas" panose="020B0609020204030204" pitchFamily="49" charset="0"/>
            </a:endParaRPr>
          </a:p>
          <a:p>
            <a:r>
              <a:rPr lang="en-US" altLang="ko-KR" sz="10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en-US" altLang="ko-KR" sz="1000" dirty="0">
                <a:solidFill>
                  <a:srgbClr val="C586C0"/>
                </a:solidFill>
                <a:latin typeface="Consolas" panose="020B0609020204030204" pitchFamily="49" charset="0"/>
              </a:rPr>
              <a:t>return</a:t>
            </a:r>
            <a:r>
              <a:rPr lang="en-US" altLang="ko-KR" sz="1000" dirty="0">
                <a:solidFill>
                  <a:srgbClr val="CCCCCC"/>
                </a:solidFill>
                <a:latin typeface="Consolas" panose="020B0609020204030204" pitchFamily="49" charset="0"/>
              </a:rPr>
              <a:t> (</a:t>
            </a:r>
            <a:r>
              <a:rPr lang="en-US" altLang="ko-KR" sz="1000" dirty="0">
                <a:solidFill>
                  <a:srgbClr val="DCDCAA"/>
                </a:solidFill>
                <a:latin typeface="Consolas" panose="020B0609020204030204" pitchFamily="49" charset="0"/>
              </a:rPr>
              <a:t>-</a:t>
            </a:r>
            <a:r>
              <a:rPr lang="en-US" altLang="ko-KR" sz="1000" dirty="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targets</a:t>
            </a:r>
            <a:r>
              <a:rPr lang="en-US" altLang="ko-KR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000" dirty="0">
                <a:solidFill>
                  <a:srgbClr val="DCDCAA"/>
                </a:solidFill>
                <a:latin typeface="Consolas" panose="020B0609020204030204" pitchFamily="49" charset="0"/>
              </a:rPr>
              <a:t>*</a:t>
            </a:r>
            <a:r>
              <a:rPr lang="en-US" altLang="ko-KR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000" dirty="0" err="1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log_probs</a:t>
            </a:r>
            <a:r>
              <a:rPr lang="en-US" altLang="ko-KR" sz="1000" dirty="0">
                <a:solidFill>
                  <a:srgbClr val="CCCCCC"/>
                </a:solidFill>
                <a:latin typeface="Consolas" panose="020B0609020204030204" pitchFamily="49" charset="0"/>
              </a:rPr>
              <a:t>).mean(</a:t>
            </a:r>
            <a:r>
              <a:rPr lang="en-US" altLang="ko-KR" sz="1000" dirty="0">
                <a:solidFill>
                  <a:srgbClr val="B5CEA8"/>
                </a:solidFill>
                <a:latin typeface="Consolas" panose="020B0609020204030204" pitchFamily="49" charset="0"/>
              </a:rPr>
              <a:t>0</a:t>
            </a:r>
            <a:r>
              <a:rPr lang="en-US" altLang="ko-KR" sz="1000" dirty="0">
                <a:solidFill>
                  <a:srgbClr val="CCCCCC"/>
                </a:solidFill>
                <a:latin typeface="Consolas" panose="020B0609020204030204" pitchFamily="49" charset="0"/>
              </a:rPr>
              <a:t>).sum()</a:t>
            </a:r>
          </a:p>
          <a:p>
            <a:endParaRPr lang="en-US" altLang="ko-KR" sz="1200" dirty="0" smtClean="0"/>
          </a:p>
          <a:p>
            <a:r>
              <a:rPr lang="en-US" altLang="ko-KR" sz="1200" dirty="0"/>
              <a:t>targets = </a:t>
            </a:r>
            <a:r>
              <a:rPr lang="en-US" altLang="ko-KR" sz="1200" dirty="0" err="1"/>
              <a:t>zeros.scatter</a:t>
            </a:r>
            <a:r>
              <a:rPr lang="en-US" altLang="ko-KR" sz="1200" dirty="0"/>
              <a:t>_(1, </a:t>
            </a:r>
            <a:r>
              <a:rPr lang="en-US" altLang="ko-KR" sz="1200" dirty="0" err="1"/>
              <a:t>targets.unsqueeze</a:t>
            </a:r>
            <a:r>
              <a:rPr lang="en-US" altLang="ko-KR" sz="1200" dirty="0"/>
              <a:t>(1).</a:t>
            </a:r>
            <a:r>
              <a:rPr lang="en-US" altLang="ko-KR" sz="1200" dirty="0" err="1"/>
              <a:t>data.cpu</a:t>
            </a:r>
            <a:r>
              <a:rPr lang="en-US" altLang="ko-KR" sz="1200" dirty="0"/>
              <a:t>(), 1)</a:t>
            </a:r>
          </a:p>
          <a:p>
            <a:endParaRPr lang="en-US" altLang="ko-KR" sz="1200" dirty="0"/>
          </a:p>
          <a:p>
            <a:r>
              <a:rPr lang="ko-KR" altLang="en-US" sz="1050" dirty="0" smtClean="0"/>
              <a:t>역할</a:t>
            </a:r>
            <a:r>
              <a:rPr lang="en-US" altLang="ko-KR" sz="1050" dirty="0"/>
              <a:t>: </a:t>
            </a:r>
            <a:r>
              <a:rPr lang="ko-KR" altLang="en-US" sz="1050" dirty="0"/>
              <a:t>실제 레이블</a:t>
            </a:r>
            <a:r>
              <a:rPr lang="en-US" altLang="ko-KR" sz="1050" dirty="0"/>
              <a:t>(targets)</a:t>
            </a:r>
            <a:r>
              <a:rPr lang="ko-KR" altLang="en-US" sz="1050" dirty="0"/>
              <a:t>을 원</a:t>
            </a:r>
            <a:r>
              <a:rPr lang="en-US" altLang="ko-KR" sz="1050" dirty="0"/>
              <a:t>-</a:t>
            </a:r>
            <a:r>
              <a:rPr lang="ko-KR" altLang="en-US" sz="1050" dirty="0" err="1"/>
              <a:t>핫</a:t>
            </a:r>
            <a:r>
              <a:rPr lang="ko-KR" altLang="en-US" sz="1050" dirty="0"/>
              <a:t> </a:t>
            </a:r>
            <a:r>
              <a:rPr lang="ko-KR" altLang="en-US" sz="1050" dirty="0" err="1"/>
              <a:t>인코딩</a:t>
            </a:r>
            <a:r>
              <a:rPr lang="ko-KR" altLang="en-US" sz="1050" dirty="0"/>
              <a:t> 형태로 변환합니다</a:t>
            </a:r>
            <a:r>
              <a:rPr lang="en-US" altLang="ko-KR" sz="1050" dirty="0"/>
              <a:t>.</a:t>
            </a:r>
          </a:p>
          <a:p>
            <a:r>
              <a:rPr lang="ko-KR" altLang="en-US" sz="1050" dirty="0" smtClean="0"/>
              <a:t>작동 </a:t>
            </a:r>
            <a:r>
              <a:rPr lang="ko-KR" altLang="en-US" sz="1050" dirty="0"/>
              <a:t>방식</a:t>
            </a:r>
            <a:r>
              <a:rPr lang="en-US" altLang="ko-KR" sz="1050" dirty="0"/>
              <a:t>:</a:t>
            </a:r>
          </a:p>
          <a:p>
            <a:r>
              <a:rPr lang="en-US" altLang="ko-KR" sz="1050" dirty="0"/>
              <a:t>        targets</a:t>
            </a:r>
            <a:r>
              <a:rPr lang="ko-KR" altLang="en-US" sz="1050" dirty="0"/>
              <a:t>는 정답 레이블의 인덱스를 담고 있는 </a:t>
            </a:r>
            <a:r>
              <a:rPr lang="en-US" altLang="ko-KR" sz="1050" dirty="0"/>
              <a:t>1</a:t>
            </a:r>
            <a:r>
              <a:rPr lang="ko-KR" altLang="en-US" sz="1050" dirty="0"/>
              <a:t>차원 </a:t>
            </a:r>
            <a:r>
              <a:rPr lang="ko-KR" altLang="en-US" sz="1050" dirty="0" err="1"/>
              <a:t>텐서입니다</a:t>
            </a:r>
            <a:r>
              <a:rPr lang="en-US" altLang="ko-KR" sz="1050" dirty="0"/>
              <a:t>. </a:t>
            </a:r>
            <a:r>
              <a:rPr lang="ko-KR" altLang="en-US" sz="1050" dirty="0"/>
              <a:t>예를 들어</a:t>
            </a:r>
            <a:r>
              <a:rPr lang="en-US" altLang="ko-KR" sz="1050" dirty="0"/>
              <a:t>, [1, 0, 4]</a:t>
            </a:r>
            <a:r>
              <a:rPr lang="ko-KR" altLang="en-US" sz="1050" dirty="0"/>
              <a:t>와 같은 형태로 배치 크기만큼의 값을 가집니다</a:t>
            </a:r>
            <a:r>
              <a:rPr lang="en-US" altLang="ko-KR" sz="1050" dirty="0"/>
              <a:t>.</a:t>
            </a:r>
          </a:p>
          <a:p>
            <a:r>
              <a:rPr lang="en-US" altLang="ko-KR" sz="1050" dirty="0"/>
              <a:t>        </a:t>
            </a:r>
            <a:r>
              <a:rPr lang="en-US" altLang="ko-KR" sz="1050" dirty="0" err="1"/>
              <a:t>targets.unsqueeze</a:t>
            </a:r>
            <a:r>
              <a:rPr lang="en-US" altLang="ko-KR" sz="1050" dirty="0"/>
              <a:t>(1)</a:t>
            </a:r>
            <a:r>
              <a:rPr lang="ko-KR" altLang="en-US" sz="1050" dirty="0"/>
              <a:t>는 </a:t>
            </a:r>
            <a:r>
              <a:rPr lang="en-US" altLang="ko-KR" sz="1050" dirty="0"/>
              <a:t>targets</a:t>
            </a:r>
            <a:r>
              <a:rPr lang="ko-KR" altLang="en-US" sz="1050" dirty="0"/>
              <a:t>의 차원을 늘려 </a:t>
            </a:r>
            <a:r>
              <a:rPr lang="en-US" altLang="ko-KR" sz="1050" dirty="0"/>
              <a:t>(</a:t>
            </a:r>
            <a:r>
              <a:rPr lang="en-US" altLang="ko-KR" sz="1050" dirty="0" err="1"/>
              <a:t>batch_size</a:t>
            </a:r>
            <a:r>
              <a:rPr lang="en-US" altLang="ko-KR" sz="1050" dirty="0"/>
              <a:t>, 1) </a:t>
            </a:r>
            <a:r>
              <a:rPr lang="ko-KR" altLang="en-US" sz="1050" dirty="0"/>
              <a:t>형태로 만듭니다</a:t>
            </a:r>
            <a:r>
              <a:rPr lang="en-US" altLang="ko-KR" sz="1050" dirty="0"/>
              <a:t>. </a:t>
            </a:r>
            <a:r>
              <a:rPr lang="ko-KR" altLang="en-US" sz="1050" dirty="0"/>
              <a:t>이렇게 하면 각 레이블 인덱스를 </a:t>
            </a:r>
            <a:r>
              <a:rPr lang="en-US" altLang="ko-KR" sz="1050" dirty="0"/>
              <a:t>2</a:t>
            </a:r>
            <a:r>
              <a:rPr lang="ko-KR" altLang="en-US" sz="1050" dirty="0"/>
              <a:t>차원으로 변환하여 </a:t>
            </a:r>
            <a:r>
              <a:rPr lang="en-US" altLang="ko-KR" sz="1050" dirty="0"/>
              <a:t>.scatter_ </a:t>
            </a:r>
            <a:r>
              <a:rPr lang="ko-KR" altLang="en-US" sz="1050" dirty="0"/>
              <a:t>메서드가 사용할 수 있게 됩니다</a:t>
            </a:r>
            <a:r>
              <a:rPr lang="en-US" altLang="ko-KR" sz="1050" dirty="0"/>
              <a:t>.</a:t>
            </a:r>
          </a:p>
          <a:p>
            <a:r>
              <a:rPr lang="en-US" altLang="ko-KR" sz="1050" dirty="0"/>
              <a:t>        .</a:t>
            </a:r>
            <a:r>
              <a:rPr lang="en-US" altLang="ko-KR" sz="1050" dirty="0" err="1"/>
              <a:t>data.cpu</a:t>
            </a:r>
            <a:r>
              <a:rPr lang="en-US" altLang="ko-KR" sz="1050" dirty="0"/>
              <a:t>()</a:t>
            </a:r>
            <a:r>
              <a:rPr lang="ko-KR" altLang="en-US" sz="1050" dirty="0"/>
              <a:t>는 </a:t>
            </a:r>
            <a:r>
              <a:rPr lang="en-US" altLang="ko-KR" sz="1050" dirty="0"/>
              <a:t>targets</a:t>
            </a:r>
            <a:r>
              <a:rPr lang="ko-KR" altLang="en-US" sz="1050" dirty="0"/>
              <a:t>를 </a:t>
            </a:r>
            <a:r>
              <a:rPr lang="en-US" altLang="ko-KR" sz="1050" dirty="0"/>
              <a:t>CPU </a:t>
            </a:r>
            <a:r>
              <a:rPr lang="ko-KR" altLang="en-US" sz="1050" dirty="0"/>
              <a:t>메모리로 이동시키고</a:t>
            </a:r>
            <a:r>
              <a:rPr lang="en-US" altLang="ko-KR" sz="1050" dirty="0"/>
              <a:t>, .scatter_(1, </a:t>
            </a:r>
            <a:r>
              <a:rPr lang="en-US" altLang="ko-KR" sz="1050" dirty="0" err="1"/>
              <a:t>targets.unsqueeze</a:t>
            </a:r>
            <a:r>
              <a:rPr lang="en-US" altLang="ko-KR" sz="1050" dirty="0"/>
              <a:t>(1).</a:t>
            </a:r>
            <a:r>
              <a:rPr lang="en-US" altLang="ko-KR" sz="1050" dirty="0" err="1"/>
              <a:t>data.cpu</a:t>
            </a:r>
            <a:r>
              <a:rPr lang="en-US" altLang="ko-KR" sz="1050" dirty="0"/>
              <a:t>(), 1)</a:t>
            </a:r>
            <a:r>
              <a:rPr lang="ko-KR" altLang="en-US" sz="1050" dirty="0"/>
              <a:t>는 원</a:t>
            </a:r>
            <a:r>
              <a:rPr lang="en-US" altLang="ko-KR" sz="1050" dirty="0"/>
              <a:t>-</a:t>
            </a:r>
            <a:r>
              <a:rPr lang="ko-KR" altLang="en-US" sz="1050" dirty="0" err="1"/>
              <a:t>핫</a:t>
            </a:r>
            <a:r>
              <a:rPr lang="ko-KR" altLang="en-US" sz="1050" dirty="0"/>
              <a:t> </a:t>
            </a:r>
            <a:r>
              <a:rPr lang="ko-KR" altLang="en-US" sz="1050" dirty="0" err="1"/>
              <a:t>인코딩을</a:t>
            </a:r>
            <a:r>
              <a:rPr lang="ko-KR" altLang="en-US" sz="1050" dirty="0"/>
              <a:t> 수행합니다</a:t>
            </a:r>
            <a:r>
              <a:rPr lang="en-US" altLang="ko-KR" sz="1050" dirty="0"/>
              <a:t>:</a:t>
            </a:r>
          </a:p>
          <a:p>
            <a:r>
              <a:rPr lang="en-US" altLang="ko-KR" sz="1050" dirty="0"/>
              <a:t>            .scatter_</a:t>
            </a:r>
            <a:r>
              <a:rPr lang="ko-KR" altLang="en-US" sz="1050" dirty="0"/>
              <a:t>는 인덱스 기준으로 값을 할당하는 함수입니다</a:t>
            </a:r>
            <a:r>
              <a:rPr lang="en-US" altLang="ko-KR" sz="1050" dirty="0"/>
              <a:t>. </a:t>
            </a:r>
            <a:r>
              <a:rPr lang="ko-KR" altLang="en-US" sz="1050" dirty="0"/>
              <a:t>여기서 </a:t>
            </a:r>
            <a:r>
              <a:rPr lang="en-US" altLang="ko-KR" sz="1050" dirty="0"/>
              <a:t>1</a:t>
            </a:r>
            <a:r>
              <a:rPr lang="ko-KR" altLang="en-US" sz="1050" dirty="0"/>
              <a:t>은 차원을 나타내며</a:t>
            </a:r>
            <a:r>
              <a:rPr lang="en-US" altLang="ko-KR" sz="1050" dirty="0"/>
              <a:t>, </a:t>
            </a:r>
            <a:r>
              <a:rPr lang="ko-KR" altLang="en-US" sz="1050" dirty="0"/>
              <a:t>각 행</a:t>
            </a:r>
            <a:r>
              <a:rPr lang="en-US" altLang="ko-KR" sz="1050" dirty="0"/>
              <a:t>(</a:t>
            </a:r>
            <a:r>
              <a:rPr lang="ko-KR" altLang="en-US" sz="1050" dirty="0"/>
              <a:t>샘플</a:t>
            </a:r>
            <a:r>
              <a:rPr lang="en-US" altLang="ko-KR" sz="1050" dirty="0"/>
              <a:t>)</a:t>
            </a:r>
            <a:r>
              <a:rPr lang="ko-KR" altLang="en-US" sz="1050" dirty="0"/>
              <a:t>에 대해 해당 차원의 값을 </a:t>
            </a:r>
            <a:r>
              <a:rPr lang="en-US" altLang="ko-KR" sz="1050" dirty="0"/>
              <a:t>1</a:t>
            </a:r>
            <a:r>
              <a:rPr lang="ko-KR" altLang="en-US" sz="1050" dirty="0"/>
              <a:t>로 설정합니다</a:t>
            </a:r>
            <a:r>
              <a:rPr lang="en-US" altLang="ko-KR" sz="1050" dirty="0"/>
              <a:t>.</a:t>
            </a:r>
          </a:p>
          <a:p>
            <a:r>
              <a:rPr lang="en-US" altLang="ko-KR" sz="1050" dirty="0"/>
              <a:t>            </a:t>
            </a:r>
            <a:r>
              <a:rPr lang="ko-KR" altLang="en-US" sz="1050" dirty="0"/>
              <a:t>예를 들어</a:t>
            </a:r>
            <a:r>
              <a:rPr lang="en-US" altLang="ko-KR" sz="1050" dirty="0"/>
              <a:t>, targets</a:t>
            </a:r>
            <a:r>
              <a:rPr lang="ko-KR" altLang="en-US" sz="1050" dirty="0"/>
              <a:t>가 </a:t>
            </a:r>
            <a:r>
              <a:rPr lang="en-US" altLang="ko-KR" sz="1050" dirty="0"/>
              <a:t>[1, 0, 4]</a:t>
            </a:r>
            <a:r>
              <a:rPr lang="ko-KR" altLang="en-US" sz="1050" dirty="0"/>
              <a:t>일 경우</a:t>
            </a:r>
            <a:r>
              <a:rPr lang="en-US" altLang="ko-KR" sz="1050" dirty="0"/>
              <a:t>, </a:t>
            </a:r>
            <a:r>
              <a:rPr lang="ko-KR" altLang="en-US" sz="1050" dirty="0"/>
              <a:t>이 코드가 실행되면 </a:t>
            </a:r>
            <a:r>
              <a:rPr lang="en-US" altLang="ko-KR" sz="1050" dirty="0"/>
              <a:t>zeros</a:t>
            </a:r>
            <a:r>
              <a:rPr lang="ko-KR" altLang="en-US" sz="1050" dirty="0"/>
              <a:t>는 다음과 같은 형태로 변환됩니다</a:t>
            </a:r>
            <a:r>
              <a:rPr lang="en-US" altLang="ko-KR" sz="1050" dirty="0"/>
              <a:t>:</a:t>
            </a:r>
          </a:p>
          <a:p>
            <a:r>
              <a:rPr lang="ko-KR" altLang="en-US" sz="1050" dirty="0" smtClean="0"/>
              <a:t>결과</a:t>
            </a:r>
            <a:endParaRPr lang="en-US" altLang="ko-KR" sz="1050" dirty="0"/>
          </a:p>
          <a:p>
            <a:r>
              <a:rPr lang="en-US" altLang="ko-KR" sz="1050" dirty="0"/>
              <a:t>            [[0, 1, 0, 0, 0],</a:t>
            </a:r>
          </a:p>
          <a:p>
            <a:r>
              <a:rPr lang="en-US" altLang="ko-KR" sz="1050" dirty="0"/>
              <a:t>             [1, 0, 0, 0, 0],</a:t>
            </a:r>
          </a:p>
          <a:p>
            <a:r>
              <a:rPr lang="en-US" altLang="ko-KR" sz="1050" dirty="0"/>
              <a:t>             [0, 0, 0, 0, 1]]</a:t>
            </a:r>
          </a:p>
          <a:p>
            <a:r>
              <a:rPr lang="ko-KR" altLang="en-US" sz="1050" dirty="0" smtClean="0"/>
              <a:t>결과</a:t>
            </a:r>
            <a:r>
              <a:rPr lang="en-US" altLang="ko-KR" sz="1050" dirty="0"/>
              <a:t>: targets</a:t>
            </a:r>
            <a:r>
              <a:rPr lang="ko-KR" altLang="en-US" sz="1050" dirty="0"/>
              <a:t>는 원</a:t>
            </a:r>
            <a:r>
              <a:rPr lang="en-US" altLang="ko-KR" sz="1050" dirty="0"/>
              <a:t>-</a:t>
            </a:r>
            <a:r>
              <a:rPr lang="ko-KR" altLang="en-US" sz="1050" dirty="0" err="1"/>
              <a:t>핫</a:t>
            </a:r>
            <a:r>
              <a:rPr lang="ko-KR" altLang="en-US" sz="1050" dirty="0"/>
              <a:t> </a:t>
            </a:r>
            <a:r>
              <a:rPr lang="ko-KR" altLang="en-US" sz="1050" dirty="0" err="1"/>
              <a:t>인코딩된</a:t>
            </a:r>
            <a:r>
              <a:rPr lang="ko-KR" altLang="en-US" sz="1050" dirty="0"/>
              <a:t> 형태의 </a:t>
            </a:r>
            <a:r>
              <a:rPr lang="ko-KR" altLang="en-US" sz="1050" dirty="0" err="1"/>
              <a:t>텐서로</a:t>
            </a:r>
            <a:r>
              <a:rPr lang="en-US" altLang="ko-KR" sz="1050" dirty="0"/>
              <a:t>, </a:t>
            </a:r>
            <a:r>
              <a:rPr lang="ko-KR" altLang="en-US" sz="1050" dirty="0"/>
              <a:t>각 샘플에 대해 정답 클래스 위치에 </a:t>
            </a:r>
            <a:r>
              <a:rPr lang="en-US" altLang="ko-KR" sz="1050" dirty="0"/>
              <a:t>1</a:t>
            </a:r>
            <a:r>
              <a:rPr lang="ko-KR" altLang="en-US" sz="1050" dirty="0"/>
              <a:t>이 할당된 형태가 됩니다</a:t>
            </a:r>
            <a:r>
              <a:rPr lang="en-US" altLang="ko-KR" sz="1050" dirty="0"/>
              <a:t>.</a:t>
            </a:r>
          </a:p>
          <a:p>
            <a:endParaRPr lang="en-US" altLang="ko-KR" sz="1050" dirty="0"/>
          </a:p>
          <a:p>
            <a:r>
              <a:rPr lang="ko-KR" altLang="en-US" sz="1050" dirty="0"/>
              <a:t>이 코드 전체의 목적은 </a:t>
            </a:r>
            <a:r>
              <a:rPr lang="ko-KR" altLang="en-US" sz="1050" dirty="0" err="1"/>
              <a:t>예측값의</a:t>
            </a:r>
            <a:r>
              <a:rPr lang="ko-KR" altLang="en-US" sz="1050" dirty="0"/>
              <a:t> 로그 확률을 구하고</a:t>
            </a:r>
            <a:r>
              <a:rPr lang="en-US" altLang="ko-KR" sz="1050" dirty="0"/>
              <a:t>, </a:t>
            </a:r>
            <a:r>
              <a:rPr lang="ko-KR" altLang="en-US" sz="1050" dirty="0"/>
              <a:t>실제 레이블을 원</a:t>
            </a:r>
            <a:r>
              <a:rPr lang="en-US" altLang="ko-KR" sz="1050" dirty="0"/>
              <a:t>-</a:t>
            </a:r>
            <a:r>
              <a:rPr lang="ko-KR" altLang="en-US" sz="1050" dirty="0" err="1"/>
              <a:t>핫</a:t>
            </a:r>
            <a:r>
              <a:rPr lang="ko-KR" altLang="en-US" sz="1050" dirty="0"/>
              <a:t> 인코딩하여 교차 엔트로피 손실 계산에 사용할 수 있는 형태로 변환하는 것입니다</a:t>
            </a:r>
            <a:r>
              <a:rPr lang="en-US" altLang="ko-KR" sz="1050" dirty="0"/>
              <a:t>.</a:t>
            </a:r>
            <a:endParaRPr lang="ko-KR" altLang="en-US" sz="1050" dirty="0"/>
          </a:p>
        </p:txBody>
      </p:sp>
    </p:spTree>
    <p:extLst>
      <p:ext uri="{BB962C8B-B14F-4D97-AF65-F5344CB8AC3E}">
        <p14:creationId xmlns:p14="http://schemas.microsoft.com/office/powerpoint/2010/main" val="679047945"/>
      </p:ext>
    </p:extLst>
  </p:cSld>
  <p:clrMapOvr>
    <a:masterClrMapping/>
  </p:clrMapOvr>
  <p:transition spd="slow">
    <p:wipe/>
  </p:transition>
  <p:timing>
    <p:tnLst>
      <p:par>
        <p:cTn id="1" dur="indefinite" restart="never" nodeType="tmRoot"/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/>
        </p:nvSpPr>
        <p:spPr>
          <a:xfrm>
            <a:off x="708045" y="422371"/>
            <a:ext cx="800219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r>
              <a:rPr lang="ko-KR" altLang="en-US" sz="2400" b="1" dirty="0" smtClean="0">
                <a:ln w="0"/>
                <a:solidFill>
                  <a:prstClr val="black"/>
                </a:solidFill>
                <a:latin typeface="맑은 고딕" panose="020B0503020000020004" pitchFamily="50" charset="-127"/>
              </a:rPr>
              <a:t>논문</a:t>
            </a:r>
            <a:endParaRPr lang="en-US" altLang="ko-KR" sz="2400" b="1" dirty="0">
              <a:ln w="0"/>
              <a:solidFill>
                <a:prstClr val="black"/>
              </a:solidFill>
              <a:latin typeface="맑은 고딕" panose="020B0503020000020004" pitchFamily="50" charset="-127"/>
            </a:endParaRPr>
          </a:p>
        </p:txBody>
      </p:sp>
      <p:cxnSp>
        <p:nvCxnSpPr>
          <p:cNvPr id="72" name="직선 연결선 71"/>
          <p:cNvCxnSpPr/>
          <p:nvPr/>
        </p:nvCxnSpPr>
        <p:spPr>
          <a:xfrm flipV="1">
            <a:off x="11670974" y="1369270"/>
            <a:ext cx="0" cy="5736096"/>
          </a:xfrm>
          <a:prstGeom prst="line">
            <a:avLst/>
          </a:prstGeom>
          <a:ln w="28575">
            <a:solidFill>
              <a:schemeClr val="accent4">
                <a:lumMod val="40000"/>
                <a:lumOff val="6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직사각형 7"/>
          <p:cNvSpPr/>
          <p:nvPr/>
        </p:nvSpPr>
        <p:spPr>
          <a:xfrm>
            <a:off x="708045" y="1369270"/>
            <a:ext cx="1396857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268288" indent="-268288">
              <a:spcBef>
                <a:spcPts val="1200"/>
              </a:spcBef>
              <a:buFont typeface="Wingdings" pitchFamily="2" charset="2"/>
              <a:buChar char="l"/>
            </a:pPr>
            <a:r>
              <a:rPr lang="en-US" altLang="ko-KR" sz="2400" b="1" dirty="0" err="1" smtClean="0">
                <a:ln w="0"/>
                <a:solidFill>
                  <a:prstClr val="black"/>
                </a:solidFill>
                <a:latin typeface="Arial" pitchFamily="34" charset="0"/>
              </a:rPr>
              <a:t>OSNet</a:t>
            </a:r>
            <a:endParaRPr lang="en-US" altLang="ko-KR" sz="2400" b="1" dirty="0">
              <a:ln w="0"/>
              <a:solidFill>
                <a:prstClr val="black"/>
              </a:solidFill>
              <a:latin typeface="Arial" pitchFamily="34" charset="0"/>
            </a:endParaRPr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5647" y="2077022"/>
            <a:ext cx="2982526" cy="2320824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5647" y="4892246"/>
            <a:ext cx="4692318" cy="1843411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23466" y="2077022"/>
            <a:ext cx="4533943" cy="35873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07470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/>
        </p:nvSpPr>
        <p:spPr>
          <a:xfrm>
            <a:off x="708045" y="422371"/>
            <a:ext cx="800219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r>
              <a:rPr lang="ko-KR" altLang="en-US" sz="2400" b="1" dirty="0" smtClean="0">
                <a:ln w="0"/>
                <a:solidFill>
                  <a:prstClr val="black"/>
                </a:solidFill>
                <a:latin typeface="맑은 고딕" panose="020B0503020000020004" pitchFamily="50" charset="-127"/>
              </a:rPr>
              <a:t>논문</a:t>
            </a:r>
            <a:endParaRPr lang="en-US" altLang="ko-KR" sz="2400" b="1" dirty="0">
              <a:ln w="0"/>
              <a:solidFill>
                <a:prstClr val="black"/>
              </a:solidFill>
              <a:latin typeface="맑은 고딕" panose="020B0503020000020004" pitchFamily="50" charset="-127"/>
            </a:endParaRPr>
          </a:p>
        </p:txBody>
      </p:sp>
      <p:cxnSp>
        <p:nvCxnSpPr>
          <p:cNvPr id="72" name="직선 연결선 71"/>
          <p:cNvCxnSpPr/>
          <p:nvPr/>
        </p:nvCxnSpPr>
        <p:spPr>
          <a:xfrm flipV="1">
            <a:off x="11670974" y="1369270"/>
            <a:ext cx="0" cy="5736096"/>
          </a:xfrm>
          <a:prstGeom prst="line">
            <a:avLst/>
          </a:prstGeom>
          <a:ln w="28575">
            <a:solidFill>
              <a:schemeClr val="accent4">
                <a:lumMod val="40000"/>
                <a:lumOff val="6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직사각형 7"/>
          <p:cNvSpPr/>
          <p:nvPr/>
        </p:nvSpPr>
        <p:spPr>
          <a:xfrm>
            <a:off x="708045" y="1369270"/>
            <a:ext cx="2097369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268288" indent="-268288">
              <a:spcBef>
                <a:spcPts val="1200"/>
              </a:spcBef>
              <a:buFont typeface="Wingdings" pitchFamily="2" charset="2"/>
              <a:buChar char="l"/>
            </a:pPr>
            <a:r>
              <a:rPr lang="en-US" altLang="ko-KR" sz="2400" b="1" dirty="0" err="1" smtClean="0">
                <a:ln w="0"/>
                <a:solidFill>
                  <a:prstClr val="black"/>
                </a:solidFill>
                <a:latin typeface="Arial" pitchFamily="34" charset="0"/>
              </a:rPr>
              <a:t>OSNet</a:t>
            </a:r>
            <a:r>
              <a:rPr lang="en-US" altLang="ko-KR" sz="2400" b="1" dirty="0" smtClean="0">
                <a:ln w="0"/>
                <a:solidFill>
                  <a:prstClr val="black"/>
                </a:solidFill>
                <a:latin typeface="Arial" pitchFamily="34" charset="0"/>
              </a:rPr>
              <a:t> </a:t>
            </a:r>
            <a:r>
              <a:rPr lang="ko-KR" altLang="en-US" sz="2400" b="1" dirty="0" smtClean="0">
                <a:ln w="0"/>
                <a:solidFill>
                  <a:prstClr val="black"/>
                </a:solidFill>
                <a:latin typeface="Arial" pitchFamily="34" charset="0"/>
              </a:rPr>
              <a:t>구조</a:t>
            </a:r>
            <a:endParaRPr lang="en-US" altLang="ko-KR" sz="2400" b="1" dirty="0">
              <a:ln w="0"/>
              <a:solidFill>
                <a:prstClr val="black"/>
              </a:solidFill>
              <a:latin typeface="Arial" pitchFamily="34" charset="0"/>
            </a:endParaRPr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2623" y="1913704"/>
            <a:ext cx="5849166" cy="50203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47554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427905" y="314530"/>
            <a:ext cx="3225785" cy="468990"/>
          </a:xfrm>
          <a:prstGeom prst="rect">
            <a:avLst/>
          </a:prstGeom>
          <a:noFill/>
        </p:spPr>
        <p:txBody>
          <a:bodyPr wrap="none" lIns="98694" tIns="49347" rIns="98694" bIns="49347">
            <a:spAutoFit/>
          </a:bodyPr>
          <a:lstStyle/>
          <a:p>
            <a:pPr algn="ctr">
              <a:spcBef>
                <a:spcPts val="648"/>
              </a:spcBef>
            </a:pPr>
            <a:r>
              <a:rPr lang="en-US" altLang="ko-KR" sz="2400" b="1" dirty="0" smtClean="0">
                <a:solidFill>
                  <a:srgbClr val="0E0585"/>
                </a:solidFill>
              </a:rPr>
              <a:t>self </a:t>
            </a:r>
            <a:r>
              <a:rPr lang="ko-KR" altLang="en-US" sz="2400" b="1" dirty="0" smtClean="0">
                <a:solidFill>
                  <a:srgbClr val="0E0585"/>
                </a:solidFill>
              </a:rPr>
              <a:t>질문 리스트 </a:t>
            </a:r>
            <a:r>
              <a:rPr lang="en-US" altLang="ko-KR" sz="2400" b="1" dirty="0" err="1" smtClean="0">
                <a:solidFill>
                  <a:srgbClr val="0E0585"/>
                </a:solidFill>
              </a:rPr>
              <a:t>cont</a:t>
            </a:r>
            <a:endParaRPr lang="en-US" altLang="ko-KR" sz="2400" b="1" dirty="0">
              <a:solidFill>
                <a:srgbClr val="0E0585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7" name="직사각형 26"/>
              <p:cNvSpPr/>
              <p:nvPr/>
            </p:nvSpPr>
            <p:spPr>
              <a:xfrm>
                <a:off x="722910" y="1493704"/>
                <a:ext cx="6302730" cy="4013984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r>
                  <a:rPr lang="en-US" altLang="ko-KR" sz="1100" dirty="0" smtClean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1. </a:t>
                </a:r>
                <a:r>
                  <a:rPr lang="ko-KR" altLang="en-US" sz="1100" dirty="0" smtClean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실질적 훈련은 어떤 함수에서  수행되나</a:t>
                </a:r>
                <a:r>
                  <a:rPr lang="en-US" altLang="ko-KR" sz="1100" dirty="0" smtClean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?</a:t>
                </a:r>
              </a:p>
              <a:p>
                <a:r>
                  <a:rPr lang="en-US" altLang="ko-KR" sz="1100" dirty="0" smtClean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      </a:t>
                </a:r>
                <a:r>
                  <a:rPr lang="en-US" altLang="ko-KR" sz="1100" dirty="0" smtClean="0">
                    <a:solidFill>
                      <a:srgbClr val="0070C0"/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class engine run </a:t>
                </a:r>
                <a:r>
                  <a:rPr lang="ko-KR" altLang="en-US" sz="1100" dirty="0" smtClean="0">
                    <a:solidFill>
                      <a:srgbClr val="0070C0"/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함수에서 수행이 되고 내부적으로 </a:t>
                </a:r>
                <a:r>
                  <a:rPr lang="en-US" altLang="ko-KR" sz="1100" dirty="0" err="1" smtClean="0">
                    <a:solidFill>
                      <a:srgbClr val="0070C0"/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self.train</a:t>
                </a:r>
                <a:r>
                  <a:rPr lang="en-US" altLang="ko-KR" sz="1100" dirty="0" smtClean="0">
                    <a:solidFill>
                      <a:srgbClr val="0070C0"/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 </a:t>
                </a:r>
                <a:r>
                  <a:rPr lang="ko-KR" altLang="en-US" sz="1100" dirty="0" smtClean="0">
                    <a:solidFill>
                      <a:srgbClr val="0070C0"/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함수가 수행된다</a:t>
                </a:r>
                <a:r>
                  <a:rPr lang="en-US" altLang="ko-KR" sz="1100" dirty="0" smtClean="0">
                    <a:solidFill>
                      <a:srgbClr val="0070C0"/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.</a:t>
                </a:r>
              </a:p>
              <a:p>
                <a:pPr lvl="0"/>
                <a:endParaRPr lang="en-US" altLang="ko-KR" sz="1100" dirty="0" smtClean="0">
                  <a:solidFill>
                    <a:srgbClr val="0070C0"/>
                  </a:solidFill>
                  <a:latin typeface="경기천년바탕 Regular" panose="02020503020101020101" pitchFamily="18" charset="-127"/>
                  <a:ea typeface="경기천년바탕 Regular" panose="02020503020101020101" pitchFamily="18" charset="-127"/>
                </a:endParaRPr>
              </a:p>
              <a:p>
                <a:pPr lvl="0"/>
                <a:endParaRPr lang="en-US" altLang="ko-KR" sz="1100" dirty="0">
                  <a:solidFill>
                    <a:srgbClr val="0070C0"/>
                  </a:solidFill>
                  <a:latin typeface="경기천년바탕 Regular" panose="02020503020101020101" pitchFamily="18" charset="-127"/>
                  <a:ea typeface="경기천년바탕 Regular" panose="02020503020101020101" pitchFamily="18" charset="-127"/>
                </a:endParaRPr>
              </a:p>
              <a:p>
                <a:pPr lvl="0"/>
                <a:r>
                  <a:rPr lang="en-US" altLang="ko-KR" sz="1100" dirty="0" smtClean="0"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2. </a:t>
                </a:r>
                <a:r>
                  <a:rPr lang="en-US" altLang="ko-KR" sz="1100" dirty="0" err="1" smtClean="0"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OSBlock</a:t>
                </a:r>
                <a:r>
                  <a:rPr lang="ko-KR" altLang="en-US" sz="1100" dirty="0" smtClean="0"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의 초기화는 어디에서 이루어지나</a:t>
                </a:r>
                <a:r>
                  <a:rPr lang="en-US" altLang="ko-KR" sz="1100" dirty="0" smtClean="0">
                    <a:solidFill>
                      <a:prstClr val="black">
                        <a:lumMod val="75000"/>
                        <a:lumOff val="25000"/>
                      </a:prstClr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?</a:t>
                </a:r>
                <a:endParaRPr lang="en-US" altLang="ko-KR" sz="1100" dirty="0">
                  <a:solidFill>
                    <a:prstClr val="black">
                      <a:lumMod val="75000"/>
                      <a:lumOff val="25000"/>
                    </a:prstClr>
                  </a:solidFill>
                  <a:latin typeface="경기천년바탕 Regular" panose="02020503020101020101" pitchFamily="18" charset="-127"/>
                  <a:ea typeface="경기천년바탕 Regular" panose="02020503020101020101" pitchFamily="18" charset="-127"/>
                </a:endParaRPr>
              </a:p>
              <a:p>
                <a:r>
                  <a:rPr lang="en-US" altLang="ko-KR" sz="1100" dirty="0" smtClean="0">
                    <a:solidFill>
                      <a:srgbClr val="0070C0"/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   </a:t>
                </a:r>
                <a:r>
                  <a:rPr lang="en-US" altLang="ko-KR" sz="1100" dirty="0" err="1" smtClean="0">
                    <a:solidFill>
                      <a:srgbClr val="0070C0"/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def</a:t>
                </a:r>
                <a:r>
                  <a:rPr lang="en-US" altLang="ko-KR" sz="1100" dirty="0" smtClean="0">
                    <a:solidFill>
                      <a:srgbClr val="0070C0"/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 </a:t>
                </a:r>
                <a:r>
                  <a:rPr lang="en-US" altLang="ko-KR" sz="1100" dirty="0">
                    <a:solidFill>
                      <a:srgbClr val="0070C0"/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_</a:t>
                </a:r>
                <a:r>
                  <a:rPr lang="en-US" altLang="ko-KR" sz="1100" dirty="0" err="1" smtClean="0">
                    <a:solidFill>
                      <a:srgbClr val="0070C0"/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make_layer</a:t>
                </a:r>
                <a:r>
                  <a:rPr lang="en-US" altLang="ko-KR" sz="1100" dirty="0" smtClean="0">
                    <a:solidFill>
                      <a:srgbClr val="0070C0"/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 </a:t>
                </a:r>
                <a:r>
                  <a:rPr lang="ko-KR" altLang="en-US" sz="1100" dirty="0" smtClean="0">
                    <a:solidFill>
                      <a:srgbClr val="0070C0"/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함수에서 </a:t>
                </a:r>
                <a:r>
                  <a:rPr lang="en-US" altLang="ko-KR" sz="1100" dirty="0" err="1">
                    <a:solidFill>
                      <a:srgbClr val="0070C0"/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layers.append</a:t>
                </a:r>
                <a:r>
                  <a:rPr lang="en-US" altLang="ko-KR" sz="1100" dirty="0">
                    <a:solidFill>
                      <a:srgbClr val="0070C0"/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(block(</a:t>
                </a:r>
                <a:r>
                  <a:rPr lang="en-US" altLang="ko-KR" sz="1100" dirty="0" err="1">
                    <a:solidFill>
                      <a:srgbClr val="0070C0"/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in_channels</a:t>
                </a:r>
                <a:r>
                  <a:rPr lang="en-US" altLang="ko-KR" sz="1100" dirty="0">
                    <a:solidFill>
                      <a:srgbClr val="0070C0"/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, </a:t>
                </a:r>
                <a:r>
                  <a:rPr lang="en-US" altLang="ko-KR" sz="1100" dirty="0" err="1">
                    <a:solidFill>
                      <a:srgbClr val="0070C0"/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out_channels</a:t>
                </a:r>
                <a:r>
                  <a:rPr lang="en-US" altLang="ko-KR" sz="1100" dirty="0">
                    <a:solidFill>
                      <a:srgbClr val="0070C0"/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, IN=IN</a:t>
                </a:r>
                <a:r>
                  <a:rPr lang="en-US" altLang="ko-KR" sz="1100" dirty="0" smtClean="0">
                    <a:solidFill>
                      <a:srgbClr val="0070C0"/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)) </a:t>
                </a:r>
                <a:r>
                  <a:rPr lang="ko-KR" altLang="en-US" sz="1100" dirty="0" err="1" smtClean="0">
                    <a:solidFill>
                      <a:srgbClr val="0070C0"/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호출시</a:t>
                </a:r>
                <a:r>
                  <a:rPr lang="ko-KR" altLang="en-US" sz="1100" dirty="0" smtClean="0">
                    <a:solidFill>
                      <a:srgbClr val="0070C0"/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 이루어진다</a:t>
                </a:r>
                <a:r>
                  <a:rPr lang="en-US" altLang="ko-KR" sz="1100" dirty="0" smtClean="0">
                    <a:solidFill>
                      <a:srgbClr val="0070C0"/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. </a:t>
                </a:r>
                <a:r>
                  <a:rPr lang="ko-KR" altLang="en-US" sz="1100" dirty="0" smtClean="0">
                    <a:solidFill>
                      <a:srgbClr val="0070C0"/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처음 </a:t>
                </a:r>
                <a:r>
                  <a:rPr lang="en-US" altLang="ko-KR" sz="1100" dirty="0" err="1" smtClean="0">
                    <a:solidFill>
                      <a:srgbClr val="0070C0"/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OSBlock</a:t>
                </a:r>
                <a:r>
                  <a:rPr lang="ko-KR" altLang="en-US" sz="1100" dirty="0" smtClean="0">
                    <a:solidFill>
                      <a:srgbClr val="0070C0"/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을 </a:t>
                </a:r>
                <a:r>
                  <a:rPr lang="ko-KR" altLang="en-US" sz="1100" dirty="0" err="1" smtClean="0">
                    <a:solidFill>
                      <a:srgbClr val="0070C0"/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지날때만</a:t>
                </a:r>
                <a:r>
                  <a:rPr lang="ko-KR" altLang="en-US" sz="1100" dirty="0" smtClean="0">
                    <a:solidFill>
                      <a:srgbClr val="0070C0"/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 </a:t>
                </a:r>
                <a:r>
                  <a:rPr lang="en-US" altLang="ko-KR" sz="1100" dirty="0" smtClean="0">
                    <a:solidFill>
                      <a:srgbClr val="0070C0"/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channel</a:t>
                </a:r>
                <a:r>
                  <a:rPr lang="ko-KR" altLang="en-US" sz="1100" dirty="0" smtClean="0">
                    <a:solidFill>
                      <a:srgbClr val="0070C0"/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이 증가하고 그 이후로는 유지한다</a:t>
                </a:r>
                <a:r>
                  <a:rPr lang="en-US" altLang="ko-KR" sz="1100" dirty="0" smtClean="0">
                    <a:solidFill>
                      <a:srgbClr val="0070C0"/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.</a:t>
                </a:r>
              </a:p>
              <a:p>
                <a:endParaRPr lang="en-US" altLang="ko-KR" sz="1100" dirty="0">
                  <a:solidFill>
                    <a:srgbClr val="0070C0"/>
                  </a:solidFill>
                  <a:latin typeface="경기천년바탕 Regular" panose="02020503020101020101" pitchFamily="18" charset="-127"/>
                  <a:ea typeface="경기천년바탕 Regular" panose="02020503020101020101" pitchFamily="18" charset="-127"/>
                </a:endParaRPr>
              </a:p>
              <a:p>
                <a:r>
                  <a:rPr lang="en-US" altLang="ko-KR" sz="1100" dirty="0" smtClean="0"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3. stack t</a:t>
                </a:r>
                <a:r>
                  <a:rPr lang="ko-KR" altLang="en-US" sz="1100" dirty="0" smtClean="0"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가 </a:t>
                </a:r>
                <a:r>
                  <a:rPr lang="ko-KR" altLang="en-US" sz="1100" dirty="0" err="1" smtClean="0"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있을때</a:t>
                </a:r>
                <a:r>
                  <a:rPr lang="ko-KR" altLang="en-US" sz="1100" dirty="0" smtClean="0"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 </a:t>
                </a:r>
                <a:r>
                  <a:rPr lang="en-US" altLang="ko-KR" sz="1100" dirty="0" smtClean="0"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Lite 3x3 layers</a:t>
                </a:r>
                <a:r>
                  <a:rPr lang="ko-KR" altLang="en-US" sz="1100" dirty="0" smtClean="0"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에 대하여 </a:t>
                </a:r>
                <a:r>
                  <a:rPr lang="ko-KR" altLang="en-US" sz="1100" dirty="0" err="1" smtClean="0"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수용영역</a:t>
                </a:r>
                <a:r>
                  <a:rPr lang="en-US" altLang="ko-KR" sz="1100" dirty="0" smtClean="0"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(receptive field) </a:t>
                </a:r>
                <a:r>
                  <a:rPr lang="ko-KR" altLang="en-US" sz="1100" dirty="0" smtClean="0"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크기가 </a:t>
                </a:r>
                <a:r>
                  <a:rPr lang="en-US" altLang="ko-KR" sz="1100" dirty="0" smtClean="0"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(2t+1)(2t+1)</a:t>
                </a:r>
                <a:r>
                  <a:rPr lang="ko-KR" altLang="en-US" sz="1100" dirty="0" smtClean="0"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이란 의미는</a:t>
                </a:r>
                <a:r>
                  <a:rPr lang="en-US" altLang="ko-KR" sz="1100" dirty="0" smtClean="0"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?</a:t>
                </a:r>
              </a:p>
              <a:p>
                <a:r>
                  <a:rPr lang="en-US" altLang="ko-KR" sz="1100" dirty="0" smtClean="0">
                    <a:solidFill>
                      <a:srgbClr val="0070C0"/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Lite 3x3 </a:t>
                </a:r>
                <a:r>
                  <a:rPr lang="ko-KR" altLang="en-US" sz="1100" dirty="0" smtClean="0">
                    <a:solidFill>
                      <a:srgbClr val="0070C0"/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을 지날 때 </a:t>
                </a:r>
                <a:r>
                  <a:rPr lang="en-US" altLang="ko-KR" sz="1100" dirty="0" smtClean="0">
                    <a:solidFill>
                      <a:srgbClr val="0070C0"/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3x3 </a:t>
                </a:r>
                <a:r>
                  <a:rPr lang="ko-KR" altLang="en-US" sz="1100" dirty="0" smtClean="0">
                    <a:solidFill>
                      <a:srgbClr val="0070C0"/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커널이므로 한 점이 만들어지기 위해서는 </a:t>
                </a:r>
                <a:r>
                  <a:rPr lang="en-US" altLang="ko-KR" sz="1100" dirty="0" smtClean="0">
                    <a:solidFill>
                      <a:srgbClr val="0070C0"/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3x3 </a:t>
                </a:r>
                <a:r>
                  <a:rPr lang="ko-KR" altLang="en-US" sz="1100" dirty="0" smtClean="0">
                    <a:solidFill>
                      <a:srgbClr val="0070C0"/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영역을 커버한다</a:t>
                </a:r>
                <a:r>
                  <a:rPr lang="en-US" altLang="ko-KR" sz="1100" dirty="0" smtClean="0">
                    <a:solidFill>
                      <a:srgbClr val="0070C0"/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.</a:t>
                </a:r>
              </a:p>
              <a:p>
                <a:r>
                  <a:rPr lang="ko-KR" altLang="en-US" sz="1100" dirty="0" smtClean="0">
                    <a:solidFill>
                      <a:srgbClr val="0070C0"/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그러므로 </a:t>
                </a:r>
                <a:r>
                  <a:rPr lang="en-US" altLang="ko-KR" sz="1100" dirty="0" smtClean="0">
                    <a:solidFill>
                      <a:srgbClr val="0070C0"/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t</a:t>
                </a:r>
                <a:r>
                  <a:rPr lang="ko-KR" altLang="en-US" sz="1100" dirty="0" smtClean="0">
                    <a:solidFill>
                      <a:srgbClr val="0070C0"/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개가 쌓이면 </a:t>
                </a:r>
                <a:r>
                  <a:rPr lang="en-US" altLang="ko-KR" sz="1100" dirty="0">
                    <a:solidFill>
                      <a:srgbClr val="0070C0"/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(2t+1)(2t+1</a:t>
                </a:r>
                <a:r>
                  <a:rPr lang="en-US" altLang="ko-KR" sz="1100" dirty="0" smtClean="0">
                    <a:solidFill>
                      <a:srgbClr val="0070C0"/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) </a:t>
                </a:r>
                <a:r>
                  <a:rPr lang="ko-KR" altLang="en-US" sz="1100" dirty="0" smtClean="0">
                    <a:solidFill>
                      <a:srgbClr val="0070C0"/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영역이 된다</a:t>
                </a:r>
                <a:r>
                  <a:rPr lang="en-US" altLang="ko-KR" sz="1100" dirty="0" smtClean="0">
                    <a:solidFill>
                      <a:srgbClr val="0070C0"/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.</a:t>
                </a:r>
              </a:p>
              <a:p>
                <a:endParaRPr lang="en-US" altLang="ko-KR" sz="1100" dirty="0">
                  <a:solidFill>
                    <a:srgbClr val="0070C0"/>
                  </a:solidFill>
                  <a:latin typeface="경기천년바탕 Regular" panose="02020503020101020101" pitchFamily="18" charset="-127"/>
                  <a:ea typeface="경기천년바탕 Regular" panose="02020503020101020101" pitchFamily="18" charset="-127"/>
                </a:endParaRPr>
              </a:p>
              <a:p>
                <a:r>
                  <a:rPr lang="en-US" altLang="ko-KR" sz="1100" dirty="0" smtClean="0">
                    <a:solidFill>
                      <a:schemeClr val="tx1"/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4. </a:t>
                </a:r>
                <a14:m>
                  <m:oMath xmlns:m="http://schemas.openxmlformats.org/officeDocument/2006/math">
                    <m:acc>
                      <m:accPr>
                        <m:chr m:val="̃"/>
                        <m:ctrlPr>
                          <a:rPr lang="en-US" altLang="ko-KR" sz="14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경기천년바탕 Regular" panose="02020503020101020101" pitchFamily="18" charset="-127"/>
                          </a:rPr>
                        </m:ctrlPr>
                      </m:accPr>
                      <m:e>
                        <m:r>
                          <a:rPr lang="en-US" altLang="ko-KR" sz="1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경기천년바탕 Regular" panose="02020503020101020101" pitchFamily="18" charset="-127"/>
                          </a:rPr>
                          <m:t>𝑥</m:t>
                        </m:r>
                      </m:e>
                    </m:acc>
                    <m:r>
                      <a:rPr lang="en-US" altLang="ko-KR" sz="1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경기천년바탕 Regular" panose="02020503020101020101" pitchFamily="18" charset="-127"/>
                      </a:rPr>
                      <m:t>=</m:t>
                    </m:r>
                    <m:nary>
                      <m:naryPr>
                        <m:chr m:val="∑"/>
                        <m:ctrlPr>
                          <a:rPr lang="en-US" altLang="ko-KR" sz="1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경기천년바탕 Regular" panose="02020503020101020101" pitchFamily="18" charset="-127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altLang="ko-KR" sz="1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경기천년바탕 Regular" panose="02020503020101020101" pitchFamily="18" charset="-127"/>
                          </a:rPr>
                          <m:t>𝑡</m:t>
                        </m:r>
                        <m:r>
                          <a:rPr lang="en-US" altLang="ko-KR" sz="1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경기천년바탕 Regular" panose="02020503020101020101" pitchFamily="18" charset="-127"/>
                          </a:rPr>
                          <m:t>=1</m:t>
                        </m:r>
                      </m:sub>
                      <m:sup>
                        <m:r>
                          <a:rPr lang="en-US" altLang="ko-KR" sz="1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경기천년바탕 Regular" panose="02020503020101020101" pitchFamily="18" charset="-127"/>
                          </a:rPr>
                          <m:t>𝑇</m:t>
                        </m:r>
                      </m:sup>
                      <m:e>
                        <m:r>
                          <a:rPr lang="en-US" altLang="ko-KR" sz="1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경기천년바탕 Regular" panose="02020503020101020101" pitchFamily="18" charset="-127"/>
                          </a:rPr>
                          <m:t>𝐺</m:t>
                        </m:r>
                        <m:d>
                          <m:dPr>
                            <m:ctrlPr>
                              <a:rPr lang="en-US" altLang="ko-KR" sz="1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경기천년바탕 Regular" panose="02020503020101020101" pitchFamily="18" charset="-127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en-US" altLang="ko-KR" sz="1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경기천년바탕 Regular" panose="02020503020101020101" pitchFamily="18" charset="-127"/>
                                  </a:rPr>
                                </m:ctrlPr>
                              </m:sSupPr>
                              <m:e>
                                <m:r>
                                  <a:rPr lang="en-US" altLang="ko-KR" sz="1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경기천년바탕 Regular" panose="02020503020101020101" pitchFamily="18" charset="-127"/>
                                  </a:rPr>
                                  <m:t>𝑥</m:t>
                                </m:r>
                              </m:e>
                              <m:sup>
                                <m:r>
                                  <a:rPr lang="en-US" altLang="ko-KR" sz="1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경기천년바탕 Regular" panose="02020503020101020101" pitchFamily="18" charset="-127"/>
                                  </a:rPr>
                                  <m:t>𝑡</m:t>
                                </m:r>
                              </m:sup>
                            </m:sSup>
                          </m:e>
                        </m:d>
                        <m:r>
                          <a:rPr lang="en-US" altLang="ko-KR" sz="1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⊙</m:t>
                        </m:r>
                        <m:sSup>
                          <m:sSupPr>
                            <m:ctrlPr>
                              <a:rPr lang="en-US" altLang="ko-KR" sz="1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ko-KR" sz="1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en-US" altLang="ko-KR" sz="1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p>
                        </m:sSup>
                        <m:r>
                          <a:rPr lang="en-US" altLang="ko-KR" sz="1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  </m:t>
                        </m:r>
                      </m:e>
                    </m:nary>
                  </m:oMath>
                </a14:m>
                <a:r>
                  <a:rPr lang="en-US" altLang="ko-KR" sz="1400" dirty="0" smtClean="0">
                    <a:solidFill>
                      <a:schemeClr val="tx1"/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 subjected to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4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경기천년바탕 Regular" panose="02020503020101020101" pitchFamily="18" charset="-127"/>
                          </a:rPr>
                        </m:ctrlPr>
                      </m:sSupPr>
                      <m:e>
                        <m:r>
                          <a:rPr lang="en-US" altLang="ko-KR" sz="1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경기천년바탕 Regular" panose="02020503020101020101" pitchFamily="18" charset="-127"/>
                          </a:rPr>
                          <m:t>𝑥</m:t>
                        </m:r>
                      </m:e>
                      <m:sup>
                        <m:r>
                          <a:rPr lang="en-US" altLang="ko-KR" sz="1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경기천년바탕 Regular" panose="02020503020101020101" pitchFamily="18" charset="-127"/>
                          </a:rPr>
                          <m:t>𝑡</m:t>
                        </m:r>
                      </m:sup>
                    </m:sSup>
                    <m:r>
                      <a:rPr lang="en-US" altLang="ko-KR" sz="14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≜</m:t>
                    </m:r>
                    <m:sSup>
                      <m:sSupPr>
                        <m:ctrlPr>
                          <a:rPr lang="en-US" altLang="ko-KR" sz="14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𝐹</m:t>
                        </m:r>
                      </m:e>
                      <m:sup>
                        <m:r>
                          <a:rPr lang="en-US" altLang="ko-KR" sz="1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p>
                    </m:sSup>
                    <m:r>
                      <a:rPr lang="en-US" altLang="ko-KR" sz="1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altLang="ko-KR" sz="1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𝑥</m:t>
                    </m:r>
                    <m:r>
                      <a:rPr lang="en-US" altLang="ko-KR" sz="1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altLang="ko-KR" sz="1400" dirty="0" smtClean="0">
                    <a:solidFill>
                      <a:schemeClr val="tx1"/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 </a:t>
                </a:r>
                <a:r>
                  <a:rPr lang="ko-KR" altLang="en-US" sz="1100" dirty="0" smtClean="0">
                    <a:solidFill>
                      <a:schemeClr val="tx1"/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의 의미는</a:t>
                </a:r>
                <a:r>
                  <a:rPr lang="en-US" altLang="ko-KR" sz="1100" dirty="0" smtClean="0">
                    <a:solidFill>
                      <a:schemeClr val="tx1"/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?</a:t>
                </a:r>
              </a:p>
              <a:p>
                <a:r>
                  <a:rPr lang="en-US" altLang="ko-KR" sz="1100" dirty="0" smtClean="0">
                    <a:solidFill>
                      <a:schemeClr val="tx1"/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 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10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ea typeface="경기천년바탕 Regular" panose="02020503020101020101" pitchFamily="18" charset="-127"/>
                          </a:rPr>
                        </m:ctrlPr>
                      </m:sSupPr>
                      <m:e>
                        <m:r>
                          <a:rPr lang="en-US" altLang="ko-KR" sz="110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ea typeface="경기천년바탕 Regular" panose="02020503020101020101" pitchFamily="18" charset="-127"/>
                          </a:rPr>
                          <m:t>𝑥</m:t>
                        </m:r>
                      </m:e>
                      <m:sup>
                        <m:r>
                          <a:rPr lang="en-US" altLang="ko-KR" sz="110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ea typeface="경기천년바탕 Regular" panose="02020503020101020101" pitchFamily="18" charset="-127"/>
                          </a:rPr>
                          <m:t>𝑡</m:t>
                        </m:r>
                      </m:sup>
                    </m:sSup>
                    <m:r>
                      <a:rPr lang="en-US" altLang="ko-KR" sz="1100" i="1">
                        <a:solidFill>
                          <a:srgbClr val="0070C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≜</m:t>
                    </m:r>
                    <m:sSup>
                      <m:sSupPr>
                        <m:ctrlPr>
                          <a:rPr lang="en-US" altLang="ko-KR" sz="110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10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𝐹</m:t>
                        </m:r>
                      </m:e>
                      <m:sup>
                        <m:r>
                          <a:rPr lang="en-US" altLang="ko-KR" sz="110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p>
                    </m:sSup>
                    <m:r>
                      <a:rPr lang="en-US" altLang="ko-KR" sz="1100" i="1">
                        <a:solidFill>
                          <a:srgbClr val="0070C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altLang="ko-KR" sz="1100" i="1">
                        <a:solidFill>
                          <a:srgbClr val="0070C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𝑥</m:t>
                    </m:r>
                    <m:r>
                      <a:rPr lang="en-US" altLang="ko-KR" sz="1100" i="1">
                        <a:solidFill>
                          <a:srgbClr val="0070C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altLang="ko-KR" sz="1100" dirty="0">
                    <a:solidFill>
                      <a:srgbClr val="0070C0"/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 </a:t>
                </a:r>
                <a:r>
                  <a:rPr lang="ko-KR" altLang="en-US" sz="1100" dirty="0" smtClean="0">
                    <a:solidFill>
                      <a:srgbClr val="0070C0"/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는 입력 </a:t>
                </a:r>
                <a:r>
                  <a:rPr lang="en-US" altLang="ko-KR" sz="1100" dirty="0" smtClean="0">
                    <a:solidFill>
                      <a:srgbClr val="0070C0"/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x</a:t>
                </a:r>
                <a:r>
                  <a:rPr lang="ko-KR" altLang="en-US" sz="1100" dirty="0" smtClean="0">
                    <a:solidFill>
                      <a:srgbClr val="0070C0"/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가 </a:t>
                </a:r>
                <a:r>
                  <a:rPr lang="en-US" altLang="ko-KR" sz="1100" dirty="0" smtClean="0">
                    <a:solidFill>
                      <a:srgbClr val="0070C0"/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Lite 3x3 </a:t>
                </a:r>
                <a:r>
                  <a:rPr lang="ko-KR" altLang="en-US" sz="1100" dirty="0" smtClean="0">
                    <a:solidFill>
                      <a:srgbClr val="0070C0"/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을 통과한 결과 값이고</a:t>
                </a:r>
                <a:r>
                  <a:rPr lang="en-US" altLang="ko-KR" sz="1100" dirty="0" smtClean="0">
                    <a:solidFill>
                      <a:srgbClr val="0070C0"/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, </a:t>
                </a:r>
                <a14:m>
                  <m:oMath xmlns:m="http://schemas.openxmlformats.org/officeDocument/2006/math">
                    <m:r>
                      <a:rPr lang="en-US" altLang="ko-KR" sz="1100" i="1">
                        <a:solidFill>
                          <a:srgbClr val="0070C0"/>
                        </a:solidFill>
                        <a:latin typeface="Cambria Math" panose="02040503050406030204" pitchFamily="18" charset="0"/>
                        <a:ea typeface="경기천년바탕 Regular" panose="02020503020101020101" pitchFamily="18" charset="-127"/>
                      </a:rPr>
                      <m:t>𝐺</m:t>
                    </m:r>
                    <m:d>
                      <m:dPr>
                        <m:ctrlPr>
                          <a:rPr lang="en-US" altLang="ko-KR" sz="110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ea typeface="경기천년바탕 Regular" panose="02020503020101020101" pitchFamily="18" charset="-127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altLang="ko-KR" sz="1100" i="1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  <a:ea typeface="경기천년바탕 Regular" panose="02020503020101020101" pitchFamily="18" charset="-127"/>
                              </a:rPr>
                            </m:ctrlPr>
                          </m:sSupPr>
                          <m:e>
                            <m:r>
                              <a:rPr lang="en-US" altLang="ko-KR" sz="1100" i="1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  <a:ea typeface="경기천년바탕 Regular" panose="02020503020101020101" pitchFamily="18" charset="-127"/>
                              </a:rPr>
                              <m:t>𝑥</m:t>
                            </m:r>
                          </m:e>
                          <m:sup>
                            <m:r>
                              <a:rPr lang="en-US" altLang="ko-KR" sz="1100" i="1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  <a:ea typeface="경기천년바탕 Regular" panose="02020503020101020101" pitchFamily="18" charset="-127"/>
                              </a:rPr>
                              <m:t>𝑡</m:t>
                            </m:r>
                          </m:sup>
                        </m:sSup>
                      </m:e>
                    </m:d>
                  </m:oMath>
                </a14:m>
                <a:r>
                  <a:rPr lang="en-US" altLang="ko-KR" sz="1100" dirty="0" smtClean="0">
                    <a:solidFill>
                      <a:srgbClr val="0070C0"/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 </a:t>
                </a:r>
                <a:r>
                  <a:rPr lang="ko-KR" altLang="en-US" sz="1100" dirty="0" smtClean="0">
                    <a:solidFill>
                      <a:srgbClr val="0070C0"/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는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10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ea typeface="경기천년바탕 Regular" panose="02020503020101020101" pitchFamily="18" charset="-127"/>
                          </a:rPr>
                        </m:ctrlPr>
                      </m:sSupPr>
                      <m:e>
                        <m:r>
                          <a:rPr lang="en-US" altLang="ko-KR" sz="110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ea typeface="경기천년바탕 Regular" panose="02020503020101020101" pitchFamily="18" charset="-127"/>
                          </a:rPr>
                          <m:t>𝑥</m:t>
                        </m:r>
                      </m:e>
                      <m:sup>
                        <m:r>
                          <a:rPr lang="en-US" altLang="ko-KR" sz="110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ea typeface="경기천년바탕 Regular" panose="02020503020101020101" pitchFamily="18" charset="-127"/>
                          </a:rPr>
                          <m:t>𝑡</m:t>
                        </m:r>
                      </m:sup>
                    </m:sSup>
                  </m:oMath>
                </a14:m>
                <a:r>
                  <a:rPr lang="en-US" altLang="ko-KR" sz="1100" dirty="0" smtClean="0">
                    <a:solidFill>
                      <a:srgbClr val="0070C0"/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 </a:t>
                </a:r>
                <a:r>
                  <a:rPr lang="ko-KR" altLang="en-US" sz="1100" dirty="0" smtClean="0">
                    <a:solidFill>
                      <a:srgbClr val="0070C0"/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의 채널 깊이에 대한 가중치 벡터이고 그 모든 합을 더한 것을 </a:t>
                </a:r>
                <a14:m>
                  <m:oMath xmlns:m="http://schemas.openxmlformats.org/officeDocument/2006/math">
                    <m:acc>
                      <m:accPr>
                        <m:chr m:val="̃"/>
                        <m:ctrlPr>
                          <a:rPr lang="en-US" altLang="ko-KR" sz="110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ea typeface="경기천년바탕 Regular" panose="02020503020101020101" pitchFamily="18" charset="-127"/>
                          </a:rPr>
                        </m:ctrlPr>
                      </m:accPr>
                      <m:e>
                        <m:r>
                          <a:rPr lang="en-US" altLang="ko-KR" sz="110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ea typeface="경기천년바탕 Regular" panose="02020503020101020101" pitchFamily="18" charset="-127"/>
                          </a:rPr>
                          <m:t>𝑥</m:t>
                        </m:r>
                      </m:e>
                    </m:acc>
                  </m:oMath>
                </a14:m>
                <a:r>
                  <a:rPr lang="en-US" altLang="ko-KR" sz="1100" dirty="0" smtClean="0">
                    <a:solidFill>
                      <a:srgbClr val="0070C0"/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 </a:t>
                </a:r>
                <a:r>
                  <a:rPr lang="ko-KR" altLang="en-US" sz="1100" dirty="0" smtClean="0">
                    <a:solidFill>
                      <a:srgbClr val="0070C0"/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로 정의 하였다</a:t>
                </a:r>
                <a:r>
                  <a:rPr lang="en-US" altLang="ko-KR" sz="1100" dirty="0" smtClean="0">
                    <a:solidFill>
                      <a:srgbClr val="0070C0"/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. </a:t>
                </a:r>
                <a:r>
                  <a:rPr lang="ko-KR" altLang="en-US" sz="1100" dirty="0" smtClean="0">
                    <a:solidFill>
                      <a:srgbClr val="0070C0"/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즉 </a:t>
                </a:r>
                <a:r>
                  <a:rPr lang="en-US" altLang="ko-KR" sz="1100" dirty="0" err="1" smtClean="0">
                    <a:solidFill>
                      <a:srgbClr val="0070C0"/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OSBlock</a:t>
                </a:r>
                <a:r>
                  <a:rPr lang="ko-KR" altLang="en-US" sz="1100" dirty="0" smtClean="0">
                    <a:solidFill>
                      <a:srgbClr val="0070C0"/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을 통과한 값이다</a:t>
                </a:r>
                <a:r>
                  <a:rPr lang="en-US" altLang="ko-KR" sz="1100" dirty="0" smtClean="0">
                    <a:solidFill>
                      <a:srgbClr val="0070C0"/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.</a:t>
                </a:r>
              </a:p>
              <a:p>
                <a:endParaRPr lang="en-US" altLang="ko-KR" sz="1100" dirty="0">
                  <a:solidFill>
                    <a:srgbClr val="0070C0"/>
                  </a:solidFill>
                  <a:latin typeface="경기천년바탕 Regular" panose="02020503020101020101" pitchFamily="18" charset="-127"/>
                  <a:ea typeface="경기천년바탕 Regular" panose="02020503020101020101" pitchFamily="18" charset="-127"/>
                </a:endParaRPr>
              </a:p>
              <a:p>
                <a:r>
                  <a:rPr lang="en-US" altLang="ko-KR" sz="1100" dirty="0" smtClean="0">
                    <a:solidFill>
                      <a:schemeClr val="tx1"/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5.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ko-KR" sz="14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경기천년바탕 Regular" panose="02020503020101020101" pitchFamily="18" charset="-127"/>
                          </a:rPr>
                        </m:ctrlPr>
                      </m:fPr>
                      <m:num>
                        <m:r>
                          <a:rPr lang="ko-KR" altLang="en-US" sz="14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경기천년바탕 Regular" panose="02020503020101020101" pitchFamily="18" charset="-127"/>
                          </a:rPr>
                          <m:t>𝜕</m:t>
                        </m:r>
                        <m:r>
                          <a:rPr lang="en-US" altLang="ko-KR" sz="14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ℒ</m:t>
                        </m:r>
                      </m:num>
                      <m:den>
                        <m:r>
                          <a:rPr lang="ko-KR" altLang="en-US" sz="14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경기천년바탕 Regular" panose="02020503020101020101" pitchFamily="18" charset="-127"/>
                          </a:rPr>
                          <m:t>𝜕</m:t>
                        </m:r>
                        <m:r>
                          <a:rPr lang="en-US" altLang="ko-KR" sz="1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경기천년바탕 Regular" panose="02020503020101020101" pitchFamily="18" charset="-127"/>
                          </a:rPr>
                          <m:t>𝐺</m:t>
                        </m:r>
                      </m:den>
                    </m:f>
                    <m:r>
                      <a:rPr lang="en-US" altLang="ko-KR" sz="1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경기천년바탕 Regular" panose="02020503020101020101" pitchFamily="18" charset="-127"/>
                      </a:rPr>
                      <m:t>=</m:t>
                    </m:r>
                    <m:f>
                      <m:fPr>
                        <m:ctrlPr>
                          <a:rPr lang="en-US" altLang="ko-K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경기천년바탕 Regular" panose="02020503020101020101" pitchFamily="18" charset="-127"/>
                          </a:rPr>
                        </m:ctrlPr>
                      </m:fPr>
                      <m:num>
                        <m:r>
                          <a:rPr lang="ko-KR" altLang="en-US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경기천년바탕 Regular" panose="02020503020101020101" pitchFamily="18" charset="-127"/>
                          </a:rPr>
                          <m:t>𝜕</m:t>
                        </m:r>
                        <m:r>
                          <a:rPr lang="en-US" altLang="ko-K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ℒ</m:t>
                        </m:r>
                      </m:num>
                      <m:den>
                        <m:r>
                          <a:rPr lang="ko-KR" altLang="en-US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경기천년바탕 Regular" panose="02020503020101020101" pitchFamily="18" charset="-127"/>
                          </a:rPr>
                          <m:t>𝜕</m:t>
                        </m:r>
                        <m:acc>
                          <m:accPr>
                            <m:chr m:val="̃"/>
                            <m:ctrlPr>
                              <a:rPr lang="ko-KR" altLang="en-US" sz="14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경기천년바탕 Regular" panose="02020503020101020101" pitchFamily="18" charset="-127"/>
                              </a:rPr>
                            </m:ctrlPr>
                          </m:accPr>
                          <m:e>
                            <m:r>
                              <a:rPr lang="en-US" altLang="ko-KR" sz="1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경기천년바탕 Regular" panose="02020503020101020101" pitchFamily="18" charset="-127"/>
                              </a:rPr>
                              <m:t>𝑥</m:t>
                            </m:r>
                          </m:e>
                        </m:acc>
                      </m:den>
                    </m:f>
                    <m:f>
                      <m:fPr>
                        <m:ctrlPr>
                          <a:rPr lang="en-US" altLang="ko-K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경기천년바탕 Regular" panose="02020503020101020101" pitchFamily="18" charset="-127"/>
                          </a:rPr>
                        </m:ctrlPr>
                      </m:fPr>
                      <m:num>
                        <m:r>
                          <a:rPr lang="ko-KR" altLang="en-US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경기천년바탕 Regular" panose="02020503020101020101" pitchFamily="18" charset="-127"/>
                          </a:rPr>
                          <m:t>𝜕</m:t>
                        </m:r>
                        <m:acc>
                          <m:accPr>
                            <m:chr m:val="̃"/>
                            <m:ctrlPr>
                              <a:rPr lang="ko-KR" altLang="en-US" sz="14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경기천년바탕 Regular" panose="02020503020101020101" pitchFamily="18" charset="-127"/>
                              </a:rPr>
                            </m:ctrlPr>
                          </m:accPr>
                          <m:e>
                            <m:r>
                              <a:rPr lang="en-US" altLang="ko-KR" sz="1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경기천년바탕 Regular" panose="02020503020101020101" pitchFamily="18" charset="-127"/>
                              </a:rPr>
                              <m:t>𝑥</m:t>
                            </m:r>
                          </m:e>
                        </m:acc>
                      </m:num>
                      <m:den>
                        <m:r>
                          <a:rPr lang="ko-KR" altLang="en-US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경기천년바탕 Regular" panose="02020503020101020101" pitchFamily="18" charset="-127"/>
                          </a:rPr>
                          <m:t>𝜕</m:t>
                        </m:r>
                        <m:r>
                          <a:rPr lang="en-US" altLang="ko-K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경기천년바탕 Regular" panose="02020503020101020101" pitchFamily="18" charset="-127"/>
                          </a:rPr>
                          <m:t>𝐺</m:t>
                        </m:r>
                      </m:den>
                    </m:f>
                    <m:r>
                      <a:rPr lang="en-US" altLang="ko-KR" sz="1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경기천년바탕 Regular" panose="02020503020101020101" pitchFamily="18" charset="-127"/>
                      </a:rPr>
                      <m:t>=</m:t>
                    </m:r>
                    <m:f>
                      <m:fPr>
                        <m:ctrlPr>
                          <a:rPr lang="en-US" altLang="ko-K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경기천년바탕 Regular" panose="02020503020101020101" pitchFamily="18" charset="-127"/>
                          </a:rPr>
                        </m:ctrlPr>
                      </m:fPr>
                      <m:num>
                        <m:r>
                          <a:rPr lang="ko-KR" altLang="en-US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경기천년바탕 Regular" panose="02020503020101020101" pitchFamily="18" charset="-127"/>
                          </a:rPr>
                          <m:t>𝜕</m:t>
                        </m:r>
                        <m:r>
                          <a:rPr lang="en-US" altLang="ko-K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ℒ</m:t>
                        </m:r>
                      </m:num>
                      <m:den>
                        <m:r>
                          <a:rPr lang="ko-KR" altLang="en-US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경기천년바탕 Regular" panose="02020503020101020101" pitchFamily="18" charset="-127"/>
                          </a:rPr>
                          <m:t>𝜕</m:t>
                        </m:r>
                        <m:acc>
                          <m:accPr>
                            <m:chr m:val="̃"/>
                            <m:ctrlPr>
                              <a:rPr lang="ko-KR" altLang="en-US" sz="1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경기천년바탕 Regular" panose="02020503020101020101" pitchFamily="18" charset="-127"/>
                              </a:rPr>
                            </m:ctrlPr>
                          </m:accPr>
                          <m:e>
                            <m:r>
                              <a:rPr lang="en-US" altLang="ko-KR" sz="1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경기천년바탕 Regular" panose="02020503020101020101" pitchFamily="18" charset="-127"/>
                              </a:rPr>
                              <m:t>𝑥</m:t>
                            </m:r>
                          </m:e>
                        </m:acc>
                      </m:den>
                    </m:f>
                  </m:oMath>
                </a14:m>
                <a:r>
                  <a:rPr lang="en-US" altLang="ko-KR" sz="1400" dirty="0" smtClean="0">
                    <a:solidFill>
                      <a:schemeClr val="tx1"/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(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ctrlPr>
                          <a:rPr lang="en-US" altLang="ko-KR" sz="140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경기천년바탕 Regular" panose="02020503020101020101" pitchFamily="18" charset="-127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altLang="ko-KR" sz="14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경기천년바탕 Regular" panose="02020503020101020101" pitchFamily="18" charset="-127"/>
                          </a:rPr>
                          <m:t>𝑡</m:t>
                        </m:r>
                        <m:r>
                          <a:rPr lang="en-US" altLang="ko-KR" sz="14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경기천년바탕 Regular" panose="02020503020101020101" pitchFamily="18" charset="-127"/>
                          </a:rPr>
                          <m:t>=1</m:t>
                        </m:r>
                      </m:sub>
                      <m:sup>
                        <m:r>
                          <a:rPr lang="en-US" altLang="ko-KR" sz="14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경기천년바탕 Regular" panose="02020503020101020101" pitchFamily="18" charset="-127"/>
                          </a:rPr>
                          <m:t>𝑇</m:t>
                        </m:r>
                      </m:sup>
                      <m:e>
                        <m:sSup>
                          <m:sSupPr>
                            <m:ctrlPr>
                              <a:rPr lang="en-US" altLang="ko-KR" sz="140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경기천년바탕 Regular" panose="02020503020101020101" pitchFamily="18" charset="-127"/>
                              </a:rPr>
                            </m:ctrlPr>
                          </m:sSupPr>
                          <m:e>
                            <m:r>
                              <a:rPr lang="en-US" altLang="ko-KR" sz="14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경기천년바탕 Regular" panose="02020503020101020101" pitchFamily="18" charset="-127"/>
                              </a:rPr>
                              <m:t>𝑥</m:t>
                            </m:r>
                          </m:e>
                          <m:sup>
                            <m:r>
                              <a:rPr lang="en-US" altLang="ko-KR" sz="14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경기천년바탕 Regular" panose="02020503020101020101" pitchFamily="18" charset="-127"/>
                              </a:rPr>
                              <m:t>𝑡</m:t>
                            </m:r>
                          </m:sup>
                        </m:sSup>
                        <m:r>
                          <a:rPr lang="en-US" altLang="ko-KR" sz="14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경기천년바탕 Regular" panose="02020503020101020101" pitchFamily="18" charset="-127"/>
                          </a:rPr>
                          <m:t>)</m:t>
                        </m:r>
                      </m:e>
                    </m:nary>
                  </m:oMath>
                </a14:m>
                <a:r>
                  <a:rPr lang="en-US" altLang="ko-KR" sz="1100" dirty="0" smtClean="0">
                    <a:solidFill>
                      <a:schemeClr val="tx1"/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  </a:t>
                </a:r>
                <a:r>
                  <a:rPr lang="ko-KR" altLang="en-US" sz="1100" dirty="0" smtClean="0">
                    <a:solidFill>
                      <a:schemeClr val="tx1"/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의 의미는</a:t>
                </a:r>
                <a:r>
                  <a:rPr lang="en-US" altLang="ko-KR" sz="1100" dirty="0" smtClean="0">
                    <a:solidFill>
                      <a:schemeClr val="tx1"/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?</a:t>
                </a:r>
              </a:p>
              <a:p>
                <a:endParaRPr lang="en-US" altLang="ko-KR" sz="1100" dirty="0" smtClean="0">
                  <a:solidFill>
                    <a:srgbClr val="0070C0"/>
                  </a:solidFill>
                  <a:latin typeface="경기천년바탕 Regular" panose="02020503020101020101" pitchFamily="18" charset="-127"/>
                  <a:ea typeface="경기천년바탕 Regular" panose="02020503020101020101" pitchFamily="18" charset="-127"/>
                </a:endParaRPr>
              </a:p>
              <a:p>
                <a:r>
                  <a:rPr lang="en-US" altLang="ko-KR" sz="1100" dirty="0" smtClean="0">
                    <a:solidFill>
                      <a:srgbClr val="0070C0"/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AG</a:t>
                </a:r>
                <a:r>
                  <a:rPr lang="ko-KR" altLang="en-US" sz="1100" dirty="0" smtClean="0">
                    <a:solidFill>
                      <a:srgbClr val="0070C0"/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에 들어가는 </a:t>
                </a:r>
                <a:r>
                  <a:rPr lang="ko-KR" altLang="en-US" sz="1100" dirty="0" err="1" smtClean="0">
                    <a:solidFill>
                      <a:srgbClr val="0070C0"/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파라미터는</a:t>
                </a:r>
                <a:r>
                  <a:rPr lang="ko-KR" altLang="en-US" sz="1100" dirty="0" smtClean="0">
                    <a:solidFill>
                      <a:srgbClr val="0070C0"/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 </a:t>
                </a:r>
                <a:r>
                  <a:rPr lang="en-US" altLang="ko-KR" sz="1100" dirty="0" err="1" smtClean="0">
                    <a:solidFill>
                      <a:srgbClr val="0070C0"/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OSBlock</a:t>
                </a:r>
                <a:r>
                  <a:rPr lang="ko-KR" altLang="en-US" sz="1100" dirty="0" smtClean="0">
                    <a:solidFill>
                      <a:srgbClr val="0070C0"/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의 개수 </a:t>
                </a:r>
                <a:r>
                  <a:rPr lang="en-US" altLang="ko-KR" sz="1100" dirty="0" smtClean="0">
                    <a:solidFill>
                      <a:srgbClr val="0070C0"/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T</a:t>
                </a:r>
                <a:r>
                  <a:rPr lang="ko-KR" altLang="en-US" sz="1100" dirty="0" smtClean="0">
                    <a:solidFill>
                      <a:srgbClr val="0070C0"/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와 관계가 없다</a:t>
                </a:r>
                <a:r>
                  <a:rPr lang="en-US" altLang="ko-KR" sz="1100" dirty="0" smtClean="0">
                    <a:solidFill>
                      <a:srgbClr val="0070C0"/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. </a:t>
                </a:r>
                <a:r>
                  <a:rPr lang="ko-KR" altLang="en-US" sz="1100" dirty="0" smtClean="0">
                    <a:solidFill>
                      <a:srgbClr val="0070C0"/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그러므로 좀 더 확장 가능하다</a:t>
                </a:r>
                <a:r>
                  <a:rPr lang="en-US" altLang="ko-KR" sz="1100" dirty="0" smtClean="0">
                    <a:solidFill>
                      <a:srgbClr val="0070C0"/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.</a:t>
                </a:r>
              </a:p>
              <a:p>
                <a:r>
                  <a:rPr lang="ko-KR" altLang="en-US" sz="1100" dirty="0">
                    <a:solidFill>
                      <a:srgbClr val="0070C0"/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공통 게이트 </a:t>
                </a:r>
                <a:r>
                  <a:rPr lang="en-US" altLang="ko-KR" sz="1100" dirty="0">
                    <a:solidFill>
                      <a:srgbClr val="0070C0"/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GG</a:t>
                </a:r>
                <a:r>
                  <a:rPr lang="ko-KR" altLang="en-US" sz="1100" dirty="0">
                    <a:solidFill>
                      <a:srgbClr val="0070C0"/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를 사용하면 모든 스트림의 </a:t>
                </a:r>
                <a:r>
                  <a:rPr lang="ko-KR" altLang="en-US" sz="1100" dirty="0" err="1">
                    <a:solidFill>
                      <a:srgbClr val="0070C0"/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수퍼비전</a:t>
                </a:r>
                <a:r>
                  <a:rPr lang="ko-KR" altLang="en-US" sz="1100" dirty="0">
                    <a:solidFill>
                      <a:srgbClr val="0070C0"/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 신호가 통합되어 모델 학습이 효과적으로 안내되지만</a:t>
                </a:r>
                <a:r>
                  <a:rPr lang="en-US" altLang="ko-KR" sz="1100" dirty="0">
                    <a:solidFill>
                      <a:srgbClr val="0070C0"/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, </a:t>
                </a:r>
                <a:r>
                  <a:rPr lang="ko-KR" altLang="en-US" sz="1100" dirty="0">
                    <a:solidFill>
                      <a:srgbClr val="0070C0"/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개별 게이트를 사용할 경우 각 스트림이 독립적으로 학습되어 </a:t>
                </a:r>
                <a:r>
                  <a:rPr lang="ko-KR" altLang="en-US" sz="1100" dirty="0" err="1">
                    <a:solidFill>
                      <a:srgbClr val="0070C0"/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수퍼비전</a:t>
                </a:r>
                <a:r>
                  <a:rPr lang="ko-KR" altLang="en-US" sz="1100" dirty="0">
                    <a:solidFill>
                      <a:srgbClr val="0070C0"/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 신호가 분산되게 됩니다</a:t>
                </a:r>
                <a:r>
                  <a:rPr lang="en-US" altLang="ko-KR" sz="1100" dirty="0">
                    <a:solidFill>
                      <a:srgbClr val="0070C0"/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. </a:t>
                </a:r>
                <a:r>
                  <a:rPr lang="ko-KR" altLang="en-US" sz="1100" dirty="0">
                    <a:solidFill>
                      <a:srgbClr val="0070C0"/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따라서</a:t>
                </a:r>
                <a:r>
                  <a:rPr lang="en-US" altLang="ko-KR" sz="1100" dirty="0">
                    <a:solidFill>
                      <a:srgbClr val="0070C0"/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, </a:t>
                </a:r>
                <a:r>
                  <a:rPr lang="ko-KR" altLang="en-US" sz="1100" dirty="0">
                    <a:solidFill>
                      <a:srgbClr val="0070C0"/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공통 게이트의 사용은 스트림 간 균형 잡힌 학습을 유도하는 데 중요한 역할을 합니다</a:t>
                </a:r>
                <a:r>
                  <a:rPr lang="en-US" altLang="ko-KR" sz="1100" dirty="0">
                    <a:solidFill>
                      <a:srgbClr val="0070C0"/>
                    </a:solidFill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.</a:t>
                </a:r>
                <a:endParaRPr lang="en-US" altLang="ko-KR" sz="1100" dirty="0" smtClean="0">
                  <a:solidFill>
                    <a:srgbClr val="0070C0"/>
                  </a:solidFill>
                  <a:latin typeface="경기천년바탕 Regular" panose="02020503020101020101" pitchFamily="18" charset="-127"/>
                  <a:ea typeface="경기천년바탕 Regular" panose="02020503020101020101" pitchFamily="18" charset="-127"/>
                </a:endParaRPr>
              </a:p>
            </p:txBody>
          </p:sp>
        </mc:Choice>
        <mc:Fallback xmlns="">
          <p:sp>
            <p:nvSpPr>
              <p:cNvPr id="27" name="직사각형 2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2910" y="1493704"/>
                <a:ext cx="6302730" cy="4013984"/>
              </a:xfrm>
              <a:prstGeom prst="rect">
                <a:avLst/>
              </a:prstGeom>
              <a:blipFill>
                <a:blip r:embed="rId2"/>
                <a:stretch>
                  <a:fillRect b="-30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4" name="표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16263499"/>
              </p:ext>
            </p:extLst>
          </p:nvPr>
        </p:nvGraphicFramePr>
        <p:xfrm>
          <a:off x="7025640" y="1493704"/>
          <a:ext cx="2354580" cy="18542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470916">
                  <a:extLst>
                    <a:ext uri="{9D8B030D-6E8A-4147-A177-3AD203B41FA5}">
                      <a16:colId xmlns:a16="http://schemas.microsoft.com/office/drawing/2014/main" val="3640456308"/>
                    </a:ext>
                  </a:extLst>
                </a:gridCol>
                <a:gridCol w="470916">
                  <a:extLst>
                    <a:ext uri="{9D8B030D-6E8A-4147-A177-3AD203B41FA5}">
                      <a16:colId xmlns:a16="http://schemas.microsoft.com/office/drawing/2014/main" val="1212387443"/>
                    </a:ext>
                  </a:extLst>
                </a:gridCol>
                <a:gridCol w="470916">
                  <a:extLst>
                    <a:ext uri="{9D8B030D-6E8A-4147-A177-3AD203B41FA5}">
                      <a16:colId xmlns:a16="http://schemas.microsoft.com/office/drawing/2014/main" val="468940793"/>
                    </a:ext>
                  </a:extLst>
                </a:gridCol>
                <a:gridCol w="470916">
                  <a:extLst>
                    <a:ext uri="{9D8B030D-6E8A-4147-A177-3AD203B41FA5}">
                      <a16:colId xmlns:a16="http://schemas.microsoft.com/office/drawing/2014/main" val="2442823535"/>
                    </a:ext>
                  </a:extLst>
                </a:gridCol>
                <a:gridCol w="470916">
                  <a:extLst>
                    <a:ext uri="{9D8B030D-6E8A-4147-A177-3AD203B41FA5}">
                      <a16:colId xmlns:a16="http://schemas.microsoft.com/office/drawing/2014/main" val="413877808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460563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2325263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201407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281042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24671924"/>
                  </a:ext>
                </a:extLst>
              </a:tr>
            </a:tbl>
          </a:graphicData>
        </a:graphic>
      </p:graphicFrame>
      <p:graphicFrame>
        <p:nvGraphicFramePr>
          <p:cNvPr id="30" name="표 2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25196777"/>
              </p:ext>
            </p:extLst>
          </p:nvPr>
        </p:nvGraphicFramePr>
        <p:xfrm>
          <a:off x="8488680" y="3528244"/>
          <a:ext cx="1412748" cy="11125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470916">
                  <a:extLst>
                    <a:ext uri="{9D8B030D-6E8A-4147-A177-3AD203B41FA5}">
                      <a16:colId xmlns:a16="http://schemas.microsoft.com/office/drawing/2014/main" val="3640456308"/>
                    </a:ext>
                  </a:extLst>
                </a:gridCol>
                <a:gridCol w="470916">
                  <a:extLst>
                    <a:ext uri="{9D8B030D-6E8A-4147-A177-3AD203B41FA5}">
                      <a16:colId xmlns:a16="http://schemas.microsoft.com/office/drawing/2014/main" val="1212387443"/>
                    </a:ext>
                  </a:extLst>
                </a:gridCol>
                <a:gridCol w="470916">
                  <a:extLst>
                    <a:ext uri="{9D8B030D-6E8A-4147-A177-3AD203B41FA5}">
                      <a16:colId xmlns:a16="http://schemas.microsoft.com/office/drawing/2014/main" val="46894079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60563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2325263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2014079"/>
                  </a:ext>
                </a:extLst>
              </a:tr>
            </a:tbl>
          </a:graphicData>
        </a:graphic>
      </p:graphicFrame>
      <p:cxnSp>
        <p:nvCxnSpPr>
          <p:cNvPr id="31" name="직선 화살표 연결선 30"/>
          <p:cNvCxnSpPr/>
          <p:nvPr/>
        </p:nvCxnSpPr>
        <p:spPr>
          <a:xfrm>
            <a:off x="8467185" y="2621280"/>
            <a:ext cx="473615" cy="130048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직선 화살표 연결선 31"/>
          <p:cNvCxnSpPr/>
          <p:nvPr/>
        </p:nvCxnSpPr>
        <p:spPr>
          <a:xfrm>
            <a:off x="8432800" y="1493704"/>
            <a:ext cx="508000" cy="203454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직선 화살표 연결선 36"/>
          <p:cNvCxnSpPr/>
          <p:nvPr/>
        </p:nvCxnSpPr>
        <p:spPr>
          <a:xfrm>
            <a:off x="7025639" y="2621280"/>
            <a:ext cx="1463041" cy="130048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직선 화살표 연결선 39"/>
          <p:cNvCxnSpPr/>
          <p:nvPr/>
        </p:nvCxnSpPr>
        <p:spPr>
          <a:xfrm>
            <a:off x="7025639" y="1493704"/>
            <a:ext cx="1463041" cy="203454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0" name="표 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28643059"/>
              </p:ext>
            </p:extLst>
          </p:nvPr>
        </p:nvGraphicFramePr>
        <p:xfrm>
          <a:off x="9813509" y="5262852"/>
          <a:ext cx="470916" cy="3708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470916">
                  <a:extLst>
                    <a:ext uri="{9D8B030D-6E8A-4147-A177-3AD203B41FA5}">
                      <a16:colId xmlns:a16="http://schemas.microsoft.com/office/drawing/2014/main" val="364045630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6056343"/>
                  </a:ext>
                </a:extLst>
              </a:tr>
            </a:tbl>
          </a:graphicData>
        </a:graphic>
      </p:graphicFrame>
      <p:cxnSp>
        <p:nvCxnSpPr>
          <p:cNvPr id="11" name="직선 화살표 연결선 10"/>
          <p:cNvCxnSpPr/>
          <p:nvPr/>
        </p:nvCxnSpPr>
        <p:spPr>
          <a:xfrm>
            <a:off x="9910827" y="3528244"/>
            <a:ext cx="373598" cy="17346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화살표 연결선 15"/>
          <p:cNvCxnSpPr/>
          <p:nvPr/>
        </p:nvCxnSpPr>
        <p:spPr>
          <a:xfrm>
            <a:off x="8498078" y="3516906"/>
            <a:ext cx="1284538" cy="174594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직선 화살표 연결선 19"/>
          <p:cNvCxnSpPr/>
          <p:nvPr/>
        </p:nvCxnSpPr>
        <p:spPr>
          <a:xfrm>
            <a:off x="8498078" y="4640764"/>
            <a:ext cx="1315431" cy="99292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직선 화살표 연결선 32"/>
          <p:cNvCxnSpPr/>
          <p:nvPr/>
        </p:nvCxnSpPr>
        <p:spPr>
          <a:xfrm>
            <a:off x="9910826" y="4640764"/>
            <a:ext cx="373599" cy="99292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9881315"/>
      </p:ext>
    </p:extLst>
  </p:cSld>
  <p:clrMapOvr>
    <a:masterClrMapping/>
  </p:clrMapOvr>
  <p:transition spd="slow">
    <p:wipe/>
  </p:transition>
  <p:timing>
    <p:tnLst>
      <p:par>
        <p:cTn id="1" dur="indefinite" restart="never" nodeType="tmRoot"/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565580" y="314530"/>
            <a:ext cx="2469169" cy="468990"/>
          </a:xfrm>
          <a:prstGeom prst="rect">
            <a:avLst/>
          </a:prstGeom>
          <a:noFill/>
        </p:spPr>
        <p:txBody>
          <a:bodyPr wrap="none" lIns="98694" tIns="49347" rIns="98694" bIns="49347">
            <a:spAutoFit/>
          </a:bodyPr>
          <a:lstStyle/>
          <a:p>
            <a:pPr algn="ctr">
              <a:spcBef>
                <a:spcPts val="648"/>
              </a:spcBef>
            </a:pPr>
            <a:r>
              <a:rPr lang="en-US" altLang="ko-KR" sz="2400" b="1" dirty="0" smtClean="0">
                <a:solidFill>
                  <a:srgbClr val="0E0585"/>
                </a:solidFill>
              </a:rPr>
              <a:t>self </a:t>
            </a:r>
            <a:r>
              <a:rPr lang="ko-KR" altLang="en-US" sz="2400" b="1" dirty="0" smtClean="0">
                <a:solidFill>
                  <a:srgbClr val="0E0585"/>
                </a:solidFill>
              </a:rPr>
              <a:t>질문 리스트</a:t>
            </a:r>
            <a:endParaRPr lang="en-US" altLang="ko-KR" sz="2400" b="1" dirty="0">
              <a:solidFill>
                <a:srgbClr val="0E0585"/>
              </a:solidFill>
            </a:endParaRPr>
          </a:p>
        </p:txBody>
      </p:sp>
      <p:sp>
        <p:nvSpPr>
          <p:cNvPr id="3" name="직사각형 2"/>
          <p:cNvSpPr/>
          <p:nvPr/>
        </p:nvSpPr>
        <p:spPr>
          <a:xfrm>
            <a:off x="950428" y="1420037"/>
            <a:ext cx="5343525" cy="4478149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5. </a:t>
            </a:r>
            <a:r>
              <a:rPr lang="en-US" altLang="ko-KR" sz="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OSNet</a:t>
            </a:r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에서 </a:t>
            </a:r>
            <a:r>
              <a:rPr lang="en-US" altLang="ko-KR" sz="800" dirty="0" err="1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two_stepped_transfer_learning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</a:t>
            </a:r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의 기능은</a:t>
            </a:r>
            <a:r>
              <a:rPr lang="en-US" altLang="ko-KR" sz="8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?</a:t>
            </a:r>
          </a:p>
          <a:p>
            <a:endParaRPr lang="en-US" altLang="ko-KR" sz="500" dirty="0" smtClean="0">
              <a:solidFill>
                <a:schemeClr val="tx1">
                  <a:lumMod val="75000"/>
                  <a:lumOff val="25000"/>
                </a:schemeClr>
              </a:solidFill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  <a:p>
            <a:r>
              <a:rPr lang="en-US" altLang="ko-KR" sz="800" dirty="0" err="1"/>
              <a:t>OSNet</a:t>
            </a:r>
            <a:r>
              <a:rPr lang="en-US" altLang="ko-KR" sz="800" dirty="0"/>
              <a:t>(Omni-Scale Network)</a:t>
            </a:r>
            <a:r>
              <a:rPr lang="ko-KR" altLang="en-US" sz="800" dirty="0"/>
              <a:t>은 사람 </a:t>
            </a:r>
            <a:r>
              <a:rPr lang="ko-KR" altLang="en-US" sz="800" dirty="0" err="1"/>
              <a:t>재식별</a:t>
            </a:r>
            <a:r>
              <a:rPr lang="en-US" altLang="ko-KR" sz="800" dirty="0"/>
              <a:t>(Person Re-Identification)</a:t>
            </a:r>
            <a:r>
              <a:rPr lang="ko-KR" altLang="en-US" sz="800" dirty="0"/>
              <a:t>을 위한 고성능 신경망 구조로</a:t>
            </a:r>
            <a:r>
              <a:rPr lang="en-US" altLang="ko-KR" sz="800" dirty="0"/>
              <a:t>, </a:t>
            </a:r>
            <a:r>
              <a:rPr lang="ko-KR" altLang="en-US" sz="800" dirty="0"/>
              <a:t>다양한 스케일의 특징을 효과적으로 결합하여 사람의 이미지를 인식하는 데 최적화되어 있습니다</a:t>
            </a:r>
            <a:r>
              <a:rPr lang="en-US" altLang="ko-KR" sz="800" dirty="0"/>
              <a:t>. </a:t>
            </a:r>
            <a:r>
              <a:rPr lang="en-US" altLang="ko-KR" sz="800" b="1" dirty="0"/>
              <a:t>Two-Stepped Transfer Learning</a:t>
            </a:r>
            <a:r>
              <a:rPr lang="ko-KR" altLang="en-US" sz="800" dirty="0"/>
              <a:t>은 </a:t>
            </a:r>
            <a:r>
              <a:rPr lang="en-US" altLang="ko-KR" sz="800" dirty="0" err="1"/>
              <a:t>OSNet</a:t>
            </a:r>
            <a:r>
              <a:rPr lang="ko-KR" altLang="en-US" sz="800" dirty="0"/>
              <a:t>과 같은 </a:t>
            </a:r>
            <a:r>
              <a:rPr lang="ko-KR" altLang="en-US" sz="800" dirty="0" err="1"/>
              <a:t>딥러닝</a:t>
            </a:r>
            <a:r>
              <a:rPr lang="ko-KR" altLang="en-US" sz="800" dirty="0"/>
              <a:t> 모델에서 성능을 높이기 위해 사용되는 학습 방법 중 하나입니다</a:t>
            </a:r>
            <a:r>
              <a:rPr lang="en-US" altLang="ko-KR" sz="800" dirty="0"/>
              <a:t>. </a:t>
            </a:r>
            <a:r>
              <a:rPr lang="ko-KR" altLang="en-US" sz="800" dirty="0"/>
              <a:t>이 방법은 일반적인 </a:t>
            </a:r>
            <a:r>
              <a:rPr lang="en-US" altLang="ko-KR" sz="800" dirty="0"/>
              <a:t>Transfer Learning</a:t>
            </a:r>
            <a:r>
              <a:rPr lang="ko-KR" altLang="en-US" sz="800" dirty="0"/>
              <a:t>을 두 단계로 나누어 진행함으로써 모델의 성능을 최적화하는 것을 목표로 합니다</a:t>
            </a:r>
            <a:r>
              <a:rPr lang="en-US" altLang="ko-KR" sz="800" dirty="0"/>
              <a:t>.</a:t>
            </a:r>
          </a:p>
          <a:p>
            <a:r>
              <a:rPr lang="en-US" altLang="ko-KR" sz="800" b="1" dirty="0"/>
              <a:t>Two-Stepped Transfer Learning</a:t>
            </a:r>
            <a:r>
              <a:rPr lang="ko-KR" altLang="en-US" sz="800" b="1" dirty="0"/>
              <a:t>의 기능과 목적</a:t>
            </a:r>
            <a:r>
              <a:rPr lang="en-US" altLang="ko-KR" sz="800" b="1" dirty="0"/>
              <a:t>:</a:t>
            </a:r>
          </a:p>
          <a:p>
            <a:r>
              <a:rPr lang="en-US" altLang="ko-KR" sz="800" b="1" dirty="0"/>
              <a:t>1</a:t>
            </a:r>
            <a:r>
              <a:rPr lang="ko-KR" altLang="en-US" sz="800" b="1" dirty="0"/>
              <a:t>단계</a:t>
            </a:r>
            <a:r>
              <a:rPr lang="en-US" altLang="ko-KR" sz="800" b="1" dirty="0"/>
              <a:t>: </a:t>
            </a:r>
            <a:r>
              <a:rPr lang="ko-KR" altLang="en-US" sz="800" b="1" dirty="0"/>
              <a:t>일반적 특징 학습 </a:t>
            </a:r>
            <a:r>
              <a:rPr lang="en-US" altLang="ko-KR" sz="800" b="1" dirty="0"/>
              <a:t>(General Feature Learning)</a:t>
            </a:r>
            <a:r>
              <a:rPr lang="en-US" altLang="ko-KR" sz="800" dirty="0"/>
              <a:t>:</a:t>
            </a:r>
          </a:p>
          <a:p>
            <a:pPr lvl="1"/>
            <a:r>
              <a:rPr lang="ko-KR" altLang="en-US" sz="800" dirty="0"/>
              <a:t>첫 번째 단계에서는 모델이 대규모의 일반적인 </a:t>
            </a:r>
            <a:r>
              <a:rPr lang="ko-KR" altLang="en-US" sz="800" dirty="0" err="1"/>
              <a:t>데이터셋</a:t>
            </a:r>
            <a:r>
              <a:rPr lang="en-US" altLang="ko-KR" sz="800" dirty="0"/>
              <a:t>(</a:t>
            </a:r>
            <a:r>
              <a:rPr lang="ko-KR" altLang="en-US" sz="800" dirty="0"/>
              <a:t>예</a:t>
            </a:r>
            <a:r>
              <a:rPr lang="en-US" altLang="ko-KR" sz="800" dirty="0"/>
              <a:t>: ImageNet)</a:t>
            </a:r>
            <a:r>
              <a:rPr lang="ko-KR" altLang="en-US" sz="800" dirty="0"/>
              <a:t>에서 사전 학습된 가중치를 사용하여 일반적인 시각적 특징을 학습합니다</a:t>
            </a:r>
            <a:r>
              <a:rPr lang="en-US" altLang="ko-KR" sz="800" dirty="0"/>
              <a:t>.</a:t>
            </a:r>
          </a:p>
          <a:p>
            <a:pPr lvl="1"/>
            <a:r>
              <a:rPr lang="ko-KR" altLang="en-US" sz="800" dirty="0"/>
              <a:t>이 단계는 모델이 다양한 객체의 일반적인 특징을 학습하여 기초적인 시각적 이해를 높이도록 도와줍니다</a:t>
            </a:r>
            <a:r>
              <a:rPr lang="en-US" altLang="ko-KR" sz="800" dirty="0"/>
              <a:t>.</a:t>
            </a:r>
          </a:p>
          <a:p>
            <a:pPr lvl="1"/>
            <a:r>
              <a:rPr lang="ko-KR" altLang="en-US" sz="800" dirty="0"/>
              <a:t>이 과정에서 모델은 다양한 카테고리의 이미지에 대한 기본적인 패턴 인식을 강화합니다</a:t>
            </a:r>
            <a:r>
              <a:rPr lang="en-US" altLang="ko-KR" sz="800" dirty="0"/>
              <a:t>.</a:t>
            </a:r>
          </a:p>
          <a:p>
            <a:r>
              <a:rPr lang="en-US" altLang="ko-KR" sz="800" b="1" dirty="0"/>
              <a:t>2</a:t>
            </a:r>
            <a:r>
              <a:rPr lang="ko-KR" altLang="en-US" sz="800" b="1" dirty="0"/>
              <a:t>단계</a:t>
            </a:r>
            <a:r>
              <a:rPr lang="en-US" altLang="ko-KR" sz="800" b="1" dirty="0"/>
              <a:t>: </a:t>
            </a:r>
            <a:r>
              <a:rPr lang="ko-KR" altLang="en-US" sz="800" b="1" dirty="0"/>
              <a:t>특정 도메인 적응 </a:t>
            </a:r>
            <a:r>
              <a:rPr lang="en-US" altLang="ko-KR" sz="800" b="1" dirty="0"/>
              <a:t>(Domain-Specific Adaptation)</a:t>
            </a:r>
            <a:r>
              <a:rPr lang="en-US" altLang="ko-KR" sz="800" dirty="0"/>
              <a:t>:</a:t>
            </a:r>
          </a:p>
          <a:p>
            <a:pPr lvl="1"/>
            <a:r>
              <a:rPr lang="ko-KR" altLang="en-US" sz="800" dirty="0"/>
              <a:t>두 번째 단계에서는 첫 번째 단계에서 학습한 일반적인 특징을 바탕으로</a:t>
            </a:r>
            <a:r>
              <a:rPr lang="en-US" altLang="ko-KR" sz="800" dirty="0"/>
              <a:t>, </a:t>
            </a:r>
            <a:r>
              <a:rPr lang="ko-KR" altLang="en-US" sz="800" dirty="0"/>
              <a:t>특정한 </a:t>
            </a:r>
            <a:r>
              <a:rPr lang="ko-KR" altLang="en-US" sz="800" dirty="0" err="1"/>
              <a:t>재식별</a:t>
            </a:r>
            <a:r>
              <a:rPr lang="ko-KR" altLang="en-US" sz="800" dirty="0"/>
              <a:t> 작업에 적합하도록 모델을 미세 조정</a:t>
            </a:r>
            <a:r>
              <a:rPr lang="en-US" altLang="ko-KR" sz="800" dirty="0"/>
              <a:t>(Fine-Tuning)</a:t>
            </a:r>
            <a:r>
              <a:rPr lang="ko-KR" altLang="en-US" sz="800" dirty="0"/>
              <a:t>합니다</a:t>
            </a:r>
            <a:r>
              <a:rPr lang="en-US" altLang="ko-KR" sz="800" dirty="0"/>
              <a:t>.</a:t>
            </a:r>
          </a:p>
          <a:p>
            <a:pPr lvl="1"/>
            <a:r>
              <a:rPr lang="ko-KR" altLang="en-US" sz="800" dirty="0"/>
              <a:t>이 단계에서는 사람 </a:t>
            </a:r>
            <a:r>
              <a:rPr lang="ko-KR" altLang="en-US" sz="800" dirty="0" err="1"/>
              <a:t>재식별에</a:t>
            </a:r>
            <a:r>
              <a:rPr lang="ko-KR" altLang="en-US" sz="800" dirty="0"/>
              <a:t> 특화된 </a:t>
            </a:r>
            <a:r>
              <a:rPr lang="ko-KR" altLang="en-US" sz="800" dirty="0" err="1"/>
              <a:t>데이터셋</a:t>
            </a:r>
            <a:r>
              <a:rPr lang="en-US" altLang="ko-KR" sz="800" dirty="0"/>
              <a:t>(</a:t>
            </a:r>
            <a:r>
              <a:rPr lang="ko-KR" altLang="en-US" sz="800" dirty="0"/>
              <a:t>예</a:t>
            </a:r>
            <a:r>
              <a:rPr lang="en-US" altLang="ko-KR" sz="800" dirty="0"/>
              <a:t>: Market-1501, </a:t>
            </a:r>
            <a:r>
              <a:rPr lang="en-US" altLang="ko-KR" sz="800" dirty="0" err="1"/>
              <a:t>DukeMTMC-reID</a:t>
            </a:r>
            <a:r>
              <a:rPr lang="en-US" altLang="ko-KR" sz="800" dirty="0"/>
              <a:t>)</a:t>
            </a:r>
            <a:r>
              <a:rPr lang="ko-KR" altLang="en-US" sz="800" dirty="0"/>
              <a:t>을 사용하여 모델이 해당 도메인의 특징에 더욱 최적화되도록 합니다</a:t>
            </a:r>
            <a:r>
              <a:rPr lang="en-US" altLang="ko-KR" sz="800" dirty="0"/>
              <a:t>.</a:t>
            </a:r>
          </a:p>
          <a:p>
            <a:pPr lvl="1"/>
            <a:r>
              <a:rPr lang="ko-KR" altLang="en-US" sz="800" dirty="0"/>
              <a:t>모델은 사람의 이미지에서 중요한 세부사항</a:t>
            </a:r>
            <a:r>
              <a:rPr lang="en-US" altLang="ko-KR" sz="800" dirty="0"/>
              <a:t>, </a:t>
            </a:r>
            <a:r>
              <a:rPr lang="ko-KR" altLang="en-US" sz="800" dirty="0"/>
              <a:t>예를 들어 옷의 색상</a:t>
            </a:r>
            <a:r>
              <a:rPr lang="en-US" altLang="ko-KR" sz="800" dirty="0"/>
              <a:t>, </a:t>
            </a:r>
            <a:r>
              <a:rPr lang="ko-KR" altLang="en-US" sz="800" dirty="0"/>
              <a:t>패턴</a:t>
            </a:r>
            <a:r>
              <a:rPr lang="en-US" altLang="ko-KR" sz="800" dirty="0"/>
              <a:t>, </a:t>
            </a:r>
            <a:r>
              <a:rPr lang="ko-KR" altLang="en-US" sz="800" dirty="0"/>
              <a:t>포즈 등을 학습하게 됩니다</a:t>
            </a:r>
            <a:r>
              <a:rPr lang="en-US" altLang="ko-KR" sz="800" dirty="0"/>
              <a:t>.</a:t>
            </a:r>
          </a:p>
          <a:p>
            <a:r>
              <a:rPr lang="ko-KR" altLang="en-US" sz="800" b="1" dirty="0"/>
              <a:t>주요 기능 및 장점</a:t>
            </a:r>
            <a:r>
              <a:rPr lang="en-US" altLang="ko-KR" sz="800" b="1" dirty="0"/>
              <a:t>:</a:t>
            </a:r>
          </a:p>
          <a:p>
            <a:r>
              <a:rPr lang="ko-KR" altLang="en-US" sz="800" b="1" dirty="0"/>
              <a:t>성능 향상</a:t>
            </a:r>
            <a:r>
              <a:rPr lang="en-US" altLang="ko-KR" sz="800" dirty="0"/>
              <a:t>: </a:t>
            </a:r>
            <a:r>
              <a:rPr lang="ko-KR" altLang="en-US" sz="800" dirty="0"/>
              <a:t>두 단계로 나누어 학습함으로써</a:t>
            </a:r>
            <a:r>
              <a:rPr lang="en-US" altLang="ko-KR" sz="800" dirty="0"/>
              <a:t>, </a:t>
            </a:r>
            <a:r>
              <a:rPr lang="ko-KR" altLang="en-US" sz="800" dirty="0"/>
              <a:t>모델이 처음부터 학습하지 않아도 되므로 학습 속도가 빨라지고</a:t>
            </a:r>
            <a:r>
              <a:rPr lang="en-US" altLang="ko-KR" sz="800" dirty="0"/>
              <a:t>, </a:t>
            </a:r>
            <a:r>
              <a:rPr lang="ko-KR" altLang="en-US" sz="800" dirty="0"/>
              <a:t>성능이 향상됩니다</a:t>
            </a:r>
            <a:r>
              <a:rPr lang="en-US" altLang="ko-KR" sz="800" dirty="0"/>
              <a:t>.</a:t>
            </a:r>
          </a:p>
          <a:p>
            <a:r>
              <a:rPr lang="ko-KR" altLang="en-US" sz="800" b="1" dirty="0"/>
              <a:t>효율적인 학습</a:t>
            </a:r>
            <a:r>
              <a:rPr lang="en-US" altLang="ko-KR" sz="800" dirty="0"/>
              <a:t>: </a:t>
            </a:r>
            <a:r>
              <a:rPr lang="ko-KR" altLang="en-US" sz="800" dirty="0"/>
              <a:t>사전 학습된 가중치를 활용함으로써 데이터의 효율적인 사용이 가능하고</a:t>
            </a:r>
            <a:r>
              <a:rPr lang="en-US" altLang="ko-KR" sz="800" dirty="0"/>
              <a:t>, </a:t>
            </a:r>
            <a:r>
              <a:rPr lang="ko-KR" altLang="en-US" sz="800" dirty="0"/>
              <a:t>적은 데이터로도 좋은 성능을 낼 수 있습니다</a:t>
            </a:r>
            <a:r>
              <a:rPr lang="en-US" altLang="ko-KR" sz="800" dirty="0"/>
              <a:t>.</a:t>
            </a:r>
          </a:p>
          <a:p>
            <a:r>
              <a:rPr lang="ko-KR" altLang="en-US" sz="800" b="1" dirty="0"/>
              <a:t>특정 도메인에 최적화</a:t>
            </a:r>
            <a:r>
              <a:rPr lang="en-US" altLang="ko-KR" sz="800" dirty="0"/>
              <a:t>: </a:t>
            </a:r>
            <a:r>
              <a:rPr lang="ko-KR" altLang="en-US" sz="800" dirty="0"/>
              <a:t>두 번째 단계에서 특정 도메인에 맞춘 학습이 이루어지므로</a:t>
            </a:r>
            <a:r>
              <a:rPr lang="en-US" altLang="ko-KR" sz="800" dirty="0"/>
              <a:t>, </a:t>
            </a:r>
            <a:r>
              <a:rPr lang="ko-KR" altLang="en-US" sz="800" dirty="0" err="1"/>
              <a:t>재식별</a:t>
            </a:r>
            <a:r>
              <a:rPr lang="ko-KR" altLang="en-US" sz="800" dirty="0"/>
              <a:t> 작업과 같은 특정한 응용에서 높은 정확도를 달성할 수 있습니다</a:t>
            </a:r>
            <a:r>
              <a:rPr lang="en-US" altLang="ko-KR" sz="800" dirty="0"/>
              <a:t>.</a:t>
            </a:r>
          </a:p>
          <a:p>
            <a:r>
              <a:rPr lang="ko-KR" altLang="en-US" sz="800" b="1" dirty="0"/>
              <a:t>적용 시의 고려 사항</a:t>
            </a:r>
            <a:r>
              <a:rPr lang="en-US" altLang="ko-KR" sz="800" b="1" dirty="0"/>
              <a:t>:</a:t>
            </a:r>
          </a:p>
          <a:p>
            <a:r>
              <a:rPr lang="ko-KR" altLang="en-US" sz="800" b="1" dirty="0"/>
              <a:t>사전 학습된 모델 선택</a:t>
            </a:r>
            <a:r>
              <a:rPr lang="en-US" altLang="ko-KR" sz="800" dirty="0"/>
              <a:t>: </a:t>
            </a:r>
            <a:r>
              <a:rPr lang="ko-KR" altLang="en-US" sz="800" dirty="0"/>
              <a:t>첫 번째 단계에서 사용하는 사전 학습된 모델이 도메인 적응을 잘 할 수 있는 기반이 되는지 확인이 필요합니다</a:t>
            </a:r>
            <a:r>
              <a:rPr lang="en-US" altLang="ko-KR" sz="800" dirty="0"/>
              <a:t>.</a:t>
            </a:r>
          </a:p>
          <a:p>
            <a:r>
              <a:rPr lang="ko-KR" altLang="en-US" sz="800" b="1" dirty="0"/>
              <a:t>데이터 품질과 양</a:t>
            </a:r>
            <a:r>
              <a:rPr lang="en-US" altLang="ko-KR" sz="800" dirty="0"/>
              <a:t>: </a:t>
            </a:r>
            <a:r>
              <a:rPr lang="ko-KR" altLang="en-US" sz="800" dirty="0"/>
              <a:t>두 번째 단계에서 사용하는 도메인 </a:t>
            </a:r>
            <a:r>
              <a:rPr lang="ko-KR" altLang="en-US" sz="800" dirty="0" err="1"/>
              <a:t>데이터셋의</a:t>
            </a:r>
            <a:r>
              <a:rPr lang="ko-KR" altLang="en-US" sz="800" dirty="0"/>
              <a:t> 품질과 양은 최종 모델 성능에 큰 영향을 미칩니다</a:t>
            </a:r>
            <a:r>
              <a:rPr lang="en-US" altLang="ko-KR" sz="800" dirty="0"/>
              <a:t>.</a:t>
            </a:r>
          </a:p>
          <a:p>
            <a:r>
              <a:rPr lang="ko-KR" altLang="en-US" sz="800" b="1" dirty="0"/>
              <a:t>적절한 미세 조정</a:t>
            </a:r>
            <a:r>
              <a:rPr lang="en-US" altLang="ko-KR" sz="800" dirty="0"/>
              <a:t>: </a:t>
            </a:r>
            <a:r>
              <a:rPr lang="ko-KR" altLang="en-US" sz="800" dirty="0"/>
              <a:t>두 번째 단계에서의 </a:t>
            </a:r>
            <a:r>
              <a:rPr lang="ko-KR" altLang="en-US" sz="800" dirty="0" err="1"/>
              <a:t>학습률과</a:t>
            </a:r>
            <a:r>
              <a:rPr lang="ko-KR" altLang="en-US" sz="800" dirty="0"/>
              <a:t> </a:t>
            </a:r>
            <a:r>
              <a:rPr lang="ko-KR" altLang="en-US" sz="800" dirty="0" err="1"/>
              <a:t>하이퍼파라미터</a:t>
            </a:r>
            <a:r>
              <a:rPr lang="ko-KR" altLang="en-US" sz="800" dirty="0"/>
              <a:t> 조정이 중요합니다</a:t>
            </a:r>
            <a:r>
              <a:rPr lang="en-US" altLang="ko-KR" sz="800" dirty="0"/>
              <a:t>. </a:t>
            </a:r>
            <a:r>
              <a:rPr lang="ko-KR" altLang="en-US" sz="800" dirty="0"/>
              <a:t>잘못 설정하면 모델이 오버피팅되거나 성능이 떨어질 수 있습니다</a:t>
            </a:r>
            <a:r>
              <a:rPr lang="en-US" altLang="ko-KR" sz="800" dirty="0"/>
              <a:t>.</a:t>
            </a:r>
          </a:p>
          <a:p>
            <a:r>
              <a:rPr lang="ko-KR" altLang="en-US" sz="800" dirty="0"/>
              <a:t>결론적으로</a:t>
            </a:r>
            <a:r>
              <a:rPr lang="en-US" altLang="ko-KR" sz="800" dirty="0"/>
              <a:t>, </a:t>
            </a:r>
            <a:r>
              <a:rPr lang="en-US" altLang="ko-KR" sz="800" b="1" dirty="0"/>
              <a:t>Two-Stepped Transfer Learning</a:t>
            </a:r>
            <a:r>
              <a:rPr lang="ko-KR" altLang="en-US" sz="800" dirty="0"/>
              <a:t>은 </a:t>
            </a:r>
            <a:r>
              <a:rPr lang="en-US" altLang="ko-KR" sz="800" dirty="0" err="1"/>
              <a:t>OSNet</a:t>
            </a:r>
            <a:r>
              <a:rPr lang="ko-KR" altLang="en-US" sz="800" dirty="0"/>
              <a:t>과 같은 모델에서 일반적인 특징 학습과 도메인 특화 학습을 분리하여</a:t>
            </a:r>
            <a:r>
              <a:rPr lang="en-US" altLang="ko-KR" sz="800" dirty="0"/>
              <a:t>, </a:t>
            </a:r>
            <a:r>
              <a:rPr lang="ko-KR" altLang="en-US" sz="800" dirty="0"/>
              <a:t>최적의 </a:t>
            </a:r>
            <a:r>
              <a:rPr lang="ko-KR" altLang="en-US" sz="800" dirty="0" err="1"/>
              <a:t>재식별</a:t>
            </a:r>
            <a:r>
              <a:rPr lang="ko-KR" altLang="en-US" sz="800" dirty="0"/>
              <a:t> 성능을 달성하기 위한 전략입니다</a:t>
            </a:r>
            <a:r>
              <a:rPr lang="en-US" altLang="ko-KR" sz="800" dirty="0"/>
              <a:t>. </a:t>
            </a:r>
            <a:r>
              <a:rPr lang="ko-KR" altLang="en-US" sz="800" dirty="0"/>
              <a:t>이 방법은 모델이 사람 </a:t>
            </a:r>
            <a:r>
              <a:rPr lang="ko-KR" altLang="en-US" sz="800" dirty="0" err="1"/>
              <a:t>재식별</a:t>
            </a:r>
            <a:r>
              <a:rPr lang="ko-KR" altLang="en-US" sz="800" dirty="0"/>
              <a:t> 작업에 맞춤화되도록 </a:t>
            </a:r>
            <a:r>
              <a:rPr lang="ko-KR" altLang="en-US" sz="800" dirty="0" smtClean="0"/>
              <a:t>도와줍니다</a:t>
            </a:r>
            <a:r>
              <a:rPr lang="en-US" altLang="ko-KR" sz="8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590441963"/>
      </p:ext>
    </p:extLst>
  </p:cSld>
  <p:clrMapOvr>
    <a:masterClrMapping/>
  </p:clrMapOvr>
  <p:transition spd="slow">
    <p:wipe/>
  </p:transition>
  <p:timing>
    <p:tnLst>
      <p:par>
        <p:cTn id="1" dur="indefinite" restart="never" nodeType="tmRoot"/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406604" y="231980"/>
            <a:ext cx="1491721" cy="468990"/>
          </a:xfrm>
          <a:prstGeom prst="rect">
            <a:avLst/>
          </a:prstGeom>
          <a:noFill/>
        </p:spPr>
        <p:txBody>
          <a:bodyPr wrap="none" lIns="98694" tIns="49347" rIns="98694" bIns="49347">
            <a:spAutoFit/>
          </a:bodyPr>
          <a:lstStyle/>
          <a:p>
            <a:pPr algn="ctr">
              <a:spcBef>
                <a:spcPts val="648"/>
              </a:spcBef>
            </a:pPr>
            <a:r>
              <a:rPr lang="en-US" altLang="ko-KR" sz="2400" b="1" dirty="0" err="1" smtClean="0">
                <a:solidFill>
                  <a:srgbClr val="0E0585"/>
                </a:solidFill>
              </a:rPr>
              <a:t>gt_query</a:t>
            </a:r>
            <a:endParaRPr lang="en-US" altLang="ko-KR" sz="2400" b="1" dirty="0">
              <a:solidFill>
                <a:srgbClr val="0E0585"/>
              </a:solidFill>
            </a:endParaRPr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360" y="1471728"/>
            <a:ext cx="6131052" cy="1732147"/>
          </a:xfrm>
          <a:prstGeom prst="rect">
            <a:avLst/>
          </a:prstGeom>
        </p:spPr>
      </p:pic>
      <p:sp>
        <p:nvSpPr>
          <p:cNvPr id="5" name="Rectangle 1"/>
          <p:cNvSpPr>
            <a:spLocks noChangeArrowheads="1"/>
          </p:cNvSpPr>
          <p:nvPr/>
        </p:nvSpPr>
        <p:spPr bwMode="auto">
          <a:xfrm>
            <a:off x="406603" y="3330832"/>
            <a:ext cx="6764217" cy="57708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KR" altLang="ko-KR" sz="1050" b="1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Good</a:t>
            </a:r>
            <a:r>
              <a:rPr kumimoji="0" lang="ko-KR" altLang="ko-KR" sz="105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파일은 “올바른 긍정(</a:t>
            </a:r>
            <a:r>
              <a:rPr kumimoji="0" lang="ko-KR" altLang="ko-KR" sz="105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positive</a:t>
            </a:r>
            <a:r>
              <a:rPr kumimoji="0" lang="ko-KR" altLang="ko-KR" sz="105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)” 샘플만 담아 모델이 다른 카메라 뷰에서도 같은 사람을 찾아내도록 평가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KR" altLang="ko-KR" sz="1050" b="1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Junk</a:t>
            </a:r>
            <a:r>
              <a:rPr kumimoji="0" lang="ko-KR" altLang="ko-KR" sz="105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파일은 동일 카메라 내 동일 인스턴스(또는 </a:t>
            </a:r>
            <a:r>
              <a:rPr kumimoji="0" lang="ko-KR" altLang="ko-KR" sz="105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데이터셋</a:t>
            </a:r>
            <a:r>
              <a:rPr kumimoji="0" lang="ko-KR" altLang="ko-KR" sz="105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외 인물 등)로 </a:t>
            </a:r>
            <a:r>
              <a:rPr kumimoji="0" lang="ko-KR" altLang="ko-KR" sz="105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평가 지표 계산에서 제외(</a:t>
            </a:r>
            <a:r>
              <a:rPr kumimoji="0" lang="ko-KR" altLang="ko-KR" sz="1050" b="1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ignore</a:t>
            </a:r>
            <a:r>
              <a:rPr kumimoji="0" lang="ko-KR" altLang="ko-KR" sz="105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)</a:t>
            </a:r>
            <a:r>
              <a:rPr kumimoji="0" lang="ko-KR" altLang="ko-KR" sz="105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해야 할 항목들을 지정함</a:t>
            </a:r>
          </a:p>
        </p:txBody>
      </p:sp>
      <p:pic>
        <p:nvPicPr>
          <p:cNvPr id="6" name="그림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1360" y="4034870"/>
            <a:ext cx="6172041" cy="34295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7166119"/>
      </p:ext>
    </p:extLst>
  </p:cSld>
  <p:clrMapOvr>
    <a:masterClrMapping/>
  </p:clrMapOvr>
  <p:transition spd="slow">
    <p:wipe/>
  </p:transition>
  <p:timing>
    <p:tnLst>
      <p:par>
        <p:cTn id="1" dur="indefinite" restart="never" nodeType="tmRoot"/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251360" y="260855"/>
            <a:ext cx="2248339" cy="468990"/>
          </a:xfrm>
          <a:prstGeom prst="rect">
            <a:avLst/>
          </a:prstGeom>
          <a:noFill/>
        </p:spPr>
        <p:txBody>
          <a:bodyPr wrap="none" lIns="98694" tIns="49347" rIns="98694" bIns="49347">
            <a:spAutoFit/>
          </a:bodyPr>
          <a:lstStyle/>
          <a:p>
            <a:pPr algn="ctr">
              <a:spcBef>
                <a:spcPts val="648"/>
              </a:spcBef>
            </a:pPr>
            <a:r>
              <a:rPr lang="en-US" altLang="ko-KR" sz="2400" b="1" dirty="0" err="1" smtClean="0">
                <a:solidFill>
                  <a:srgbClr val="0E0585"/>
                </a:solidFill>
              </a:rPr>
              <a:t>gt_query</a:t>
            </a:r>
            <a:r>
              <a:rPr lang="en-US" altLang="ko-KR" sz="2400" b="1" dirty="0" smtClean="0">
                <a:solidFill>
                  <a:srgbClr val="0E0585"/>
                </a:solidFill>
              </a:rPr>
              <a:t> </a:t>
            </a:r>
            <a:r>
              <a:rPr lang="en-US" altLang="ko-KR" sz="2400" b="1" dirty="0" err="1" smtClean="0">
                <a:solidFill>
                  <a:srgbClr val="0E0585"/>
                </a:solidFill>
              </a:rPr>
              <a:t>cont</a:t>
            </a:r>
            <a:endParaRPr lang="en-US" altLang="ko-KR" sz="2400" b="1" dirty="0">
              <a:solidFill>
                <a:srgbClr val="0E0585"/>
              </a:solidFill>
            </a:endParaRPr>
          </a:p>
        </p:txBody>
      </p:sp>
      <p:sp>
        <p:nvSpPr>
          <p:cNvPr id="7" name="직사각형 6"/>
          <p:cNvSpPr/>
          <p:nvPr/>
        </p:nvSpPr>
        <p:spPr>
          <a:xfrm>
            <a:off x="623169" y="1157122"/>
            <a:ext cx="8020317" cy="627864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fontAlgn="t">
              <a:buFont typeface="+mj-lt"/>
              <a:buAutoNum type="arabicPeriod"/>
            </a:pPr>
            <a:r>
              <a:rPr lang="en-US" altLang="ko-KR" sz="600" dirty="0">
                <a:latin typeface="Consolas" panose="020B0609020204030204" pitchFamily="49" charset="0"/>
              </a:rPr>
              <a:t>import </a:t>
            </a:r>
            <a:r>
              <a:rPr lang="en-US" altLang="ko-KR" sz="600" dirty="0" err="1">
                <a:latin typeface="Consolas" panose="020B0609020204030204" pitchFamily="49" charset="0"/>
              </a:rPr>
              <a:t>os</a:t>
            </a:r>
            <a:endParaRPr lang="en-US" altLang="ko-KR" sz="600" dirty="0">
              <a:latin typeface="Consolas" panose="020B0609020204030204" pitchFamily="49" charset="0"/>
            </a:endParaRPr>
          </a:p>
          <a:p>
            <a:pPr fontAlgn="t">
              <a:buFont typeface="+mj-lt"/>
              <a:buAutoNum type="arabicPeriod"/>
            </a:pPr>
            <a:r>
              <a:rPr lang="en-US" altLang="ko-KR" sz="600" dirty="0">
                <a:latin typeface="Consolas" panose="020B0609020204030204" pitchFamily="49" charset="0"/>
              </a:rPr>
              <a:t>import re</a:t>
            </a:r>
          </a:p>
          <a:p>
            <a:pPr fontAlgn="t">
              <a:buFont typeface="+mj-lt"/>
              <a:buAutoNum type="arabicPeriod"/>
            </a:pPr>
            <a:r>
              <a:rPr lang="en-US" altLang="ko-KR" sz="600" dirty="0">
                <a:latin typeface="Consolas" panose="020B0609020204030204" pitchFamily="49" charset="0"/>
              </a:rPr>
              <a:t>import scipy</a:t>
            </a:r>
            <a:r>
              <a:rPr lang="en-US" altLang="ko-KR" sz="6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ko-KR" sz="600" dirty="0">
                <a:latin typeface="Consolas" panose="020B0609020204030204" pitchFamily="49" charset="0"/>
              </a:rPr>
              <a:t>io </a:t>
            </a:r>
            <a:r>
              <a:rPr lang="en-US" altLang="ko-KR" sz="600" dirty="0">
                <a:solidFill>
                  <a:srgbClr val="00008B"/>
                </a:solidFill>
                <a:latin typeface="Consolas" panose="020B0609020204030204" pitchFamily="49" charset="0"/>
              </a:rPr>
              <a:t>as</a:t>
            </a:r>
            <a:r>
              <a:rPr lang="en-US" altLang="ko-KR" sz="600" dirty="0">
                <a:latin typeface="Consolas" panose="020B0609020204030204" pitchFamily="49" charset="0"/>
              </a:rPr>
              <a:t> </a:t>
            </a:r>
            <a:r>
              <a:rPr lang="en-US" altLang="ko-KR" sz="600" dirty="0" err="1">
                <a:latin typeface="Consolas" panose="020B0609020204030204" pitchFamily="49" charset="0"/>
              </a:rPr>
              <a:t>sio</a:t>
            </a:r>
            <a:endParaRPr lang="en-US" altLang="ko-KR" sz="600" dirty="0">
              <a:latin typeface="Consolas" panose="020B0609020204030204" pitchFamily="49" charset="0"/>
            </a:endParaRPr>
          </a:p>
          <a:p>
            <a:pPr fontAlgn="t">
              <a:buFont typeface="+mj-lt"/>
              <a:buAutoNum type="arabicPeriod"/>
            </a:pPr>
            <a:r>
              <a:rPr lang="en-US" altLang="ko-KR" sz="600" dirty="0">
                <a:latin typeface="Consolas" panose="020B0609020204030204" pitchFamily="49" charset="0"/>
              </a:rPr>
              <a:t> </a:t>
            </a:r>
          </a:p>
          <a:p>
            <a:pPr fontAlgn="t">
              <a:buFont typeface="+mj-lt"/>
              <a:buAutoNum type="arabicPeriod"/>
            </a:pPr>
            <a:r>
              <a:rPr lang="en-US" altLang="ko-KR" sz="600" i="1" dirty="0">
                <a:solidFill>
                  <a:srgbClr val="666666"/>
                </a:solidFill>
                <a:latin typeface="Consolas" panose="020B0609020204030204" pitchFamily="49" charset="0"/>
              </a:rPr>
              <a:t># </a:t>
            </a:r>
            <a:r>
              <a:rPr lang="ko-KR" altLang="en-US" sz="600" i="1" dirty="0">
                <a:solidFill>
                  <a:srgbClr val="666666"/>
                </a:solidFill>
                <a:latin typeface="Consolas" panose="020B0609020204030204" pitchFamily="49" charset="0"/>
              </a:rPr>
              <a:t>예시 </a:t>
            </a:r>
            <a:r>
              <a:rPr lang="ko-KR" altLang="en-US" sz="600" i="1" dirty="0" err="1">
                <a:solidFill>
                  <a:srgbClr val="666666"/>
                </a:solidFill>
                <a:latin typeface="Consolas" panose="020B0609020204030204" pitchFamily="49" charset="0"/>
              </a:rPr>
              <a:t>정규표현식</a:t>
            </a:r>
            <a:r>
              <a:rPr lang="en-US" altLang="ko-KR" sz="600" i="1" dirty="0">
                <a:solidFill>
                  <a:srgbClr val="666666"/>
                </a:solidFill>
                <a:latin typeface="Consolas" panose="020B0609020204030204" pitchFamily="49" charset="0"/>
              </a:rPr>
              <a:t>: </a:t>
            </a:r>
            <a:r>
              <a:rPr lang="ko-KR" altLang="en-US" sz="600" i="1" dirty="0">
                <a:solidFill>
                  <a:srgbClr val="666666"/>
                </a:solidFill>
                <a:latin typeface="Consolas" panose="020B0609020204030204" pitchFamily="49" charset="0"/>
              </a:rPr>
              <a:t>파일명에서 </a:t>
            </a:r>
            <a:r>
              <a:rPr lang="en-US" altLang="ko-KR" sz="600" i="1" dirty="0">
                <a:solidFill>
                  <a:srgbClr val="666666"/>
                </a:solidFill>
                <a:latin typeface="Consolas" panose="020B0609020204030204" pitchFamily="49" charset="0"/>
              </a:rPr>
              <a:t>person id</a:t>
            </a:r>
            <a:r>
              <a:rPr lang="ko-KR" altLang="en-US" sz="600" i="1" dirty="0">
                <a:solidFill>
                  <a:srgbClr val="666666"/>
                </a:solidFill>
                <a:latin typeface="Consolas" panose="020B0609020204030204" pitchFamily="49" charset="0"/>
              </a:rPr>
              <a:t>와 카메라 </a:t>
            </a:r>
            <a:r>
              <a:rPr lang="en-US" altLang="ko-KR" sz="600" i="1" dirty="0">
                <a:solidFill>
                  <a:srgbClr val="666666"/>
                </a:solidFill>
                <a:latin typeface="Consolas" panose="020B0609020204030204" pitchFamily="49" charset="0"/>
              </a:rPr>
              <a:t>id</a:t>
            </a:r>
            <a:r>
              <a:rPr lang="ko-KR" altLang="en-US" sz="600" i="1" dirty="0">
                <a:solidFill>
                  <a:srgbClr val="666666"/>
                </a:solidFill>
                <a:latin typeface="Consolas" panose="020B0609020204030204" pitchFamily="49" charset="0"/>
              </a:rPr>
              <a:t>를 추출</a:t>
            </a:r>
            <a:endParaRPr lang="ko-KR" altLang="en-US" sz="600" dirty="0">
              <a:latin typeface="Consolas" panose="020B0609020204030204" pitchFamily="49" charset="0"/>
            </a:endParaRPr>
          </a:p>
          <a:p>
            <a:pPr fontAlgn="t">
              <a:buFont typeface="+mj-lt"/>
              <a:buAutoNum type="arabicPeriod"/>
            </a:pPr>
            <a:r>
              <a:rPr lang="en-US" altLang="ko-KR" sz="600" i="1" dirty="0">
                <a:solidFill>
                  <a:srgbClr val="666666"/>
                </a:solidFill>
                <a:latin typeface="Consolas" panose="020B0609020204030204" pitchFamily="49" charset="0"/>
              </a:rPr>
              <a:t># </a:t>
            </a:r>
            <a:r>
              <a:rPr lang="ko-KR" altLang="en-US" sz="600" i="1" dirty="0">
                <a:solidFill>
                  <a:srgbClr val="666666"/>
                </a:solidFill>
                <a:latin typeface="Consolas" panose="020B0609020204030204" pitchFamily="49" charset="0"/>
              </a:rPr>
              <a:t>예</a:t>
            </a:r>
            <a:r>
              <a:rPr lang="en-US" altLang="ko-KR" sz="600" i="1" dirty="0">
                <a:solidFill>
                  <a:srgbClr val="666666"/>
                </a:solidFill>
                <a:latin typeface="Consolas" panose="020B0609020204030204" pitchFamily="49" charset="0"/>
              </a:rPr>
              <a:t>: '0001_c1s1_001051_00.jpg' -&gt; </a:t>
            </a:r>
            <a:r>
              <a:rPr lang="en-US" altLang="ko-KR" sz="600" i="1" dirty="0" err="1">
                <a:solidFill>
                  <a:srgbClr val="666666"/>
                </a:solidFill>
                <a:latin typeface="Consolas" panose="020B0609020204030204" pitchFamily="49" charset="0"/>
              </a:rPr>
              <a:t>pid</a:t>
            </a:r>
            <a:r>
              <a:rPr lang="en-US" altLang="ko-KR" sz="600" i="1" dirty="0">
                <a:solidFill>
                  <a:srgbClr val="666666"/>
                </a:solidFill>
                <a:latin typeface="Consolas" panose="020B0609020204030204" pitchFamily="49" charset="0"/>
              </a:rPr>
              <a:t>=1, </a:t>
            </a:r>
            <a:r>
              <a:rPr lang="en-US" altLang="ko-KR" sz="600" i="1" dirty="0" err="1">
                <a:solidFill>
                  <a:srgbClr val="666666"/>
                </a:solidFill>
                <a:latin typeface="Consolas" panose="020B0609020204030204" pitchFamily="49" charset="0"/>
              </a:rPr>
              <a:t>camid</a:t>
            </a:r>
            <a:r>
              <a:rPr lang="en-US" altLang="ko-KR" sz="600" i="1" dirty="0">
                <a:solidFill>
                  <a:srgbClr val="666666"/>
                </a:solidFill>
                <a:latin typeface="Consolas" panose="020B0609020204030204" pitchFamily="49" charset="0"/>
              </a:rPr>
              <a:t>=1 (</a:t>
            </a:r>
            <a:r>
              <a:rPr lang="ko-KR" altLang="en-US" sz="600" i="1" dirty="0">
                <a:solidFill>
                  <a:srgbClr val="666666"/>
                </a:solidFill>
                <a:latin typeface="Consolas" panose="020B0609020204030204" pitchFamily="49" charset="0"/>
              </a:rPr>
              <a:t>앞의 </a:t>
            </a:r>
            <a:r>
              <a:rPr lang="en-US" altLang="ko-KR" sz="600" i="1" dirty="0">
                <a:solidFill>
                  <a:srgbClr val="666666"/>
                </a:solidFill>
                <a:latin typeface="Consolas" panose="020B0609020204030204" pitchFamily="49" charset="0"/>
              </a:rPr>
              <a:t>0001</a:t>
            </a:r>
            <a:r>
              <a:rPr lang="ko-KR" altLang="en-US" sz="600" i="1" dirty="0">
                <a:solidFill>
                  <a:srgbClr val="666666"/>
                </a:solidFill>
                <a:latin typeface="Consolas" panose="020B0609020204030204" pitchFamily="49" charset="0"/>
              </a:rPr>
              <a:t>은 정수 </a:t>
            </a:r>
            <a:r>
              <a:rPr lang="ko-KR" altLang="en-US" sz="600" i="1" dirty="0" err="1">
                <a:solidFill>
                  <a:srgbClr val="666666"/>
                </a:solidFill>
                <a:latin typeface="Consolas" panose="020B0609020204030204" pitchFamily="49" charset="0"/>
              </a:rPr>
              <a:t>변환시</a:t>
            </a:r>
            <a:r>
              <a:rPr lang="ko-KR" altLang="en-US" sz="600" i="1" dirty="0">
                <a:solidFill>
                  <a:srgbClr val="666666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600" i="1" dirty="0">
                <a:solidFill>
                  <a:srgbClr val="666666"/>
                </a:solidFill>
                <a:latin typeface="Consolas" panose="020B0609020204030204" pitchFamily="49" charset="0"/>
              </a:rPr>
              <a:t>1</a:t>
            </a:r>
            <a:r>
              <a:rPr lang="ko-KR" altLang="en-US" sz="600" i="1" dirty="0">
                <a:solidFill>
                  <a:srgbClr val="666666"/>
                </a:solidFill>
                <a:latin typeface="Consolas" panose="020B0609020204030204" pitchFamily="49" charset="0"/>
              </a:rPr>
              <a:t>이 됨</a:t>
            </a:r>
            <a:r>
              <a:rPr lang="en-US" altLang="ko-KR" sz="600" i="1" dirty="0">
                <a:solidFill>
                  <a:srgbClr val="666666"/>
                </a:solidFill>
                <a:latin typeface="Consolas" panose="020B0609020204030204" pitchFamily="49" charset="0"/>
              </a:rPr>
              <a:t>)</a:t>
            </a:r>
            <a:endParaRPr lang="ko-KR" altLang="en-US" sz="600" dirty="0">
              <a:latin typeface="Consolas" panose="020B0609020204030204" pitchFamily="49" charset="0"/>
            </a:endParaRPr>
          </a:p>
          <a:p>
            <a:pPr fontAlgn="t">
              <a:buFont typeface="+mj-lt"/>
              <a:buAutoNum type="arabicPeriod"/>
            </a:pPr>
            <a:r>
              <a:rPr lang="en-US" altLang="ko-KR" sz="600" dirty="0">
                <a:latin typeface="Consolas" panose="020B0609020204030204" pitchFamily="49" charset="0"/>
              </a:rPr>
              <a:t>pattern </a:t>
            </a:r>
            <a:r>
              <a:rPr lang="en-US" altLang="ko-KR" sz="60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en-US" altLang="ko-KR" sz="600" dirty="0">
                <a:latin typeface="Consolas" panose="020B0609020204030204" pitchFamily="49" charset="0"/>
              </a:rPr>
              <a:t> </a:t>
            </a:r>
            <a:r>
              <a:rPr lang="en-US" altLang="ko-KR" sz="600" dirty="0" err="1">
                <a:latin typeface="Consolas" panose="020B0609020204030204" pitchFamily="49" charset="0"/>
              </a:rPr>
              <a:t>re</a:t>
            </a:r>
            <a:r>
              <a:rPr lang="en-US" altLang="ko-KR" sz="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ko-KR" sz="600" dirty="0" err="1">
                <a:latin typeface="Consolas" panose="020B0609020204030204" pitchFamily="49" charset="0"/>
              </a:rPr>
              <a:t>compile</a:t>
            </a:r>
            <a:r>
              <a:rPr lang="en-US" altLang="ko-KR" sz="600" dirty="0">
                <a:solidFill>
                  <a:srgbClr val="800000"/>
                </a:solidFill>
                <a:latin typeface="Consolas" panose="020B0609020204030204" pitchFamily="49" charset="0"/>
              </a:rPr>
              <a:t>(</a:t>
            </a:r>
            <a:r>
              <a:rPr lang="en-US" altLang="ko-KR" sz="600" dirty="0">
                <a:latin typeface="Consolas" panose="020B0609020204030204" pitchFamily="49" charset="0"/>
              </a:rPr>
              <a:t>r</a:t>
            </a:r>
            <a:r>
              <a:rPr lang="en-US" altLang="ko-KR" sz="600" dirty="0">
                <a:solidFill>
                  <a:srgbClr val="0000FF"/>
                </a:solidFill>
                <a:latin typeface="Consolas" panose="020B0609020204030204" pitchFamily="49" charset="0"/>
              </a:rPr>
              <a:t>'([-\d]+)_c(\d)'</a:t>
            </a:r>
            <a:r>
              <a:rPr lang="en-US" altLang="ko-KR" sz="600" dirty="0">
                <a:solidFill>
                  <a:srgbClr val="800000"/>
                </a:solidFill>
                <a:latin typeface="Consolas" panose="020B0609020204030204" pitchFamily="49" charset="0"/>
              </a:rPr>
              <a:t>)</a:t>
            </a:r>
            <a:endParaRPr lang="en-US" altLang="ko-KR" sz="600" dirty="0">
              <a:latin typeface="Consolas" panose="020B0609020204030204" pitchFamily="49" charset="0"/>
            </a:endParaRPr>
          </a:p>
          <a:p>
            <a:pPr fontAlgn="t">
              <a:buFont typeface="+mj-lt"/>
              <a:buAutoNum type="arabicPeriod"/>
            </a:pPr>
            <a:r>
              <a:rPr lang="en-US" altLang="ko-KR" sz="600" dirty="0">
                <a:latin typeface="Consolas" panose="020B0609020204030204" pitchFamily="49" charset="0"/>
              </a:rPr>
              <a:t> </a:t>
            </a:r>
          </a:p>
          <a:p>
            <a:pPr fontAlgn="t">
              <a:buFont typeface="+mj-lt"/>
              <a:buAutoNum type="arabicPeriod"/>
            </a:pPr>
            <a:r>
              <a:rPr lang="en-US" altLang="ko-KR" sz="600" dirty="0" err="1">
                <a:latin typeface="Consolas" panose="020B0609020204030204" pitchFamily="49" charset="0"/>
              </a:rPr>
              <a:t>def</a:t>
            </a:r>
            <a:r>
              <a:rPr lang="en-US" altLang="ko-KR" sz="600" dirty="0">
                <a:latin typeface="Consolas" panose="020B0609020204030204" pitchFamily="49" charset="0"/>
              </a:rPr>
              <a:t> </a:t>
            </a:r>
            <a:r>
              <a:rPr lang="en-US" altLang="ko-KR" sz="600" dirty="0" err="1">
                <a:latin typeface="Consolas" panose="020B0609020204030204" pitchFamily="49" charset="0"/>
              </a:rPr>
              <a:t>parse_filename</a:t>
            </a:r>
            <a:r>
              <a:rPr lang="en-US" altLang="ko-KR" sz="600" dirty="0">
                <a:solidFill>
                  <a:srgbClr val="800000"/>
                </a:solidFill>
                <a:latin typeface="Consolas" panose="020B0609020204030204" pitchFamily="49" charset="0"/>
              </a:rPr>
              <a:t>(</a:t>
            </a:r>
            <a:r>
              <a:rPr lang="en-US" altLang="ko-KR" sz="600" dirty="0" err="1">
                <a:latin typeface="Consolas" panose="020B0609020204030204" pitchFamily="49" charset="0"/>
              </a:rPr>
              <a:t>fname</a:t>
            </a:r>
            <a:r>
              <a:rPr lang="en-US" altLang="ko-KR" sz="600" dirty="0">
                <a:solidFill>
                  <a:srgbClr val="800000"/>
                </a:solidFill>
                <a:latin typeface="Consolas" panose="020B0609020204030204" pitchFamily="49" charset="0"/>
              </a:rPr>
              <a:t>)</a:t>
            </a:r>
            <a:r>
              <a:rPr lang="en-US" altLang="ko-KR" sz="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US" altLang="ko-KR" sz="600" dirty="0">
              <a:latin typeface="Consolas" panose="020B0609020204030204" pitchFamily="49" charset="0"/>
            </a:endParaRPr>
          </a:p>
          <a:p>
            <a:pPr fontAlgn="t">
              <a:buFont typeface="+mj-lt"/>
              <a:buAutoNum type="arabicPeriod"/>
            </a:pPr>
            <a:r>
              <a:rPr lang="en-US" altLang="ko-KR" sz="600" dirty="0">
                <a:latin typeface="Consolas" panose="020B0609020204030204" pitchFamily="49" charset="0"/>
              </a:rPr>
              <a:t>    </a:t>
            </a:r>
            <a:r>
              <a:rPr lang="en-US" altLang="ko-KR" sz="600" dirty="0">
                <a:solidFill>
                  <a:srgbClr val="FF00FF"/>
                </a:solidFill>
                <a:latin typeface="Consolas" panose="020B0609020204030204" pitchFamily="49" charset="0"/>
              </a:rPr>
              <a:t>"""</a:t>
            </a:r>
            <a:endParaRPr lang="en-US" altLang="ko-KR" sz="600" dirty="0">
              <a:latin typeface="Consolas" panose="020B0609020204030204" pitchFamily="49" charset="0"/>
            </a:endParaRPr>
          </a:p>
          <a:p>
            <a:pPr fontAlgn="t">
              <a:buFont typeface="+mj-lt"/>
              <a:buAutoNum type="arabicPeriod"/>
            </a:pPr>
            <a:r>
              <a:rPr lang="en-US" altLang="ko-KR" sz="600" dirty="0">
                <a:solidFill>
                  <a:srgbClr val="FF00FF"/>
                </a:solidFill>
                <a:latin typeface="Consolas" panose="020B0609020204030204" pitchFamily="49" charset="0"/>
              </a:rPr>
              <a:t>   </a:t>
            </a:r>
            <a:r>
              <a:rPr lang="ko-KR" altLang="en-US" sz="600" dirty="0">
                <a:solidFill>
                  <a:srgbClr val="FF00FF"/>
                </a:solidFill>
                <a:latin typeface="Consolas" panose="020B0609020204030204" pitchFamily="49" charset="0"/>
              </a:rPr>
              <a:t>파일명에서 </a:t>
            </a:r>
            <a:r>
              <a:rPr lang="en-US" altLang="ko-KR" sz="600" dirty="0">
                <a:solidFill>
                  <a:srgbClr val="FF00FF"/>
                </a:solidFill>
                <a:latin typeface="Consolas" panose="020B0609020204030204" pitchFamily="49" charset="0"/>
              </a:rPr>
              <a:t>person id (</a:t>
            </a:r>
            <a:r>
              <a:rPr lang="en-US" altLang="ko-KR" sz="600" dirty="0" err="1">
                <a:solidFill>
                  <a:srgbClr val="FF00FF"/>
                </a:solidFill>
                <a:latin typeface="Consolas" panose="020B0609020204030204" pitchFamily="49" charset="0"/>
              </a:rPr>
              <a:t>pid</a:t>
            </a:r>
            <a:r>
              <a:rPr lang="en-US" altLang="ko-KR" sz="600" dirty="0">
                <a:solidFill>
                  <a:srgbClr val="FF00FF"/>
                </a:solidFill>
                <a:latin typeface="Consolas" panose="020B0609020204030204" pitchFamily="49" charset="0"/>
              </a:rPr>
              <a:t>)</a:t>
            </a:r>
            <a:r>
              <a:rPr lang="ko-KR" altLang="en-US" sz="600" dirty="0">
                <a:solidFill>
                  <a:srgbClr val="FF00FF"/>
                </a:solidFill>
                <a:latin typeface="Consolas" panose="020B0609020204030204" pitchFamily="49" charset="0"/>
              </a:rPr>
              <a:t>와 </a:t>
            </a:r>
            <a:r>
              <a:rPr lang="en-US" altLang="ko-KR" sz="600" dirty="0">
                <a:solidFill>
                  <a:srgbClr val="FF00FF"/>
                </a:solidFill>
                <a:latin typeface="Consolas" panose="020B0609020204030204" pitchFamily="49" charset="0"/>
              </a:rPr>
              <a:t>camera id (</a:t>
            </a:r>
            <a:r>
              <a:rPr lang="en-US" altLang="ko-KR" sz="600" dirty="0" err="1">
                <a:solidFill>
                  <a:srgbClr val="FF00FF"/>
                </a:solidFill>
                <a:latin typeface="Consolas" panose="020B0609020204030204" pitchFamily="49" charset="0"/>
              </a:rPr>
              <a:t>camid</a:t>
            </a:r>
            <a:r>
              <a:rPr lang="en-US" altLang="ko-KR" sz="600" dirty="0">
                <a:solidFill>
                  <a:srgbClr val="FF00FF"/>
                </a:solidFill>
                <a:latin typeface="Consolas" panose="020B0609020204030204" pitchFamily="49" charset="0"/>
              </a:rPr>
              <a:t>)</a:t>
            </a:r>
            <a:r>
              <a:rPr lang="ko-KR" altLang="en-US" sz="600" dirty="0">
                <a:solidFill>
                  <a:srgbClr val="FF00FF"/>
                </a:solidFill>
                <a:latin typeface="Consolas" panose="020B0609020204030204" pitchFamily="49" charset="0"/>
              </a:rPr>
              <a:t>를 추출합니다</a:t>
            </a:r>
            <a:r>
              <a:rPr lang="en-US" altLang="ko-KR" sz="600" dirty="0">
                <a:solidFill>
                  <a:srgbClr val="FF00FF"/>
                </a:solidFill>
                <a:latin typeface="Consolas" panose="020B0609020204030204" pitchFamily="49" charset="0"/>
              </a:rPr>
              <a:t>.</a:t>
            </a:r>
            <a:endParaRPr lang="ko-KR" altLang="en-US" sz="600" dirty="0">
              <a:latin typeface="Consolas" panose="020B0609020204030204" pitchFamily="49" charset="0"/>
            </a:endParaRPr>
          </a:p>
          <a:p>
            <a:pPr fontAlgn="t">
              <a:buFont typeface="+mj-lt"/>
              <a:buAutoNum type="arabicPeriod"/>
            </a:pPr>
            <a:r>
              <a:rPr lang="ko-KR" altLang="en-US" sz="600" dirty="0">
                <a:solidFill>
                  <a:srgbClr val="FF00FF"/>
                </a:solidFill>
                <a:latin typeface="Consolas" panose="020B0609020204030204" pitchFamily="49" charset="0"/>
              </a:rPr>
              <a:t>   </a:t>
            </a:r>
            <a:r>
              <a:rPr lang="en-US" altLang="ko-KR" sz="600" dirty="0">
                <a:solidFill>
                  <a:srgbClr val="FF00FF"/>
                </a:solidFill>
                <a:latin typeface="Consolas" panose="020B0609020204030204" pitchFamily="49" charset="0"/>
              </a:rPr>
              <a:t>"""</a:t>
            </a:r>
            <a:endParaRPr lang="ko-KR" altLang="en-US" sz="600" dirty="0">
              <a:latin typeface="Consolas" panose="020B0609020204030204" pitchFamily="49" charset="0"/>
            </a:endParaRPr>
          </a:p>
          <a:p>
            <a:pPr fontAlgn="t">
              <a:buFont typeface="+mj-lt"/>
              <a:buAutoNum type="arabicPeriod"/>
            </a:pPr>
            <a:r>
              <a:rPr lang="ko-KR" altLang="en-US" sz="600" dirty="0">
                <a:latin typeface="Consolas" panose="020B0609020204030204" pitchFamily="49" charset="0"/>
              </a:rPr>
              <a:t>    </a:t>
            </a:r>
            <a:r>
              <a:rPr lang="en-US" altLang="ko-KR" sz="600" dirty="0">
                <a:latin typeface="Consolas" panose="020B0609020204030204" pitchFamily="49" charset="0"/>
              </a:rPr>
              <a:t>m </a:t>
            </a:r>
            <a:r>
              <a:rPr lang="en-US" altLang="ko-KR" sz="60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en-US" altLang="ko-KR" sz="600" dirty="0">
                <a:latin typeface="Consolas" panose="020B0609020204030204" pitchFamily="49" charset="0"/>
              </a:rPr>
              <a:t> </a:t>
            </a:r>
            <a:r>
              <a:rPr lang="en-US" altLang="ko-KR" sz="600" dirty="0" err="1">
                <a:latin typeface="Consolas" panose="020B0609020204030204" pitchFamily="49" charset="0"/>
              </a:rPr>
              <a:t>pattern</a:t>
            </a:r>
            <a:r>
              <a:rPr lang="en-US" altLang="ko-KR" sz="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ko-KR" sz="600" dirty="0" err="1">
                <a:latin typeface="Consolas" panose="020B0609020204030204" pitchFamily="49" charset="0"/>
              </a:rPr>
              <a:t>search</a:t>
            </a:r>
            <a:r>
              <a:rPr lang="en-US" altLang="ko-KR" sz="600" dirty="0">
                <a:solidFill>
                  <a:srgbClr val="800000"/>
                </a:solidFill>
                <a:latin typeface="Consolas" panose="020B0609020204030204" pitchFamily="49" charset="0"/>
              </a:rPr>
              <a:t>(</a:t>
            </a:r>
            <a:r>
              <a:rPr lang="en-US" altLang="ko-KR" sz="600" dirty="0" err="1">
                <a:latin typeface="Consolas" panose="020B0609020204030204" pitchFamily="49" charset="0"/>
              </a:rPr>
              <a:t>fname</a:t>
            </a:r>
            <a:r>
              <a:rPr lang="en-US" altLang="ko-KR" sz="600" dirty="0">
                <a:solidFill>
                  <a:srgbClr val="800000"/>
                </a:solidFill>
                <a:latin typeface="Consolas" panose="020B0609020204030204" pitchFamily="49" charset="0"/>
              </a:rPr>
              <a:t>)</a:t>
            </a:r>
            <a:endParaRPr lang="en-US" altLang="ko-KR" sz="600" dirty="0">
              <a:latin typeface="Consolas" panose="020B0609020204030204" pitchFamily="49" charset="0"/>
            </a:endParaRPr>
          </a:p>
          <a:p>
            <a:pPr fontAlgn="t">
              <a:buFont typeface="+mj-lt"/>
              <a:buAutoNum type="arabicPeriod"/>
            </a:pPr>
            <a:r>
              <a:rPr lang="en-US" altLang="ko-KR" sz="600" dirty="0">
                <a:latin typeface="Consolas" panose="020B0609020204030204" pitchFamily="49" charset="0"/>
              </a:rPr>
              <a:t>    </a:t>
            </a:r>
            <a:r>
              <a:rPr lang="en-US" altLang="ko-KR" sz="600" dirty="0">
                <a:solidFill>
                  <a:srgbClr val="00008B"/>
                </a:solidFill>
                <a:latin typeface="Consolas" panose="020B0609020204030204" pitchFamily="49" charset="0"/>
              </a:rPr>
              <a:t>if</a:t>
            </a:r>
            <a:r>
              <a:rPr lang="en-US" altLang="ko-KR" sz="600" dirty="0">
                <a:latin typeface="Consolas" panose="020B0609020204030204" pitchFamily="49" charset="0"/>
              </a:rPr>
              <a:t> m</a:t>
            </a:r>
            <a:r>
              <a:rPr lang="en-US" altLang="ko-KR" sz="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US" altLang="ko-KR" sz="600" dirty="0">
              <a:latin typeface="Consolas" panose="020B0609020204030204" pitchFamily="49" charset="0"/>
            </a:endParaRPr>
          </a:p>
          <a:p>
            <a:pPr fontAlgn="t">
              <a:buFont typeface="+mj-lt"/>
              <a:buAutoNum type="arabicPeriod"/>
            </a:pPr>
            <a:r>
              <a:rPr lang="en-US" altLang="ko-KR" sz="600" dirty="0">
                <a:latin typeface="Consolas" panose="020B0609020204030204" pitchFamily="49" charset="0"/>
              </a:rPr>
              <a:t>        </a:t>
            </a:r>
            <a:r>
              <a:rPr lang="en-US" altLang="ko-KR" sz="600" dirty="0" err="1">
                <a:latin typeface="Consolas" panose="020B0609020204030204" pitchFamily="49" charset="0"/>
              </a:rPr>
              <a:t>pid</a:t>
            </a:r>
            <a:r>
              <a:rPr lang="en-US" altLang="ko-KR" sz="600" dirty="0">
                <a:latin typeface="Consolas" panose="020B0609020204030204" pitchFamily="49" charset="0"/>
              </a:rPr>
              <a:t> </a:t>
            </a:r>
            <a:r>
              <a:rPr lang="en-US" altLang="ko-KR" sz="60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en-US" altLang="ko-KR" sz="600" dirty="0">
                <a:latin typeface="Consolas" panose="020B0609020204030204" pitchFamily="49" charset="0"/>
              </a:rPr>
              <a:t> </a:t>
            </a:r>
            <a:r>
              <a:rPr lang="en-US" altLang="ko-KR" sz="600" dirty="0" err="1">
                <a:latin typeface="Consolas" panose="020B0609020204030204" pitchFamily="49" charset="0"/>
              </a:rPr>
              <a:t>int</a:t>
            </a:r>
            <a:r>
              <a:rPr lang="en-US" altLang="ko-KR" sz="600" dirty="0">
                <a:solidFill>
                  <a:srgbClr val="800000"/>
                </a:solidFill>
                <a:latin typeface="Consolas" panose="020B0609020204030204" pitchFamily="49" charset="0"/>
              </a:rPr>
              <a:t>(</a:t>
            </a:r>
            <a:r>
              <a:rPr lang="en-US" altLang="ko-KR" sz="600" dirty="0" err="1">
                <a:latin typeface="Consolas" panose="020B0609020204030204" pitchFamily="49" charset="0"/>
              </a:rPr>
              <a:t>m</a:t>
            </a:r>
            <a:r>
              <a:rPr lang="en-US" altLang="ko-KR" sz="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ko-KR" sz="600" dirty="0" err="1">
                <a:latin typeface="Consolas" panose="020B0609020204030204" pitchFamily="49" charset="0"/>
              </a:rPr>
              <a:t>group</a:t>
            </a:r>
            <a:r>
              <a:rPr lang="en-US" altLang="ko-KR" sz="600" dirty="0">
                <a:solidFill>
                  <a:srgbClr val="800000"/>
                </a:solidFill>
                <a:latin typeface="Consolas" panose="020B0609020204030204" pitchFamily="49" charset="0"/>
              </a:rPr>
              <a:t>(</a:t>
            </a:r>
            <a:r>
              <a:rPr lang="en-US" altLang="ko-KR" sz="600" dirty="0">
                <a:solidFill>
                  <a:srgbClr val="CC66CC"/>
                </a:solidFill>
                <a:latin typeface="Consolas" panose="020B0609020204030204" pitchFamily="49" charset="0"/>
              </a:rPr>
              <a:t>1</a:t>
            </a:r>
            <a:r>
              <a:rPr lang="en-US" altLang="ko-KR" sz="600" dirty="0">
                <a:solidFill>
                  <a:srgbClr val="800000"/>
                </a:solidFill>
                <a:latin typeface="Consolas" panose="020B0609020204030204" pitchFamily="49" charset="0"/>
              </a:rPr>
              <a:t>))</a:t>
            </a:r>
            <a:endParaRPr lang="en-US" altLang="ko-KR" sz="600" dirty="0">
              <a:latin typeface="Consolas" panose="020B0609020204030204" pitchFamily="49" charset="0"/>
            </a:endParaRPr>
          </a:p>
          <a:p>
            <a:pPr fontAlgn="t">
              <a:buFont typeface="+mj-lt"/>
              <a:buAutoNum type="arabicPeriod"/>
            </a:pPr>
            <a:r>
              <a:rPr lang="en-US" altLang="ko-KR" sz="600" dirty="0">
                <a:latin typeface="Consolas" panose="020B0609020204030204" pitchFamily="49" charset="0"/>
              </a:rPr>
              <a:t>        </a:t>
            </a:r>
            <a:r>
              <a:rPr lang="en-US" altLang="ko-KR" sz="600" dirty="0" err="1">
                <a:latin typeface="Consolas" panose="020B0609020204030204" pitchFamily="49" charset="0"/>
              </a:rPr>
              <a:t>camid</a:t>
            </a:r>
            <a:r>
              <a:rPr lang="en-US" altLang="ko-KR" sz="600" dirty="0">
                <a:latin typeface="Consolas" panose="020B0609020204030204" pitchFamily="49" charset="0"/>
              </a:rPr>
              <a:t> </a:t>
            </a:r>
            <a:r>
              <a:rPr lang="en-US" altLang="ko-KR" sz="60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en-US" altLang="ko-KR" sz="600" dirty="0">
                <a:latin typeface="Consolas" panose="020B0609020204030204" pitchFamily="49" charset="0"/>
              </a:rPr>
              <a:t> </a:t>
            </a:r>
            <a:r>
              <a:rPr lang="en-US" altLang="ko-KR" sz="600" dirty="0" err="1">
                <a:latin typeface="Consolas" panose="020B0609020204030204" pitchFamily="49" charset="0"/>
              </a:rPr>
              <a:t>int</a:t>
            </a:r>
            <a:r>
              <a:rPr lang="en-US" altLang="ko-KR" sz="600" dirty="0">
                <a:solidFill>
                  <a:srgbClr val="800000"/>
                </a:solidFill>
                <a:latin typeface="Consolas" panose="020B0609020204030204" pitchFamily="49" charset="0"/>
              </a:rPr>
              <a:t>(</a:t>
            </a:r>
            <a:r>
              <a:rPr lang="en-US" altLang="ko-KR" sz="600" dirty="0" err="1">
                <a:latin typeface="Consolas" panose="020B0609020204030204" pitchFamily="49" charset="0"/>
              </a:rPr>
              <a:t>m</a:t>
            </a:r>
            <a:r>
              <a:rPr lang="en-US" altLang="ko-KR" sz="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ko-KR" sz="600" dirty="0" err="1">
                <a:latin typeface="Consolas" panose="020B0609020204030204" pitchFamily="49" charset="0"/>
              </a:rPr>
              <a:t>group</a:t>
            </a:r>
            <a:r>
              <a:rPr lang="en-US" altLang="ko-KR" sz="600" dirty="0">
                <a:solidFill>
                  <a:srgbClr val="800000"/>
                </a:solidFill>
                <a:latin typeface="Consolas" panose="020B0609020204030204" pitchFamily="49" charset="0"/>
              </a:rPr>
              <a:t>(</a:t>
            </a:r>
            <a:r>
              <a:rPr lang="en-US" altLang="ko-KR" sz="600" dirty="0">
                <a:solidFill>
                  <a:srgbClr val="CC66CC"/>
                </a:solidFill>
                <a:latin typeface="Consolas" panose="020B0609020204030204" pitchFamily="49" charset="0"/>
              </a:rPr>
              <a:t>2</a:t>
            </a:r>
            <a:r>
              <a:rPr lang="en-US" altLang="ko-KR" sz="600" dirty="0">
                <a:solidFill>
                  <a:srgbClr val="800000"/>
                </a:solidFill>
                <a:latin typeface="Consolas" panose="020B0609020204030204" pitchFamily="49" charset="0"/>
              </a:rPr>
              <a:t>))</a:t>
            </a:r>
            <a:endParaRPr lang="en-US" altLang="ko-KR" sz="600" dirty="0">
              <a:latin typeface="Consolas" panose="020B0609020204030204" pitchFamily="49" charset="0"/>
            </a:endParaRPr>
          </a:p>
          <a:p>
            <a:pPr fontAlgn="t">
              <a:buFont typeface="+mj-lt"/>
              <a:buAutoNum type="arabicPeriod"/>
            </a:pPr>
            <a:r>
              <a:rPr lang="en-US" altLang="ko-KR" sz="600" dirty="0">
                <a:latin typeface="Consolas" panose="020B0609020204030204" pitchFamily="49" charset="0"/>
              </a:rPr>
              <a:t>        </a:t>
            </a:r>
            <a:r>
              <a:rPr lang="en-US" altLang="ko-KR" sz="600" dirty="0">
                <a:solidFill>
                  <a:srgbClr val="00008B"/>
                </a:solidFill>
                <a:latin typeface="Consolas" panose="020B0609020204030204" pitchFamily="49" charset="0"/>
              </a:rPr>
              <a:t>return</a:t>
            </a:r>
            <a:r>
              <a:rPr lang="en-US" altLang="ko-KR" sz="600" dirty="0">
                <a:latin typeface="Consolas" panose="020B0609020204030204" pitchFamily="49" charset="0"/>
              </a:rPr>
              <a:t> </a:t>
            </a:r>
            <a:r>
              <a:rPr lang="en-US" altLang="ko-KR" sz="600" dirty="0" err="1">
                <a:latin typeface="Consolas" panose="020B0609020204030204" pitchFamily="49" charset="0"/>
              </a:rPr>
              <a:t>pid</a:t>
            </a:r>
            <a:r>
              <a:rPr lang="en-US" altLang="ko-KR" sz="600" dirty="0">
                <a:solidFill>
                  <a:srgbClr val="000000"/>
                </a:solidFill>
                <a:latin typeface="Consolas" panose="020B0609020204030204" pitchFamily="49" charset="0"/>
              </a:rPr>
              <a:t>,</a:t>
            </a:r>
            <a:r>
              <a:rPr lang="en-US" altLang="ko-KR" sz="600" dirty="0">
                <a:latin typeface="Consolas" panose="020B0609020204030204" pitchFamily="49" charset="0"/>
              </a:rPr>
              <a:t> </a:t>
            </a:r>
            <a:r>
              <a:rPr lang="en-US" altLang="ko-KR" sz="600" dirty="0" err="1">
                <a:latin typeface="Consolas" panose="020B0609020204030204" pitchFamily="49" charset="0"/>
              </a:rPr>
              <a:t>camid</a:t>
            </a:r>
            <a:endParaRPr lang="en-US" altLang="ko-KR" sz="600" dirty="0">
              <a:latin typeface="Consolas" panose="020B0609020204030204" pitchFamily="49" charset="0"/>
            </a:endParaRPr>
          </a:p>
          <a:p>
            <a:pPr fontAlgn="t">
              <a:buFont typeface="+mj-lt"/>
              <a:buAutoNum type="arabicPeriod"/>
            </a:pPr>
            <a:r>
              <a:rPr lang="en-US" altLang="ko-KR" sz="600" dirty="0">
                <a:latin typeface="Consolas" panose="020B0609020204030204" pitchFamily="49" charset="0"/>
              </a:rPr>
              <a:t>    </a:t>
            </a:r>
            <a:r>
              <a:rPr lang="en-US" altLang="ko-KR" sz="600" dirty="0">
                <a:solidFill>
                  <a:srgbClr val="00008B"/>
                </a:solidFill>
                <a:latin typeface="Consolas" panose="020B0609020204030204" pitchFamily="49" charset="0"/>
              </a:rPr>
              <a:t>else</a:t>
            </a:r>
            <a:r>
              <a:rPr lang="en-US" altLang="ko-KR" sz="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US" altLang="ko-KR" sz="600" dirty="0">
              <a:latin typeface="Consolas" panose="020B0609020204030204" pitchFamily="49" charset="0"/>
            </a:endParaRPr>
          </a:p>
          <a:p>
            <a:pPr fontAlgn="t">
              <a:buFont typeface="+mj-lt"/>
              <a:buAutoNum type="arabicPeriod"/>
            </a:pPr>
            <a:r>
              <a:rPr lang="en-US" altLang="ko-KR" sz="600" dirty="0">
                <a:latin typeface="Consolas" panose="020B0609020204030204" pitchFamily="49" charset="0"/>
              </a:rPr>
              <a:t>        </a:t>
            </a:r>
            <a:r>
              <a:rPr lang="en-US" altLang="ko-KR" sz="600" dirty="0">
                <a:solidFill>
                  <a:srgbClr val="00008B"/>
                </a:solidFill>
                <a:latin typeface="Consolas" panose="020B0609020204030204" pitchFamily="49" charset="0"/>
              </a:rPr>
              <a:t>return</a:t>
            </a:r>
            <a:r>
              <a:rPr lang="en-US" altLang="ko-KR" sz="600" dirty="0">
                <a:latin typeface="Consolas" panose="020B0609020204030204" pitchFamily="49" charset="0"/>
              </a:rPr>
              <a:t> None</a:t>
            </a:r>
            <a:r>
              <a:rPr lang="en-US" altLang="ko-KR" sz="600" dirty="0">
                <a:solidFill>
                  <a:srgbClr val="000000"/>
                </a:solidFill>
                <a:latin typeface="Consolas" panose="020B0609020204030204" pitchFamily="49" charset="0"/>
              </a:rPr>
              <a:t>,</a:t>
            </a:r>
            <a:r>
              <a:rPr lang="en-US" altLang="ko-KR" sz="600" dirty="0">
                <a:latin typeface="Consolas" panose="020B0609020204030204" pitchFamily="49" charset="0"/>
              </a:rPr>
              <a:t> None</a:t>
            </a:r>
          </a:p>
          <a:p>
            <a:pPr fontAlgn="t">
              <a:buFont typeface="+mj-lt"/>
              <a:buAutoNum type="arabicPeriod"/>
            </a:pPr>
            <a:r>
              <a:rPr lang="en-US" altLang="ko-KR" sz="600" dirty="0">
                <a:latin typeface="Consolas" panose="020B0609020204030204" pitchFamily="49" charset="0"/>
              </a:rPr>
              <a:t> </a:t>
            </a:r>
          </a:p>
          <a:p>
            <a:pPr fontAlgn="t">
              <a:buFont typeface="+mj-lt"/>
              <a:buAutoNum type="arabicPeriod"/>
            </a:pPr>
            <a:r>
              <a:rPr lang="en-US" altLang="ko-KR" sz="600" i="1" dirty="0">
                <a:solidFill>
                  <a:srgbClr val="666666"/>
                </a:solidFill>
                <a:latin typeface="Consolas" panose="020B0609020204030204" pitchFamily="49" charset="0"/>
              </a:rPr>
              <a:t># Query </a:t>
            </a:r>
            <a:r>
              <a:rPr lang="ko-KR" altLang="en-US" sz="600" i="1" dirty="0">
                <a:solidFill>
                  <a:srgbClr val="666666"/>
                </a:solidFill>
                <a:latin typeface="Consolas" panose="020B0609020204030204" pitchFamily="49" charset="0"/>
              </a:rPr>
              <a:t>이미지와 </a:t>
            </a:r>
            <a:r>
              <a:rPr lang="en-US" altLang="ko-KR" sz="600" i="1" dirty="0">
                <a:solidFill>
                  <a:srgbClr val="666666"/>
                </a:solidFill>
                <a:latin typeface="Consolas" panose="020B0609020204030204" pitchFamily="49" charset="0"/>
              </a:rPr>
              <a:t>Gallery </a:t>
            </a:r>
            <a:r>
              <a:rPr lang="ko-KR" altLang="en-US" sz="600" i="1" dirty="0">
                <a:solidFill>
                  <a:srgbClr val="666666"/>
                </a:solidFill>
                <a:latin typeface="Consolas" panose="020B0609020204030204" pitchFamily="49" charset="0"/>
              </a:rPr>
              <a:t>이미지 목록 </a:t>
            </a:r>
            <a:r>
              <a:rPr lang="en-US" altLang="ko-KR" sz="600" i="1" dirty="0">
                <a:solidFill>
                  <a:srgbClr val="666666"/>
                </a:solidFill>
                <a:latin typeface="Consolas" panose="020B0609020204030204" pitchFamily="49" charset="0"/>
              </a:rPr>
              <a:t>(</a:t>
            </a:r>
            <a:r>
              <a:rPr lang="ko-KR" altLang="en-US" sz="600" i="1" dirty="0">
                <a:solidFill>
                  <a:srgbClr val="666666"/>
                </a:solidFill>
                <a:latin typeface="Consolas" panose="020B0609020204030204" pitchFamily="49" charset="0"/>
              </a:rPr>
              <a:t>예시</a:t>
            </a:r>
            <a:r>
              <a:rPr lang="en-US" altLang="ko-KR" sz="600" i="1" dirty="0">
                <a:solidFill>
                  <a:srgbClr val="666666"/>
                </a:solidFill>
                <a:latin typeface="Consolas" panose="020B0609020204030204" pitchFamily="49" charset="0"/>
              </a:rPr>
              <a:t>)</a:t>
            </a:r>
            <a:endParaRPr lang="ko-KR" altLang="en-US" sz="600" dirty="0">
              <a:latin typeface="Consolas" panose="020B0609020204030204" pitchFamily="49" charset="0"/>
            </a:endParaRPr>
          </a:p>
          <a:p>
            <a:pPr fontAlgn="t">
              <a:buFont typeface="+mj-lt"/>
              <a:buAutoNum type="arabicPeriod"/>
            </a:pPr>
            <a:r>
              <a:rPr lang="en-US" altLang="ko-KR" sz="600" dirty="0" err="1">
                <a:latin typeface="Consolas" panose="020B0609020204030204" pitchFamily="49" charset="0"/>
              </a:rPr>
              <a:t>query_imgs</a:t>
            </a:r>
            <a:r>
              <a:rPr lang="en-US" altLang="ko-KR" sz="600" dirty="0">
                <a:latin typeface="Consolas" panose="020B0609020204030204" pitchFamily="49" charset="0"/>
              </a:rPr>
              <a:t> </a:t>
            </a:r>
            <a:r>
              <a:rPr lang="en-US" altLang="ko-KR" sz="60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en-US" altLang="ko-KR" sz="600" dirty="0">
                <a:latin typeface="Consolas" panose="020B0609020204030204" pitchFamily="49" charset="0"/>
              </a:rPr>
              <a:t> </a:t>
            </a:r>
            <a:r>
              <a:rPr lang="en-US" altLang="ko-KR" sz="600" dirty="0">
                <a:solidFill>
                  <a:srgbClr val="800000"/>
                </a:solidFill>
                <a:latin typeface="Consolas" panose="020B0609020204030204" pitchFamily="49" charset="0"/>
              </a:rPr>
              <a:t>[</a:t>
            </a:r>
            <a:endParaRPr lang="en-US" altLang="ko-KR" sz="600" dirty="0">
              <a:latin typeface="Consolas" panose="020B0609020204030204" pitchFamily="49" charset="0"/>
            </a:endParaRPr>
          </a:p>
          <a:p>
            <a:pPr fontAlgn="t">
              <a:buFont typeface="+mj-lt"/>
              <a:buAutoNum type="arabicPeriod"/>
            </a:pPr>
            <a:r>
              <a:rPr lang="en-US" altLang="ko-KR" sz="600" dirty="0">
                <a:latin typeface="Consolas" panose="020B0609020204030204" pitchFamily="49" charset="0"/>
              </a:rPr>
              <a:t>    </a:t>
            </a:r>
            <a:r>
              <a:rPr lang="en-US" altLang="ko-KR" sz="600" dirty="0">
                <a:solidFill>
                  <a:srgbClr val="FF00FF"/>
                </a:solidFill>
                <a:latin typeface="Consolas" panose="020B0609020204030204" pitchFamily="49" charset="0"/>
              </a:rPr>
              <a:t>"0001_c1s1_001051_00.jpg"</a:t>
            </a:r>
            <a:r>
              <a:rPr lang="en-US" altLang="ko-KR" sz="600" dirty="0">
                <a:solidFill>
                  <a:srgbClr val="000000"/>
                </a:solidFill>
                <a:latin typeface="Consolas" panose="020B0609020204030204" pitchFamily="49" charset="0"/>
              </a:rPr>
              <a:t>,</a:t>
            </a:r>
            <a:endParaRPr lang="en-US" altLang="ko-KR" sz="600" dirty="0">
              <a:latin typeface="Consolas" panose="020B0609020204030204" pitchFamily="49" charset="0"/>
            </a:endParaRPr>
          </a:p>
          <a:p>
            <a:pPr fontAlgn="t">
              <a:buFont typeface="+mj-lt"/>
              <a:buAutoNum type="arabicPeriod"/>
            </a:pPr>
            <a:r>
              <a:rPr lang="en-US" altLang="ko-KR" sz="600" dirty="0">
                <a:latin typeface="Consolas" panose="020B0609020204030204" pitchFamily="49" charset="0"/>
              </a:rPr>
              <a:t>    </a:t>
            </a:r>
            <a:r>
              <a:rPr lang="en-US" altLang="ko-KR" sz="600" i="1" dirty="0">
                <a:solidFill>
                  <a:srgbClr val="666666"/>
                </a:solidFill>
                <a:latin typeface="Consolas" panose="020B0609020204030204" pitchFamily="49" charset="0"/>
              </a:rPr>
              <a:t># </a:t>
            </a:r>
            <a:r>
              <a:rPr lang="ko-KR" altLang="en-US" sz="600" i="1" dirty="0">
                <a:solidFill>
                  <a:srgbClr val="666666"/>
                </a:solidFill>
                <a:latin typeface="Consolas" panose="020B0609020204030204" pitchFamily="49" charset="0"/>
              </a:rPr>
              <a:t>다른 </a:t>
            </a:r>
            <a:r>
              <a:rPr lang="en-US" altLang="ko-KR" sz="600" i="1" dirty="0">
                <a:solidFill>
                  <a:srgbClr val="666666"/>
                </a:solidFill>
                <a:latin typeface="Consolas" panose="020B0609020204030204" pitchFamily="49" charset="0"/>
              </a:rPr>
              <a:t>query </a:t>
            </a:r>
            <a:r>
              <a:rPr lang="ko-KR" altLang="en-US" sz="600" i="1" dirty="0">
                <a:solidFill>
                  <a:srgbClr val="666666"/>
                </a:solidFill>
                <a:latin typeface="Consolas" panose="020B0609020204030204" pitchFamily="49" charset="0"/>
              </a:rPr>
              <a:t>이미지 파일명들 </a:t>
            </a:r>
            <a:r>
              <a:rPr lang="en-US" altLang="ko-KR" sz="600" i="1" dirty="0">
                <a:solidFill>
                  <a:srgbClr val="666666"/>
                </a:solidFill>
                <a:latin typeface="Consolas" panose="020B0609020204030204" pitchFamily="49" charset="0"/>
              </a:rPr>
              <a:t>...</a:t>
            </a:r>
            <a:endParaRPr lang="ko-KR" altLang="en-US" sz="600" dirty="0">
              <a:latin typeface="Consolas" panose="020B0609020204030204" pitchFamily="49" charset="0"/>
            </a:endParaRPr>
          </a:p>
          <a:p>
            <a:pPr fontAlgn="t">
              <a:buFont typeface="+mj-lt"/>
              <a:buAutoNum type="arabicPeriod"/>
            </a:pPr>
            <a:r>
              <a:rPr lang="en-US" altLang="ko-KR" sz="600" dirty="0">
                <a:solidFill>
                  <a:srgbClr val="800000"/>
                </a:solidFill>
                <a:latin typeface="Consolas" panose="020B0609020204030204" pitchFamily="49" charset="0"/>
              </a:rPr>
              <a:t>]</a:t>
            </a:r>
            <a:endParaRPr lang="ko-KR" altLang="en-US" sz="600" dirty="0">
              <a:latin typeface="Consolas" panose="020B0609020204030204" pitchFamily="49" charset="0"/>
            </a:endParaRPr>
          </a:p>
          <a:p>
            <a:pPr fontAlgn="t">
              <a:buFont typeface="+mj-lt"/>
              <a:buAutoNum type="arabicPeriod"/>
            </a:pPr>
            <a:r>
              <a:rPr lang="en-US" altLang="ko-KR" sz="600" dirty="0" err="1">
                <a:latin typeface="Consolas" panose="020B0609020204030204" pitchFamily="49" charset="0"/>
              </a:rPr>
              <a:t>gallery_imgs</a:t>
            </a:r>
            <a:r>
              <a:rPr lang="en-US" altLang="ko-KR" sz="600" dirty="0">
                <a:latin typeface="Consolas" panose="020B0609020204030204" pitchFamily="49" charset="0"/>
              </a:rPr>
              <a:t> </a:t>
            </a:r>
            <a:r>
              <a:rPr lang="en-US" altLang="ko-KR" sz="60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en-US" altLang="ko-KR" sz="600" dirty="0">
                <a:latin typeface="Consolas" panose="020B0609020204030204" pitchFamily="49" charset="0"/>
              </a:rPr>
              <a:t> </a:t>
            </a:r>
            <a:r>
              <a:rPr lang="en-US" altLang="ko-KR" sz="600" dirty="0">
                <a:solidFill>
                  <a:srgbClr val="800000"/>
                </a:solidFill>
                <a:latin typeface="Consolas" panose="020B0609020204030204" pitchFamily="49" charset="0"/>
              </a:rPr>
              <a:t>[</a:t>
            </a:r>
            <a:endParaRPr lang="en-US" altLang="ko-KR" sz="600" dirty="0">
              <a:latin typeface="Consolas" panose="020B0609020204030204" pitchFamily="49" charset="0"/>
            </a:endParaRPr>
          </a:p>
          <a:p>
            <a:pPr fontAlgn="t">
              <a:buFont typeface="+mj-lt"/>
              <a:buAutoNum type="arabicPeriod"/>
            </a:pPr>
            <a:r>
              <a:rPr lang="en-US" altLang="ko-KR" sz="600" dirty="0">
                <a:latin typeface="Consolas" panose="020B0609020204030204" pitchFamily="49" charset="0"/>
              </a:rPr>
              <a:t>    </a:t>
            </a:r>
            <a:r>
              <a:rPr lang="en-US" altLang="ko-KR" sz="600" dirty="0">
                <a:solidFill>
                  <a:srgbClr val="FF00FF"/>
                </a:solidFill>
                <a:latin typeface="Consolas" panose="020B0609020204030204" pitchFamily="49" charset="0"/>
              </a:rPr>
              <a:t>"0001_c1s1_001051_00.jpg"</a:t>
            </a:r>
            <a:r>
              <a:rPr lang="en-US" altLang="ko-KR" sz="600" dirty="0">
                <a:solidFill>
                  <a:srgbClr val="000000"/>
                </a:solidFill>
                <a:latin typeface="Consolas" panose="020B0609020204030204" pitchFamily="49" charset="0"/>
              </a:rPr>
              <a:t>,</a:t>
            </a:r>
            <a:r>
              <a:rPr lang="en-US" altLang="ko-KR" sz="600" dirty="0">
                <a:latin typeface="Consolas" panose="020B0609020204030204" pitchFamily="49" charset="0"/>
              </a:rPr>
              <a:t>  </a:t>
            </a:r>
            <a:r>
              <a:rPr lang="en-US" altLang="ko-KR" sz="600" i="1" dirty="0">
                <a:solidFill>
                  <a:srgbClr val="666666"/>
                </a:solidFill>
                <a:latin typeface="Consolas" panose="020B0609020204030204" pitchFamily="49" charset="0"/>
              </a:rPr>
              <a:t># </a:t>
            </a:r>
            <a:r>
              <a:rPr lang="ko-KR" altLang="en-US" sz="600" i="1" dirty="0">
                <a:solidFill>
                  <a:srgbClr val="666666"/>
                </a:solidFill>
                <a:latin typeface="Consolas" panose="020B0609020204030204" pitchFamily="49" charset="0"/>
              </a:rPr>
              <a:t>같은 </a:t>
            </a:r>
            <a:r>
              <a:rPr lang="en-US" altLang="ko-KR" sz="600" i="1" dirty="0">
                <a:solidFill>
                  <a:srgbClr val="666666"/>
                </a:solidFill>
                <a:latin typeface="Consolas" panose="020B0609020204030204" pitchFamily="49" charset="0"/>
              </a:rPr>
              <a:t>id, </a:t>
            </a:r>
            <a:r>
              <a:rPr lang="ko-KR" altLang="en-US" sz="600" i="1" dirty="0">
                <a:solidFill>
                  <a:srgbClr val="666666"/>
                </a:solidFill>
                <a:latin typeface="Consolas" panose="020B0609020204030204" pitchFamily="49" charset="0"/>
              </a:rPr>
              <a:t>같은 카메라 </a:t>
            </a:r>
            <a:r>
              <a:rPr lang="en-US" altLang="ko-KR" sz="600" i="1" dirty="0">
                <a:solidFill>
                  <a:srgbClr val="666666"/>
                </a:solidFill>
                <a:latin typeface="Consolas" panose="020B0609020204030204" pitchFamily="49" charset="0"/>
              </a:rPr>
              <a:t>(junk)</a:t>
            </a:r>
            <a:endParaRPr lang="en-US" altLang="ko-KR" sz="600" dirty="0">
              <a:latin typeface="Consolas" panose="020B0609020204030204" pitchFamily="49" charset="0"/>
            </a:endParaRPr>
          </a:p>
          <a:p>
            <a:pPr fontAlgn="t">
              <a:buFont typeface="+mj-lt"/>
              <a:buAutoNum type="arabicPeriod"/>
            </a:pPr>
            <a:r>
              <a:rPr lang="en-US" altLang="ko-KR" sz="600" dirty="0">
                <a:latin typeface="Consolas" panose="020B0609020204030204" pitchFamily="49" charset="0"/>
              </a:rPr>
              <a:t>   </a:t>
            </a:r>
            <a:r>
              <a:rPr lang="en-US" altLang="ko-KR" sz="600" dirty="0">
                <a:solidFill>
                  <a:srgbClr val="FF00FF"/>
                </a:solidFill>
                <a:latin typeface="Consolas" panose="020B0609020204030204" pitchFamily="49" charset="0"/>
              </a:rPr>
              <a:t>"0001_c2s1_001052_00.jpg"</a:t>
            </a:r>
            <a:r>
              <a:rPr lang="en-US" altLang="ko-KR" sz="600" dirty="0">
                <a:solidFill>
                  <a:srgbClr val="000000"/>
                </a:solidFill>
                <a:latin typeface="Consolas" panose="020B0609020204030204" pitchFamily="49" charset="0"/>
              </a:rPr>
              <a:t>,</a:t>
            </a:r>
            <a:r>
              <a:rPr lang="en-US" altLang="ko-KR" sz="600" dirty="0">
                <a:latin typeface="Consolas" panose="020B0609020204030204" pitchFamily="49" charset="0"/>
              </a:rPr>
              <a:t>  </a:t>
            </a:r>
            <a:r>
              <a:rPr lang="en-US" altLang="ko-KR" sz="600" i="1" dirty="0">
                <a:solidFill>
                  <a:srgbClr val="666666"/>
                </a:solidFill>
                <a:latin typeface="Consolas" panose="020B0609020204030204" pitchFamily="49" charset="0"/>
              </a:rPr>
              <a:t># </a:t>
            </a:r>
            <a:r>
              <a:rPr lang="ko-KR" altLang="en-US" sz="600" i="1" dirty="0">
                <a:solidFill>
                  <a:srgbClr val="666666"/>
                </a:solidFill>
                <a:latin typeface="Consolas" panose="020B0609020204030204" pitchFamily="49" charset="0"/>
              </a:rPr>
              <a:t>같은 </a:t>
            </a:r>
            <a:r>
              <a:rPr lang="en-US" altLang="ko-KR" sz="600" i="1" dirty="0">
                <a:solidFill>
                  <a:srgbClr val="666666"/>
                </a:solidFill>
                <a:latin typeface="Consolas" panose="020B0609020204030204" pitchFamily="49" charset="0"/>
              </a:rPr>
              <a:t>id, </a:t>
            </a:r>
            <a:r>
              <a:rPr lang="ko-KR" altLang="en-US" sz="600" i="1" dirty="0">
                <a:solidFill>
                  <a:srgbClr val="666666"/>
                </a:solidFill>
                <a:latin typeface="Consolas" panose="020B0609020204030204" pitchFamily="49" charset="0"/>
              </a:rPr>
              <a:t>다른 카메라 </a:t>
            </a:r>
            <a:r>
              <a:rPr lang="en-US" altLang="ko-KR" sz="600" i="1" dirty="0">
                <a:solidFill>
                  <a:srgbClr val="666666"/>
                </a:solidFill>
                <a:latin typeface="Consolas" panose="020B0609020204030204" pitchFamily="49" charset="0"/>
              </a:rPr>
              <a:t>(good)</a:t>
            </a:r>
            <a:endParaRPr lang="en-US" altLang="ko-KR" sz="600" dirty="0">
              <a:latin typeface="Consolas" panose="020B0609020204030204" pitchFamily="49" charset="0"/>
            </a:endParaRPr>
          </a:p>
          <a:p>
            <a:pPr fontAlgn="t">
              <a:buFont typeface="+mj-lt"/>
              <a:buAutoNum type="arabicPeriod"/>
            </a:pPr>
            <a:r>
              <a:rPr lang="en-US" altLang="ko-KR" sz="600" dirty="0">
                <a:latin typeface="Consolas" panose="020B0609020204030204" pitchFamily="49" charset="0"/>
              </a:rPr>
              <a:t>   </a:t>
            </a:r>
            <a:r>
              <a:rPr lang="en-US" altLang="ko-KR" sz="600" dirty="0">
                <a:solidFill>
                  <a:srgbClr val="FF00FF"/>
                </a:solidFill>
                <a:latin typeface="Consolas" panose="020B0609020204030204" pitchFamily="49" charset="0"/>
              </a:rPr>
              <a:t>"0002_c1s1_000451_03.jpg"</a:t>
            </a:r>
            <a:r>
              <a:rPr lang="en-US" altLang="ko-KR" sz="600" dirty="0">
                <a:solidFill>
                  <a:srgbClr val="000000"/>
                </a:solidFill>
                <a:latin typeface="Consolas" panose="020B0609020204030204" pitchFamily="49" charset="0"/>
              </a:rPr>
              <a:t>,</a:t>
            </a:r>
            <a:r>
              <a:rPr lang="en-US" altLang="ko-KR" sz="600" dirty="0">
                <a:latin typeface="Consolas" panose="020B0609020204030204" pitchFamily="49" charset="0"/>
              </a:rPr>
              <a:t>  </a:t>
            </a:r>
            <a:r>
              <a:rPr lang="en-US" altLang="ko-KR" sz="600" i="1" dirty="0">
                <a:solidFill>
                  <a:srgbClr val="666666"/>
                </a:solidFill>
                <a:latin typeface="Consolas" panose="020B0609020204030204" pitchFamily="49" charset="0"/>
              </a:rPr>
              <a:t># </a:t>
            </a:r>
            <a:r>
              <a:rPr lang="ko-KR" altLang="en-US" sz="600" i="1" dirty="0">
                <a:solidFill>
                  <a:srgbClr val="666666"/>
                </a:solidFill>
                <a:latin typeface="Consolas" panose="020B0609020204030204" pitchFamily="49" charset="0"/>
              </a:rPr>
              <a:t>다른 </a:t>
            </a:r>
            <a:r>
              <a:rPr lang="en-US" altLang="ko-KR" sz="600" i="1" dirty="0">
                <a:solidFill>
                  <a:srgbClr val="666666"/>
                </a:solidFill>
                <a:latin typeface="Consolas" panose="020B0609020204030204" pitchFamily="49" charset="0"/>
              </a:rPr>
              <a:t>id (</a:t>
            </a:r>
            <a:r>
              <a:rPr lang="ko-KR" altLang="en-US" sz="600" i="1" dirty="0">
                <a:solidFill>
                  <a:srgbClr val="666666"/>
                </a:solidFill>
                <a:latin typeface="Consolas" panose="020B0609020204030204" pitchFamily="49" charset="0"/>
              </a:rPr>
              <a:t>무관</a:t>
            </a:r>
            <a:r>
              <a:rPr lang="en-US" altLang="ko-KR" sz="600" i="1" dirty="0">
                <a:solidFill>
                  <a:srgbClr val="666666"/>
                </a:solidFill>
                <a:latin typeface="Consolas" panose="020B0609020204030204" pitchFamily="49" charset="0"/>
              </a:rPr>
              <a:t>)</a:t>
            </a:r>
            <a:endParaRPr lang="ko-KR" altLang="en-US" sz="600" dirty="0">
              <a:latin typeface="Consolas" panose="020B0609020204030204" pitchFamily="49" charset="0"/>
            </a:endParaRPr>
          </a:p>
          <a:p>
            <a:pPr fontAlgn="t">
              <a:buFont typeface="+mj-lt"/>
              <a:buAutoNum type="arabicPeriod"/>
            </a:pPr>
            <a:r>
              <a:rPr lang="ko-KR" altLang="en-US" sz="600" dirty="0">
                <a:latin typeface="Consolas" panose="020B0609020204030204" pitchFamily="49" charset="0"/>
              </a:rPr>
              <a:t>   </a:t>
            </a:r>
            <a:r>
              <a:rPr lang="en-US" altLang="ko-KR" sz="600" i="1" dirty="0">
                <a:solidFill>
                  <a:srgbClr val="666666"/>
                </a:solidFill>
                <a:latin typeface="Consolas" panose="020B0609020204030204" pitchFamily="49" charset="0"/>
              </a:rPr>
              <a:t># </a:t>
            </a:r>
            <a:r>
              <a:rPr lang="ko-KR" altLang="en-US" sz="600" i="1" dirty="0">
                <a:solidFill>
                  <a:srgbClr val="666666"/>
                </a:solidFill>
                <a:latin typeface="Consolas" panose="020B0609020204030204" pitchFamily="49" charset="0"/>
              </a:rPr>
              <a:t>다른 </a:t>
            </a:r>
            <a:r>
              <a:rPr lang="en-US" altLang="ko-KR" sz="600" i="1" dirty="0">
                <a:solidFill>
                  <a:srgbClr val="666666"/>
                </a:solidFill>
                <a:latin typeface="Consolas" panose="020B0609020204030204" pitchFamily="49" charset="0"/>
              </a:rPr>
              <a:t>gallery </a:t>
            </a:r>
            <a:r>
              <a:rPr lang="ko-KR" altLang="en-US" sz="600" i="1" dirty="0">
                <a:solidFill>
                  <a:srgbClr val="666666"/>
                </a:solidFill>
                <a:latin typeface="Consolas" panose="020B0609020204030204" pitchFamily="49" charset="0"/>
              </a:rPr>
              <a:t>이미지 파일명들 </a:t>
            </a:r>
            <a:r>
              <a:rPr lang="en-US" altLang="ko-KR" sz="600" i="1" dirty="0">
                <a:solidFill>
                  <a:srgbClr val="666666"/>
                </a:solidFill>
                <a:latin typeface="Consolas" panose="020B0609020204030204" pitchFamily="49" charset="0"/>
              </a:rPr>
              <a:t>...</a:t>
            </a:r>
            <a:endParaRPr lang="ko-KR" altLang="en-US" sz="600" dirty="0">
              <a:latin typeface="Consolas" panose="020B0609020204030204" pitchFamily="49" charset="0"/>
            </a:endParaRPr>
          </a:p>
          <a:p>
            <a:pPr fontAlgn="t">
              <a:buFont typeface="+mj-lt"/>
              <a:buAutoNum type="arabicPeriod"/>
            </a:pPr>
            <a:r>
              <a:rPr lang="en-US" altLang="ko-KR" sz="600" dirty="0">
                <a:solidFill>
                  <a:srgbClr val="800000"/>
                </a:solidFill>
                <a:latin typeface="Consolas" panose="020B0609020204030204" pitchFamily="49" charset="0"/>
              </a:rPr>
              <a:t>]</a:t>
            </a:r>
            <a:endParaRPr lang="ko-KR" altLang="en-US" sz="600" dirty="0">
              <a:latin typeface="Consolas" panose="020B0609020204030204" pitchFamily="49" charset="0"/>
            </a:endParaRPr>
          </a:p>
          <a:p>
            <a:pPr fontAlgn="t">
              <a:buFont typeface="+mj-lt"/>
              <a:buAutoNum type="arabicPeriod"/>
            </a:pPr>
            <a:r>
              <a:rPr lang="ko-KR" altLang="en-US" sz="600" dirty="0">
                <a:latin typeface="Consolas" panose="020B0609020204030204" pitchFamily="49" charset="0"/>
              </a:rPr>
              <a:t> </a:t>
            </a:r>
          </a:p>
          <a:p>
            <a:pPr fontAlgn="t">
              <a:buFont typeface="+mj-lt"/>
              <a:buAutoNum type="arabicPeriod"/>
            </a:pPr>
            <a:r>
              <a:rPr lang="en-US" altLang="ko-KR" sz="600" i="1" dirty="0">
                <a:solidFill>
                  <a:srgbClr val="666666"/>
                </a:solidFill>
                <a:latin typeface="Consolas" panose="020B0609020204030204" pitchFamily="49" charset="0"/>
              </a:rPr>
              <a:t># </a:t>
            </a:r>
            <a:r>
              <a:rPr lang="ko-KR" altLang="en-US" sz="600" i="1" dirty="0">
                <a:solidFill>
                  <a:srgbClr val="666666"/>
                </a:solidFill>
                <a:latin typeface="Consolas" panose="020B0609020204030204" pitchFamily="49" charset="0"/>
              </a:rPr>
              <a:t>각 </a:t>
            </a:r>
            <a:r>
              <a:rPr lang="en-US" altLang="ko-KR" sz="600" i="1" dirty="0">
                <a:solidFill>
                  <a:srgbClr val="666666"/>
                </a:solidFill>
                <a:latin typeface="Consolas" panose="020B0609020204030204" pitchFamily="49" charset="0"/>
              </a:rPr>
              <a:t>Query </a:t>
            </a:r>
            <a:r>
              <a:rPr lang="ko-KR" altLang="en-US" sz="600" i="1" dirty="0">
                <a:solidFill>
                  <a:srgbClr val="666666"/>
                </a:solidFill>
                <a:latin typeface="Consolas" panose="020B0609020204030204" pitchFamily="49" charset="0"/>
              </a:rPr>
              <a:t>이미지에 대해 </a:t>
            </a:r>
            <a:r>
              <a:rPr lang="en-US" altLang="ko-KR" sz="600" i="1" dirty="0">
                <a:solidFill>
                  <a:srgbClr val="666666"/>
                </a:solidFill>
                <a:latin typeface="Consolas" panose="020B0609020204030204" pitchFamily="49" charset="0"/>
              </a:rPr>
              <a:t>good</a:t>
            </a:r>
            <a:r>
              <a:rPr lang="ko-KR" altLang="en-US" sz="600" i="1" dirty="0">
                <a:solidFill>
                  <a:srgbClr val="666666"/>
                </a:solidFill>
                <a:latin typeface="Consolas" panose="020B0609020204030204" pitchFamily="49" charset="0"/>
              </a:rPr>
              <a:t>와 </a:t>
            </a:r>
            <a:r>
              <a:rPr lang="en-US" altLang="ko-KR" sz="600" i="1" dirty="0">
                <a:solidFill>
                  <a:srgbClr val="666666"/>
                </a:solidFill>
                <a:latin typeface="Consolas" panose="020B0609020204030204" pitchFamily="49" charset="0"/>
              </a:rPr>
              <a:t>junk </a:t>
            </a:r>
            <a:r>
              <a:rPr lang="ko-KR" altLang="en-US" sz="600" i="1" dirty="0">
                <a:solidFill>
                  <a:srgbClr val="666666"/>
                </a:solidFill>
                <a:latin typeface="Consolas" panose="020B0609020204030204" pitchFamily="49" charset="0"/>
              </a:rPr>
              <a:t>세트를 구분하여 </a:t>
            </a:r>
            <a:r>
              <a:rPr lang="en-US" altLang="ko-KR" sz="600" i="1" dirty="0">
                <a:solidFill>
                  <a:srgbClr val="666666"/>
                </a:solidFill>
                <a:latin typeface="Consolas" panose="020B0609020204030204" pitchFamily="49" charset="0"/>
              </a:rPr>
              <a:t>.mat </a:t>
            </a:r>
            <a:r>
              <a:rPr lang="ko-KR" altLang="en-US" sz="600" i="1" dirty="0">
                <a:solidFill>
                  <a:srgbClr val="666666"/>
                </a:solidFill>
                <a:latin typeface="Consolas" panose="020B0609020204030204" pitchFamily="49" charset="0"/>
              </a:rPr>
              <a:t>파일로 저장</a:t>
            </a:r>
            <a:endParaRPr lang="ko-KR" altLang="en-US" sz="600" dirty="0">
              <a:latin typeface="Consolas" panose="020B0609020204030204" pitchFamily="49" charset="0"/>
            </a:endParaRPr>
          </a:p>
          <a:p>
            <a:pPr fontAlgn="t">
              <a:buFont typeface="+mj-lt"/>
              <a:buAutoNum type="arabicPeriod"/>
            </a:pPr>
            <a:r>
              <a:rPr lang="en-US" altLang="ko-KR" sz="600" dirty="0">
                <a:solidFill>
                  <a:srgbClr val="00008B"/>
                </a:solidFill>
                <a:latin typeface="Consolas" panose="020B0609020204030204" pitchFamily="49" charset="0"/>
              </a:rPr>
              <a:t>for</a:t>
            </a:r>
            <a:r>
              <a:rPr lang="en-US" altLang="ko-KR" sz="600" dirty="0">
                <a:latin typeface="Consolas" panose="020B0609020204030204" pitchFamily="49" charset="0"/>
              </a:rPr>
              <a:t> query in </a:t>
            </a:r>
            <a:r>
              <a:rPr lang="en-US" altLang="ko-KR" sz="600" dirty="0" err="1">
                <a:latin typeface="Consolas" panose="020B0609020204030204" pitchFamily="49" charset="0"/>
              </a:rPr>
              <a:t>query_imgs</a:t>
            </a:r>
            <a:r>
              <a:rPr lang="en-US" altLang="ko-KR" sz="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US" altLang="ko-KR" sz="600" dirty="0">
              <a:latin typeface="Consolas" panose="020B0609020204030204" pitchFamily="49" charset="0"/>
            </a:endParaRPr>
          </a:p>
          <a:p>
            <a:pPr fontAlgn="t">
              <a:buFont typeface="+mj-lt"/>
              <a:buAutoNum type="arabicPeriod"/>
            </a:pPr>
            <a:r>
              <a:rPr lang="en-US" altLang="ko-KR" sz="600" dirty="0">
                <a:latin typeface="Consolas" panose="020B0609020204030204" pitchFamily="49" charset="0"/>
              </a:rPr>
              <a:t>    </a:t>
            </a:r>
            <a:r>
              <a:rPr lang="en-US" altLang="ko-KR" sz="600" dirty="0" err="1">
                <a:latin typeface="Consolas" panose="020B0609020204030204" pitchFamily="49" charset="0"/>
              </a:rPr>
              <a:t>q_pid</a:t>
            </a:r>
            <a:r>
              <a:rPr lang="en-US" altLang="ko-KR" sz="600" dirty="0">
                <a:solidFill>
                  <a:srgbClr val="000000"/>
                </a:solidFill>
                <a:latin typeface="Consolas" panose="020B0609020204030204" pitchFamily="49" charset="0"/>
              </a:rPr>
              <a:t>,</a:t>
            </a:r>
            <a:r>
              <a:rPr lang="en-US" altLang="ko-KR" sz="600" dirty="0">
                <a:latin typeface="Consolas" panose="020B0609020204030204" pitchFamily="49" charset="0"/>
              </a:rPr>
              <a:t> </a:t>
            </a:r>
            <a:r>
              <a:rPr lang="en-US" altLang="ko-KR" sz="600" dirty="0" err="1">
                <a:latin typeface="Consolas" panose="020B0609020204030204" pitchFamily="49" charset="0"/>
              </a:rPr>
              <a:t>q_camid</a:t>
            </a:r>
            <a:r>
              <a:rPr lang="en-US" altLang="ko-KR" sz="600" dirty="0">
                <a:latin typeface="Consolas" panose="020B0609020204030204" pitchFamily="49" charset="0"/>
              </a:rPr>
              <a:t> </a:t>
            </a:r>
            <a:r>
              <a:rPr lang="en-US" altLang="ko-KR" sz="60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en-US" altLang="ko-KR" sz="600" dirty="0">
                <a:latin typeface="Consolas" panose="020B0609020204030204" pitchFamily="49" charset="0"/>
              </a:rPr>
              <a:t> </a:t>
            </a:r>
            <a:r>
              <a:rPr lang="en-US" altLang="ko-KR" sz="600" dirty="0" err="1">
                <a:latin typeface="Consolas" panose="020B0609020204030204" pitchFamily="49" charset="0"/>
              </a:rPr>
              <a:t>parse_filename</a:t>
            </a:r>
            <a:r>
              <a:rPr lang="en-US" altLang="ko-KR" sz="600" dirty="0">
                <a:solidFill>
                  <a:srgbClr val="800000"/>
                </a:solidFill>
                <a:latin typeface="Consolas" panose="020B0609020204030204" pitchFamily="49" charset="0"/>
              </a:rPr>
              <a:t>(</a:t>
            </a:r>
            <a:r>
              <a:rPr lang="en-US" altLang="ko-KR" sz="600" dirty="0">
                <a:latin typeface="Consolas" panose="020B0609020204030204" pitchFamily="49" charset="0"/>
              </a:rPr>
              <a:t>query</a:t>
            </a:r>
            <a:r>
              <a:rPr lang="en-US" altLang="ko-KR" sz="600" dirty="0">
                <a:solidFill>
                  <a:srgbClr val="800000"/>
                </a:solidFill>
                <a:latin typeface="Consolas" panose="020B0609020204030204" pitchFamily="49" charset="0"/>
              </a:rPr>
              <a:t>)</a:t>
            </a:r>
            <a:endParaRPr lang="en-US" altLang="ko-KR" sz="600" dirty="0">
              <a:latin typeface="Consolas" panose="020B0609020204030204" pitchFamily="49" charset="0"/>
            </a:endParaRPr>
          </a:p>
          <a:p>
            <a:pPr fontAlgn="t">
              <a:buFont typeface="+mj-lt"/>
              <a:buAutoNum type="arabicPeriod"/>
            </a:pPr>
            <a:r>
              <a:rPr lang="en-US" altLang="ko-KR" sz="600" dirty="0">
                <a:latin typeface="Consolas" panose="020B0609020204030204" pitchFamily="49" charset="0"/>
              </a:rPr>
              <a:t>    </a:t>
            </a:r>
            <a:r>
              <a:rPr lang="en-US" altLang="ko-KR" sz="600" dirty="0">
                <a:solidFill>
                  <a:srgbClr val="00008B"/>
                </a:solidFill>
                <a:latin typeface="Consolas" panose="020B0609020204030204" pitchFamily="49" charset="0"/>
              </a:rPr>
              <a:t>if</a:t>
            </a:r>
            <a:r>
              <a:rPr lang="en-US" altLang="ko-KR" sz="600" dirty="0">
                <a:latin typeface="Consolas" panose="020B0609020204030204" pitchFamily="49" charset="0"/>
              </a:rPr>
              <a:t> </a:t>
            </a:r>
            <a:r>
              <a:rPr lang="en-US" altLang="ko-KR" sz="600" dirty="0" err="1">
                <a:latin typeface="Consolas" panose="020B0609020204030204" pitchFamily="49" charset="0"/>
              </a:rPr>
              <a:t>q_pid</a:t>
            </a:r>
            <a:r>
              <a:rPr lang="en-US" altLang="ko-KR" sz="600" dirty="0">
                <a:latin typeface="Consolas" panose="020B0609020204030204" pitchFamily="49" charset="0"/>
              </a:rPr>
              <a:t> is None</a:t>
            </a:r>
            <a:r>
              <a:rPr lang="en-US" altLang="ko-KR" sz="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US" altLang="ko-KR" sz="600" dirty="0">
              <a:latin typeface="Consolas" panose="020B0609020204030204" pitchFamily="49" charset="0"/>
            </a:endParaRPr>
          </a:p>
          <a:p>
            <a:pPr fontAlgn="t">
              <a:buFont typeface="+mj-lt"/>
              <a:buAutoNum type="arabicPeriod"/>
            </a:pPr>
            <a:r>
              <a:rPr lang="en-US" altLang="ko-KR" sz="600" dirty="0">
                <a:latin typeface="Consolas" panose="020B0609020204030204" pitchFamily="49" charset="0"/>
              </a:rPr>
              <a:t>        </a:t>
            </a:r>
            <a:r>
              <a:rPr lang="en-US" altLang="ko-KR" sz="600" dirty="0">
                <a:solidFill>
                  <a:srgbClr val="00008B"/>
                </a:solidFill>
                <a:latin typeface="Consolas" panose="020B0609020204030204" pitchFamily="49" charset="0"/>
              </a:rPr>
              <a:t>continue</a:t>
            </a:r>
            <a:r>
              <a:rPr lang="en-US" altLang="ko-KR" sz="600" dirty="0">
                <a:latin typeface="Consolas" panose="020B0609020204030204" pitchFamily="49" charset="0"/>
              </a:rPr>
              <a:t>  </a:t>
            </a:r>
            <a:r>
              <a:rPr lang="en-US" altLang="ko-KR" sz="600" i="1" dirty="0">
                <a:solidFill>
                  <a:srgbClr val="666666"/>
                </a:solidFill>
                <a:latin typeface="Consolas" panose="020B0609020204030204" pitchFamily="49" charset="0"/>
              </a:rPr>
              <a:t># </a:t>
            </a:r>
            <a:r>
              <a:rPr lang="ko-KR" altLang="en-US" sz="600" i="1" dirty="0">
                <a:solidFill>
                  <a:srgbClr val="666666"/>
                </a:solidFill>
                <a:latin typeface="Consolas" panose="020B0609020204030204" pitchFamily="49" charset="0"/>
              </a:rPr>
              <a:t>파일명 </a:t>
            </a:r>
            <a:r>
              <a:rPr lang="ko-KR" altLang="en-US" sz="600" i="1" dirty="0" err="1">
                <a:solidFill>
                  <a:srgbClr val="666666"/>
                </a:solidFill>
                <a:latin typeface="Consolas" panose="020B0609020204030204" pitchFamily="49" charset="0"/>
              </a:rPr>
              <a:t>파싱</a:t>
            </a:r>
            <a:r>
              <a:rPr lang="ko-KR" altLang="en-US" sz="600" i="1" dirty="0">
                <a:solidFill>
                  <a:srgbClr val="666666"/>
                </a:solidFill>
                <a:latin typeface="Consolas" panose="020B0609020204030204" pitchFamily="49" charset="0"/>
              </a:rPr>
              <a:t> 실패 시 건너뛰기</a:t>
            </a:r>
            <a:endParaRPr lang="ko-KR" altLang="en-US" sz="600" dirty="0">
              <a:latin typeface="Consolas" panose="020B0609020204030204" pitchFamily="49" charset="0"/>
            </a:endParaRPr>
          </a:p>
          <a:p>
            <a:pPr fontAlgn="t">
              <a:buFont typeface="+mj-lt"/>
              <a:buAutoNum type="arabicPeriod"/>
            </a:pPr>
            <a:r>
              <a:rPr lang="ko-KR" altLang="en-US" sz="600" dirty="0">
                <a:latin typeface="Consolas" panose="020B0609020204030204" pitchFamily="49" charset="0"/>
              </a:rPr>
              <a:t> </a:t>
            </a:r>
          </a:p>
          <a:p>
            <a:pPr fontAlgn="t">
              <a:buFont typeface="+mj-lt"/>
              <a:buAutoNum type="arabicPeriod"/>
            </a:pPr>
            <a:r>
              <a:rPr lang="ko-KR" altLang="en-US" sz="600" dirty="0">
                <a:latin typeface="Consolas" panose="020B0609020204030204" pitchFamily="49" charset="0"/>
              </a:rPr>
              <a:t>    </a:t>
            </a:r>
            <a:r>
              <a:rPr lang="en-US" altLang="ko-KR" sz="600" dirty="0">
                <a:latin typeface="Consolas" panose="020B0609020204030204" pitchFamily="49" charset="0"/>
              </a:rPr>
              <a:t>good </a:t>
            </a:r>
            <a:r>
              <a:rPr lang="en-US" altLang="ko-KR" sz="60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en-US" altLang="ko-KR" sz="600" dirty="0">
                <a:latin typeface="Consolas" panose="020B0609020204030204" pitchFamily="49" charset="0"/>
              </a:rPr>
              <a:t> </a:t>
            </a:r>
            <a:r>
              <a:rPr lang="en-US" altLang="ko-KR" sz="600" dirty="0">
                <a:solidFill>
                  <a:srgbClr val="800000"/>
                </a:solidFill>
                <a:latin typeface="Consolas" panose="020B0609020204030204" pitchFamily="49" charset="0"/>
              </a:rPr>
              <a:t>[]</a:t>
            </a:r>
            <a:r>
              <a:rPr lang="en-US" altLang="ko-KR" sz="600" dirty="0">
                <a:latin typeface="Consolas" panose="020B0609020204030204" pitchFamily="49" charset="0"/>
              </a:rPr>
              <a:t>  </a:t>
            </a:r>
            <a:r>
              <a:rPr lang="en-US" altLang="ko-KR" sz="600" i="1" dirty="0">
                <a:solidFill>
                  <a:srgbClr val="666666"/>
                </a:solidFill>
                <a:latin typeface="Consolas" panose="020B0609020204030204" pitchFamily="49" charset="0"/>
              </a:rPr>
              <a:t># </a:t>
            </a:r>
            <a:r>
              <a:rPr lang="ko-KR" altLang="en-US" sz="600" i="1" dirty="0">
                <a:solidFill>
                  <a:srgbClr val="666666"/>
                </a:solidFill>
                <a:latin typeface="Consolas" panose="020B0609020204030204" pitchFamily="49" charset="0"/>
              </a:rPr>
              <a:t>같은 인물인데 다른 카메라의 이미지 인덱스 리스트</a:t>
            </a:r>
            <a:endParaRPr lang="ko-KR" altLang="en-US" sz="600" dirty="0">
              <a:latin typeface="Consolas" panose="020B0609020204030204" pitchFamily="49" charset="0"/>
            </a:endParaRPr>
          </a:p>
          <a:p>
            <a:pPr fontAlgn="t">
              <a:buFont typeface="+mj-lt"/>
              <a:buAutoNum type="arabicPeriod"/>
            </a:pPr>
            <a:r>
              <a:rPr lang="ko-KR" altLang="en-US" sz="600" dirty="0">
                <a:latin typeface="Consolas" panose="020B0609020204030204" pitchFamily="49" charset="0"/>
              </a:rPr>
              <a:t>   </a:t>
            </a:r>
            <a:r>
              <a:rPr lang="en-US" altLang="ko-KR" sz="600" dirty="0">
                <a:latin typeface="Consolas" panose="020B0609020204030204" pitchFamily="49" charset="0"/>
              </a:rPr>
              <a:t>junk </a:t>
            </a:r>
            <a:r>
              <a:rPr lang="en-US" altLang="ko-KR" sz="60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en-US" altLang="ko-KR" sz="600" dirty="0">
                <a:latin typeface="Consolas" panose="020B0609020204030204" pitchFamily="49" charset="0"/>
              </a:rPr>
              <a:t> </a:t>
            </a:r>
            <a:r>
              <a:rPr lang="en-US" altLang="ko-KR" sz="600" dirty="0">
                <a:solidFill>
                  <a:srgbClr val="800000"/>
                </a:solidFill>
                <a:latin typeface="Consolas" panose="020B0609020204030204" pitchFamily="49" charset="0"/>
              </a:rPr>
              <a:t>[]</a:t>
            </a:r>
            <a:r>
              <a:rPr lang="en-US" altLang="ko-KR" sz="600" dirty="0">
                <a:latin typeface="Consolas" panose="020B0609020204030204" pitchFamily="49" charset="0"/>
              </a:rPr>
              <a:t>  </a:t>
            </a:r>
            <a:r>
              <a:rPr lang="en-US" altLang="ko-KR" sz="600" i="1" dirty="0">
                <a:solidFill>
                  <a:srgbClr val="666666"/>
                </a:solidFill>
                <a:latin typeface="Consolas" panose="020B0609020204030204" pitchFamily="49" charset="0"/>
              </a:rPr>
              <a:t># </a:t>
            </a:r>
            <a:r>
              <a:rPr lang="ko-KR" altLang="en-US" sz="600" i="1" dirty="0">
                <a:solidFill>
                  <a:srgbClr val="666666"/>
                </a:solidFill>
                <a:latin typeface="Consolas" panose="020B0609020204030204" pitchFamily="49" charset="0"/>
              </a:rPr>
              <a:t>같은 인물이고 같은 카메라의 이미지 인덱스 리스트 </a:t>
            </a:r>
            <a:r>
              <a:rPr lang="en-US" altLang="ko-KR" sz="600" i="1" dirty="0">
                <a:solidFill>
                  <a:srgbClr val="666666"/>
                </a:solidFill>
                <a:latin typeface="Consolas" panose="020B0609020204030204" pitchFamily="49" charset="0"/>
              </a:rPr>
              <a:t>(</a:t>
            </a:r>
            <a:r>
              <a:rPr lang="ko-KR" altLang="en-US" sz="600" i="1" dirty="0">
                <a:solidFill>
                  <a:srgbClr val="666666"/>
                </a:solidFill>
                <a:latin typeface="Consolas" panose="020B0609020204030204" pitchFamily="49" charset="0"/>
              </a:rPr>
              <a:t>또는 </a:t>
            </a:r>
            <a:r>
              <a:rPr lang="en-US" altLang="ko-KR" sz="600" i="1" dirty="0">
                <a:solidFill>
                  <a:srgbClr val="666666"/>
                </a:solidFill>
                <a:latin typeface="Consolas" panose="020B0609020204030204" pitchFamily="49" charset="0"/>
              </a:rPr>
              <a:t>distractor </a:t>
            </a:r>
            <a:r>
              <a:rPr lang="ko-KR" altLang="en-US" sz="600" i="1" dirty="0">
                <a:solidFill>
                  <a:srgbClr val="666666"/>
                </a:solidFill>
                <a:latin typeface="Consolas" panose="020B0609020204030204" pitchFamily="49" charset="0"/>
              </a:rPr>
              <a:t>이미지</a:t>
            </a:r>
            <a:r>
              <a:rPr lang="en-US" altLang="ko-KR" sz="600" i="1" dirty="0">
                <a:solidFill>
                  <a:srgbClr val="666666"/>
                </a:solidFill>
                <a:latin typeface="Consolas" panose="020B0609020204030204" pitchFamily="49" charset="0"/>
              </a:rPr>
              <a:t>)</a:t>
            </a:r>
            <a:endParaRPr lang="ko-KR" altLang="en-US" sz="600" dirty="0">
              <a:latin typeface="Consolas" panose="020B0609020204030204" pitchFamily="49" charset="0"/>
            </a:endParaRPr>
          </a:p>
          <a:p>
            <a:pPr fontAlgn="t">
              <a:buFont typeface="+mj-lt"/>
              <a:buAutoNum type="arabicPeriod"/>
            </a:pPr>
            <a:r>
              <a:rPr lang="ko-KR" altLang="en-US" sz="600" dirty="0">
                <a:latin typeface="Consolas" panose="020B0609020204030204" pitchFamily="49" charset="0"/>
              </a:rPr>
              <a:t> </a:t>
            </a:r>
          </a:p>
          <a:p>
            <a:pPr fontAlgn="t">
              <a:buFont typeface="+mj-lt"/>
              <a:buAutoNum type="arabicPeriod"/>
            </a:pPr>
            <a:r>
              <a:rPr lang="ko-KR" altLang="en-US" sz="600" dirty="0">
                <a:latin typeface="Consolas" panose="020B0609020204030204" pitchFamily="49" charset="0"/>
              </a:rPr>
              <a:t>    </a:t>
            </a:r>
            <a:r>
              <a:rPr lang="en-US" altLang="ko-KR" sz="600" dirty="0">
                <a:solidFill>
                  <a:srgbClr val="00008B"/>
                </a:solidFill>
                <a:latin typeface="Consolas" panose="020B0609020204030204" pitchFamily="49" charset="0"/>
              </a:rPr>
              <a:t>for</a:t>
            </a:r>
            <a:r>
              <a:rPr lang="en-US" altLang="ko-KR" sz="600" dirty="0">
                <a:latin typeface="Consolas" panose="020B0609020204030204" pitchFamily="49" charset="0"/>
              </a:rPr>
              <a:t> </a:t>
            </a:r>
            <a:r>
              <a:rPr lang="en-US" altLang="ko-KR" sz="600" dirty="0" err="1">
                <a:latin typeface="Consolas" panose="020B0609020204030204" pitchFamily="49" charset="0"/>
              </a:rPr>
              <a:t>i</a:t>
            </a:r>
            <a:r>
              <a:rPr lang="en-US" altLang="ko-KR" sz="600" dirty="0">
                <a:solidFill>
                  <a:srgbClr val="000000"/>
                </a:solidFill>
                <a:latin typeface="Consolas" panose="020B0609020204030204" pitchFamily="49" charset="0"/>
              </a:rPr>
              <a:t>,</a:t>
            </a:r>
            <a:r>
              <a:rPr lang="en-US" altLang="ko-KR" sz="600" dirty="0">
                <a:latin typeface="Consolas" panose="020B0609020204030204" pitchFamily="49" charset="0"/>
              </a:rPr>
              <a:t> g in enumerate</a:t>
            </a:r>
            <a:r>
              <a:rPr lang="en-US" altLang="ko-KR" sz="600" dirty="0">
                <a:solidFill>
                  <a:srgbClr val="800000"/>
                </a:solidFill>
                <a:latin typeface="Consolas" panose="020B0609020204030204" pitchFamily="49" charset="0"/>
              </a:rPr>
              <a:t>(</a:t>
            </a:r>
            <a:r>
              <a:rPr lang="en-US" altLang="ko-KR" sz="600" dirty="0" err="1">
                <a:latin typeface="Consolas" panose="020B0609020204030204" pitchFamily="49" charset="0"/>
              </a:rPr>
              <a:t>gallery_imgs</a:t>
            </a:r>
            <a:r>
              <a:rPr lang="en-US" altLang="ko-KR" sz="600" dirty="0">
                <a:solidFill>
                  <a:srgbClr val="800000"/>
                </a:solidFill>
                <a:latin typeface="Consolas" panose="020B0609020204030204" pitchFamily="49" charset="0"/>
              </a:rPr>
              <a:t>)</a:t>
            </a:r>
            <a:r>
              <a:rPr lang="en-US" altLang="ko-KR" sz="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US" altLang="ko-KR" sz="600" dirty="0">
              <a:latin typeface="Consolas" panose="020B0609020204030204" pitchFamily="49" charset="0"/>
            </a:endParaRPr>
          </a:p>
          <a:p>
            <a:pPr fontAlgn="t">
              <a:buFont typeface="+mj-lt"/>
              <a:buAutoNum type="arabicPeriod"/>
            </a:pPr>
            <a:r>
              <a:rPr lang="en-US" altLang="ko-KR" sz="600" dirty="0">
                <a:latin typeface="Consolas" panose="020B0609020204030204" pitchFamily="49" charset="0"/>
              </a:rPr>
              <a:t>        </a:t>
            </a:r>
            <a:r>
              <a:rPr lang="en-US" altLang="ko-KR" sz="600" dirty="0" err="1">
                <a:latin typeface="Consolas" panose="020B0609020204030204" pitchFamily="49" charset="0"/>
              </a:rPr>
              <a:t>g_pid</a:t>
            </a:r>
            <a:r>
              <a:rPr lang="en-US" altLang="ko-KR" sz="600" dirty="0">
                <a:solidFill>
                  <a:srgbClr val="000000"/>
                </a:solidFill>
                <a:latin typeface="Consolas" panose="020B0609020204030204" pitchFamily="49" charset="0"/>
              </a:rPr>
              <a:t>,</a:t>
            </a:r>
            <a:r>
              <a:rPr lang="en-US" altLang="ko-KR" sz="600" dirty="0">
                <a:latin typeface="Consolas" panose="020B0609020204030204" pitchFamily="49" charset="0"/>
              </a:rPr>
              <a:t> </a:t>
            </a:r>
            <a:r>
              <a:rPr lang="en-US" altLang="ko-KR" sz="600" dirty="0" err="1">
                <a:latin typeface="Consolas" panose="020B0609020204030204" pitchFamily="49" charset="0"/>
              </a:rPr>
              <a:t>g_camid</a:t>
            </a:r>
            <a:r>
              <a:rPr lang="en-US" altLang="ko-KR" sz="600" dirty="0">
                <a:latin typeface="Consolas" panose="020B0609020204030204" pitchFamily="49" charset="0"/>
              </a:rPr>
              <a:t> </a:t>
            </a:r>
            <a:r>
              <a:rPr lang="en-US" altLang="ko-KR" sz="60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en-US" altLang="ko-KR" sz="600" dirty="0">
                <a:latin typeface="Consolas" panose="020B0609020204030204" pitchFamily="49" charset="0"/>
              </a:rPr>
              <a:t> </a:t>
            </a:r>
            <a:r>
              <a:rPr lang="en-US" altLang="ko-KR" sz="600" dirty="0" err="1">
                <a:latin typeface="Consolas" panose="020B0609020204030204" pitchFamily="49" charset="0"/>
              </a:rPr>
              <a:t>parse_filename</a:t>
            </a:r>
            <a:r>
              <a:rPr lang="en-US" altLang="ko-KR" sz="600" dirty="0">
                <a:solidFill>
                  <a:srgbClr val="800000"/>
                </a:solidFill>
                <a:latin typeface="Consolas" panose="020B0609020204030204" pitchFamily="49" charset="0"/>
              </a:rPr>
              <a:t>(</a:t>
            </a:r>
            <a:r>
              <a:rPr lang="en-US" altLang="ko-KR" sz="600" dirty="0">
                <a:latin typeface="Consolas" panose="020B0609020204030204" pitchFamily="49" charset="0"/>
              </a:rPr>
              <a:t>g</a:t>
            </a:r>
            <a:r>
              <a:rPr lang="en-US" altLang="ko-KR" sz="600" dirty="0">
                <a:solidFill>
                  <a:srgbClr val="800000"/>
                </a:solidFill>
                <a:latin typeface="Consolas" panose="020B0609020204030204" pitchFamily="49" charset="0"/>
              </a:rPr>
              <a:t>)</a:t>
            </a:r>
            <a:endParaRPr lang="en-US" altLang="ko-KR" sz="600" dirty="0">
              <a:latin typeface="Consolas" panose="020B0609020204030204" pitchFamily="49" charset="0"/>
            </a:endParaRPr>
          </a:p>
          <a:p>
            <a:pPr fontAlgn="t">
              <a:buFont typeface="+mj-lt"/>
              <a:buAutoNum type="arabicPeriod"/>
            </a:pPr>
            <a:r>
              <a:rPr lang="en-US" altLang="ko-KR" sz="600" dirty="0">
                <a:latin typeface="Consolas" panose="020B0609020204030204" pitchFamily="49" charset="0"/>
              </a:rPr>
              <a:t>        </a:t>
            </a:r>
            <a:r>
              <a:rPr lang="en-US" altLang="ko-KR" sz="600" dirty="0">
                <a:solidFill>
                  <a:srgbClr val="00008B"/>
                </a:solidFill>
                <a:latin typeface="Consolas" panose="020B0609020204030204" pitchFamily="49" charset="0"/>
              </a:rPr>
              <a:t>if</a:t>
            </a:r>
            <a:r>
              <a:rPr lang="en-US" altLang="ko-KR" sz="600" dirty="0">
                <a:latin typeface="Consolas" panose="020B0609020204030204" pitchFamily="49" charset="0"/>
              </a:rPr>
              <a:t> </a:t>
            </a:r>
            <a:r>
              <a:rPr lang="en-US" altLang="ko-KR" sz="600" dirty="0" err="1">
                <a:latin typeface="Consolas" panose="020B0609020204030204" pitchFamily="49" charset="0"/>
              </a:rPr>
              <a:t>g_pid</a:t>
            </a:r>
            <a:r>
              <a:rPr lang="en-US" altLang="ko-KR" sz="600" dirty="0">
                <a:latin typeface="Consolas" panose="020B0609020204030204" pitchFamily="49" charset="0"/>
              </a:rPr>
              <a:t> is None</a:t>
            </a:r>
            <a:r>
              <a:rPr lang="en-US" altLang="ko-KR" sz="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US" altLang="ko-KR" sz="600" dirty="0">
              <a:latin typeface="Consolas" panose="020B0609020204030204" pitchFamily="49" charset="0"/>
            </a:endParaRPr>
          </a:p>
          <a:p>
            <a:pPr fontAlgn="t">
              <a:buFont typeface="+mj-lt"/>
              <a:buAutoNum type="arabicPeriod"/>
            </a:pPr>
            <a:r>
              <a:rPr lang="en-US" altLang="ko-KR" sz="600" dirty="0">
                <a:latin typeface="Consolas" panose="020B0609020204030204" pitchFamily="49" charset="0"/>
              </a:rPr>
              <a:t>            </a:t>
            </a:r>
            <a:r>
              <a:rPr lang="en-US" altLang="ko-KR" sz="600" dirty="0">
                <a:solidFill>
                  <a:srgbClr val="00008B"/>
                </a:solidFill>
                <a:latin typeface="Consolas" panose="020B0609020204030204" pitchFamily="49" charset="0"/>
              </a:rPr>
              <a:t>continue</a:t>
            </a:r>
            <a:r>
              <a:rPr lang="en-US" altLang="ko-KR" sz="600" dirty="0">
                <a:latin typeface="Consolas" panose="020B0609020204030204" pitchFamily="49" charset="0"/>
              </a:rPr>
              <a:t>  </a:t>
            </a:r>
            <a:r>
              <a:rPr lang="en-US" altLang="ko-KR" sz="600" i="1" dirty="0">
                <a:solidFill>
                  <a:srgbClr val="666666"/>
                </a:solidFill>
                <a:latin typeface="Consolas" panose="020B0609020204030204" pitchFamily="49" charset="0"/>
              </a:rPr>
              <a:t># </a:t>
            </a:r>
            <a:r>
              <a:rPr lang="ko-KR" altLang="en-US" sz="600" i="1" dirty="0" err="1">
                <a:solidFill>
                  <a:srgbClr val="666666"/>
                </a:solidFill>
                <a:latin typeface="Consolas" panose="020B0609020204030204" pitchFamily="49" charset="0"/>
              </a:rPr>
              <a:t>파싱</a:t>
            </a:r>
            <a:r>
              <a:rPr lang="ko-KR" altLang="en-US" sz="600" i="1" dirty="0">
                <a:solidFill>
                  <a:srgbClr val="666666"/>
                </a:solidFill>
                <a:latin typeface="Consolas" panose="020B0609020204030204" pitchFamily="49" charset="0"/>
              </a:rPr>
              <a:t> 실패</a:t>
            </a:r>
            <a:endParaRPr lang="ko-KR" altLang="en-US" sz="600" dirty="0">
              <a:latin typeface="Consolas" panose="020B0609020204030204" pitchFamily="49" charset="0"/>
            </a:endParaRPr>
          </a:p>
          <a:p>
            <a:pPr fontAlgn="t">
              <a:buFont typeface="+mj-lt"/>
              <a:buAutoNum type="arabicPeriod"/>
            </a:pPr>
            <a:r>
              <a:rPr lang="ko-KR" altLang="en-US" sz="600" dirty="0">
                <a:latin typeface="Consolas" panose="020B0609020204030204" pitchFamily="49" charset="0"/>
              </a:rPr>
              <a:t>       </a:t>
            </a:r>
            <a:r>
              <a:rPr lang="en-US" altLang="ko-KR" sz="600" i="1" dirty="0">
                <a:solidFill>
                  <a:srgbClr val="666666"/>
                </a:solidFill>
                <a:latin typeface="Consolas" panose="020B0609020204030204" pitchFamily="49" charset="0"/>
              </a:rPr>
              <a:t># </a:t>
            </a:r>
            <a:r>
              <a:rPr lang="ko-KR" altLang="en-US" sz="600" i="1" dirty="0">
                <a:solidFill>
                  <a:srgbClr val="666666"/>
                </a:solidFill>
                <a:latin typeface="Consolas" panose="020B0609020204030204" pitchFamily="49" charset="0"/>
              </a:rPr>
              <a:t>만약 </a:t>
            </a:r>
            <a:r>
              <a:rPr lang="en-US" altLang="ko-KR" sz="600" i="1" dirty="0">
                <a:solidFill>
                  <a:srgbClr val="666666"/>
                </a:solidFill>
                <a:latin typeface="Consolas" panose="020B0609020204030204" pitchFamily="49" charset="0"/>
              </a:rPr>
              <a:t>gallery </a:t>
            </a:r>
            <a:r>
              <a:rPr lang="ko-KR" altLang="en-US" sz="600" i="1" dirty="0">
                <a:solidFill>
                  <a:srgbClr val="666666"/>
                </a:solidFill>
                <a:latin typeface="Consolas" panose="020B0609020204030204" pitchFamily="49" charset="0"/>
              </a:rPr>
              <a:t>이미지가 </a:t>
            </a:r>
            <a:r>
              <a:rPr lang="en-US" altLang="ko-KR" sz="600" i="1" dirty="0">
                <a:solidFill>
                  <a:srgbClr val="666666"/>
                </a:solidFill>
                <a:latin typeface="Consolas" panose="020B0609020204030204" pitchFamily="49" charset="0"/>
              </a:rPr>
              <a:t>distractor</a:t>
            </a:r>
            <a:r>
              <a:rPr lang="ko-KR" altLang="en-US" sz="600" i="1" dirty="0">
                <a:solidFill>
                  <a:srgbClr val="666666"/>
                </a:solidFill>
                <a:latin typeface="Consolas" panose="020B0609020204030204" pitchFamily="49" charset="0"/>
              </a:rPr>
              <a:t>라면 </a:t>
            </a:r>
            <a:r>
              <a:rPr lang="en-US" altLang="ko-KR" sz="600" i="1" dirty="0">
                <a:solidFill>
                  <a:srgbClr val="666666"/>
                </a:solidFill>
                <a:latin typeface="Consolas" panose="020B0609020204030204" pitchFamily="49" charset="0"/>
              </a:rPr>
              <a:t>(</a:t>
            </a:r>
            <a:r>
              <a:rPr lang="ko-KR" altLang="en-US" sz="600" i="1" dirty="0">
                <a:solidFill>
                  <a:srgbClr val="666666"/>
                </a:solidFill>
                <a:latin typeface="Consolas" panose="020B0609020204030204" pitchFamily="49" charset="0"/>
              </a:rPr>
              <a:t>예</a:t>
            </a:r>
            <a:r>
              <a:rPr lang="en-US" altLang="ko-KR" sz="600" i="1" dirty="0">
                <a:solidFill>
                  <a:srgbClr val="666666"/>
                </a:solidFill>
                <a:latin typeface="Consolas" panose="020B0609020204030204" pitchFamily="49" charset="0"/>
              </a:rPr>
              <a:t>: </a:t>
            </a:r>
            <a:r>
              <a:rPr lang="en-US" altLang="ko-KR" sz="600" i="1" dirty="0" err="1">
                <a:solidFill>
                  <a:srgbClr val="666666"/>
                </a:solidFill>
                <a:latin typeface="Consolas" panose="020B0609020204030204" pitchFamily="49" charset="0"/>
              </a:rPr>
              <a:t>pid</a:t>
            </a:r>
            <a:r>
              <a:rPr lang="en-US" altLang="ko-KR" sz="600" i="1" dirty="0">
                <a:solidFill>
                  <a:srgbClr val="666666"/>
                </a:solidFill>
                <a:latin typeface="Consolas" panose="020B0609020204030204" pitchFamily="49" charset="0"/>
              </a:rPr>
              <a:t> == -1) </a:t>
            </a:r>
            <a:r>
              <a:rPr lang="ko-KR" altLang="en-US" sz="600" i="1" dirty="0">
                <a:solidFill>
                  <a:srgbClr val="666666"/>
                </a:solidFill>
                <a:latin typeface="Consolas" panose="020B0609020204030204" pitchFamily="49" charset="0"/>
              </a:rPr>
              <a:t>무조건 </a:t>
            </a:r>
            <a:r>
              <a:rPr lang="en-US" altLang="ko-KR" sz="600" i="1" dirty="0">
                <a:solidFill>
                  <a:srgbClr val="666666"/>
                </a:solidFill>
                <a:latin typeface="Consolas" panose="020B0609020204030204" pitchFamily="49" charset="0"/>
              </a:rPr>
              <a:t>junk </a:t>
            </a:r>
            <a:r>
              <a:rPr lang="ko-KR" altLang="en-US" sz="600" i="1" dirty="0">
                <a:solidFill>
                  <a:srgbClr val="666666"/>
                </a:solidFill>
                <a:latin typeface="Consolas" panose="020B0609020204030204" pitchFamily="49" charset="0"/>
              </a:rPr>
              <a:t>처리</a:t>
            </a:r>
            <a:endParaRPr lang="ko-KR" altLang="en-US" sz="600" dirty="0">
              <a:latin typeface="Consolas" panose="020B0609020204030204" pitchFamily="49" charset="0"/>
            </a:endParaRPr>
          </a:p>
          <a:p>
            <a:pPr fontAlgn="t">
              <a:buFont typeface="+mj-lt"/>
              <a:buAutoNum type="arabicPeriod"/>
            </a:pPr>
            <a:r>
              <a:rPr lang="ko-KR" altLang="en-US" sz="600" dirty="0">
                <a:latin typeface="Consolas" panose="020B0609020204030204" pitchFamily="49" charset="0"/>
              </a:rPr>
              <a:t>       </a:t>
            </a:r>
            <a:r>
              <a:rPr lang="en-US" altLang="ko-KR" sz="600" dirty="0">
                <a:solidFill>
                  <a:srgbClr val="00008B"/>
                </a:solidFill>
                <a:latin typeface="Consolas" panose="020B0609020204030204" pitchFamily="49" charset="0"/>
              </a:rPr>
              <a:t>if</a:t>
            </a:r>
            <a:r>
              <a:rPr lang="en-US" altLang="ko-KR" sz="600" dirty="0">
                <a:latin typeface="Consolas" panose="020B0609020204030204" pitchFamily="49" charset="0"/>
              </a:rPr>
              <a:t> </a:t>
            </a:r>
            <a:r>
              <a:rPr lang="en-US" altLang="ko-KR" sz="600" dirty="0" err="1">
                <a:latin typeface="Consolas" panose="020B0609020204030204" pitchFamily="49" charset="0"/>
              </a:rPr>
              <a:t>g_pid</a:t>
            </a:r>
            <a:r>
              <a:rPr lang="en-US" altLang="ko-KR" sz="600" dirty="0">
                <a:latin typeface="Consolas" panose="020B0609020204030204" pitchFamily="49" charset="0"/>
              </a:rPr>
              <a:t> </a:t>
            </a:r>
            <a:r>
              <a:rPr lang="en-US" altLang="ko-KR" sz="600" dirty="0">
                <a:solidFill>
                  <a:srgbClr val="000000"/>
                </a:solidFill>
                <a:latin typeface="Consolas" panose="020B0609020204030204" pitchFamily="49" charset="0"/>
              </a:rPr>
              <a:t>==</a:t>
            </a:r>
            <a:r>
              <a:rPr lang="en-US" altLang="ko-KR" sz="600" dirty="0">
                <a:latin typeface="Consolas" panose="020B0609020204030204" pitchFamily="49" charset="0"/>
              </a:rPr>
              <a:t> </a:t>
            </a:r>
            <a:r>
              <a:rPr lang="en-US" altLang="ko-KR" sz="600" dirty="0">
                <a:solidFill>
                  <a:srgbClr val="000000"/>
                </a:solidFill>
                <a:latin typeface="Consolas" panose="020B0609020204030204" pitchFamily="49" charset="0"/>
              </a:rPr>
              <a:t>-</a:t>
            </a:r>
            <a:r>
              <a:rPr lang="en-US" altLang="ko-KR" sz="600" dirty="0">
                <a:solidFill>
                  <a:srgbClr val="CC66CC"/>
                </a:solidFill>
                <a:latin typeface="Consolas" panose="020B0609020204030204" pitchFamily="49" charset="0"/>
              </a:rPr>
              <a:t>1</a:t>
            </a:r>
            <a:r>
              <a:rPr lang="en-US" altLang="ko-KR" sz="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US" altLang="ko-KR" sz="600" dirty="0">
              <a:latin typeface="Consolas" panose="020B0609020204030204" pitchFamily="49" charset="0"/>
            </a:endParaRPr>
          </a:p>
          <a:p>
            <a:pPr fontAlgn="t">
              <a:buFont typeface="+mj-lt"/>
              <a:buAutoNum type="arabicPeriod"/>
            </a:pPr>
            <a:r>
              <a:rPr lang="en-US" altLang="ko-KR" sz="600" dirty="0">
                <a:latin typeface="Consolas" panose="020B0609020204030204" pitchFamily="49" charset="0"/>
              </a:rPr>
              <a:t>            </a:t>
            </a:r>
            <a:r>
              <a:rPr lang="en-US" altLang="ko-KR" sz="600" dirty="0" err="1">
                <a:latin typeface="Consolas" panose="020B0609020204030204" pitchFamily="49" charset="0"/>
              </a:rPr>
              <a:t>junk</a:t>
            </a:r>
            <a:r>
              <a:rPr lang="en-US" altLang="ko-KR" sz="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ko-KR" sz="600" dirty="0" err="1">
                <a:latin typeface="Consolas" panose="020B0609020204030204" pitchFamily="49" charset="0"/>
              </a:rPr>
              <a:t>append</a:t>
            </a:r>
            <a:r>
              <a:rPr lang="en-US" altLang="ko-KR" sz="600" dirty="0">
                <a:solidFill>
                  <a:srgbClr val="800000"/>
                </a:solidFill>
                <a:latin typeface="Consolas" panose="020B0609020204030204" pitchFamily="49" charset="0"/>
              </a:rPr>
              <a:t>(</a:t>
            </a:r>
            <a:r>
              <a:rPr lang="en-US" altLang="ko-KR" sz="600" dirty="0" err="1">
                <a:latin typeface="Consolas" panose="020B0609020204030204" pitchFamily="49" charset="0"/>
              </a:rPr>
              <a:t>i</a:t>
            </a:r>
            <a:r>
              <a:rPr lang="en-US" altLang="ko-KR" sz="600" dirty="0">
                <a:solidFill>
                  <a:srgbClr val="800000"/>
                </a:solidFill>
                <a:latin typeface="Consolas" panose="020B0609020204030204" pitchFamily="49" charset="0"/>
              </a:rPr>
              <a:t>)</a:t>
            </a:r>
            <a:endParaRPr lang="en-US" altLang="ko-KR" sz="600" dirty="0">
              <a:latin typeface="Consolas" panose="020B0609020204030204" pitchFamily="49" charset="0"/>
            </a:endParaRPr>
          </a:p>
          <a:p>
            <a:pPr fontAlgn="t">
              <a:buFont typeface="+mj-lt"/>
              <a:buAutoNum type="arabicPeriod"/>
            </a:pPr>
            <a:r>
              <a:rPr lang="en-US" altLang="ko-KR" sz="600" dirty="0">
                <a:latin typeface="Consolas" panose="020B0609020204030204" pitchFamily="49" charset="0"/>
              </a:rPr>
              <a:t>        </a:t>
            </a:r>
            <a:r>
              <a:rPr lang="en-US" altLang="ko-KR" sz="600" dirty="0" err="1">
                <a:latin typeface="Consolas" panose="020B0609020204030204" pitchFamily="49" charset="0"/>
              </a:rPr>
              <a:t>elif</a:t>
            </a:r>
            <a:r>
              <a:rPr lang="en-US" altLang="ko-KR" sz="600" dirty="0">
                <a:latin typeface="Consolas" panose="020B0609020204030204" pitchFamily="49" charset="0"/>
              </a:rPr>
              <a:t> </a:t>
            </a:r>
            <a:r>
              <a:rPr lang="en-US" altLang="ko-KR" sz="600" dirty="0" err="1">
                <a:latin typeface="Consolas" panose="020B0609020204030204" pitchFamily="49" charset="0"/>
              </a:rPr>
              <a:t>g_pid</a:t>
            </a:r>
            <a:r>
              <a:rPr lang="en-US" altLang="ko-KR" sz="600" dirty="0">
                <a:latin typeface="Consolas" panose="020B0609020204030204" pitchFamily="49" charset="0"/>
              </a:rPr>
              <a:t> </a:t>
            </a:r>
            <a:r>
              <a:rPr lang="en-US" altLang="ko-KR" sz="600" dirty="0">
                <a:solidFill>
                  <a:srgbClr val="000000"/>
                </a:solidFill>
                <a:latin typeface="Consolas" panose="020B0609020204030204" pitchFamily="49" charset="0"/>
              </a:rPr>
              <a:t>==</a:t>
            </a:r>
            <a:r>
              <a:rPr lang="en-US" altLang="ko-KR" sz="600" dirty="0">
                <a:latin typeface="Consolas" panose="020B0609020204030204" pitchFamily="49" charset="0"/>
              </a:rPr>
              <a:t> </a:t>
            </a:r>
            <a:r>
              <a:rPr lang="en-US" altLang="ko-KR" sz="600" dirty="0" err="1">
                <a:latin typeface="Consolas" panose="020B0609020204030204" pitchFamily="49" charset="0"/>
              </a:rPr>
              <a:t>q_pid</a:t>
            </a:r>
            <a:r>
              <a:rPr lang="en-US" altLang="ko-KR" sz="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US" altLang="ko-KR" sz="600" dirty="0">
              <a:latin typeface="Consolas" panose="020B0609020204030204" pitchFamily="49" charset="0"/>
            </a:endParaRPr>
          </a:p>
          <a:p>
            <a:pPr fontAlgn="t">
              <a:buFont typeface="+mj-lt"/>
              <a:buAutoNum type="arabicPeriod"/>
            </a:pPr>
            <a:r>
              <a:rPr lang="en-US" altLang="ko-KR" sz="600" dirty="0">
                <a:latin typeface="Consolas" panose="020B0609020204030204" pitchFamily="49" charset="0"/>
              </a:rPr>
              <a:t>            </a:t>
            </a:r>
            <a:r>
              <a:rPr lang="en-US" altLang="ko-KR" sz="600" dirty="0">
                <a:solidFill>
                  <a:srgbClr val="00008B"/>
                </a:solidFill>
                <a:latin typeface="Consolas" panose="020B0609020204030204" pitchFamily="49" charset="0"/>
              </a:rPr>
              <a:t>if</a:t>
            </a:r>
            <a:r>
              <a:rPr lang="en-US" altLang="ko-KR" sz="600" dirty="0">
                <a:latin typeface="Consolas" panose="020B0609020204030204" pitchFamily="49" charset="0"/>
              </a:rPr>
              <a:t> </a:t>
            </a:r>
            <a:r>
              <a:rPr lang="en-US" altLang="ko-KR" sz="600" dirty="0" err="1">
                <a:latin typeface="Consolas" panose="020B0609020204030204" pitchFamily="49" charset="0"/>
              </a:rPr>
              <a:t>g_camid</a:t>
            </a:r>
            <a:r>
              <a:rPr lang="en-US" altLang="ko-KR" sz="600" dirty="0">
                <a:latin typeface="Consolas" panose="020B0609020204030204" pitchFamily="49" charset="0"/>
              </a:rPr>
              <a:t> </a:t>
            </a:r>
            <a:r>
              <a:rPr lang="en-US" altLang="ko-KR" sz="600" dirty="0">
                <a:solidFill>
                  <a:srgbClr val="000000"/>
                </a:solidFill>
                <a:latin typeface="Consolas" panose="020B0609020204030204" pitchFamily="49" charset="0"/>
              </a:rPr>
              <a:t>==</a:t>
            </a:r>
            <a:r>
              <a:rPr lang="en-US" altLang="ko-KR" sz="600" dirty="0">
                <a:latin typeface="Consolas" panose="020B0609020204030204" pitchFamily="49" charset="0"/>
              </a:rPr>
              <a:t> </a:t>
            </a:r>
            <a:r>
              <a:rPr lang="en-US" altLang="ko-KR" sz="600" dirty="0" err="1">
                <a:latin typeface="Consolas" panose="020B0609020204030204" pitchFamily="49" charset="0"/>
              </a:rPr>
              <a:t>q_camid</a:t>
            </a:r>
            <a:r>
              <a:rPr lang="en-US" altLang="ko-KR" sz="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US" altLang="ko-KR" sz="600" dirty="0">
              <a:latin typeface="Consolas" panose="020B0609020204030204" pitchFamily="49" charset="0"/>
            </a:endParaRPr>
          </a:p>
          <a:p>
            <a:pPr fontAlgn="t">
              <a:buFont typeface="+mj-lt"/>
              <a:buAutoNum type="arabicPeriod"/>
            </a:pPr>
            <a:r>
              <a:rPr lang="en-US" altLang="ko-KR" sz="600" dirty="0">
                <a:latin typeface="Consolas" panose="020B0609020204030204" pitchFamily="49" charset="0"/>
              </a:rPr>
              <a:t>                </a:t>
            </a:r>
            <a:r>
              <a:rPr lang="en-US" altLang="ko-KR" sz="600" i="1" dirty="0">
                <a:solidFill>
                  <a:srgbClr val="666666"/>
                </a:solidFill>
                <a:latin typeface="Consolas" panose="020B0609020204030204" pitchFamily="49" charset="0"/>
              </a:rPr>
              <a:t># </a:t>
            </a:r>
            <a:r>
              <a:rPr lang="ko-KR" altLang="en-US" sz="600" i="1" dirty="0">
                <a:solidFill>
                  <a:srgbClr val="666666"/>
                </a:solidFill>
                <a:latin typeface="Consolas" panose="020B0609020204030204" pitchFamily="49" charset="0"/>
              </a:rPr>
              <a:t>같은 카메라</a:t>
            </a:r>
            <a:r>
              <a:rPr lang="en-US" altLang="ko-KR" sz="600" i="1" dirty="0">
                <a:solidFill>
                  <a:srgbClr val="666666"/>
                </a:solidFill>
                <a:latin typeface="Consolas" panose="020B0609020204030204" pitchFamily="49" charset="0"/>
              </a:rPr>
              <a:t>: </a:t>
            </a:r>
            <a:r>
              <a:rPr lang="ko-KR" altLang="en-US" sz="600" i="1" dirty="0">
                <a:solidFill>
                  <a:srgbClr val="666666"/>
                </a:solidFill>
                <a:latin typeface="Consolas" panose="020B0609020204030204" pitchFamily="49" charset="0"/>
              </a:rPr>
              <a:t>크기가 다르더라도 </a:t>
            </a:r>
            <a:r>
              <a:rPr lang="en-US" altLang="ko-KR" sz="600" i="1" dirty="0">
                <a:solidFill>
                  <a:srgbClr val="666666"/>
                </a:solidFill>
                <a:latin typeface="Consolas" panose="020B0609020204030204" pitchFamily="49" charset="0"/>
              </a:rPr>
              <a:t>junk set</a:t>
            </a:r>
            <a:r>
              <a:rPr lang="ko-KR" altLang="en-US" sz="600" i="1" dirty="0">
                <a:solidFill>
                  <a:srgbClr val="666666"/>
                </a:solidFill>
                <a:latin typeface="Consolas" panose="020B0609020204030204" pitchFamily="49" charset="0"/>
              </a:rPr>
              <a:t>에 포함</a:t>
            </a:r>
            <a:endParaRPr lang="ko-KR" altLang="en-US" sz="600" dirty="0">
              <a:latin typeface="Consolas" panose="020B0609020204030204" pitchFamily="49" charset="0"/>
            </a:endParaRPr>
          </a:p>
          <a:p>
            <a:pPr fontAlgn="t">
              <a:buFont typeface="+mj-lt"/>
              <a:buAutoNum type="arabicPeriod"/>
            </a:pPr>
            <a:r>
              <a:rPr lang="ko-KR" altLang="en-US" sz="600" dirty="0">
                <a:latin typeface="Consolas" panose="020B0609020204030204" pitchFamily="49" charset="0"/>
              </a:rPr>
              <a:t>               </a:t>
            </a:r>
            <a:r>
              <a:rPr lang="en-US" altLang="ko-KR" sz="600" dirty="0" err="1">
                <a:latin typeface="Consolas" panose="020B0609020204030204" pitchFamily="49" charset="0"/>
              </a:rPr>
              <a:t>junk</a:t>
            </a:r>
            <a:r>
              <a:rPr lang="en-US" altLang="ko-KR" sz="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ko-KR" sz="600" dirty="0" err="1">
                <a:latin typeface="Consolas" panose="020B0609020204030204" pitchFamily="49" charset="0"/>
              </a:rPr>
              <a:t>append</a:t>
            </a:r>
            <a:r>
              <a:rPr lang="en-US" altLang="ko-KR" sz="600" dirty="0">
                <a:solidFill>
                  <a:srgbClr val="800000"/>
                </a:solidFill>
                <a:latin typeface="Consolas" panose="020B0609020204030204" pitchFamily="49" charset="0"/>
              </a:rPr>
              <a:t>(</a:t>
            </a:r>
            <a:r>
              <a:rPr lang="en-US" altLang="ko-KR" sz="600" dirty="0" err="1">
                <a:latin typeface="Consolas" panose="020B0609020204030204" pitchFamily="49" charset="0"/>
              </a:rPr>
              <a:t>i</a:t>
            </a:r>
            <a:r>
              <a:rPr lang="en-US" altLang="ko-KR" sz="600" dirty="0">
                <a:solidFill>
                  <a:srgbClr val="800000"/>
                </a:solidFill>
                <a:latin typeface="Consolas" panose="020B0609020204030204" pitchFamily="49" charset="0"/>
              </a:rPr>
              <a:t>)</a:t>
            </a:r>
            <a:endParaRPr lang="en-US" altLang="ko-KR" sz="600" dirty="0">
              <a:latin typeface="Consolas" panose="020B0609020204030204" pitchFamily="49" charset="0"/>
            </a:endParaRPr>
          </a:p>
          <a:p>
            <a:pPr fontAlgn="t">
              <a:buFont typeface="+mj-lt"/>
              <a:buAutoNum type="arabicPeriod"/>
            </a:pPr>
            <a:r>
              <a:rPr lang="en-US" altLang="ko-KR" sz="600" dirty="0">
                <a:latin typeface="Consolas" panose="020B0609020204030204" pitchFamily="49" charset="0"/>
              </a:rPr>
              <a:t>            </a:t>
            </a:r>
            <a:r>
              <a:rPr lang="en-US" altLang="ko-KR" sz="600" dirty="0">
                <a:solidFill>
                  <a:srgbClr val="00008B"/>
                </a:solidFill>
                <a:latin typeface="Consolas" panose="020B0609020204030204" pitchFamily="49" charset="0"/>
              </a:rPr>
              <a:t>else</a:t>
            </a:r>
            <a:r>
              <a:rPr lang="en-US" altLang="ko-KR" sz="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US" altLang="ko-KR" sz="600" dirty="0">
              <a:latin typeface="Consolas" panose="020B0609020204030204" pitchFamily="49" charset="0"/>
            </a:endParaRPr>
          </a:p>
          <a:p>
            <a:pPr fontAlgn="t">
              <a:buFont typeface="+mj-lt"/>
              <a:buAutoNum type="arabicPeriod"/>
            </a:pPr>
            <a:r>
              <a:rPr lang="en-US" altLang="ko-KR" sz="600" dirty="0">
                <a:latin typeface="Consolas" panose="020B0609020204030204" pitchFamily="49" charset="0"/>
              </a:rPr>
              <a:t>                </a:t>
            </a:r>
            <a:r>
              <a:rPr lang="en-US" altLang="ko-KR" sz="600" i="1" dirty="0">
                <a:solidFill>
                  <a:srgbClr val="666666"/>
                </a:solidFill>
                <a:latin typeface="Consolas" panose="020B0609020204030204" pitchFamily="49" charset="0"/>
              </a:rPr>
              <a:t># </a:t>
            </a:r>
            <a:r>
              <a:rPr lang="ko-KR" altLang="en-US" sz="600" i="1" dirty="0">
                <a:solidFill>
                  <a:srgbClr val="666666"/>
                </a:solidFill>
                <a:latin typeface="Consolas" panose="020B0609020204030204" pitchFamily="49" charset="0"/>
              </a:rPr>
              <a:t>다른 카메라</a:t>
            </a:r>
            <a:r>
              <a:rPr lang="en-US" altLang="ko-KR" sz="600" i="1" dirty="0">
                <a:solidFill>
                  <a:srgbClr val="666666"/>
                </a:solidFill>
                <a:latin typeface="Consolas" panose="020B0609020204030204" pitchFamily="49" charset="0"/>
              </a:rPr>
              <a:t>: good set</a:t>
            </a:r>
            <a:r>
              <a:rPr lang="ko-KR" altLang="en-US" sz="600" i="1" dirty="0">
                <a:solidFill>
                  <a:srgbClr val="666666"/>
                </a:solidFill>
                <a:latin typeface="Consolas" panose="020B0609020204030204" pitchFamily="49" charset="0"/>
              </a:rPr>
              <a:t>에 포함</a:t>
            </a:r>
            <a:endParaRPr lang="ko-KR" altLang="en-US" sz="600" dirty="0">
              <a:latin typeface="Consolas" panose="020B0609020204030204" pitchFamily="49" charset="0"/>
            </a:endParaRPr>
          </a:p>
          <a:p>
            <a:pPr fontAlgn="t">
              <a:buFont typeface="+mj-lt"/>
              <a:buAutoNum type="arabicPeriod"/>
            </a:pPr>
            <a:r>
              <a:rPr lang="ko-KR" altLang="en-US" sz="600" dirty="0">
                <a:latin typeface="Consolas" panose="020B0609020204030204" pitchFamily="49" charset="0"/>
              </a:rPr>
              <a:t>               </a:t>
            </a:r>
            <a:r>
              <a:rPr lang="en-US" altLang="ko-KR" sz="600" dirty="0" err="1">
                <a:latin typeface="Consolas" panose="020B0609020204030204" pitchFamily="49" charset="0"/>
              </a:rPr>
              <a:t>good</a:t>
            </a:r>
            <a:r>
              <a:rPr lang="en-US" altLang="ko-KR" sz="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ko-KR" sz="600" dirty="0" err="1">
                <a:latin typeface="Consolas" panose="020B0609020204030204" pitchFamily="49" charset="0"/>
              </a:rPr>
              <a:t>append</a:t>
            </a:r>
            <a:r>
              <a:rPr lang="en-US" altLang="ko-KR" sz="600" dirty="0">
                <a:solidFill>
                  <a:srgbClr val="800000"/>
                </a:solidFill>
                <a:latin typeface="Consolas" panose="020B0609020204030204" pitchFamily="49" charset="0"/>
              </a:rPr>
              <a:t>(</a:t>
            </a:r>
            <a:r>
              <a:rPr lang="en-US" altLang="ko-KR" sz="600" dirty="0" err="1">
                <a:latin typeface="Consolas" panose="020B0609020204030204" pitchFamily="49" charset="0"/>
              </a:rPr>
              <a:t>i</a:t>
            </a:r>
            <a:r>
              <a:rPr lang="en-US" altLang="ko-KR" sz="600" dirty="0">
                <a:solidFill>
                  <a:srgbClr val="800000"/>
                </a:solidFill>
                <a:latin typeface="Consolas" panose="020B0609020204030204" pitchFamily="49" charset="0"/>
              </a:rPr>
              <a:t>)</a:t>
            </a:r>
            <a:endParaRPr lang="en-US" altLang="ko-KR" sz="600" dirty="0">
              <a:latin typeface="Consolas" panose="020B0609020204030204" pitchFamily="49" charset="0"/>
            </a:endParaRPr>
          </a:p>
          <a:p>
            <a:pPr fontAlgn="t">
              <a:buFont typeface="+mj-lt"/>
              <a:buAutoNum type="arabicPeriod"/>
            </a:pPr>
            <a:r>
              <a:rPr lang="en-US" altLang="ko-KR" sz="600" dirty="0">
                <a:latin typeface="Consolas" panose="020B0609020204030204" pitchFamily="49" charset="0"/>
              </a:rPr>
              <a:t>    </a:t>
            </a:r>
          </a:p>
          <a:p>
            <a:pPr fontAlgn="t">
              <a:buFont typeface="+mj-lt"/>
              <a:buAutoNum type="arabicPeriod"/>
            </a:pPr>
            <a:r>
              <a:rPr lang="en-US" altLang="ko-KR" sz="600" dirty="0">
                <a:latin typeface="Consolas" panose="020B0609020204030204" pitchFamily="49" charset="0"/>
              </a:rPr>
              <a:t>    </a:t>
            </a:r>
            <a:r>
              <a:rPr lang="en-US" altLang="ko-KR" sz="600" i="1" dirty="0">
                <a:solidFill>
                  <a:srgbClr val="666666"/>
                </a:solidFill>
                <a:latin typeface="Consolas" panose="020B0609020204030204" pitchFamily="49" charset="0"/>
              </a:rPr>
              <a:t># .mat </a:t>
            </a:r>
            <a:r>
              <a:rPr lang="ko-KR" altLang="en-US" sz="600" i="1" dirty="0">
                <a:solidFill>
                  <a:srgbClr val="666666"/>
                </a:solidFill>
                <a:latin typeface="Consolas" panose="020B0609020204030204" pitchFamily="49" charset="0"/>
              </a:rPr>
              <a:t>파일 이름은 원본 </a:t>
            </a:r>
            <a:r>
              <a:rPr lang="en-US" altLang="ko-KR" sz="600" i="1" dirty="0">
                <a:solidFill>
                  <a:srgbClr val="666666"/>
                </a:solidFill>
                <a:latin typeface="Consolas" panose="020B0609020204030204" pitchFamily="49" charset="0"/>
              </a:rPr>
              <a:t>Query </a:t>
            </a:r>
            <a:r>
              <a:rPr lang="ko-KR" altLang="en-US" sz="600" i="1" dirty="0">
                <a:solidFill>
                  <a:srgbClr val="666666"/>
                </a:solidFill>
                <a:latin typeface="Consolas" panose="020B0609020204030204" pitchFamily="49" charset="0"/>
              </a:rPr>
              <a:t>파일명을 기반으로 생성 </a:t>
            </a:r>
            <a:r>
              <a:rPr lang="en-US" altLang="ko-KR" sz="600" i="1" dirty="0">
                <a:solidFill>
                  <a:srgbClr val="666666"/>
                </a:solidFill>
                <a:latin typeface="Consolas" panose="020B0609020204030204" pitchFamily="49" charset="0"/>
              </a:rPr>
              <a:t>(</a:t>
            </a:r>
            <a:r>
              <a:rPr lang="ko-KR" altLang="en-US" sz="600" i="1" dirty="0" err="1">
                <a:solidFill>
                  <a:srgbClr val="666666"/>
                </a:solidFill>
                <a:latin typeface="Consolas" panose="020B0609020204030204" pitchFamily="49" charset="0"/>
              </a:rPr>
              <a:t>확장자</a:t>
            </a:r>
            <a:r>
              <a:rPr lang="ko-KR" altLang="en-US" sz="600" i="1" dirty="0">
                <a:solidFill>
                  <a:srgbClr val="666666"/>
                </a:solidFill>
                <a:latin typeface="Consolas" panose="020B0609020204030204" pitchFamily="49" charset="0"/>
              </a:rPr>
              <a:t> 제거 후</a:t>
            </a:r>
            <a:r>
              <a:rPr lang="en-US" altLang="ko-KR" sz="600" i="1" dirty="0">
                <a:solidFill>
                  <a:srgbClr val="666666"/>
                </a:solidFill>
                <a:latin typeface="Consolas" panose="020B0609020204030204" pitchFamily="49" charset="0"/>
              </a:rPr>
              <a:t>)</a:t>
            </a:r>
            <a:endParaRPr lang="ko-KR" altLang="en-US" sz="600" dirty="0">
              <a:latin typeface="Consolas" panose="020B0609020204030204" pitchFamily="49" charset="0"/>
            </a:endParaRPr>
          </a:p>
          <a:p>
            <a:pPr fontAlgn="t">
              <a:buFont typeface="+mj-lt"/>
              <a:buAutoNum type="arabicPeriod"/>
            </a:pPr>
            <a:r>
              <a:rPr lang="ko-KR" altLang="en-US" sz="600" dirty="0">
                <a:latin typeface="Consolas" panose="020B0609020204030204" pitchFamily="49" charset="0"/>
              </a:rPr>
              <a:t>   </a:t>
            </a:r>
            <a:r>
              <a:rPr lang="en-US" altLang="ko-KR" sz="600" dirty="0" err="1">
                <a:latin typeface="Consolas" panose="020B0609020204030204" pitchFamily="49" charset="0"/>
              </a:rPr>
              <a:t>query_basename</a:t>
            </a:r>
            <a:r>
              <a:rPr lang="en-US" altLang="ko-KR" sz="600" dirty="0">
                <a:latin typeface="Consolas" panose="020B0609020204030204" pitchFamily="49" charset="0"/>
              </a:rPr>
              <a:t> </a:t>
            </a:r>
            <a:r>
              <a:rPr lang="en-US" altLang="ko-KR" sz="60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en-US" altLang="ko-KR" sz="600" dirty="0">
                <a:latin typeface="Consolas" panose="020B0609020204030204" pitchFamily="49" charset="0"/>
              </a:rPr>
              <a:t> </a:t>
            </a:r>
            <a:r>
              <a:rPr lang="en-US" altLang="ko-KR" sz="600" dirty="0" err="1">
                <a:latin typeface="Consolas" panose="020B0609020204030204" pitchFamily="49" charset="0"/>
              </a:rPr>
              <a:t>os</a:t>
            </a:r>
            <a:r>
              <a:rPr lang="en-US" altLang="ko-KR" sz="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ko-KR" sz="600" dirty="0" err="1">
                <a:latin typeface="Consolas" panose="020B0609020204030204" pitchFamily="49" charset="0"/>
              </a:rPr>
              <a:t>path</a:t>
            </a:r>
            <a:r>
              <a:rPr lang="en-US" altLang="ko-KR" sz="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ko-KR" sz="600" dirty="0" err="1">
                <a:latin typeface="Consolas" panose="020B0609020204030204" pitchFamily="49" charset="0"/>
              </a:rPr>
              <a:t>splitext</a:t>
            </a:r>
            <a:r>
              <a:rPr lang="en-US" altLang="ko-KR" sz="600" dirty="0">
                <a:solidFill>
                  <a:srgbClr val="800000"/>
                </a:solidFill>
                <a:latin typeface="Consolas" panose="020B0609020204030204" pitchFamily="49" charset="0"/>
              </a:rPr>
              <a:t>(</a:t>
            </a:r>
            <a:r>
              <a:rPr lang="en-US" altLang="ko-KR" sz="600" dirty="0">
                <a:latin typeface="Consolas" panose="020B0609020204030204" pitchFamily="49" charset="0"/>
              </a:rPr>
              <a:t>query</a:t>
            </a:r>
            <a:r>
              <a:rPr lang="en-US" altLang="ko-KR" sz="600" dirty="0">
                <a:solidFill>
                  <a:srgbClr val="800000"/>
                </a:solidFill>
                <a:latin typeface="Consolas" panose="020B0609020204030204" pitchFamily="49" charset="0"/>
              </a:rPr>
              <a:t>)[</a:t>
            </a:r>
            <a:r>
              <a:rPr lang="en-US" altLang="ko-KR" sz="600" dirty="0">
                <a:solidFill>
                  <a:srgbClr val="CC66CC"/>
                </a:solidFill>
                <a:latin typeface="Consolas" panose="020B0609020204030204" pitchFamily="49" charset="0"/>
              </a:rPr>
              <a:t>0</a:t>
            </a:r>
            <a:r>
              <a:rPr lang="en-US" altLang="ko-KR" sz="600" dirty="0">
                <a:solidFill>
                  <a:srgbClr val="800000"/>
                </a:solidFill>
                <a:latin typeface="Consolas" panose="020B0609020204030204" pitchFamily="49" charset="0"/>
              </a:rPr>
              <a:t>]</a:t>
            </a:r>
            <a:endParaRPr lang="en-US" altLang="ko-KR" sz="600" dirty="0">
              <a:latin typeface="Consolas" panose="020B0609020204030204" pitchFamily="49" charset="0"/>
            </a:endParaRPr>
          </a:p>
          <a:p>
            <a:pPr fontAlgn="t">
              <a:buFont typeface="+mj-lt"/>
              <a:buAutoNum type="arabicPeriod"/>
            </a:pPr>
            <a:r>
              <a:rPr lang="en-US" altLang="ko-KR" sz="600" dirty="0">
                <a:latin typeface="Consolas" panose="020B0609020204030204" pitchFamily="49" charset="0"/>
              </a:rPr>
              <a:t>    </a:t>
            </a:r>
            <a:r>
              <a:rPr lang="en-US" altLang="ko-KR" sz="600" dirty="0" err="1">
                <a:latin typeface="Consolas" panose="020B0609020204030204" pitchFamily="49" charset="0"/>
              </a:rPr>
              <a:t>good_mat_filename</a:t>
            </a:r>
            <a:r>
              <a:rPr lang="en-US" altLang="ko-KR" sz="600" dirty="0">
                <a:latin typeface="Consolas" panose="020B0609020204030204" pitchFamily="49" charset="0"/>
              </a:rPr>
              <a:t> </a:t>
            </a:r>
            <a:r>
              <a:rPr lang="en-US" altLang="ko-KR" sz="60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en-US" altLang="ko-KR" sz="600" dirty="0">
                <a:latin typeface="Consolas" panose="020B0609020204030204" pitchFamily="49" charset="0"/>
              </a:rPr>
              <a:t> </a:t>
            </a:r>
            <a:r>
              <a:rPr lang="en-US" altLang="ko-KR" sz="600" dirty="0" err="1">
                <a:latin typeface="Consolas" panose="020B0609020204030204" pitchFamily="49" charset="0"/>
              </a:rPr>
              <a:t>query_basename</a:t>
            </a:r>
            <a:r>
              <a:rPr lang="en-US" altLang="ko-KR" sz="600" dirty="0">
                <a:latin typeface="Consolas" panose="020B0609020204030204" pitchFamily="49" charset="0"/>
              </a:rPr>
              <a:t> </a:t>
            </a:r>
            <a:r>
              <a:rPr lang="en-US" altLang="ko-KR" sz="600" dirty="0">
                <a:solidFill>
                  <a:srgbClr val="000000"/>
                </a:solidFill>
                <a:latin typeface="Consolas" panose="020B0609020204030204" pitchFamily="49" charset="0"/>
              </a:rPr>
              <a:t>+</a:t>
            </a:r>
            <a:r>
              <a:rPr lang="en-US" altLang="ko-KR" sz="600" dirty="0">
                <a:latin typeface="Consolas" panose="020B0609020204030204" pitchFamily="49" charset="0"/>
              </a:rPr>
              <a:t> </a:t>
            </a:r>
            <a:r>
              <a:rPr lang="en-US" altLang="ko-KR" sz="600" dirty="0">
                <a:solidFill>
                  <a:srgbClr val="0000FF"/>
                </a:solidFill>
                <a:latin typeface="Consolas" panose="020B0609020204030204" pitchFamily="49" charset="0"/>
              </a:rPr>
              <a:t>'_</a:t>
            </a:r>
            <a:r>
              <a:rPr lang="en-US" altLang="ko-KR" sz="600" dirty="0" err="1">
                <a:solidFill>
                  <a:srgbClr val="0000FF"/>
                </a:solidFill>
                <a:latin typeface="Consolas" panose="020B0609020204030204" pitchFamily="49" charset="0"/>
              </a:rPr>
              <a:t>good.mat</a:t>
            </a:r>
            <a:r>
              <a:rPr lang="en-US" altLang="ko-KR" sz="600" dirty="0">
                <a:solidFill>
                  <a:srgbClr val="0000FF"/>
                </a:solidFill>
                <a:latin typeface="Consolas" panose="020B0609020204030204" pitchFamily="49" charset="0"/>
              </a:rPr>
              <a:t>'</a:t>
            </a:r>
            <a:endParaRPr lang="en-US" altLang="ko-KR" sz="600" dirty="0">
              <a:latin typeface="Consolas" panose="020B0609020204030204" pitchFamily="49" charset="0"/>
            </a:endParaRPr>
          </a:p>
          <a:p>
            <a:pPr fontAlgn="t">
              <a:buFont typeface="+mj-lt"/>
              <a:buAutoNum type="arabicPeriod"/>
            </a:pPr>
            <a:r>
              <a:rPr lang="en-US" altLang="ko-KR" sz="600" dirty="0">
                <a:latin typeface="Consolas" panose="020B0609020204030204" pitchFamily="49" charset="0"/>
              </a:rPr>
              <a:t>    </a:t>
            </a:r>
            <a:r>
              <a:rPr lang="en-US" altLang="ko-KR" sz="600" dirty="0" err="1">
                <a:latin typeface="Consolas" panose="020B0609020204030204" pitchFamily="49" charset="0"/>
              </a:rPr>
              <a:t>junk_mat_filename</a:t>
            </a:r>
            <a:r>
              <a:rPr lang="en-US" altLang="ko-KR" sz="600" dirty="0">
                <a:latin typeface="Consolas" panose="020B0609020204030204" pitchFamily="49" charset="0"/>
              </a:rPr>
              <a:t> </a:t>
            </a:r>
            <a:r>
              <a:rPr lang="en-US" altLang="ko-KR" sz="60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en-US" altLang="ko-KR" sz="600" dirty="0">
                <a:latin typeface="Consolas" panose="020B0609020204030204" pitchFamily="49" charset="0"/>
              </a:rPr>
              <a:t> </a:t>
            </a:r>
            <a:r>
              <a:rPr lang="en-US" altLang="ko-KR" sz="600" dirty="0" err="1">
                <a:latin typeface="Consolas" panose="020B0609020204030204" pitchFamily="49" charset="0"/>
              </a:rPr>
              <a:t>query_basename</a:t>
            </a:r>
            <a:r>
              <a:rPr lang="en-US" altLang="ko-KR" sz="600" dirty="0">
                <a:latin typeface="Consolas" panose="020B0609020204030204" pitchFamily="49" charset="0"/>
              </a:rPr>
              <a:t> </a:t>
            </a:r>
            <a:r>
              <a:rPr lang="en-US" altLang="ko-KR" sz="600" dirty="0">
                <a:solidFill>
                  <a:srgbClr val="000000"/>
                </a:solidFill>
                <a:latin typeface="Consolas" panose="020B0609020204030204" pitchFamily="49" charset="0"/>
              </a:rPr>
              <a:t>+</a:t>
            </a:r>
            <a:r>
              <a:rPr lang="en-US" altLang="ko-KR" sz="600" dirty="0">
                <a:latin typeface="Consolas" panose="020B0609020204030204" pitchFamily="49" charset="0"/>
              </a:rPr>
              <a:t> </a:t>
            </a:r>
            <a:r>
              <a:rPr lang="en-US" altLang="ko-KR" sz="600" dirty="0">
                <a:solidFill>
                  <a:srgbClr val="0000FF"/>
                </a:solidFill>
                <a:latin typeface="Consolas" panose="020B0609020204030204" pitchFamily="49" charset="0"/>
              </a:rPr>
              <a:t>'_</a:t>
            </a:r>
            <a:r>
              <a:rPr lang="en-US" altLang="ko-KR" sz="600" dirty="0" err="1">
                <a:solidFill>
                  <a:srgbClr val="0000FF"/>
                </a:solidFill>
                <a:latin typeface="Consolas" panose="020B0609020204030204" pitchFamily="49" charset="0"/>
              </a:rPr>
              <a:t>junk.mat</a:t>
            </a:r>
            <a:r>
              <a:rPr lang="en-US" altLang="ko-KR" sz="600" dirty="0">
                <a:solidFill>
                  <a:srgbClr val="0000FF"/>
                </a:solidFill>
                <a:latin typeface="Consolas" panose="020B0609020204030204" pitchFamily="49" charset="0"/>
              </a:rPr>
              <a:t>'</a:t>
            </a:r>
            <a:endParaRPr lang="en-US" altLang="ko-KR" sz="600" dirty="0">
              <a:latin typeface="Consolas" panose="020B0609020204030204" pitchFamily="49" charset="0"/>
            </a:endParaRPr>
          </a:p>
          <a:p>
            <a:pPr fontAlgn="t">
              <a:buFont typeface="+mj-lt"/>
              <a:buAutoNum type="arabicPeriod"/>
            </a:pPr>
            <a:r>
              <a:rPr lang="en-US" altLang="ko-KR" sz="600" dirty="0">
                <a:latin typeface="Consolas" panose="020B0609020204030204" pitchFamily="49" charset="0"/>
              </a:rPr>
              <a:t>    </a:t>
            </a:r>
          </a:p>
          <a:p>
            <a:pPr fontAlgn="t">
              <a:buFont typeface="+mj-lt"/>
              <a:buAutoNum type="arabicPeriod"/>
            </a:pPr>
            <a:r>
              <a:rPr lang="en-US" altLang="ko-KR" sz="600" dirty="0">
                <a:latin typeface="Consolas" panose="020B0609020204030204" pitchFamily="49" charset="0"/>
              </a:rPr>
              <a:t>    </a:t>
            </a:r>
            <a:r>
              <a:rPr lang="en-US" altLang="ko-KR" sz="600" i="1" dirty="0">
                <a:solidFill>
                  <a:srgbClr val="666666"/>
                </a:solidFill>
                <a:latin typeface="Consolas" panose="020B0609020204030204" pitchFamily="49" charset="0"/>
              </a:rPr>
              <a:t># </a:t>
            </a:r>
            <a:r>
              <a:rPr lang="ko-KR" altLang="en-US" sz="600" i="1" dirty="0">
                <a:solidFill>
                  <a:srgbClr val="666666"/>
                </a:solidFill>
                <a:latin typeface="Consolas" panose="020B0609020204030204" pitchFamily="49" charset="0"/>
              </a:rPr>
              <a:t>각각의 </a:t>
            </a:r>
            <a:r>
              <a:rPr lang="en-US" altLang="ko-KR" sz="600" i="1" dirty="0">
                <a:solidFill>
                  <a:srgbClr val="666666"/>
                </a:solidFill>
                <a:latin typeface="Consolas" panose="020B0609020204030204" pitchFamily="49" charset="0"/>
              </a:rPr>
              <a:t>set</a:t>
            </a:r>
            <a:r>
              <a:rPr lang="ko-KR" altLang="en-US" sz="600" i="1" dirty="0">
                <a:solidFill>
                  <a:srgbClr val="666666"/>
                </a:solidFill>
                <a:latin typeface="Consolas" panose="020B0609020204030204" pitchFamily="49" charset="0"/>
              </a:rPr>
              <a:t>을 </a:t>
            </a:r>
            <a:r>
              <a:rPr lang="en-US" altLang="ko-KR" sz="600" i="1" dirty="0">
                <a:solidFill>
                  <a:srgbClr val="666666"/>
                </a:solidFill>
                <a:latin typeface="Consolas" panose="020B0609020204030204" pitchFamily="49" charset="0"/>
              </a:rPr>
              <a:t>MATLAB </a:t>
            </a:r>
            <a:r>
              <a:rPr lang="ko-KR" altLang="en-US" sz="600" i="1" dirty="0">
                <a:solidFill>
                  <a:srgbClr val="666666"/>
                </a:solidFill>
                <a:latin typeface="Consolas" panose="020B0609020204030204" pitchFamily="49" charset="0"/>
              </a:rPr>
              <a:t>파일로 저장</a:t>
            </a:r>
            <a:endParaRPr lang="ko-KR" altLang="en-US" sz="600" dirty="0">
              <a:latin typeface="Consolas" panose="020B0609020204030204" pitchFamily="49" charset="0"/>
            </a:endParaRPr>
          </a:p>
          <a:p>
            <a:pPr fontAlgn="t">
              <a:buFont typeface="+mj-lt"/>
              <a:buAutoNum type="arabicPeriod"/>
            </a:pPr>
            <a:r>
              <a:rPr lang="ko-KR" altLang="en-US" sz="600" dirty="0">
                <a:latin typeface="Consolas" panose="020B0609020204030204" pitchFamily="49" charset="0"/>
              </a:rPr>
              <a:t>   </a:t>
            </a:r>
            <a:r>
              <a:rPr lang="en-US" altLang="ko-KR" sz="600" dirty="0" err="1">
                <a:latin typeface="Consolas" panose="020B0609020204030204" pitchFamily="49" charset="0"/>
              </a:rPr>
              <a:t>sio</a:t>
            </a:r>
            <a:r>
              <a:rPr lang="en-US" altLang="ko-KR" sz="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ko-KR" sz="600" dirty="0" err="1">
                <a:latin typeface="Consolas" panose="020B0609020204030204" pitchFamily="49" charset="0"/>
              </a:rPr>
              <a:t>savemat</a:t>
            </a:r>
            <a:r>
              <a:rPr lang="en-US" altLang="ko-KR" sz="600" dirty="0">
                <a:solidFill>
                  <a:srgbClr val="800000"/>
                </a:solidFill>
                <a:latin typeface="Consolas" panose="020B0609020204030204" pitchFamily="49" charset="0"/>
              </a:rPr>
              <a:t>(</a:t>
            </a:r>
            <a:r>
              <a:rPr lang="en-US" altLang="ko-KR" sz="600" dirty="0" err="1">
                <a:latin typeface="Consolas" panose="020B0609020204030204" pitchFamily="49" charset="0"/>
              </a:rPr>
              <a:t>good_mat_filename</a:t>
            </a:r>
            <a:r>
              <a:rPr lang="en-US" altLang="ko-KR" sz="600" dirty="0">
                <a:solidFill>
                  <a:srgbClr val="000000"/>
                </a:solidFill>
                <a:latin typeface="Consolas" panose="020B0609020204030204" pitchFamily="49" charset="0"/>
              </a:rPr>
              <a:t>,</a:t>
            </a:r>
            <a:r>
              <a:rPr lang="en-US" altLang="ko-KR" sz="600" dirty="0">
                <a:latin typeface="Consolas" panose="020B0609020204030204" pitchFamily="49" charset="0"/>
              </a:rPr>
              <a:t> </a:t>
            </a:r>
            <a:r>
              <a:rPr lang="en-US" altLang="ko-KR" sz="600" dirty="0">
                <a:solidFill>
                  <a:srgbClr val="800000"/>
                </a:solidFill>
                <a:latin typeface="Consolas" panose="020B0609020204030204" pitchFamily="49" charset="0"/>
              </a:rPr>
              <a:t>{</a:t>
            </a:r>
            <a:r>
              <a:rPr lang="en-US" altLang="ko-KR" sz="600" dirty="0">
                <a:solidFill>
                  <a:srgbClr val="0000FF"/>
                </a:solidFill>
                <a:latin typeface="Consolas" panose="020B0609020204030204" pitchFamily="49" charset="0"/>
              </a:rPr>
              <a:t>'good'</a:t>
            </a:r>
            <a:r>
              <a:rPr lang="en-US" altLang="ko-KR" sz="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US" altLang="ko-KR" sz="600" dirty="0">
                <a:latin typeface="Consolas" panose="020B0609020204030204" pitchFamily="49" charset="0"/>
              </a:rPr>
              <a:t> good</a:t>
            </a:r>
            <a:r>
              <a:rPr lang="en-US" altLang="ko-KR" sz="600" dirty="0">
                <a:solidFill>
                  <a:srgbClr val="800000"/>
                </a:solidFill>
                <a:latin typeface="Consolas" panose="020B0609020204030204" pitchFamily="49" charset="0"/>
              </a:rPr>
              <a:t>})</a:t>
            </a:r>
            <a:endParaRPr lang="en-US" altLang="ko-KR" sz="600" dirty="0">
              <a:latin typeface="Consolas" panose="020B0609020204030204" pitchFamily="49" charset="0"/>
            </a:endParaRPr>
          </a:p>
          <a:p>
            <a:pPr fontAlgn="t">
              <a:buFont typeface="+mj-lt"/>
              <a:buAutoNum type="arabicPeriod"/>
            </a:pPr>
            <a:r>
              <a:rPr lang="en-US" altLang="ko-KR" sz="600" dirty="0">
                <a:latin typeface="Consolas" panose="020B0609020204030204" pitchFamily="49" charset="0"/>
              </a:rPr>
              <a:t>    </a:t>
            </a:r>
            <a:r>
              <a:rPr lang="en-US" altLang="ko-KR" sz="600" dirty="0" err="1">
                <a:latin typeface="Consolas" panose="020B0609020204030204" pitchFamily="49" charset="0"/>
              </a:rPr>
              <a:t>sio</a:t>
            </a:r>
            <a:r>
              <a:rPr lang="en-US" altLang="ko-KR" sz="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ko-KR" sz="600" dirty="0" err="1">
                <a:latin typeface="Consolas" panose="020B0609020204030204" pitchFamily="49" charset="0"/>
              </a:rPr>
              <a:t>savemat</a:t>
            </a:r>
            <a:r>
              <a:rPr lang="en-US" altLang="ko-KR" sz="600" dirty="0">
                <a:solidFill>
                  <a:srgbClr val="800000"/>
                </a:solidFill>
                <a:latin typeface="Consolas" panose="020B0609020204030204" pitchFamily="49" charset="0"/>
              </a:rPr>
              <a:t>(</a:t>
            </a:r>
            <a:r>
              <a:rPr lang="en-US" altLang="ko-KR" sz="600" dirty="0" err="1">
                <a:latin typeface="Consolas" panose="020B0609020204030204" pitchFamily="49" charset="0"/>
              </a:rPr>
              <a:t>junk_mat_filename</a:t>
            </a:r>
            <a:r>
              <a:rPr lang="en-US" altLang="ko-KR" sz="600" dirty="0">
                <a:solidFill>
                  <a:srgbClr val="000000"/>
                </a:solidFill>
                <a:latin typeface="Consolas" panose="020B0609020204030204" pitchFamily="49" charset="0"/>
              </a:rPr>
              <a:t>,</a:t>
            </a:r>
            <a:r>
              <a:rPr lang="en-US" altLang="ko-KR" sz="600" dirty="0">
                <a:latin typeface="Consolas" panose="020B0609020204030204" pitchFamily="49" charset="0"/>
              </a:rPr>
              <a:t> </a:t>
            </a:r>
            <a:r>
              <a:rPr lang="en-US" altLang="ko-KR" sz="600" dirty="0">
                <a:solidFill>
                  <a:srgbClr val="800000"/>
                </a:solidFill>
                <a:latin typeface="Consolas" panose="020B0609020204030204" pitchFamily="49" charset="0"/>
              </a:rPr>
              <a:t>{</a:t>
            </a:r>
            <a:r>
              <a:rPr lang="en-US" altLang="ko-KR" sz="600" dirty="0">
                <a:solidFill>
                  <a:srgbClr val="0000FF"/>
                </a:solidFill>
                <a:latin typeface="Consolas" panose="020B0609020204030204" pitchFamily="49" charset="0"/>
              </a:rPr>
              <a:t>'junk'</a:t>
            </a:r>
            <a:r>
              <a:rPr lang="en-US" altLang="ko-KR" sz="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US" altLang="ko-KR" sz="600" dirty="0">
                <a:latin typeface="Consolas" panose="020B0609020204030204" pitchFamily="49" charset="0"/>
              </a:rPr>
              <a:t> junk</a:t>
            </a:r>
            <a:r>
              <a:rPr lang="en-US" altLang="ko-KR" sz="600" dirty="0">
                <a:solidFill>
                  <a:srgbClr val="800000"/>
                </a:solidFill>
                <a:latin typeface="Consolas" panose="020B0609020204030204" pitchFamily="49" charset="0"/>
              </a:rPr>
              <a:t>})</a:t>
            </a:r>
            <a:endParaRPr lang="en-US" altLang="ko-KR" sz="600" dirty="0">
              <a:latin typeface="Consolas" panose="020B0609020204030204" pitchFamily="49" charset="0"/>
            </a:endParaRPr>
          </a:p>
          <a:p>
            <a:pPr fontAlgn="t">
              <a:buFont typeface="+mj-lt"/>
              <a:buAutoNum type="arabicPeriod"/>
            </a:pPr>
            <a:r>
              <a:rPr lang="en-US" altLang="ko-KR" sz="600" dirty="0">
                <a:latin typeface="Consolas" panose="020B0609020204030204" pitchFamily="49" charset="0"/>
              </a:rPr>
              <a:t>    </a:t>
            </a:r>
          </a:p>
          <a:p>
            <a:pPr fontAlgn="t">
              <a:buFont typeface="+mj-lt"/>
              <a:buAutoNum type="arabicPeriod"/>
            </a:pPr>
            <a:r>
              <a:rPr lang="en-US" altLang="ko-KR" sz="600" dirty="0">
                <a:latin typeface="Consolas" panose="020B0609020204030204" pitchFamily="49" charset="0"/>
              </a:rPr>
              <a:t>    </a:t>
            </a:r>
            <a:r>
              <a:rPr lang="en-US" altLang="ko-KR" sz="600" dirty="0">
                <a:solidFill>
                  <a:srgbClr val="00008B"/>
                </a:solidFill>
                <a:latin typeface="Consolas" panose="020B0609020204030204" pitchFamily="49" charset="0"/>
              </a:rPr>
              <a:t>print</a:t>
            </a:r>
            <a:r>
              <a:rPr lang="en-US" altLang="ko-KR" sz="600" dirty="0">
                <a:solidFill>
                  <a:srgbClr val="800000"/>
                </a:solidFill>
                <a:latin typeface="Consolas" panose="020B0609020204030204" pitchFamily="49" charset="0"/>
              </a:rPr>
              <a:t>(</a:t>
            </a:r>
            <a:r>
              <a:rPr lang="en-US" altLang="ko-KR" sz="600" dirty="0" err="1">
                <a:latin typeface="Consolas" panose="020B0609020204030204" pitchFamily="49" charset="0"/>
              </a:rPr>
              <a:t>f</a:t>
            </a:r>
            <a:r>
              <a:rPr lang="en-US" altLang="ko-KR" sz="600" dirty="0" err="1">
                <a:solidFill>
                  <a:srgbClr val="FF00FF"/>
                </a:solidFill>
                <a:latin typeface="Consolas" panose="020B0609020204030204" pitchFamily="49" charset="0"/>
              </a:rPr>
              <a:t>"Saved</a:t>
            </a:r>
            <a:r>
              <a:rPr lang="en-US" altLang="ko-KR" sz="600" dirty="0">
                <a:solidFill>
                  <a:srgbClr val="FF00FF"/>
                </a:solidFill>
                <a:latin typeface="Consolas" panose="020B0609020204030204" pitchFamily="49" charset="0"/>
              </a:rPr>
              <a:t> {</a:t>
            </a:r>
            <a:r>
              <a:rPr lang="en-US" altLang="ko-KR" sz="600" dirty="0" err="1">
                <a:solidFill>
                  <a:srgbClr val="FF00FF"/>
                </a:solidFill>
                <a:latin typeface="Consolas" panose="020B0609020204030204" pitchFamily="49" charset="0"/>
              </a:rPr>
              <a:t>good_mat_filename</a:t>
            </a:r>
            <a:r>
              <a:rPr lang="en-US" altLang="ko-KR" sz="600" dirty="0">
                <a:solidFill>
                  <a:srgbClr val="FF00FF"/>
                </a:solidFill>
                <a:latin typeface="Consolas" panose="020B0609020204030204" pitchFamily="49" charset="0"/>
              </a:rPr>
              <a:t>} and {</a:t>
            </a:r>
            <a:r>
              <a:rPr lang="en-US" altLang="ko-KR" sz="600" dirty="0" err="1">
                <a:solidFill>
                  <a:srgbClr val="FF00FF"/>
                </a:solidFill>
                <a:latin typeface="Consolas" panose="020B0609020204030204" pitchFamily="49" charset="0"/>
              </a:rPr>
              <a:t>junk_mat_filename</a:t>
            </a:r>
            <a:r>
              <a:rPr lang="en-US" altLang="ko-KR" sz="600" dirty="0">
                <a:solidFill>
                  <a:srgbClr val="FF00FF"/>
                </a:solidFill>
                <a:latin typeface="Consolas" panose="020B0609020204030204" pitchFamily="49" charset="0"/>
              </a:rPr>
              <a:t>}"</a:t>
            </a:r>
            <a:r>
              <a:rPr lang="en-US" altLang="ko-KR" sz="600" dirty="0">
                <a:solidFill>
                  <a:srgbClr val="800000"/>
                </a:solidFill>
                <a:latin typeface="Consolas" panose="020B0609020204030204" pitchFamily="49" charset="0"/>
              </a:rPr>
              <a:t>)</a:t>
            </a:r>
            <a:endParaRPr lang="en-US" altLang="ko-KR" sz="600" dirty="0">
              <a:latin typeface="Consolas" panose="020B0609020204030204" pitchFamily="49" charset="0"/>
            </a:endParaRPr>
          </a:p>
          <a:p>
            <a:pPr fontAlgn="t">
              <a:buFont typeface="+mj-lt"/>
              <a:buAutoNum type="arabicPeriod"/>
            </a:pPr>
            <a:r>
              <a:rPr lang="en-US" altLang="ko-KR" sz="600" dirty="0">
                <a:latin typeface="Consolas" panose="020B0609020204030204" pitchFamily="49" charset="0"/>
              </a:rPr>
              <a:t> </a:t>
            </a:r>
            <a:endParaRPr lang="en-US" altLang="ko-KR" sz="600" b="0" i="0" dirty="0"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31077812"/>
      </p:ext>
    </p:extLst>
  </p:cSld>
  <p:clrMapOvr>
    <a:masterClrMapping/>
  </p:clrMapOvr>
  <p:transition spd="slow">
    <p:wipe/>
  </p:transition>
  <p:timing>
    <p:tnLst>
      <p:par>
        <p:cTn id="1" dur="indefinite" restart="never" nodeType="tmRoot"/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544481" y="352923"/>
            <a:ext cx="3008354" cy="498228"/>
          </a:xfrm>
          <a:prstGeom prst="rect">
            <a:avLst/>
          </a:prstGeom>
          <a:noFill/>
        </p:spPr>
        <p:txBody>
          <a:bodyPr wrap="none" lIns="98694" tIns="49347" rIns="98694" bIns="49347">
            <a:spAutoFit/>
          </a:bodyPr>
          <a:lstStyle/>
          <a:p>
            <a:r>
              <a:rPr lang="en-US" altLang="ko-KR" sz="2590" b="1" dirty="0">
                <a:ln w="0"/>
                <a:solidFill>
                  <a:prstClr val="black"/>
                </a:solidFill>
                <a:latin typeface="맑은 고딕" panose="020B0503020000020004" pitchFamily="50" charset="-127"/>
              </a:rPr>
              <a:t>End-of-Document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609003" y="3108172"/>
            <a:ext cx="5489516" cy="128817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spcBef>
                <a:spcPts val="648"/>
              </a:spcBef>
            </a:pPr>
            <a:r>
              <a:rPr lang="en-US" altLang="ko-KR" sz="7771" b="1" dirty="0">
                <a:solidFill>
                  <a:srgbClr val="0E0585"/>
                </a:solidFill>
              </a:rPr>
              <a:t>Thank you!</a:t>
            </a:r>
          </a:p>
        </p:txBody>
      </p:sp>
    </p:spTree>
    <p:extLst>
      <p:ext uri="{BB962C8B-B14F-4D97-AF65-F5344CB8AC3E}">
        <p14:creationId xmlns:p14="http://schemas.microsoft.com/office/powerpoint/2010/main" val="23658110"/>
      </p:ext>
    </p:extLst>
  </p:cSld>
  <p:clrMapOvr>
    <a:masterClrMapping/>
  </p:clrMapOvr>
  <p:transition spd="slow">
    <p:wipe/>
  </p:transition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디자인 사용자 지정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58941</TotalTime>
  <Words>6637</Words>
  <Application>Microsoft Office PowerPoint</Application>
  <PresentationFormat>사용자 지정</PresentationFormat>
  <Paragraphs>745</Paragraphs>
  <Slides>36</Slides>
  <Notes>2</Notes>
  <HiddenSlides>0</HiddenSlides>
  <MMClips>0</MMClips>
  <ScaleCrop>false</ScaleCrop>
  <HeadingPairs>
    <vt:vector size="6" baseType="variant">
      <vt:variant>
        <vt:lpstr>사용한 글꼴</vt:lpstr>
      </vt:variant>
      <vt:variant>
        <vt:i4>10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36</vt:i4>
      </vt:variant>
    </vt:vector>
  </HeadingPairs>
  <TitlesOfParts>
    <vt:vector size="47" baseType="lpstr">
      <vt:lpstr>경기천년바탕 Regular</vt:lpstr>
      <vt:lpstr>경기천년바탕 Bold</vt:lpstr>
      <vt:lpstr>Arial Unicode MS</vt:lpstr>
      <vt:lpstr>KoPub돋움체 Bold</vt:lpstr>
      <vt:lpstr>Consolas</vt:lpstr>
      <vt:lpstr>맑은 고딕</vt:lpstr>
      <vt:lpstr>Symbol</vt:lpstr>
      <vt:lpstr>Arial</vt:lpstr>
      <vt:lpstr>Wingdings</vt:lpstr>
      <vt:lpstr>Cambria Math</vt:lpstr>
      <vt:lpstr>디자인 사용자 지정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비즈니스아츠</dc:creator>
  <cp:lastModifiedBy>headway</cp:lastModifiedBy>
  <cp:revision>2802</cp:revision>
  <cp:lastPrinted>2023-05-19T04:59:04Z</cp:lastPrinted>
  <dcterms:created xsi:type="dcterms:W3CDTF">2019-01-23T01:28:59Z</dcterms:created>
  <dcterms:modified xsi:type="dcterms:W3CDTF">2025-04-09T06:42:16Z</dcterms:modified>
</cp:coreProperties>
</file>