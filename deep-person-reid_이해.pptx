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38"/>
  </p:notesMasterIdLst>
  <p:sldIdLst>
    <p:sldId id="489" r:id="rId2"/>
    <p:sldId id="530" r:id="rId3"/>
    <p:sldId id="534" r:id="rId4"/>
    <p:sldId id="533" r:id="rId5"/>
    <p:sldId id="538" r:id="rId6"/>
    <p:sldId id="550" r:id="rId7"/>
    <p:sldId id="535" r:id="rId8"/>
    <p:sldId id="536" r:id="rId9"/>
    <p:sldId id="537" r:id="rId10"/>
    <p:sldId id="539" r:id="rId11"/>
    <p:sldId id="558" r:id="rId12"/>
    <p:sldId id="559" r:id="rId13"/>
    <p:sldId id="560" r:id="rId14"/>
    <p:sldId id="561" r:id="rId15"/>
    <p:sldId id="562" r:id="rId16"/>
    <p:sldId id="563" r:id="rId17"/>
    <p:sldId id="543" r:id="rId18"/>
    <p:sldId id="545" r:id="rId19"/>
    <p:sldId id="544" r:id="rId20"/>
    <p:sldId id="546" r:id="rId21"/>
    <p:sldId id="566" r:id="rId22"/>
    <p:sldId id="565" r:id="rId23"/>
    <p:sldId id="568" r:id="rId24"/>
    <p:sldId id="570" r:id="rId25"/>
    <p:sldId id="567" r:id="rId26"/>
    <p:sldId id="569" r:id="rId27"/>
    <p:sldId id="564" r:id="rId28"/>
    <p:sldId id="552" r:id="rId29"/>
    <p:sldId id="553" r:id="rId30"/>
    <p:sldId id="532" r:id="rId31"/>
    <p:sldId id="554" r:id="rId32"/>
    <p:sldId id="551" r:id="rId33"/>
    <p:sldId id="555" r:id="rId34"/>
    <p:sldId id="556" r:id="rId35"/>
    <p:sldId id="557" r:id="rId36"/>
    <p:sldId id="493" r:id="rId37"/>
  </p:sldIdLst>
  <p:sldSz cx="10691813" cy="7559675"/>
  <p:notesSz cx="9926638" cy="6797675"/>
  <p:embeddedFontLst>
    <p:embeddedFont>
      <p:font typeface="맑은 고딕" panose="020B0503020000020004" pitchFamily="50" charset="-127"/>
      <p:regular r:id="rId39"/>
      <p:bold r:id="rId40"/>
    </p:embeddedFont>
    <p:embeddedFont>
      <p:font typeface="KoPub돋움체 Bold" panose="02020603020101020101" pitchFamily="18" charset="-127"/>
      <p:regular r:id="rId41"/>
    </p:embeddedFont>
    <p:embeddedFont>
      <p:font typeface="Cambria Math" panose="02040503050406030204" pitchFamily="18" charset="0"/>
      <p:regular r:id="rId42"/>
    </p:embeddedFont>
    <p:embeddedFont>
      <p:font typeface="경기천년바탕 Regular" panose="02020503020101020101" pitchFamily="18" charset="-127"/>
      <p:regular r:id="rId43"/>
    </p:embeddedFont>
    <p:embeddedFont>
      <p:font typeface="경기천년바탕 Bold" panose="02020803020101020101" pitchFamily="18" charset="-127"/>
      <p:bold r:id="rId44"/>
    </p:embeddedFont>
    <p:embeddedFont>
      <p:font typeface="Consolas" panose="020B0609020204030204" pitchFamily="49" charset="0"/>
      <p:regular r:id="rId45"/>
      <p:bold r:id="rId46"/>
      <p:italic r:id="rId47"/>
      <p:boldItalic r:id="rId48"/>
    </p:embeddedFont>
  </p:embeddedFontLst>
  <p:defaultTextStyle>
    <a:defPPr>
      <a:defRPr lang="ko-KR"/>
    </a:defPPr>
    <a:lvl1pPr marL="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orient="horz" pos="2358" userDrawn="1">
          <p15:clr>
            <a:srgbClr val="A4A3A4"/>
          </p15:clr>
        </p15:guide>
        <p15:guide id="9" pos="3345" userDrawn="1">
          <p15:clr>
            <a:srgbClr val="A4A3A4"/>
          </p15:clr>
        </p15:guide>
        <p15:guide id="10" pos="782" userDrawn="1">
          <p15:clr>
            <a:srgbClr val="A4A3A4"/>
          </p15:clr>
        </p15:guide>
        <p15:guide id="11" pos="1349" userDrawn="1">
          <p15:clr>
            <a:srgbClr val="A4A3A4"/>
          </p15:clr>
        </p15:guide>
        <p15:guide id="12" pos="2438" userDrawn="1">
          <p15:clr>
            <a:srgbClr val="A4A3A4"/>
          </p15:clr>
        </p15:guide>
        <p15:guide id="13" pos="5704" userDrawn="1">
          <p15:clr>
            <a:srgbClr val="A4A3A4"/>
          </p15:clr>
        </p15:guide>
        <p15:guide id="14" pos="5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CFF66"/>
    <a:srgbClr val="CCFF33"/>
    <a:srgbClr val="99CC00"/>
    <a:srgbClr val="CCCC00"/>
    <a:srgbClr val="CC9900"/>
    <a:srgbClr val="CC3399"/>
    <a:srgbClr val="990033"/>
    <a:srgbClr val="990099"/>
    <a:srgbClr val="C69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49" autoAdjust="0"/>
    <p:restoredTop sz="93184" autoAdjust="0"/>
  </p:normalViewPr>
  <p:slideViewPr>
    <p:cSldViewPr snapToGrid="0" showGuides="1">
      <p:cViewPr>
        <p:scale>
          <a:sx n="125" d="100"/>
          <a:sy n="125" d="100"/>
        </p:scale>
        <p:origin x="666" y="552"/>
      </p:cViewPr>
      <p:guideLst>
        <p:guide orient="horz" pos="2358"/>
        <p:guide pos="3345"/>
        <p:guide pos="782"/>
        <p:guide pos="1349"/>
        <p:guide pos="2438"/>
        <p:guide pos="5704"/>
        <p:guide pos="5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5676"/>
    </p:cViewPr>
  </p:sorterViewPr>
  <p:notesViewPr>
    <p:cSldViewPr snapToGrid="0">
      <p:cViewPr>
        <p:scale>
          <a:sx n="125" d="100"/>
          <a:sy n="125" d="100"/>
        </p:scale>
        <p:origin x="3720" y="87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385" cy="340835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083" y="1"/>
            <a:ext cx="4302970" cy="340835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4BBBCA84-884A-4990-B4B7-7C892AB4BE20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49313"/>
            <a:ext cx="324326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505" y="3272015"/>
            <a:ext cx="7941628" cy="2675950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841"/>
            <a:ext cx="4301385" cy="3408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083" y="6456841"/>
            <a:ext cx="4302970" cy="3408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B27341C3-77BA-4E20-A2DA-6C31421BF4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7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7341C3-77BA-4E20-A2DA-6C31421BF43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075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7341C3-77BA-4E20-A2DA-6C31421BF43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77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 flip="none" rotWithShape="1">
          <a:gsLst>
            <a:gs pos="0">
              <a:schemeClr val="bg1"/>
            </a:gs>
            <a:gs pos="48000">
              <a:schemeClr val="bg1">
                <a:lumMod val="95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1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35013" y="2012950"/>
            <a:ext cx="9221787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56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0200" cy="31448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9363"/>
            <a:ext cx="9220200" cy="1652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5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3900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1313" y="2012950"/>
            <a:ext cx="4535487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9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3225"/>
            <a:ext cx="9221788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2788" cy="908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2788" cy="40624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5013" cy="908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5013" cy="40624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511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46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5013" y="1089025"/>
            <a:ext cx="5413375" cy="53721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8538"/>
            <a:ext cx="3448050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3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5013" y="1089025"/>
            <a:ext cx="5413375" cy="537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8538"/>
            <a:ext cx="3448050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55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2012950"/>
            <a:ext cx="9221787" cy="4795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18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1750" y="403225"/>
            <a:ext cx="2305050" cy="6405563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3225"/>
            <a:ext cx="6764337" cy="6405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76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212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74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5" y="971562"/>
            <a:ext cx="10241689" cy="142875"/>
            <a:chOff x="5" y="971562"/>
            <a:chExt cx="10241689" cy="142875"/>
          </a:xfrm>
        </p:grpSpPr>
        <p:sp>
          <p:nvSpPr>
            <p:cNvPr id="6" name="양쪽 모서리가 둥근 사각형 5"/>
            <p:cNvSpPr/>
            <p:nvPr/>
          </p:nvSpPr>
          <p:spPr>
            <a:xfrm rot="5400000">
              <a:off x="9982319" y="855061"/>
              <a:ext cx="142866" cy="37588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02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 rot="16200000" flipH="1">
              <a:off x="4861470" y="-3889903"/>
              <a:ext cx="142875" cy="98658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47" y="7118588"/>
            <a:ext cx="924124" cy="27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7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673" r:id="rId12"/>
    <p:sldLayoutId id="2147483688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18.xml"/><Relationship Id="rId4" Type="http://schemas.openxmlformats.org/officeDocument/2006/relationships/slide" Target="slide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6328" y="1875652"/>
            <a:ext cx="10691814" cy="454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749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749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Deep-person-</a:t>
            </a:r>
            <a:r>
              <a:rPr lang="en-US" altLang="ko-KR" sz="4749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reid</a:t>
            </a:r>
            <a:r>
              <a:rPr lang="en-US" altLang="ko-KR" sz="4749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4749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구조와 이해</a:t>
            </a:r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r>
              <a:rPr lang="ko-KR" altLang="en-US" sz="3022" b="1" dirty="0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작성자 </a:t>
            </a:r>
            <a:r>
              <a:rPr lang="en-US" altLang="ko-KR" sz="3022" b="1" dirty="0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: </a:t>
            </a:r>
            <a:r>
              <a:rPr lang="ko-KR" altLang="en-US" sz="3022" b="1" dirty="0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윤경섭</a:t>
            </a:r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r>
              <a:rPr lang="en-US" altLang="ko-KR" sz="3022" b="1" dirty="0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2024. 08. 20.</a:t>
            </a:r>
            <a:endParaRPr lang="en-US" altLang="ko-KR" sz="3022" b="1" dirty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152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83749" y="315601"/>
            <a:ext cx="150255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CfgNode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99795" y="1494828"/>
            <a:ext cx="8574833" cy="80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CfgNode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클래스는 일반적으로 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딕셔너리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dict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상속받는 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Python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클래스입니다. 이 클래스는 주로 컴퓨터 비전이나 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딥러닝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프로젝트에서 설정(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config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 파일을 관리하기 위해 사용됩니다. 특히 </a:t>
            </a:r>
            <a:r>
              <a:rPr kumimoji="0" lang="ko-KR" altLang="ko-K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yacs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라는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Python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라이브러리에서 자주 사용되며, 주로 YAML 파일로부터 설정을 읽어와서 이를 다루기 쉽게 만들어주는 역할 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1803" y="2571121"/>
            <a:ext cx="860282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ea"/>
              </a:rPr>
              <a:t>주요 특징 및 기능: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딕셔너리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기능 상속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CfgNode는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Python의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기본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딕셔너리를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상속받기 때문에,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딕셔너리처럼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키-값 쌍으로 데이터를 저장하고, 조회할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속성 접근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CfgNode의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주요 특징 중 하나는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딕셔너리의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키를 속성(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attribute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처럼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접근할 수 있다는 점입니다. 예를 들어,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["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key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"] 대신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cfg.key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형태로 접근할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중첩된 구성 관리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CfgNode는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중첩된 구성을 쉽게 관리할 수 있도록 도와줍니다. 즉, 구성 파일에서 여러 단계로 중첩된 설정들을 효과적으로 다룰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구성 파일 읽기 및 쓰기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CfgNode는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YAML 또는 JSON 파일로부터 설정을 쉽게 읽어오고, 이를 다시 파일로 저장할 수 있는 기능을 제공합니다.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유효성 검사 및 기본값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기본값을 설정하고, 유효하지 않은 값을 방지하기 위해 유효성 검사를 수행할 수 있습니다. 이는 설정을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로드할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때 유용합니다.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61857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17104" y="252101"/>
            <a:ext cx="150255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CfgNode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889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5107" y="1497693"/>
            <a:ext cx="6422705" cy="54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6158" y="322620"/>
            <a:ext cx="211650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main.py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7909" y="1727780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Consolas" panose="020B0609020204030204" pitchFamily="49" charset="0"/>
              </a:rPr>
              <a:t>parser </a:t>
            </a:r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초기화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7909" y="2193446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latin typeface="Consolas" panose="020B0609020204030204" pitchFamily="49" charset="0"/>
              </a:rPr>
              <a:t>cfg</a:t>
            </a:r>
            <a:r>
              <a:rPr lang="en-US" altLang="ko-KR" sz="1100" dirty="0" smtClean="0">
                <a:latin typeface="Consolas" panose="020B0609020204030204" pitchFamily="49" charset="0"/>
              </a:rPr>
              <a:t> </a:t>
            </a:r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초기화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3" name="직선 화살표 연결선 12"/>
          <p:cNvCxnSpPr>
            <a:stCxn id="11" idx="2"/>
            <a:endCxn id="12" idx="0"/>
          </p:cNvCxnSpPr>
          <p:nvPr/>
        </p:nvCxnSpPr>
        <p:spPr>
          <a:xfrm>
            <a:off x="1174705" y="2011117"/>
            <a:ext cx="0" cy="18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07909" y="2659112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파일 읽기 및 병합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6" name="직선 화살표 연결선 15"/>
          <p:cNvCxnSpPr>
            <a:stCxn id="12" idx="2"/>
            <a:endCxn id="15" idx="0"/>
          </p:cNvCxnSpPr>
          <p:nvPr/>
        </p:nvCxnSpPr>
        <p:spPr>
          <a:xfrm>
            <a:off x="1174705" y="2476783"/>
            <a:ext cx="0" cy="18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1947855" y="1591537"/>
            <a:ext cx="46358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parser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argparse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ArgumentParser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formatter_class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argparse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ArgumentDefaultsHelpFormatter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)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947855" y="2208371"/>
            <a:ext cx="30572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FFC000"/>
                </a:solidFill>
                <a:latin typeface="Consolas" panose="020B0609020204030204" pitchFamily="49" charset="0"/>
              </a:rPr>
              <a:t>get_default_config</a:t>
            </a:r>
            <a:r>
              <a:rPr lang="en-US" altLang="ko-KR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ko-KR" altLang="en-US" sz="1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기본값을 읽는다</a:t>
            </a:r>
            <a:endParaRPr lang="en-US" altLang="ko-KR" sz="1000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59575" y="2654229"/>
            <a:ext cx="27943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merge_from_file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.config_file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08210" y="3172063"/>
            <a:ext cx="1333592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이용해</a:t>
            </a:r>
            <a:endParaRPr lang="en-US" altLang="ko-KR" sz="1000" dirty="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datamanager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9" name="직선 화살표 연결선 68"/>
          <p:cNvCxnSpPr>
            <a:stCxn id="15" idx="2"/>
            <a:endCxn id="66" idx="0"/>
          </p:cNvCxnSpPr>
          <p:nvPr/>
        </p:nvCxnSpPr>
        <p:spPr>
          <a:xfrm>
            <a:off x="1174705" y="2942449"/>
            <a:ext cx="301" cy="2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959575" y="3240285"/>
            <a:ext cx="24929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 err="1">
                <a:solidFill>
                  <a:srgbClr val="0070C0"/>
                </a:solidFill>
                <a:latin typeface="Consolas" panose="020B0609020204030204" pitchFamily="49" charset="0"/>
                <a:hlinkClick r:id="rId2" action="ppaction://hlinksldjump"/>
              </a:rPr>
              <a:t>datamanager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  <a:hlinkClick r:id="rId2" action="ppaction://hlinksldjump"/>
              </a:rPr>
              <a:t> </a:t>
            </a:r>
            <a:r>
              <a:rPr lang="en-US" altLang="ko-KR" sz="9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= </a:t>
            </a:r>
            <a:r>
              <a:rPr lang="en-US" altLang="ko-KR" sz="9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build_datamanager</a:t>
            </a:r>
            <a:r>
              <a:rPr lang="en-US" altLang="ko-KR" sz="9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(</a:t>
            </a:r>
            <a:r>
              <a:rPr lang="en-US" altLang="ko-KR" sz="9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cfg</a:t>
            </a:r>
            <a:r>
              <a:rPr lang="en-US" altLang="ko-KR" sz="9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)</a:t>
            </a:r>
            <a:endParaRPr lang="en-US" altLang="ko-KR" sz="900" b="0" dirty="0">
              <a:solidFill>
                <a:schemeClr val="accent4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86750" y="4488077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torchreid.data.</a:t>
            </a:r>
            <a:r>
              <a:rPr lang="en-US" altLang="ko-KR" sz="10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ImageDataManager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(**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imagedata_kwargs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))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2289856" y="3841790"/>
            <a:ext cx="2076403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torchreid.data.</a:t>
            </a:r>
            <a:r>
              <a:rPr lang="en-US" altLang="ko-KR" sz="10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VideoDataManager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(**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videodata_kwargs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))</a:t>
            </a:r>
          </a:p>
        </p:txBody>
      </p:sp>
      <p:sp>
        <p:nvSpPr>
          <p:cNvPr id="24" name="순서도: 판단 23"/>
          <p:cNvSpPr/>
          <p:nvPr/>
        </p:nvSpPr>
        <p:spPr>
          <a:xfrm>
            <a:off x="301558" y="3768953"/>
            <a:ext cx="1746294" cy="512951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 type?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0" name="직선 화살표 연결선 79"/>
          <p:cNvCxnSpPr>
            <a:stCxn id="66" idx="2"/>
            <a:endCxn id="24" idx="0"/>
          </p:cNvCxnSpPr>
          <p:nvPr/>
        </p:nvCxnSpPr>
        <p:spPr>
          <a:xfrm flipH="1">
            <a:off x="1174705" y="3539339"/>
            <a:ext cx="301" cy="2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24" idx="3"/>
            <a:endCxn id="77" idx="1"/>
          </p:cNvCxnSpPr>
          <p:nvPr/>
        </p:nvCxnSpPr>
        <p:spPr>
          <a:xfrm flipV="1">
            <a:off x="2047852" y="4025428"/>
            <a:ext cx="2420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24" idx="2"/>
            <a:endCxn id="73" idx="0"/>
          </p:cNvCxnSpPr>
          <p:nvPr/>
        </p:nvCxnSpPr>
        <p:spPr>
          <a:xfrm>
            <a:off x="1174705" y="4281904"/>
            <a:ext cx="0" cy="20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15552" y="4234619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accent5">
                    <a:lumMod val="50000"/>
                  </a:schemeClr>
                </a:solidFill>
              </a:rPr>
              <a:t>YES</a:t>
            </a:r>
            <a:endParaRPr lang="ko-KR" altLang="en-US" sz="9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929460" y="3755566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accent5">
                    <a:lumMod val="50000"/>
                  </a:schemeClr>
                </a:solidFill>
              </a:rPr>
              <a:t>NO</a:t>
            </a:r>
            <a:endParaRPr lang="ko-KR" altLang="en-US" sz="9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529776"/>
              </p:ext>
            </p:extLst>
          </p:nvPr>
        </p:nvGraphicFramePr>
        <p:xfrm>
          <a:off x="6637020" y="5130265"/>
          <a:ext cx="2028984" cy="56357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28984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2817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DataManager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8178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graphicFrame>
        <p:nvGraphicFramePr>
          <p:cNvPr id="100" name="표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853211"/>
              </p:ext>
            </p:extLst>
          </p:nvPr>
        </p:nvGraphicFramePr>
        <p:xfrm>
          <a:off x="6637020" y="5953000"/>
          <a:ext cx="2028984" cy="548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28984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22316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 err="1" smtClean="0">
                          <a:effectLst/>
                        </a:rPr>
                        <a:t>ImageDataManager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23165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cxnSp>
        <p:nvCxnSpPr>
          <p:cNvPr id="50" name="직선 화살표 연결선 49"/>
          <p:cNvCxnSpPr>
            <a:stCxn id="48" idx="2"/>
            <a:endCxn id="100" idx="0"/>
          </p:cNvCxnSpPr>
          <p:nvPr/>
        </p:nvCxnSpPr>
        <p:spPr>
          <a:xfrm>
            <a:off x="7651512" y="5693837"/>
            <a:ext cx="0" cy="25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5241291" y="2193446"/>
            <a:ext cx="394081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700" dirty="0" err="1">
                <a:solidFill>
                  <a:srgbClr val="FFC000"/>
                </a:solidFill>
                <a:latin typeface="Consolas" panose="020B0609020204030204" pitchFamily="49" charset="0"/>
              </a:rPr>
              <a:t>imagedata_kwargs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7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'root'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.data.root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'sources'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.data.sources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'targets'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.data.targets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'height'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.data.height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'width'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.data.width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'transforms'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.data.transforms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norm_mean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.data.norm_mean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norm_std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.data.norm_std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use_gpu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.use_gpu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split_id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.data.split_id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combineall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.data.combineall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load_train_targets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.data.load_train_targets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batch_size_train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.train.batch_size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batch_size_test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.test.batch_size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'workers'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.data.workers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num_instances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.sampler.num_instances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 err="1">
                <a:solidFill>
                  <a:srgbClr val="CE9178"/>
                </a:solidFill>
                <a:latin typeface="Consolas" panose="020B0609020204030204" pitchFamily="49" charset="0"/>
              </a:rPr>
              <a:t>train_sampler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 err="1">
                <a:solidFill>
                  <a:srgbClr val="CCCCCC"/>
                </a:solidFill>
                <a:latin typeface="Consolas" panose="020B0609020204030204" pitchFamily="49" charset="0"/>
              </a:rPr>
              <a:t>.sampler.train_sampler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6A9955"/>
                </a:solidFill>
                <a:latin typeface="Consolas" panose="020B0609020204030204" pitchFamily="49" charset="0"/>
              </a:rPr>
              <a:t># image</a:t>
            </a:r>
            <a:endParaRPr lang="en-US" altLang="ko-KR" sz="7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'cuhk03_labeled'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.cuhk03.labeled_images,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'cuhk03_classic_split'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.cuhk03.classic_split,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700" dirty="0">
                <a:solidFill>
                  <a:srgbClr val="CE9178"/>
                </a:solidFill>
                <a:latin typeface="Consolas" panose="020B0609020204030204" pitchFamily="49" charset="0"/>
              </a:rPr>
              <a:t>'market1501_500k'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700" dirty="0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.market1501.use_500k_distractors,</a:t>
            </a:r>
          </a:p>
          <a:p>
            <a:r>
              <a:rPr lang="en-US" altLang="ko-KR" sz="7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7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7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205852" y="2011947"/>
            <a:ext cx="20152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ko-KR" altLang="en-US" sz="1000" b="1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받아 </a:t>
            </a:r>
            <a:r>
              <a:rPr lang="en-US" altLang="ko-KR" sz="1000" b="1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Dictionary </a:t>
            </a:r>
            <a:r>
              <a:rPr lang="ko-KR" altLang="en-US" sz="1000" b="1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형태로 변환</a:t>
            </a:r>
            <a:endParaRPr lang="en-US" altLang="ko-KR" sz="1000" b="1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0" name="구부러진 연결선 69"/>
          <p:cNvCxnSpPr>
            <a:stCxn id="59" idx="1"/>
            <a:endCxn id="73" idx="3"/>
          </p:cNvCxnSpPr>
          <p:nvPr/>
        </p:nvCxnSpPr>
        <p:spPr>
          <a:xfrm rot="10800000" flipV="1">
            <a:off x="2162660" y="2135057"/>
            <a:ext cx="3043192" cy="2536657"/>
          </a:xfrm>
          <a:prstGeom prst="curvedConnector3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구부러진 연결선 27"/>
          <p:cNvCxnSpPr>
            <a:stCxn id="73" idx="2"/>
            <a:endCxn id="100" idx="1"/>
          </p:cNvCxnSpPr>
          <p:nvPr/>
        </p:nvCxnSpPr>
        <p:spPr>
          <a:xfrm rot="16200000" flipH="1">
            <a:off x="3219879" y="2810178"/>
            <a:ext cx="1371967" cy="5462315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350273" y="6098363"/>
            <a:ext cx="21305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args.config</a:t>
            </a:r>
            <a:r>
              <a:rPr lang="en-US" altLang="ko-KR" sz="10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0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파일이 읽으려는 모델의 구성 파일이다</a:t>
            </a:r>
            <a:r>
              <a:rPr lang="en-US" altLang="ko-KR" sz="10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0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예</a:t>
            </a:r>
            <a:r>
              <a:rPr lang="en-US" altLang="ko-KR" sz="10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configs</a:t>
            </a:r>
            <a:r>
              <a:rPr lang="en-US" altLang="ko-KR" sz="1000" dirty="0">
                <a:solidFill>
                  <a:srgbClr val="0070C0"/>
                </a:solidFill>
                <a:latin typeface="Consolas" panose="020B0609020204030204" pitchFamily="49" charset="0"/>
              </a:rPr>
              <a:t>/im_osnet_x1_0_softmax_128x128_amsgrad.yaml</a:t>
            </a:r>
            <a:endParaRPr lang="en-US" altLang="ko-KR" sz="1000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978811" y="2485370"/>
            <a:ext cx="170068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values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</a:t>
            </a:r>
            <a:r>
              <a:rPr kumimoji="0" lang="ko-KR" altLang="ko-KR" sz="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0671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92327" y="306910"/>
            <a:ext cx="211650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main.py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77730" y="1244203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torchreid.models.build_model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704072" y="1297036"/>
            <a:ext cx="8515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16112" y="1912090"/>
            <a:ext cx="1575920" cy="3353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def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build_model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69690" y="1896855"/>
            <a:ext cx="7087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 err="1"/>
              <a:t>avai_models</a:t>
            </a:r>
            <a:endParaRPr lang="ko-KR" altLang="en-US" sz="900" dirty="0"/>
          </a:p>
          <a:p>
            <a:r>
              <a:rPr lang="ko-KR" altLang="en-US" sz="900" dirty="0" err="1"/>
              <a:t>Out</a:t>
            </a:r>
            <a:r>
              <a:rPr lang="ko-KR" altLang="en-US" sz="900" dirty="0"/>
              <a:t>  [9]: ['resnet18', 'resnet34', 'resnet50', 'resnet101', 'resnet152', 'resnext50_32x4d', 'resnext101_32x8d', 'resnet50_fc512', 'se_resnet50', 'se_resnet50_fc512', 'se_resnet101', 'se_resnext50_32x4d', 'se_resnext101_32x4d', 'densenet121', 'densenet169', 'densenet201', 'densenet161', 'densenet121_fc512', 'inceptionresnetv2', 'inceptionv4', '</a:t>
            </a:r>
            <a:r>
              <a:rPr lang="ko-KR" altLang="en-US" sz="900" dirty="0" err="1"/>
              <a:t>xception</a:t>
            </a:r>
            <a:r>
              <a:rPr lang="ko-KR" altLang="en-US" sz="900" dirty="0"/>
              <a:t>', 'resnet50_ibn_a', 'resnet50_ibn_b', '</a:t>
            </a:r>
            <a:r>
              <a:rPr lang="ko-KR" altLang="en-US" sz="900" dirty="0" err="1"/>
              <a:t>nasnsetmobile</a:t>
            </a:r>
            <a:r>
              <a:rPr lang="ko-KR" altLang="en-US" sz="900" dirty="0"/>
              <a:t>', 'mobilenetv2_x1_0', 'mobilenetv2_x1_4', '</a:t>
            </a:r>
            <a:r>
              <a:rPr lang="ko-KR" altLang="en-US" sz="900" dirty="0" err="1"/>
              <a:t>shufflenet</a:t>
            </a:r>
            <a:r>
              <a:rPr lang="ko-KR" altLang="en-US" sz="900" dirty="0"/>
              <a:t>', 'squeezenet1_0', 'squeezenet1_0_fc512', 'squeezenet1_1', 'shufflenet_v2_x0_5', 'shufflenet_v2_x1_0', 'shufflenet_v2_x1_5', 'shufflenet_v2_x2_0', '</a:t>
            </a:r>
            <a:r>
              <a:rPr lang="ko-KR" altLang="en-US" sz="900" dirty="0" err="1"/>
              <a:t>mudeep</a:t>
            </a:r>
            <a:r>
              <a:rPr lang="ko-KR" altLang="en-US" sz="900" dirty="0"/>
              <a:t>', 'resnet50mid', '</a:t>
            </a:r>
            <a:r>
              <a:rPr lang="ko-KR" altLang="en-US" sz="900" dirty="0" err="1"/>
              <a:t>hacnn</a:t>
            </a:r>
            <a:r>
              <a:rPr lang="ko-KR" altLang="en-US" sz="900" dirty="0"/>
              <a:t>', 'pcb_p6', 'pcb_p4', '</a:t>
            </a:r>
            <a:r>
              <a:rPr lang="ko-KR" altLang="en-US" sz="900" dirty="0" err="1"/>
              <a:t>mlfn</a:t>
            </a:r>
            <a:r>
              <a:rPr lang="ko-KR" altLang="en-US" sz="900" dirty="0"/>
              <a:t>', 'osnet_x1_0', 'osnet_x0_75', 'osnet_x0_5', 'osnet_x0_25', 'osnet_ibn_x1_0', 'osnet_ain_x1_0', 'osnet_ain_x0_75', 'osnet_ain_x0_5', 'osnet_ain_x0_25']</a:t>
            </a:r>
          </a:p>
        </p:txBody>
      </p:sp>
      <p:cxnSp>
        <p:nvCxnSpPr>
          <p:cNvPr id="15" name="꺾인 연결선 14"/>
          <p:cNvCxnSpPr>
            <a:stCxn id="12" idx="2"/>
            <a:endCxn id="14" idx="1"/>
          </p:cNvCxnSpPr>
          <p:nvPr/>
        </p:nvCxnSpPr>
        <p:spPr>
          <a:xfrm rot="16200000" flipH="1">
            <a:off x="1487227" y="1650896"/>
            <a:ext cx="468303" cy="389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916112" y="2548084"/>
            <a:ext cx="1575920" cy="3353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avai_models</a:t>
            </a:r>
            <a:r>
              <a:rPr lang="en-US" altLang="ko-KR" sz="9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list(__</a:t>
            </a:r>
            <a:r>
              <a:rPr lang="en-US" altLang="ko-KR" sz="9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model_factory.keys</a:t>
            </a:r>
            <a:r>
              <a:rPr lang="en-US" altLang="ko-KR" sz="9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())</a:t>
            </a:r>
          </a:p>
        </p:txBody>
      </p:sp>
      <p:cxnSp>
        <p:nvCxnSpPr>
          <p:cNvPr id="18" name="직선 화살표 연결선 17"/>
          <p:cNvCxnSpPr>
            <a:stCxn id="14" idx="2"/>
            <a:endCxn id="17" idx="0"/>
          </p:cNvCxnSpPr>
          <p:nvPr/>
        </p:nvCxnSpPr>
        <p:spPr>
          <a:xfrm>
            <a:off x="2704072" y="2247473"/>
            <a:ext cx="0" cy="300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916112" y="3184078"/>
            <a:ext cx="1575920" cy="3353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9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model_factory</a:t>
            </a:r>
            <a:r>
              <a:rPr lang="en-US" altLang="ko-KR" sz="9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</a:t>
            </a:r>
            <a:endParaRPr lang="en-US" altLang="ko-KR" sz="9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2" name="직선 화살표 연결선 21"/>
          <p:cNvCxnSpPr>
            <a:stCxn id="17" idx="2"/>
            <a:endCxn id="21" idx="0"/>
          </p:cNvCxnSpPr>
          <p:nvPr/>
        </p:nvCxnSpPr>
        <p:spPr>
          <a:xfrm>
            <a:off x="2704072" y="2883467"/>
            <a:ext cx="0" cy="300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782889" y="3127318"/>
            <a:ext cx="23839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 smtClean="0"/>
              <a:t>name = </a:t>
            </a:r>
            <a:r>
              <a:rPr lang="ko-KR" altLang="en-US" sz="1600" dirty="0" smtClean="0"/>
              <a:t>osnet_ibn_x1_0</a:t>
            </a:r>
            <a:endParaRPr lang="ko-KR" altLang="en-US" sz="1600" dirty="0"/>
          </a:p>
        </p:txBody>
      </p:sp>
      <p:sp>
        <p:nvSpPr>
          <p:cNvPr id="26" name="직사각형 25"/>
          <p:cNvSpPr/>
          <p:nvPr/>
        </p:nvSpPr>
        <p:spPr>
          <a:xfrm>
            <a:off x="2906712" y="3820072"/>
            <a:ext cx="1575920" cy="3353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def</a:t>
            </a:r>
            <a:r>
              <a:rPr lang="en-US" altLang="ko-KR" sz="1000" dirty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osnet_ibn_x1_0</a:t>
            </a:r>
          </a:p>
        </p:txBody>
      </p:sp>
      <p:cxnSp>
        <p:nvCxnSpPr>
          <p:cNvPr id="27" name="꺾인 연결선 26"/>
          <p:cNvCxnSpPr>
            <a:stCxn id="21" idx="2"/>
            <a:endCxn id="26" idx="1"/>
          </p:cNvCxnSpPr>
          <p:nvPr/>
        </p:nvCxnSpPr>
        <p:spPr>
          <a:xfrm rot="16200000" flipH="1">
            <a:off x="2571241" y="3652292"/>
            <a:ext cx="468303" cy="2026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906712" y="4407191"/>
            <a:ext cx="1575920" cy="3353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 = </a:t>
            </a:r>
            <a:r>
              <a:rPr lang="en-US" altLang="ko-KR" sz="1000" dirty="0" err="1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OSNet</a:t>
            </a:r>
            <a:endParaRPr lang="en-US" altLang="ko-KR" sz="1000" dirty="0">
              <a:solidFill>
                <a:schemeClr val="tx1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1" name="직선 화살표 연결선 30"/>
          <p:cNvCxnSpPr>
            <a:stCxn id="26" idx="2"/>
            <a:endCxn id="30" idx="0"/>
          </p:cNvCxnSpPr>
          <p:nvPr/>
        </p:nvCxnSpPr>
        <p:spPr>
          <a:xfrm>
            <a:off x="3694672" y="4155455"/>
            <a:ext cx="0" cy="251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4728019" y="4407191"/>
            <a:ext cx="28777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i="1" dirty="0" err="1" smtClean="0"/>
              <a:t>OSBlock</a:t>
            </a:r>
            <a:r>
              <a:rPr lang="ko-KR" altLang="en-US" sz="1200" i="1" dirty="0" smtClean="0"/>
              <a:t> 의 구조를 살펴볼 필요가 있음</a:t>
            </a:r>
            <a:endParaRPr lang="ko-KR" altLang="en-US" sz="1200" i="1" dirty="0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524" y="4749450"/>
            <a:ext cx="6030515" cy="2146649"/>
          </a:xfrm>
          <a:prstGeom prst="rect">
            <a:avLst/>
          </a:prstGeom>
        </p:spPr>
      </p:pic>
      <p:cxnSp>
        <p:nvCxnSpPr>
          <p:cNvPr id="36" name="꺾인 연결선 35"/>
          <p:cNvCxnSpPr>
            <a:stCxn id="30" idx="2"/>
          </p:cNvCxnSpPr>
          <p:nvPr/>
        </p:nvCxnSpPr>
        <p:spPr>
          <a:xfrm rot="5400000">
            <a:off x="1923785" y="4345433"/>
            <a:ext cx="1373746" cy="21680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773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1219" y="306910"/>
            <a:ext cx="2018724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main.py end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43863" y="1551114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num_params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flops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compute_model_complexity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724393" y="1585760"/>
            <a:ext cx="18998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model </a:t>
            </a:r>
            <a:r>
              <a:rPr lang="ko-KR" altLang="en-US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파라미터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복잡도 계산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9" name="직선 화살표 연결선 18"/>
          <p:cNvCxnSpPr>
            <a:stCxn id="12" idx="2"/>
            <a:endCxn id="23" idx="0"/>
          </p:cNvCxnSpPr>
          <p:nvPr/>
        </p:nvCxnSpPr>
        <p:spPr>
          <a:xfrm>
            <a:off x="1492778" y="1918390"/>
            <a:ext cx="0" cy="33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43863" y="2248746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load_pretrained_weights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724393" y="2301579"/>
            <a:ext cx="88838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weight load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43863" y="2875279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optimizer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torchreid.optim.build_optimizer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2" name="직선 화살표 연결선 31"/>
          <p:cNvCxnSpPr>
            <a:stCxn id="23" idx="2"/>
            <a:endCxn id="29" idx="0"/>
          </p:cNvCxnSpPr>
          <p:nvPr/>
        </p:nvCxnSpPr>
        <p:spPr>
          <a:xfrm>
            <a:off x="1492778" y="2616022"/>
            <a:ext cx="0" cy="259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2726984" y="2898050"/>
            <a:ext cx="10567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optimizer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43863" y="3576320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scheduler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torchreid.optim.build_lr_scheduler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7" name="직선 화살표 연결선 36"/>
          <p:cNvCxnSpPr>
            <a:stCxn id="29" idx="2"/>
            <a:endCxn id="36" idx="0"/>
          </p:cNvCxnSpPr>
          <p:nvPr/>
        </p:nvCxnSpPr>
        <p:spPr>
          <a:xfrm>
            <a:off x="1492778" y="3242555"/>
            <a:ext cx="0" cy="333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724393" y="3613869"/>
            <a:ext cx="10679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scheduler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43863" y="4260429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engine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build_engine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0" name="직선 화살표 연결선 39"/>
          <p:cNvCxnSpPr>
            <a:stCxn id="36" idx="2"/>
            <a:endCxn id="39" idx="0"/>
          </p:cNvCxnSpPr>
          <p:nvPr/>
        </p:nvCxnSpPr>
        <p:spPr>
          <a:xfrm>
            <a:off x="1492778" y="3943596"/>
            <a:ext cx="0" cy="316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2762423" y="4313262"/>
            <a:ext cx="73449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엔진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43863" y="4944538"/>
            <a:ext cx="2097830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engine.run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4" name="직선 화살표 연결선 43"/>
          <p:cNvCxnSpPr>
            <a:stCxn id="39" idx="2"/>
            <a:endCxn id="43" idx="0"/>
          </p:cNvCxnSpPr>
          <p:nvPr/>
        </p:nvCxnSpPr>
        <p:spPr>
          <a:xfrm>
            <a:off x="1492778" y="4627705"/>
            <a:ext cx="0" cy="316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2762423" y="4926159"/>
            <a:ext cx="9525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training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시작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9" name="직선 화살표 연결선 48"/>
          <p:cNvCxnSpPr>
            <a:endCxn id="12" idx="0"/>
          </p:cNvCxnSpPr>
          <p:nvPr/>
        </p:nvCxnSpPr>
        <p:spPr>
          <a:xfrm>
            <a:off x="1492778" y="1216747"/>
            <a:ext cx="0" cy="334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2339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1325" y="227325"/>
            <a:ext cx="3847750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ImageDataManager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60309" y="1165805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latin typeface="Consolas" panose="020B0609020204030204" pitchFamily="49" charset="0"/>
              </a:rPr>
              <a:t>supder</a:t>
            </a:r>
            <a:r>
              <a:rPr lang="en-US" altLang="ko-KR" sz="1100" dirty="0" smtClean="0">
                <a:latin typeface="Consolas" panose="020B0609020204030204" pitchFamily="49" charset="0"/>
              </a:rPr>
              <a:t>.__</a:t>
            </a:r>
            <a:r>
              <a:rPr lang="en-US" altLang="ko-KR" sz="1100" dirty="0" err="1" smtClean="0">
                <a:latin typeface="Consolas" panose="020B0609020204030204" pitchFamily="49" charset="0"/>
              </a:rPr>
              <a:t>init</a:t>
            </a:r>
            <a:r>
              <a:rPr lang="en-US" altLang="ko-KR" sz="1100" dirty="0" smtClean="0">
                <a:latin typeface="Consolas" panose="020B0609020204030204" pitchFamily="49" charset="0"/>
              </a:rPr>
              <a:t>__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60309" y="1631471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atin typeface="Consolas" panose="020B0609020204030204" pitchFamily="49" charset="0"/>
              </a:rPr>
              <a:t>self.sources</a:t>
            </a:r>
            <a:endParaRPr lang="en-US" altLang="ko-KR" sz="1100" dirty="0">
              <a:latin typeface="Consolas" panose="020B0609020204030204" pitchFamily="49" charset="0"/>
            </a:endParaRPr>
          </a:p>
          <a:p>
            <a:pPr algn="ctr"/>
            <a:r>
              <a:rPr lang="en-US" altLang="ko-KR" sz="1100" dirty="0" smtClean="0">
                <a:latin typeface="Consolas" panose="020B0609020204030204" pitchFamily="49" charset="0"/>
              </a:rPr>
              <a:t>[</a:t>
            </a:r>
            <a:r>
              <a:rPr lang="en-US" altLang="ko-KR" sz="1100" dirty="0">
                <a:latin typeface="Consolas" panose="020B0609020204030204" pitchFamily="49" charset="0"/>
              </a:rPr>
              <a:t>'market1501']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3" name="직선 화살표 연결선 12"/>
          <p:cNvCxnSpPr>
            <a:stCxn id="11" idx="2"/>
            <a:endCxn id="12" idx="0"/>
          </p:cNvCxnSpPr>
          <p:nvPr/>
        </p:nvCxnSpPr>
        <p:spPr>
          <a:xfrm>
            <a:off x="1327105" y="1449142"/>
            <a:ext cx="0" cy="18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660309" y="2097137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cfg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파일 읽기 및 병합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6" name="직선 화살표 연결선 15"/>
          <p:cNvCxnSpPr>
            <a:stCxn id="12" idx="2"/>
            <a:endCxn id="15" idx="0"/>
          </p:cNvCxnSpPr>
          <p:nvPr/>
        </p:nvCxnSpPr>
        <p:spPr>
          <a:xfrm>
            <a:off x="1327105" y="1914808"/>
            <a:ext cx="0" cy="18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660610" y="2610088"/>
            <a:ext cx="1333592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init_image_dataset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9" name="직선 화살표 연결선 68"/>
          <p:cNvCxnSpPr>
            <a:stCxn id="15" idx="2"/>
            <a:endCxn id="66" idx="0"/>
          </p:cNvCxnSpPr>
          <p:nvPr/>
        </p:nvCxnSpPr>
        <p:spPr>
          <a:xfrm>
            <a:off x="1327105" y="2380474"/>
            <a:ext cx="301" cy="2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1993901" y="3171197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class Market1501(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ImageDataset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</a:p>
        </p:txBody>
      </p:sp>
      <p:cxnSp>
        <p:nvCxnSpPr>
          <p:cNvPr id="7" name="꺾인 연결선 6"/>
          <p:cNvCxnSpPr>
            <a:stCxn id="66" idx="2"/>
            <a:endCxn id="73" idx="1"/>
          </p:cNvCxnSpPr>
          <p:nvPr/>
        </p:nvCxnSpPr>
        <p:spPr>
          <a:xfrm rot="16200000" flipH="1">
            <a:off x="1471918" y="2832851"/>
            <a:ext cx="377471" cy="6664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993901" y="3763324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971690" y="2792423"/>
            <a:ext cx="3128772" cy="315101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1400" b="1" dirty="0" smtClean="0">
                <a:solidFill>
                  <a:srgbClr val="FFC000"/>
                </a:solidFill>
              </a:rPr>
              <a:t>class Market1501 : market1501.py</a:t>
            </a:r>
            <a:endParaRPr lang="en-US" altLang="ko-KR" sz="1400" b="1" dirty="0">
              <a:solidFill>
                <a:srgbClr val="FFC000"/>
              </a:solidFill>
            </a:endParaRPr>
          </a:p>
        </p:txBody>
      </p:sp>
      <p:cxnSp>
        <p:nvCxnSpPr>
          <p:cNvPr id="32" name="직선 화살표 연결선 31"/>
          <p:cNvCxnSpPr>
            <a:stCxn id="73" idx="2"/>
            <a:endCxn id="30" idx="0"/>
          </p:cNvCxnSpPr>
          <p:nvPr/>
        </p:nvCxnSpPr>
        <p:spPr>
          <a:xfrm>
            <a:off x="2981856" y="3538473"/>
            <a:ext cx="0" cy="224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464" y="1165805"/>
            <a:ext cx="2924583" cy="3172268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8352277" y="1205750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root</a:t>
            </a:r>
            <a:endParaRPr lang="en-US" altLang="ko-KR" sz="1400" b="1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0" name="직선 화살표 연결선 19"/>
          <p:cNvCxnSpPr>
            <a:stCxn id="38" idx="1"/>
          </p:cNvCxnSpPr>
          <p:nvPr/>
        </p:nvCxnSpPr>
        <p:spPr>
          <a:xfrm flipH="1">
            <a:off x="8029575" y="1359639"/>
            <a:ext cx="322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437300" y="2619060"/>
            <a:ext cx="8594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err="1" smtClean="0">
                <a:solidFill>
                  <a:srgbClr val="00B05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train_dir</a:t>
            </a:r>
            <a:endParaRPr lang="en-US" altLang="ko-KR" sz="1400" b="1" dirty="0">
              <a:solidFill>
                <a:srgbClr val="00B05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3" name="직선 화살표 연결선 42"/>
          <p:cNvCxnSpPr>
            <a:stCxn id="42" idx="1"/>
          </p:cNvCxnSpPr>
          <p:nvPr/>
        </p:nvCxnSpPr>
        <p:spPr>
          <a:xfrm flipH="1">
            <a:off x="8114598" y="2772949"/>
            <a:ext cx="322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502749" y="3982670"/>
            <a:ext cx="9345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err="1" smtClean="0">
                <a:solidFill>
                  <a:srgbClr val="00B05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query_dir</a:t>
            </a:r>
            <a:endParaRPr lang="en-US" altLang="ko-KR" sz="1400" b="1" dirty="0">
              <a:solidFill>
                <a:srgbClr val="00B05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6" name="직선 화살표 연결선 45"/>
          <p:cNvCxnSpPr>
            <a:stCxn id="44" idx="1"/>
          </p:cNvCxnSpPr>
          <p:nvPr/>
        </p:nvCxnSpPr>
        <p:spPr>
          <a:xfrm flipH="1">
            <a:off x="7180047" y="4136559"/>
            <a:ext cx="322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8437300" y="2157396"/>
            <a:ext cx="10291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err="1" smtClean="0">
                <a:solidFill>
                  <a:srgbClr val="00B05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gallery_dir</a:t>
            </a:r>
            <a:endParaRPr lang="en-US" altLang="ko-KR" sz="1400" b="1" dirty="0">
              <a:solidFill>
                <a:srgbClr val="00B05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9" name="직선 화살표 연결선 48"/>
          <p:cNvCxnSpPr>
            <a:stCxn id="47" idx="1"/>
          </p:cNvCxnSpPr>
          <p:nvPr/>
        </p:nvCxnSpPr>
        <p:spPr>
          <a:xfrm flipH="1">
            <a:off x="8114598" y="2311285"/>
            <a:ext cx="322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6137986" y="4446769"/>
            <a:ext cx="234240" cy="1567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412706" y="4371261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images</a:t>
            </a:r>
            <a:endParaRPr lang="ko-KR" altLang="en-US" sz="1400" dirty="0"/>
          </a:p>
        </p:txBody>
      </p:sp>
      <p:sp>
        <p:nvSpPr>
          <p:cNvPr id="52" name="직사각형 51"/>
          <p:cNvSpPr/>
          <p:nvPr/>
        </p:nvSpPr>
        <p:spPr>
          <a:xfrm>
            <a:off x="7502749" y="4404324"/>
            <a:ext cx="15179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err="1" smtClean="0">
                <a:solidFill>
                  <a:srgbClr val="00B05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extra_gallery_dir</a:t>
            </a:r>
            <a:endParaRPr lang="en-US" altLang="ko-KR" sz="1400" b="1" dirty="0">
              <a:solidFill>
                <a:srgbClr val="00B05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3" name="직선 화살표 연결선 52"/>
          <p:cNvCxnSpPr>
            <a:stCxn id="52" idx="1"/>
          </p:cNvCxnSpPr>
          <p:nvPr/>
        </p:nvCxnSpPr>
        <p:spPr>
          <a:xfrm flipH="1">
            <a:off x="7180047" y="4558213"/>
            <a:ext cx="322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527532" y="4627508"/>
            <a:ext cx="26789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market1501_500k가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true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일 때 필요한 폴더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244289" y="4393267"/>
            <a:ext cx="1732675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process_dir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5" name="꺾인 연결선 54"/>
          <p:cNvCxnSpPr>
            <a:stCxn id="30" idx="2"/>
            <a:endCxn id="54" idx="1"/>
          </p:cNvCxnSpPr>
          <p:nvPr/>
        </p:nvCxnSpPr>
        <p:spPr>
          <a:xfrm rot="16200000" flipH="1">
            <a:off x="2889920" y="4222535"/>
            <a:ext cx="446305" cy="2624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244289" y="5030046"/>
            <a:ext cx="1732675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pattern = re.compile(r'([-\d]+)_c(\d)')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1" name="직선 화살표 연결선 60"/>
          <p:cNvCxnSpPr>
            <a:stCxn id="54" idx="2"/>
            <a:endCxn id="60" idx="0"/>
          </p:cNvCxnSpPr>
          <p:nvPr/>
        </p:nvCxnSpPr>
        <p:spPr>
          <a:xfrm>
            <a:off x="4110627" y="4760543"/>
            <a:ext cx="0" cy="2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4969819" y="4978454"/>
            <a:ext cx="327659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 표현식이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문자열에서 패턴에 맞는 부분을 찾습니다. "0002_c1s1_000451_03.jpg"에서 매칭되는 부분은 "0002_c1"입니다. 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244289" y="5666825"/>
            <a:ext cx="1732675" cy="5060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pid, _ = map(int, pattern.search(img_path).groups())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5075679" y="5796718"/>
            <a:ext cx="242707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tuple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map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형태로</a:t>
            </a:r>
            <a:r>
              <a:rPr lang="ko-KR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[2</a:t>
            </a:r>
            <a:r>
              <a:rPr lang="ko-KR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1]으로 변환됩니다.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244289" y="6442336"/>
            <a:ext cx="1732675" cy="3806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pid2label = {pid: </a:t>
            </a:r>
            <a:r>
              <a:rPr lang="it-IT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label}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2" name="직선 화살표 연결선 71"/>
          <p:cNvCxnSpPr>
            <a:stCxn id="60" idx="2"/>
            <a:endCxn id="67" idx="0"/>
          </p:cNvCxnSpPr>
          <p:nvPr/>
        </p:nvCxnSpPr>
        <p:spPr>
          <a:xfrm>
            <a:off x="4110627" y="5397322"/>
            <a:ext cx="0" cy="2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67" idx="2"/>
            <a:endCxn id="71" idx="0"/>
          </p:cNvCxnSpPr>
          <p:nvPr/>
        </p:nvCxnSpPr>
        <p:spPr>
          <a:xfrm>
            <a:off x="4110627" y="6172833"/>
            <a:ext cx="0" cy="2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5100462" y="6499777"/>
            <a:ext cx="510600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와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label </a:t>
            </a:r>
            <a:r>
              <a:rPr lang="ko-KR" altLang="en-US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형테의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집합을 만든다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label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은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0, 1, 2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이런 식으로 증가한다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r>
              <a:rPr lang="ko-KR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그냥 순서 인덱스</a:t>
            </a:r>
            <a:endParaRPr lang="ko-KR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244289" y="7092446"/>
            <a:ext cx="1732675" cy="3806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data</a:t>
            </a:r>
          </a:p>
        </p:txBody>
      </p:sp>
      <p:cxnSp>
        <p:nvCxnSpPr>
          <p:cNvPr id="82" name="직선 화살표 연결선 81"/>
          <p:cNvCxnSpPr>
            <a:stCxn id="71" idx="2"/>
            <a:endCxn id="81" idx="0"/>
          </p:cNvCxnSpPr>
          <p:nvPr/>
        </p:nvCxnSpPr>
        <p:spPr>
          <a:xfrm>
            <a:off x="4110627" y="6822943"/>
            <a:ext cx="0" cy="2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6767162" y="6043441"/>
            <a:ext cx="41743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C00000"/>
                </a:solidFill>
              </a:rPr>
              <a:t> </a:t>
            </a:r>
            <a:r>
              <a:rPr lang="ko-KR" altLang="en-US" sz="1050" dirty="0" err="1">
                <a:solidFill>
                  <a:srgbClr val="C00000"/>
                </a:solidFill>
              </a:rPr>
              <a:t>assert</a:t>
            </a:r>
            <a:r>
              <a:rPr lang="ko-KR" altLang="en-US" sz="1050" dirty="0">
                <a:solidFill>
                  <a:srgbClr val="C00000"/>
                </a:solidFill>
              </a:rPr>
              <a:t> 0 &lt;= </a:t>
            </a:r>
            <a:r>
              <a:rPr lang="ko-KR" altLang="en-US" sz="1050" dirty="0" err="1">
                <a:solidFill>
                  <a:srgbClr val="C00000"/>
                </a:solidFill>
              </a:rPr>
              <a:t>pid</a:t>
            </a:r>
            <a:r>
              <a:rPr lang="ko-KR" altLang="en-US" sz="1050" dirty="0">
                <a:solidFill>
                  <a:srgbClr val="C00000"/>
                </a:solidFill>
              </a:rPr>
              <a:t> &lt;= 1501 # </a:t>
            </a:r>
            <a:r>
              <a:rPr lang="ko-KR" altLang="en-US" sz="1050" dirty="0" err="1">
                <a:solidFill>
                  <a:srgbClr val="C00000"/>
                </a:solidFill>
              </a:rPr>
              <a:t>pid</a:t>
            </a:r>
            <a:r>
              <a:rPr lang="ko-KR" altLang="en-US" sz="1050" dirty="0">
                <a:solidFill>
                  <a:srgbClr val="C00000"/>
                </a:solidFill>
              </a:rPr>
              <a:t> == 0 </a:t>
            </a:r>
            <a:r>
              <a:rPr lang="ko-KR" altLang="en-US" sz="1050" dirty="0" err="1">
                <a:solidFill>
                  <a:srgbClr val="C00000"/>
                </a:solidFill>
              </a:rPr>
              <a:t>means</a:t>
            </a:r>
            <a:r>
              <a:rPr lang="ko-KR" altLang="en-US" sz="1050" dirty="0">
                <a:solidFill>
                  <a:srgbClr val="C00000"/>
                </a:solidFill>
              </a:rPr>
              <a:t> </a:t>
            </a:r>
            <a:r>
              <a:rPr lang="ko-KR" altLang="en-US" sz="1050" dirty="0" err="1">
                <a:solidFill>
                  <a:srgbClr val="C00000"/>
                </a:solidFill>
              </a:rPr>
              <a:t>background</a:t>
            </a:r>
            <a:endParaRPr lang="ko-KR" altLang="en-US" sz="1050" dirty="0">
              <a:solidFill>
                <a:srgbClr val="C00000"/>
              </a:solidFill>
            </a:endParaRPr>
          </a:p>
          <a:p>
            <a:r>
              <a:rPr lang="ko-KR" altLang="en-US" sz="1050" dirty="0">
                <a:solidFill>
                  <a:srgbClr val="C00000"/>
                </a:solidFill>
              </a:rPr>
              <a:t> </a:t>
            </a:r>
            <a:r>
              <a:rPr lang="ko-KR" altLang="en-US" sz="1050" dirty="0" err="1" smtClean="0">
                <a:solidFill>
                  <a:srgbClr val="C00000"/>
                </a:solidFill>
              </a:rPr>
              <a:t>assert</a:t>
            </a:r>
            <a:r>
              <a:rPr lang="ko-KR" altLang="en-US" sz="1050" dirty="0" smtClean="0">
                <a:solidFill>
                  <a:srgbClr val="C00000"/>
                </a:solidFill>
              </a:rPr>
              <a:t> </a:t>
            </a:r>
            <a:r>
              <a:rPr lang="ko-KR" altLang="en-US" sz="1050" dirty="0">
                <a:solidFill>
                  <a:srgbClr val="C00000"/>
                </a:solidFill>
              </a:rPr>
              <a:t>1 &lt;= </a:t>
            </a:r>
            <a:r>
              <a:rPr lang="ko-KR" altLang="en-US" sz="1050" dirty="0" err="1">
                <a:solidFill>
                  <a:srgbClr val="C00000"/>
                </a:solidFill>
              </a:rPr>
              <a:t>camid</a:t>
            </a:r>
            <a:r>
              <a:rPr lang="ko-KR" altLang="en-US" sz="1050" dirty="0">
                <a:solidFill>
                  <a:srgbClr val="C00000"/>
                </a:solidFill>
              </a:rPr>
              <a:t> &lt;= 6</a:t>
            </a:r>
          </a:p>
        </p:txBody>
      </p:sp>
      <p:sp>
        <p:nvSpPr>
          <p:cNvPr id="87" name="Rectangle 3"/>
          <p:cNvSpPr>
            <a:spLocks noChangeArrowheads="1"/>
          </p:cNvSpPr>
          <p:nvPr/>
        </p:nvSpPr>
        <p:spPr bwMode="auto">
          <a:xfrm>
            <a:off x="5075679" y="7095489"/>
            <a:ext cx="24270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리스트 형태이며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[(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camid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)]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반환한다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96646" y="6742250"/>
            <a:ext cx="174919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dsetid</a:t>
            </a:r>
            <a:r>
              <a:rPr lang="ko-KR" altLang="en-US" sz="1100" dirty="0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가 나오는데</a:t>
            </a:r>
            <a:endParaRPr lang="en-US" altLang="ko-KR" sz="1100" dirty="0" smtClean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100" b="0" dirty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이건 </a:t>
            </a:r>
            <a:r>
              <a:rPr lang="en-US" altLang="ko-KR" sz="1100" b="0" dirty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dataset id </a:t>
            </a:r>
            <a:r>
              <a:rPr lang="ko-KR" altLang="en-US" sz="1100" b="0" dirty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같다</a:t>
            </a:r>
            <a:r>
              <a:rPr lang="en-US" altLang="ko-KR" sz="1100" b="0" dirty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100" b="0" dirty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47124"/>
              </p:ext>
            </p:extLst>
          </p:nvPr>
        </p:nvGraphicFramePr>
        <p:xfrm>
          <a:off x="352939" y="5264645"/>
          <a:ext cx="1563083" cy="54864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563083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243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ImageDataset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098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732365"/>
              </p:ext>
            </p:extLst>
          </p:nvPr>
        </p:nvGraphicFramePr>
        <p:xfrm>
          <a:off x="352939" y="5966484"/>
          <a:ext cx="1563083" cy="548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63083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25524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Market1501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5524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cxnSp>
        <p:nvCxnSpPr>
          <p:cNvPr id="91" name="직선 화살표 연결선 90"/>
          <p:cNvCxnSpPr>
            <a:stCxn id="88" idx="2"/>
            <a:endCxn id="89" idx="0"/>
          </p:cNvCxnSpPr>
          <p:nvPr/>
        </p:nvCxnSpPr>
        <p:spPr>
          <a:xfrm>
            <a:off x="1134480" y="5813285"/>
            <a:ext cx="0" cy="15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" name="표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07004"/>
              </p:ext>
            </p:extLst>
          </p:nvPr>
        </p:nvGraphicFramePr>
        <p:xfrm>
          <a:off x="352939" y="4558212"/>
          <a:ext cx="1563083" cy="5486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63083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243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Dataset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098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cxnSp>
        <p:nvCxnSpPr>
          <p:cNvPr id="103" name="직선 화살표 연결선 102"/>
          <p:cNvCxnSpPr>
            <a:stCxn id="102" idx="2"/>
            <a:endCxn id="88" idx="0"/>
          </p:cNvCxnSpPr>
          <p:nvPr/>
        </p:nvCxnSpPr>
        <p:spPr>
          <a:xfrm>
            <a:off x="1134480" y="5106852"/>
            <a:ext cx="0" cy="157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3309399" y="4079751"/>
            <a:ext cx="215795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 smtClean="0">
                <a:solidFill>
                  <a:srgbClr val="C00000"/>
                </a:solidFill>
              </a:rPr>
              <a:t>train, query, gallery </a:t>
            </a:r>
            <a:r>
              <a:rPr lang="ko-KR" altLang="en-US" sz="1050" dirty="0" smtClean="0">
                <a:solidFill>
                  <a:srgbClr val="C00000"/>
                </a:solidFill>
              </a:rPr>
              <a:t>별로 수행</a:t>
            </a:r>
            <a:endParaRPr lang="ko-KR" altLang="en-US" sz="1050" dirty="0">
              <a:solidFill>
                <a:srgbClr val="C0000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22738" y="3343430"/>
            <a:ext cx="22464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</a:rPr>
              <a:t>__</a:t>
            </a:r>
            <a:r>
              <a:rPr lang="en-US" altLang="ko-KR" sz="800" dirty="0" err="1">
                <a:solidFill>
                  <a:srgbClr val="C00000"/>
                </a:solidFill>
              </a:rPr>
              <a:t>image_datasets</a:t>
            </a:r>
            <a:r>
              <a:rPr lang="en-US" altLang="ko-KR" sz="800" dirty="0">
                <a:solidFill>
                  <a:srgbClr val="C00000"/>
                </a:solidFill>
              </a:rPr>
              <a:t>[name](**</a:t>
            </a:r>
            <a:r>
              <a:rPr lang="en-US" altLang="ko-KR" sz="800" dirty="0" err="1">
                <a:solidFill>
                  <a:srgbClr val="C00000"/>
                </a:solidFill>
              </a:rPr>
              <a:t>kwargs</a:t>
            </a:r>
            <a:r>
              <a:rPr lang="en-US" altLang="ko-KR" sz="800" dirty="0">
                <a:solidFill>
                  <a:srgbClr val="C00000"/>
                </a:solidFill>
              </a:rPr>
              <a:t>)</a:t>
            </a:r>
            <a:endParaRPr lang="ko-KR" altLang="en-US" sz="800" dirty="0">
              <a:solidFill>
                <a:srgbClr val="C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49776" y="6880257"/>
            <a:ext cx="244490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if relabel</a:t>
            </a:r>
            <a:r>
              <a:rPr lang="en-US" altLang="ko-KR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이면 </a:t>
            </a:r>
            <a:r>
              <a:rPr lang="en-US" altLang="ko-KR" sz="800" dirty="0" err="1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pid</a:t>
            </a:r>
            <a:r>
              <a:rPr lang="ko-KR" altLang="en-US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0 </a:t>
            </a:r>
            <a:r>
              <a:rPr lang="ko-KR" altLang="en-US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부터 재배치 된다</a:t>
            </a:r>
            <a:r>
              <a:rPr lang="en-US" altLang="ko-KR" sz="800" dirty="0" smtClean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endParaRPr lang="en-US" altLang="ko-KR" sz="8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3579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774" y="219280"/>
            <a:ext cx="374996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ImageDataManager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end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362568" y="1640442"/>
            <a:ext cx="1732675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Dataset.__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438993" y="2216353"/>
            <a:ext cx="1732675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[(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camid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dsetid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(0))…]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바꾼다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train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438993" y="2814815"/>
            <a:ext cx="1732675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[(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camid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dsetid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(0))…]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바꾼다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query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438993" y="3406979"/>
            <a:ext cx="1732675" cy="50260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[(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camid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dsetid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(0))…]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바꾼다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gallery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6" name="꺾인 연결선 55"/>
          <p:cNvCxnSpPr>
            <a:stCxn id="45" idx="2"/>
            <a:endCxn id="48" idx="1"/>
          </p:cNvCxnSpPr>
          <p:nvPr/>
        </p:nvCxnSpPr>
        <p:spPr>
          <a:xfrm rot="16200000" flipH="1">
            <a:off x="4137813" y="2098810"/>
            <a:ext cx="392273" cy="210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stCxn id="48" idx="2"/>
            <a:endCxn id="50" idx="0"/>
          </p:cNvCxnSpPr>
          <p:nvPr/>
        </p:nvCxnSpPr>
        <p:spPr>
          <a:xfrm>
            <a:off x="5305331" y="2583629"/>
            <a:ext cx="0" cy="23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50" idx="2"/>
            <a:endCxn id="51" idx="0"/>
          </p:cNvCxnSpPr>
          <p:nvPr/>
        </p:nvCxnSpPr>
        <p:spPr>
          <a:xfrm>
            <a:off x="5305331" y="3182091"/>
            <a:ext cx="0" cy="224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4438993" y="4233147"/>
            <a:ext cx="1732675" cy="10896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따라서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self.data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데이터가 바뀐다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pPr algn="ctr"/>
            <a:r>
              <a:rPr lang="ko-KR" altLang="en-US" sz="10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예</a:t>
            </a:r>
            <a: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b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if </a:t>
            </a:r>
            <a:r>
              <a:rPr lang="en-US" altLang="ko-KR" sz="10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self.mode</a:t>
            </a:r>
            <a: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== 'train':</a:t>
            </a:r>
          </a:p>
          <a:p>
            <a:pPr algn="ctr"/>
            <a: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</a:t>
            </a:r>
            <a:r>
              <a:rPr lang="en-US" altLang="ko-KR" sz="10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self.data</a:t>
            </a:r>
            <a:r>
              <a:rPr lang="en-US" altLang="ko-KR" sz="10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0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 </a:t>
            </a:r>
            <a:r>
              <a:rPr lang="en-US" altLang="ko-KR" sz="10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self.train</a:t>
            </a:r>
            <a:endParaRPr lang="en-US" altLang="ko-KR" sz="10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2" name="직선 화살표 연결선 61"/>
          <p:cNvCxnSpPr>
            <a:stCxn id="51" idx="2"/>
            <a:endCxn id="59" idx="0"/>
          </p:cNvCxnSpPr>
          <p:nvPr/>
        </p:nvCxnSpPr>
        <p:spPr>
          <a:xfrm>
            <a:off x="5305331" y="3909580"/>
            <a:ext cx="0" cy="32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4219919" y="1370939"/>
            <a:ext cx="0" cy="2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4333949" y="1243268"/>
            <a:ext cx="3721114" cy="345879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1600" b="1" dirty="0" smtClean="0">
                <a:solidFill>
                  <a:srgbClr val="FFC000"/>
                </a:solidFill>
              </a:rPr>
              <a:t>class </a:t>
            </a:r>
            <a:r>
              <a:rPr lang="en-US" altLang="ko-KR" sz="1600" b="1" dirty="0" err="1" smtClean="0">
                <a:solidFill>
                  <a:srgbClr val="FFC000"/>
                </a:solidFill>
              </a:rPr>
              <a:t>ImageDataset</a:t>
            </a:r>
            <a:r>
              <a:rPr lang="en-US" altLang="ko-KR" sz="1600" b="1" dirty="0" smtClean="0">
                <a:solidFill>
                  <a:srgbClr val="FFC000"/>
                </a:solidFill>
              </a:rPr>
              <a:t> -&gt; class Dataset</a:t>
            </a:r>
            <a:endParaRPr lang="en-US" altLang="ko-KR" sz="1600" b="1" dirty="0">
              <a:solidFill>
                <a:srgbClr val="FFC000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4434830" y="5630387"/>
            <a:ext cx="1732675" cy="367276"/>
          </a:xfrm>
          <a:prstGeom prst="roundRect">
            <a:avLst>
              <a:gd name="adj" fmla="val 3763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Dataset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0" name="직선 화살표 연결선 69"/>
          <p:cNvCxnSpPr>
            <a:stCxn id="59" idx="2"/>
          </p:cNvCxnSpPr>
          <p:nvPr/>
        </p:nvCxnSpPr>
        <p:spPr>
          <a:xfrm flipH="1">
            <a:off x="5301168" y="5322771"/>
            <a:ext cx="4163" cy="30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65" idx="2"/>
          </p:cNvCxnSpPr>
          <p:nvPr/>
        </p:nvCxnSpPr>
        <p:spPr>
          <a:xfrm rot="5400000">
            <a:off x="3806177" y="5050190"/>
            <a:ext cx="547519" cy="24424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588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05634" y="219280"/>
            <a:ext cx="3046250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build_train_sampler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순서도: 판단 2"/>
          <p:cNvSpPr/>
          <p:nvPr/>
        </p:nvSpPr>
        <p:spPr>
          <a:xfrm>
            <a:off x="3009362" y="2400720"/>
            <a:ext cx="2508317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train_sampler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== </a:t>
            </a:r>
            <a:r>
              <a:rPr lang="en-US" altLang="ko-KR" sz="11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RandomSampler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275567" y="1910701"/>
            <a:ext cx="1975910" cy="2718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build_train_sampler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직선 화살표 연결선 4"/>
          <p:cNvCxnSpPr>
            <a:stCxn id="4" idx="2"/>
            <a:endCxn id="3" idx="0"/>
          </p:cNvCxnSpPr>
          <p:nvPr/>
        </p:nvCxnSpPr>
        <p:spPr>
          <a:xfrm flipH="1">
            <a:off x="4263521" y="2182530"/>
            <a:ext cx="1" cy="218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275566" y="3156866"/>
            <a:ext cx="1975910" cy="4135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sampler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RandomSampler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data_source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</a:p>
        </p:txBody>
      </p:sp>
      <p:cxnSp>
        <p:nvCxnSpPr>
          <p:cNvPr id="10" name="직선 화살표 연결선 9"/>
          <p:cNvCxnSpPr>
            <a:stCxn id="3" idx="2"/>
            <a:endCxn id="9" idx="0"/>
          </p:cNvCxnSpPr>
          <p:nvPr/>
        </p:nvCxnSpPr>
        <p:spPr>
          <a:xfrm>
            <a:off x="4263521" y="2938676"/>
            <a:ext cx="0" cy="218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010646" y="1288381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torch.utils.data.DataLoader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263521" y="1294987"/>
            <a:ext cx="453521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torch.utils.data.DataLoader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수행하기 위한 </a:t>
            </a:r>
            <a:r>
              <a:rPr lang="ko-KR" altLang="en-US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파라미터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sampler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생성한다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1" name="꺾인 연결선 10"/>
          <p:cNvCxnSpPr>
            <a:stCxn id="14" idx="2"/>
            <a:endCxn id="4" idx="1"/>
          </p:cNvCxnSpPr>
          <p:nvPr/>
        </p:nvCxnSpPr>
        <p:spPr>
          <a:xfrm rot="16200000" flipH="1">
            <a:off x="2941605" y="1712653"/>
            <a:ext cx="390959" cy="2769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5631979" y="2454254"/>
            <a:ext cx="34291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ImageDataManager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</a:t>
            </a:r>
            <a:r>
              <a:rPr lang="ko-KR" altLang="en-US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파라미터이다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train_sample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이름의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Default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RandomSampler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397182" y="3782799"/>
            <a:ext cx="1732675" cy="367276"/>
          </a:xfrm>
          <a:prstGeom prst="roundRect">
            <a:avLst>
              <a:gd name="adj" fmla="val 3763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sampler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9" idx="2"/>
            <a:endCxn id="23" idx="0"/>
          </p:cNvCxnSpPr>
          <p:nvPr/>
        </p:nvCxnSpPr>
        <p:spPr>
          <a:xfrm flipH="1">
            <a:off x="4263520" y="3570423"/>
            <a:ext cx="1" cy="21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5931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3976" y="314530"/>
            <a:ext cx="2672365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DataLoader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95255" y="1173666"/>
            <a:ext cx="2088865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queryset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init_image_dataset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54861" y="1716212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avai_datasets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list(__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image_datasets.keys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())</a:t>
            </a:r>
          </a:p>
        </p:txBody>
      </p:sp>
      <p:cxnSp>
        <p:nvCxnSpPr>
          <p:cNvPr id="13" name="꺾인 연결선 12"/>
          <p:cNvCxnSpPr>
            <a:stCxn id="4" idx="2"/>
            <a:endCxn id="12" idx="1"/>
          </p:cNvCxnSpPr>
          <p:nvPr/>
        </p:nvCxnSpPr>
        <p:spPr>
          <a:xfrm rot="16200000" flipH="1">
            <a:off x="1567820" y="1412809"/>
            <a:ext cx="358908" cy="6151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030771" y="1667990"/>
            <a:ext cx="435229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 err="1"/>
              <a:t>avai_datasets</a:t>
            </a:r>
            <a:endParaRPr lang="ko-KR" altLang="en-US" sz="700" dirty="0"/>
          </a:p>
          <a:p>
            <a:r>
              <a:rPr lang="ko-KR" altLang="en-US" sz="700" dirty="0" err="1"/>
              <a:t>Out</a:t>
            </a:r>
            <a:r>
              <a:rPr lang="ko-KR" altLang="en-US" sz="700" dirty="0"/>
              <a:t>  [5]: ['market1501', 'cuhk03', '</a:t>
            </a:r>
            <a:r>
              <a:rPr lang="ko-KR" altLang="en-US" sz="700" dirty="0" err="1"/>
              <a:t>dukemtmcreid</a:t>
            </a:r>
            <a:r>
              <a:rPr lang="ko-KR" altLang="en-US" sz="700" dirty="0"/>
              <a:t>', 'msmt17', '</a:t>
            </a:r>
            <a:r>
              <a:rPr lang="ko-KR" altLang="en-US" sz="700" dirty="0" err="1"/>
              <a:t>viper</a:t>
            </a:r>
            <a:r>
              <a:rPr lang="ko-KR" altLang="en-US" sz="700" dirty="0"/>
              <a:t>', '</a:t>
            </a:r>
            <a:r>
              <a:rPr lang="ko-KR" altLang="en-US" sz="700" dirty="0" err="1"/>
              <a:t>grid</a:t>
            </a:r>
            <a:r>
              <a:rPr lang="ko-KR" altLang="en-US" sz="700" dirty="0"/>
              <a:t>', 'cuhk01', '</a:t>
            </a:r>
            <a:r>
              <a:rPr lang="ko-KR" altLang="en-US" sz="700" dirty="0" err="1"/>
              <a:t>ilids</a:t>
            </a:r>
            <a:r>
              <a:rPr lang="ko-KR" altLang="en-US" sz="700" dirty="0"/>
              <a:t>', '</a:t>
            </a:r>
            <a:r>
              <a:rPr lang="ko-KR" altLang="en-US" sz="700" dirty="0" err="1"/>
              <a:t>sensereid</a:t>
            </a:r>
            <a:r>
              <a:rPr lang="ko-KR" altLang="en-US" sz="700" dirty="0"/>
              <a:t>', '</a:t>
            </a:r>
            <a:r>
              <a:rPr lang="ko-KR" altLang="en-US" sz="700" dirty="0" err="1"/>
              <a:t>prid</a:t>
            </a:r>
            <a:r>
              <a:rPr lang="ko-KR" altLang="en-US" sz="700" dirty="0"/>
              <a:t>', 'cuhk02', 'university1652', '</a:t>
            </a:r>
            <a:r>
              <a:rPr lang="ko-KR" altLang="en-US" sz="700" dirty="0" err="1"/>
              <a:t>cuhksysu</a:t>
            </a:r>
            <a:r>
              <a:rPr lang="ko-KR" altLang="en-US" sz="700" dirty="0"/>
              <a:t>']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054861" y="2356292"/>
            <a:ext cx="1975910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9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image_datasets</a:t>
            </a:r>
            <a:r>
              <a:rPr lang="en-US" altLang="ko-KR" sz="9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[name](**</a:t>
            </a:r>
            <a:r>
              <a:rPr lang="en-US" altLang="ko-KR" sz="9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kwargs</a:t>
            </a:r>
            <a:r>
              <a:rPr lang="en-US" altLang="ko-KR" sz="9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</a:p>
        </p:txBody>
      </p:sp>
      <p:cxnSp>
        <p:nvCxnSpPr>
          <p:cNvPr id="17" name="직선 화살표 연결선 16"/>
          <p:cNvCxnSpPr>
            <a:stCxn id="12" idx="2"/>
            <a:endCxn id="16" idx="0"/>
          </p:cNvCxnSpPr>
          <p:nvPr/>
        </p:nvCxnSpPr>
        <p:spPr>
          <a:xfrm>
            <a:off x="3042816" y="2083488"/>
            <a:ext cx="0" cy="27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3404309" y="2899747"/>
            <a:ext cx="1068631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Market1501</a:t>
            </a:r>
          </a:p>
        </p:txBody>
      </p:sp>
      <p:cxnSp>
        <p:nvCxnSpPr>
          <p:cNvPr id="21" name="꺾인 연결선 20"/>
          <p:cNvCxnSpPr>
            <a:stCxn id="16" idx="2"/>
            <a:endCxn id="20" idx="1"/>
          </p:cNvCxnSpPr>
          <p:nvPr/>
        </p:nvCxnSpPr>
        <p:spPr>
          <a:xfrm rot="16200000" flipH="1">
            <a:off x="3043654" y="2722729"/>
            <a:ext cx="359817" cy="3614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395254" y="3612066"/>
            <a:ext cx="2088865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self.test_loader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[name]['query']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torch.utils.data.DataLoader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7" name="꺾인 연결선 26"/>
          <p:cNvCxnSpPr>
            <a:stCxn id="20" idx="2"/>
            <a:endCxn id="26" idx="3"/>
          </p:cNvCxnSpPr>
          <p:nvPr/>
        </p:nvCxnSpPr>
        <p:spPr>
          <a:xfrm rot="5400000">
            <a:off x="2947032" y="2804110"/>
            <a:ext cx="528681" cy="14545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843059" y="3908271"/>
            <a:ext cx="31694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이런 식으로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query, gallery, 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test_dataset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을 만든다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3751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0856" y="314530"/>
            <a:ext cx="3238610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Dataset(object)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49354" y="1513709"/>
            <a:ext cx="1068631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Market1501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632684" y="1513709"/>
            <a:ext cx="106863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Dataset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8" name="직선 화살표 연결선 17"/>
          <p:cNvCxnSpPr>
            <a:stCxn id="20" idx="3"/>
            <a:endCxn id="14" idx="1"/>
          </p:cNvCxnSpPr>
          <p:nvPr/>
        </p:nvCxnSpPr>
        <p:spPr>
          <a:xfrm>
            <a:off x="1517985" y="1697347"/>
            <a:ext cx="111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555800" y="1343918"/>
            <a:ext cx="10390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super.__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701315" y="2243898"/>
            <a:ext cx="1068631" cy="367276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꺾인 연결선 23"/>
          <p:cNvCxnSpPr>
            <a:stCxn id="14" idx="2"/>
            <a:endCxn id="23" idx="1"/>
          </p:cNvCxnSpPr>
          <p:nvPr/>
        </p:nvCxnSpPr>
        <p:spPr>
          <a:xfrm rot="16200000" flipH="1">
            <a:off x="3160882" y="1887102"/>
            <a:ext cx="546551" cy="534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6818383" y="2950861"/>
            <a:ext cx="418288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리스트 형태이며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[(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img_path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camid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0 )]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형태로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을 추가한다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566370" y="2821855"/>
            <a:ext cx="2252013" cy="504234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 = [(*items, 0) for items in train]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9" name="꺾인 연결선 28"/>
          <p:cNvCxnSpPr>
            <a:stCxn id="23" idx="2"/>
            <a:endCxn id="28" idx="1"/>
          </p:cNvCxnSpPr>
          <p:nvPr/>
        </p:nvCxnSpPr>
        <p:spPr>
          <a:xfrm rot="16200000" flipH="1">
            <a:off x="4169601" y="2677203"/>
            <a:ext cx="462798" cy="3307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818383" y="3201054"/>
            <a:ext cx="25314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train, query, gallery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각각에 대하여 연산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566370" y="3696922"/>
            <a:ext cx="2252013" cy="504234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ex)</a:t>
            </a:r>
          </a:p>
          <a:p>
            <a:pPr algn="ctr"/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self.data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self.train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3" name="직선 화살표 연결선 32"/>
          <p:cNvCxnSpPr>
            <a:stCxn id="28" idx="2"/>
            <a:endCxn id="32" idx="0"/>
          </p:cNvCxnSpPr>
          <p:nvPr/>
        </p:nvCxnSpPr>
        <p:spPr>
          <a:xfrm>
            <a:off x="5692377" y="3326089"/>
            <a:ext cx="0" cy="37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6946203" y="3748984"/>
            <a:ext cx="2886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이면 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lf.data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해당 모드를 추가한다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pPr lvl="0" defTabSz="9144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이면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query, gallery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이면 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gallery </a:t>
            </a:r>
            <a:r>
              <a:rPr lang="ko-KR" altLang="en-US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된다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9810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5540" y="314530"/>
            <a:ext cx="2509243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OSNet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34435" y="1130950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220306" y="1643606"/>
            <a:ext cx="3791515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self.conv1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ConvLayer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(3, channels[0], 7, stride=2, padding=3, IN=IN)</a:t>
            </a: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756839" y="1363777"/>
            <a:ext cx="329018" cy="5979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7035235" y="1661399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907215" y="3014835"/>
            <a:ext cx="137026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BatchNorm2d</a:t>
            </a:r>
            <a:endParaRPr lang="en-US" altLang="ko-KR" sz="12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300948" y="3632438"/>
            <a:ext cx="1444484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5" name="직선 화살표 연결선 14"/>
          <p:cNvCxnSpPr>
            <a:stCxn id="12" idx="2"/>
            <a:endCxn id="37" idx="0"/>
          </p:cNvCxnSpPr>
          <p:nvPr/>
        </p:nvCxnSpPr>
        <p:spPr>
          <a:xfrm>
            <a:off x="8023190" y="2028675"/>
            <a:ext cx="0" cy="224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6978721" y="1182049"/>
          <a:ext cx="3459198" cy="299396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459198">
                  <a:extLst>
                    <a:ext uri="{9D8B030D-6E8A-4147-A177-3AD203B41FA5}">
                      <a16:colId xmlns:a16="http://schemas.microsoft.com/office/drawing/2014/main" val="2590600746"/>
                    </a:ext>
                  </a:extLst>
                </a:gridCol>
              </a:tblGrid>
              <a:tr h="40034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 err="1" smtClean="0">
                          <a:effectLst/>
                        </a:rPr>
                        <a:t>ConvLayer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0123"/>
                  </a:ext>
                </a:extLst>
              </a:tr>
              <a:tr h="25936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178603"/>
                  </a:ext>
                </a:extLst>
              </a:tr>
            </a:tbl>
          </a:graphicData>
        </a:graphic>
      </p:graphicFrame>
      <p:cxnSp>
        <p:nvCxnSpPr>
          <p:cNvPr id="20" name="구부러진 연결선 19"/>
          <p:cNvCxnSpPr>
            <a:stCxn id="19" idx="1"/>
            <a:endCxn id="4" idx="3"/>
          </p:cNvCxnSpPr>
          <p:nvPr/>
        </p:nvCxnSpPr>
        <p:spPr>
          <a:xfrm rot="10800000">
            <a:off x="6011821" y="1827245"/>
            <a:ext cx="966900" cy="851787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220306" y="2232799"/>
            <a:ext cx="3791515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self.maxpool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nn.MaxPool2d(3, stride=2, padding=1)</a:t>
            </a:r>
          </a:p>
        </p:txBody>
      </p:sp>
      <p:cxnSp>
        <p:nvCxnSpPr>
          <p:cNvPr id="24" name="직선 화살표 연결선 23"/>
          <p:cNvCxnSpPr>
            <a:stCxn id="4" idx="2"/>
            <a:endCxn id="23" idx="0"/>
          </p:cNvCxnSpPr>
          <p:nvPr/>
        </p:nvCxnSpPr>
        <p:spPr>
          <a:xfrm>
            <a:off x="4116064" y="2010882"/>
            <a:ext cx="0" cy="22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6920511" y="4364706"/>
            <a:ext cx="364984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nn.InstanceNorm2d</a:t>
            </a:r>
            <a:r>
              <a:rPr lang="ko-KR" altLang="en-US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이미지의 각 채널을 독립적으로 </a:t>
            </a:r>
            <a:r>
              <a:rPr lang="ko-KR" altLang="en-US" sz="11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정규화하여</a:t>
            </a:r>
            <a:r>
              <a:rPr lang="en-US" altLang="ko-KR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스타일 정보를 효과적으로 제어하고 배치 크기에 의존하지 않는 학습을 가능하게 합니다</a:t>
            </a:r>
            <a:r>
              <a:rPr lang="en-US" altLang="ko-KR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이는 이미지 생성</a:t>
            </a:r>
            <a:r>
              <a:rPr lang="en-US" altLang="ko-KR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스타일 전이 등 다양한 컴퓨터 비전 작업에서 중요한 역할을 합니다</a:t>
            </a:r>
            <a:r>
              <a:rPr lang="en-US" altLang="ko-KR" sz="1100" dirty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920510" y="5239358"/>
            <a:ext cx="36498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nn.BatchNorm2d</a:t>
            </a:r>
            <a:r>
              <a:rPr lang="ko-KR" altLang="en-US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주어진 배치</a:t>
            </a:r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(batch) </a:t>
            </a:r>
            <a:r>
              <a:rPr lang="ko-KR" altLang="en-US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내에서 동일한 채널에 대해 정규화를 수행합니다</a:t>
            </a:r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즉</a:t>
            </a:r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배치에 속한 모든 이미지를 사용하여 각 채널의 평균과 분산을 계산하고</a:t>
            </a:r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이를 이용해 </a:t>
            </a:r>
            <a:r>
              <a:rPr lang="ko-KR" altLang="en-US" sz="1100" dirty="0" err="1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정규화합니다</a:t>
            </a:r>
            <a:r>
              <a:rPr lang="en-US" altLang="ko-KR" sz="1100" dirty="0">
                <a:solidFill>
                  <a:srgbClr val="0070C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</p:txBody>
      </p:sp>
      <p:sp>
        <p:nvSpPr>
          <p:cNvPr id="37" name="순서도: 판단 36"/>
          <p:cNvSpPr/>
          <p:nvPr/>
        </p:nvSpPr>
        <p:spPr>
          <a:xfrm>
            <a:off x="7160895" y="2252777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 == True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4" name="꺾인 연결선 43"/>
          <p:cNvCxnSpPr>
            <a:stCxn id="13" idx="2"/>
            <a:endCxn id="14" idx="3"/>
          </p:cNvCxnSpPr>
          <p:nvPr/>
        </p:nvCxnSpPr>
        <p:spPr>
          <a:xfrm rot="5400000">
            <a:off x="8951907" y="3175637"/>
            <a:ext cx="433965" cy="8469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338060" y="3014835"/>
            <a:ext cx="137026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InstanceNorm2d</a:t>
            </a:r>
          </a:p>
        </p:txBody>
      </p:sp>
      <p:cxnSp>
        <p:nvCxnSpPr>
          <p:cNvPr id="50" name="직선 화살표 연결선 49"/>
          <p:cNvCxnSpPr>
            <a:stCxn id="37" idx="2"/>
            <a:endCxn id="48" idx="0"/>
          </p:cNvCxnSpPr>
          <p:nvPr/>
        </p:nvCxnSpPr>
        <p:spPr>
          <a:xfrm>
            <a:off x="8023190" y="2790733"/>
            <a:ext cx="0" cy="224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7" idx="3"/>
            <a:endCxn id="13" idx="0"/>
          </p:cNvCxnSpPr>
          <p:nvPr/>
        </p:nvCxnSpPr>
        <p:spPr>
          <a:xfrm>
            <a:off x="8885485" y="2521755"/>
            <a:ext cx="706860" cy="4930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stCxn id="48" idx="2"/>
            <a:endCxn id="14" idx="0"/>
          </p:cNvCxnSpPr>
          <p:nvPr/>
        </p:nvCxnSpPr>
        <p:spPr>
          <a:xfrm>
            <a:off x="8023190" y="3382111"/>
            <a:ext cx="0" cy="250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220678" y="447780"/>
            <a:ext cx="257084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/>
              <a:t>model = </a:t>
            </a:r>
            <a:r>
              <a:rPr lang="en-US" altLang="ko-KR" sz="900" dirty="0" err="1"/>
              <a:t>OSNet</a:t>
            </a:r>
            <a:r>
              <a:rPr lang="en-US" altLang="ko-KR" sz="900" dirty="0"/>
              <a:t>(</a:t>
            </a:r>
          </a:p>
          <a:p>
            <a:r>
              <a:rPr lang="en-US" altLang="ko-KR" sz="900" dirty="0"/>
              <a:t>        </a:t>
            </a:r>
            <a:r>
              <a:rPr lang="en-US" altLang="ko-KR" sz="900" dirty="0" err="1"/>
              <a:t>num_classes</a:t>
            </a:r>
            <a:r>
              <a:rPr lang="en-US" altLang="ko-KR" sz="900" dirty="0"/>
              <a:t>,</a:t>
            </a:r>
          </a:p>
          <a:p>
            <a:r>
              <a:rPr lang="en-US" altLang="ko-KR" sz="900" dirty="0"/>
              <a:t>        blocks=[</a:t>
            </a:r>
            <a:r>
              <a:rPr lang="en-US" altLang="ko-KR" sz="900" dirty="0" err="1"/>
              <a:t>OSBlock</a:t>
            </a:r>
            <a:r>
              <a:rPr lang="en-US" altLang="ko-KR" sz="900" dirty="0"/>
              <a:t>, </a:t>
            </a:r>
            <a:r>
              <a:rPr lang="en-US" altLang="ko-KR" sz="900" dirty="0" err="1"/>
              <a:t>OSBlock</a:t>
            </a:r>
            <a:r>
              <a:rPr lang="en-US" altLang="ko-KR" sz="900" dirty="0"/>
              <a:t>, </a:t>
            </a:r>
            <a:r>
              <a:rPr lang="en-US" altLang="ko-KR" sz="900" dirty="0" err="1"/>
              <a:t>OSBlock</a:t>
            </a:r>
            <a:r>
              <a:rPr lang="en-US" altLang="ko-KR" sz="900" dirty="0"/>
              <a:t>],</a:t>
            </a:r>
          </a:p>
          <a:p>
            <a:r>
              <a:rPr lang="en-US" altLang="ko-KR" sz="900" dirty="0"/>
              <a:t>        layers=[2, 2, 2],</a:t>
            </a:r>
          </a:p>
          <a:p>
            <a:r>
              <a:rPr lang="en-US" altLang="ko-KR" sz="900" dirty="0"/>
              <a:t>        channels=[64, 256, 384, 512],</a:t>
            </a:r>
          </a:p>
          <a:p>
            <a:r>
              <a:rPr lang="en-US" altLang="ko-KR" sz="900" dirty="0"/>
              <a:t>        loss=loss,</a:t>
            </a:r>
          </a:p>
          <a:p>
            <a:r>
              <a:rPr lang="en-US" altLang="ko-KR" sz="900" dirty="0"/>
              <a:t>        IN=True,</a:t>
            </a:r>
          </a:p>
          <a:p>
            <a:r>
              <a:rPr lang="en-US" altLang="ko-KR" sz="900" dirty="0"/>
              <a:t>        **</a:t>
            </a:r>
            <a:r>
              <a:rPr lang="en-US" altLang="ko-KR" sz="900" dirty="0" err="1"/>
              <a:t>kwargs</a:t>
            </a:r>
            <a:endParaRPr lang="en-US" altLang="ko-KR" sz="900" dirty="0"/>
          </a:p>
          <a:p>
            <a:r>
              <a:rPr lang="en-US" altLang="ko-KR" sz="900" dirty="0"/>
              <a:t>    )</a:t>
            </a:r>
            <a:endParaRPr lang="ko-KR" altLang="en-US" sz="900" dirty="0"/>
          </a:p>
        </p:txBody>
      </p:sp>
      <p:cxnSp>
        <p:nvCxnSpPr>
          <p:cNvPr id="83" name="구부러진 연결선 82"/>
          <p:cNvCxnSpPr>
            <a:endCxn id="4" idx="0"/>
          </p:cNvCxnSpPr>
          <p:nvPr/>
        </p:nvCxnSpPr>
        <p:spPr>
          <a:xfrm rot="5400000">
            <a:off x="3840024" y="1190399"/>
            <a:ext cx="729247" cy="177166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1338523" y="1991036"/>
            <a:ext cx="11894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3-&gt; 64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2220303" y="2775799"/>
            <a:ext cx="3791515" cy="14444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self.conv2 = self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._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make_layer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blocks[0],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layers[0],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channels[0],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channels[1],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reduce_spatial_size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=True,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IN=IN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)</a:t>
            </a:r>
          </a:p>
        </p:txBody>
      </p:sp>
      <p:cxnSp>
        <p:nvCxnSpPr>
          <p:cNvPr id="88" name="직선 화살표 연결선 87"/>
          <p:cNvCxnSpPr>
            <a:stCxn id="23" idx="2"/>
            <a:endCxn id="87" idx="0"/>
          </p:cNvCxnSpPr>
          <p:nvPr/>
        </p:nvCxnSpPr>
        <p:spPr>
          <a:xfrm flipH="1">
            <a:off x="4116061" y="2600075"/>
            <a:ext cx="3" cy="17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2220303" y="4395979"/>
            <a:ext cx="3791515" cy="14444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self.conv3 = self._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make_layer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blocks[1],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layers[1],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channels[1],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channels[2],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reduce_spatial_size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=True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)</a:t>
            </a:r>
          </a:p>
        </p:txBody>
      </p:sp>
      <p:cxnSp>
        <p:nvCxnSpPr>
          <p:cNvPr id="95" name="직선 화살표 연결선 94"/>
          <p:cNvCxnSpPr>
            <a:stCxn id="87" idx="2"/>
            <a:endCxn id="94" idx="0"/>
          </p:cNvCxnSpPr>
          <p:nvPr/>
        </p:nvCxnSpPr>
        <p:spPr>
          <a:xfrm>
            <a:off x="4116061" y="4220255"/>
            <a:ext cx="0" cy="17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2220303" y="6008799"/>
            <a:ext cx="3791515" cy="14444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self.conv4 = self._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make_layer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blocks[2],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layers[2],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channels[2],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channels[3],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   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reduce_spatial_size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=False</a:t>
            </a:r>
          </a:p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)</a:t>
            </a:r>
          </a:p>
        </p:txBody>
      </p:sp>
      <p:cxnSp>
        <p:nvCxnSpPr>
          <p:cNvPr id="103" name="직선 화살표 연결선 102"/>
          <p:cNvCxnSpPr>
            <a:stCxn id="94" idx="2"/>
            <a:endCxn id="102" idx="0"/>
          </p:cNvCxnSpPr>
          <p:nvPr/>
        </p:nvCxnSpPr>
        <p:spPr>
          <a:xfrm>
            <a:off x="4116061" y="5840435"/>
            <a:ext cx="0" cy="16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303178" y="2530791"/>
            <a:ext cx="193849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W, H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절반 정도 줄어 </a:t>
            </a:r>
            <a:r>
              <a:rPr lang="ko-KR" altLang="en-US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듬</a:t>
            </a:r>
            <a:endParaRPr lang="en-US" altLang="ko-KR" sz="1100" dirty="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658689" y="2902784"/>
            <a:ext cx="118942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64-&gt; 256</a:t>
            </a:r>
          </a:p>
          <a:p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AvgPool1d</a:t>
            </a:r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을 거치므로 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W,H</a:t>
            </a:r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각각 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W/2, H/2</a:t>
            </a:r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줄어든다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34435" y="5092014"/>
            <a:ext cx="11894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256-&gt; 384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9824" y="6545932"/>
            <a:ext cx="11894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384-&gt; 512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4949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9053" y="314530"/>
            <a:ext cx="2602218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OSNet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end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987603" y="1470070"/>
            <a:ext cx="1568497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Conv1x1(channels[3], channels[3])</a:t>
            </a:r>
          </a:p>
        </p:txBody>
      </p:sp>
      <p:cxnSp>
        <p:nvCxnSpPr>
          <p:cNvPr id="36" name="직선 화살표 연결선 35"/>
          <p:cNvCxnSpPr>
            <a:endCxn id="35" idx="0"/>
          </p:cNvCxnSpPr>
          <p:nvPr/>
        </p:nvCxnSpPr>
        <p:spPr>
          <a:xfrm>
            <a:off x="2771852" y="1228099"/>
            <a:ext cx="0" cy="24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순서도: 판단 41"/>
          <p:cNvSpPr/>
          <p:nvPr/>
        </p:nvSpPr>
        <p:spPr>
          <a:xfrm>
            <a:off x="1909557" y="2079317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pool == ‘</a:t>
            </a:r>
            <a:r>
              <a:rPr lang="en-US" altLang="ko-KR" sz="11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avg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’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5" name="직선 화살표 연결선 44"/>
          <p:cNvCxnSpPr>
            <a:stCxn id="35" idx="2"/>
            <a:endCxn id="42" idx="0"/>
          </p:cNvCxnSpPr>
          <p:nvPr/>
        </p:nvCxnSpPr>
        <p:spPr>
          <a:xfrm>
            <a:off x="2771852" y="1837346"/>
            <a:ext cx="0" cy="24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4195734" y="2164657"/>
            <a:ext cx="1568497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nn.AdaptiveMaxPool2d(1)</a:t>
            </a:r>
          </a:p>
        </p:txBody>
      </p:sp>
      <p:cxnSp>
        <p:nvCxnSpPr>
          <p:cNvPr id="51" name="직선 화살표 연결선 50"/>
          <p:cNvCxnSpPr>
            <a:stCxn id="42" idx="3"/>
            <a:endCxn id="49" idx="1"/>
          </p:cNvCxnSpPr>
          <p:nvPr/>
        </p:nvCxnSpPr>
        <p:spPr>
          <a:xfrm>
            <a:off x="3634147" y="2348295"/>
            <a:ext cx="561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1985107" y="2871481"/>
            <a:ext cx="1568497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nn.AdaptiveAvgPool2d(1)</a:t>
            </a:r>
          </a:p>
        </p:txBody>
      </p:sp>
      <p:cxnSp>
        <p:nvCxnSpPr>
          <p:cNvPr id="54" name="직선 화살표 연결선 53"/>
          <p:cNvCxnSpPr>
            <a:stCxn id="42" idx="2"/>
            <a:endCxn id="52" idx="0"/>
          </p:cNvCxnSpPr>
          <p:nvPr/>
        </p:nvCxnSpPr>
        <p:spPr>
          <a:xfrm flipH="1">
            <a:off x="2769356" y="2617273"/>
            <a:ext cx="2496" cy="25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3568724" y="2010255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NO</a:t>
            </a:r>
            <a:endParaRPr lang="ko-KR" altLang="en-US" sz="1000" dirty="0"/>
          </a:p>
        </p:txBody>
      </p:sp>
      <p:sp>
        <p:nvSpPr>
          <p:cNvPr id="58" name="직사각형 57"/>
          <p:cNvSpPr/>
          <p:nvPr/>
        </p:nvSpPr>
        <p:spPr>
          <a:xfrm>
            <a:off x="2914442" y="2563224"/>
            <a:ext cx="9634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YES (default)</a:t>
            </a:r>
            <a:endParaRPr lang="ko-KR" altLang="en-US" sz="1000" dirty="0"/>
          </a:p>
        </p:txBody>
      </p:sp>
      <p:sp>
        <p:nvSpPr>
          <p:cNvPr id="59" name="직사각형 58"/>
          <p:cNvSpPr/>
          <p:nvPr/>
        </p:nvSpPr>
        <p:spPr>
          <a:xfrm>
            <a:off x="1985106" y="3513342"/>
            <a:ext cx="1568497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nn.Linear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self.feature_dim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num_classes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</a:p>
        </p:txBody>
      </p:sp>
      <p:cxnSp>
        <p:nvCxnSpPr>
          <p:cNvPr id="60" name="직선 화살표 연결선 59"/>
          <p:cNvCxnSpPr>
            <a:stCxn id="52" idx="2"/>
            <a:endCxn id="59" idx="0"/>
          </p:cNvCxnSpPr>
          <p:nvPr/>
        </p:nvCxnSpPr>
        <p:spPr>
          <a:xfrm flipH="1">
            <a:off x="2769355" y="3238757"/>
            <a:ext cx="1" cy="274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0842" y="3566175"/>
            <a:ext cx="2183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feature(512) -&gt;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num_classes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4" name="꺾인 연결선 63"/>
          <p:cNvCxnSpPr>
            <a:stCxn id="49" idx="2"/>
            <a:endCxn id="59" idx="3"/>
          </p:cNvCxnSpPr>
          <p:nvPr/>
        </p:nvCxnSpPr>
        <p:spPr>
          <a:xfrm rot="5400000">
            <a:off x="3684270" y="2401266"/>
            <a:ext cx="1165047" cy="14263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985105" y="4956254"/>
            <a:ext cx="1568497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sigmoid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8" name="순서도: 판단 67"/>
          <p:cNvSpPr/>
          <p:nvPr/>
        </p:nvSpPr>
        <p:spPr>
          <a:xfrm>
            <a:off x="1909557" y="4162847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training == False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9" name="직선 화살표 연결선 68"/>
          <p:cNvCxnSpPr>
            <a:stCxn id="68" idx="2"/>
            <a:endCxn id="67" idx="0"/>
          </p:cNvCxnSpPr>
          <p:nvPr/>
        </p:nvCxnSpPr>
        <p:spPr>
          <a:xfrm flipH="1">
            <a:off x="2769354" y="4700803"/>
            <a:ext cx="2498" cy="25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9" idx="2"/>
            <a:endCxn id="68" idx="0"/>
          </p:cNvCxnSpPr>
          <p:nvPr/>
        </p:nvCxnSpPr>
        <p:spPr>
          <a:xfrm>
            <a:off x="2769355" y="3880618"/>
            <a:ext cx="2497" cy="282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2853261" y="4700803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YES</a:t>
            </a:r>
            <a:endParaRPr lang="ko-KR" altLang="en-US" sz="1000" dirty="0"/>
          </a:p>
        </p:txBody>
      </p:sp>
      <p:sp>
        <p:nvSpPr>
          <p:cNvPr id="80" name="직사각형 79"/>
          <p:cNvSpPr/>
          <p:nvPr/>
        </p:nvSpPr>
        <p:spPr>
          <a:xfrm>
            <a:off x="3162728" y="4062494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NO</a:t>
            </a:r>
            <a:endParaRPr lang="ko-KR" altLang="en-US" sz="1000" dirty="0"/>
          </a:p>
        </p:txBody>
      </p:sp>
      <p:sp>
        <p:nvSpPr>
          <p:cNvPr id="81" name="모서리가 둥근 직사각형 80"/>
          <p:cNvSpPr/>
          <p:nvPr/>
        </p:nvSpPr>
        <p:spPr>
          <a:xfrm>
            <a:off x="1963926" y="5654136"/>
            <a:ext cx="1610853" cy="447491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4" name="직선 화살표 연결선 83"/>
          <p:cNvCxnSpPr>
            <a:stCxn id="67" idx="2"/>
            <a:endCxn id="81" idx="0"/>
          </p:cNvCxnSpPr>
          <p:nvPr/>
        </p:nvCxnSpPr>
        <p:spPr>
          <a:xfrm flipH="1">
            <a:off x="2769353" y="5323530"/>
            <a:ext cx="1" cy="33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4492431" y="4208079"/>
            <a:ext cx="1610853" cy="447491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90" name="직선 화살표 연결선 89"/>
          <p:cNvCxnSpPr>
            <a:stCxn id="68" idx="3"/>
            <a:endCxn id="89" idx="1"/>
          </p:cNvCxnSpPr>
          <p:nvPr/>
        </p:nvCxnSpPr>
        <p:spPr>
          <a:xfrm>
            <a:off x="3634147" y="4431825"/>
            <a:ext cx="858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8662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29573" y="314530"/>
            <a:ext cx="2541175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>
                <a:solidFill>
                  <a:srgbClr val="0E0585"/>
                </a:solidFill>
              </a:rPr>
              <a:t>def</a:t>
            </a:r>
            <a:r>
              <a:rPr lang="en-US" altLang="ko-KR" sz="2400" b="1" dirty="0">
                <a:solidFill>
                  <a:srgbClr val="0E0585"/>
                </a:solidFill>
              </a:rPr>
              <a:t> _</a:t>
            </a:r>
            <a:r>
              <a:rPr lang="en-US" altLang="ko-KR" sz="2400" b="1" dirty="0" err="1">
                <a:solidFill>
                  <a:srgbClr val="0E0585"/>
                </a:solidFill>
              </a:rPr>
              <a:t>make_layer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46761" y="1856966"/>
            <a:ext cx="174498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OSBlock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46761" y="2703262"/>
            <a:ext cx="174498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OSBlock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46761" y="1182325"/>
            <a:ext cx="174498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def</a:t>
            </a:r>
            <a:r>
              <a:rPr lang="en-US" altLang="ko-KR" sz="14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_</a:t>
            </a:r>
            <a:r>
              <a:rPr lang="en-US" altLang="ko-KR" sz="14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make_layer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" name="직선 화살표 연결선 7"/>
          <p:cNvCxnSpPr>
            <a:stCxn id="6" idx="2"/>
            <a:endCxn id="4" idx="0"/>
          </p:cNvCxnSpPr>
          <p:nvPr/>
        </p:nvCxnSpPr>
        <p:spPr>
          <a:xfrm>
            <a:off x="1619251" y="1549601"/>
            <a:ext cx="0" cy="30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4" idx="2"/>
            <a:endCxn id="5" idx="0"/>
          </p:cNvCxnSpPr>
          <p:nvPr/>
        </p:nvCxnSpPr>
        <p:spPr>
          <a:xfrm>
            <a:off x="1619251" y="2224242"/>
            <a:ext cx="0" cy="47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2648426" y="2276629"/>
            <a:ext cx="97155" cy="9509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648425" y="2416204"/>
            <a:ext cx="97155" cy="9509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2648425" y="2555779"/>
            <a:ext cx="97155" cy="9509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802991" y="2511300"/>
            <a:ext cx="142848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layer </a:t>
            </a:r>
            <a:r>
              <a:rPr lang="ko-KR" altLang="en-US" sz="1100" dirty="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개수 만큼 추가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19252" y="1594080"/>
            <a:ext cx="102917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in_ch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561839" y="2324177"/>
            <a:ext cx="102917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out_ch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561839" y="3171749"/>
            <a:ext cx="102917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out_ch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2" name="순서도: 판단 21"/>
          <p:cNvSpPr/>
          <p:nvPr/>
        </p:nvSpPr>
        <p:spPr>
          <a:xfrm>
            <a:off x="756956" y="3549558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reduce_spatial_size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 True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3" name="직선 화살표 연결선 22"/>
          <p:cNvCxnSpPr>
            <a:stCxn id="5" idx="2"/>
            <a:endCxn id="22" idx="0"/>
          </p:cNvCxnSpPr>
          <p:nvPr/>
        </p:nvCxnSpPr>
        <p:spPr>
          <a:xfrm>
            <a:off x="1619251" y="3070538"/>
            <a:ext cx="0" cy="47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924444" y="3999754"/>
            <a:ext cx="8785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YES :default</a:t>
            </a:r>
            <a:endParaRPr lang="ko-KR" altLang="en-US" sz="1000" dirty="0"/>
          </a:p>
        </p:txBody>
      </p:sp>
      <p:sp>
        <p:nvSpPr>
          <p:cNvPr id="28" name="직사각형 27"/>
          <p:cNvSpPr/>
          <p:nvPr/>
        </p:nvSpPr>
        <p:spPr>
          <a:xfrm>
            <a:off x="2574178" y="3534570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NO</a:t>
            </a:r>
            <a:endParaRPr lang="ko-KR" altLang="en-US" sz="1000" dirty="0"/>
          </a:p>
        </p:txBody>
      </p:sp>
      <p:sp>
        <p:nvSpPr>
          <p:cNvPr id="29" name="직사각형 28"/>
          <p:cNvSpPr/>
          <p:nvPr/>
        </p:nvSpPr>
        <p:spPr>
          <a:xfrm>
            <a:off x="736566" y="4434920"/>
            <a:ext cx="174498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Conv1x1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0" name="직선 화살표 연결선 29"/>
          <p:cNvCxnSpPr>
            <a:stCxn id="22" idx="2"/>
            <a:endCxn id="29" idx="0"/>
          </p:cNvCxnSpPr>
          <p:nvPr/>
        </p:nvCxnSpPr>
        <p:spPr>
          <a:xfrm flipH="1">
            <a:off x="1609056" y="4087514"/>
            <a:ext cx="10195" cy="347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1715056" y="4181030"/>
            <a:ext cx="102917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out_ch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715056" y="4823746"/>
            <a:ext cx="102917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out_ch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35910" y="5268258"/>
            <a:ext cx="174498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AvgPool1d(2,stride=2)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7" name="직선 화살표 연결선 36"/>
          <p:cNvCxnSpPr>
            <a:stCxn id="29" idx="2"/>
            <a:endCxn id="36" idx="0"/>
          </p:cNvCxnSpPr>
          <p:nvPr/>
        </p:nvCxnSpPr>
        <p:spPr>
          <a:xfrm flipH="1">
            <a:off x="1608400" y="4802196"/>
            <a:ext cx="656" cy="46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2850230" y="4668548"/>
            <a:ext cx="329850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nn.AvgPool2d(2, stride=2</a:t>
            </a:r>
            <a:r>
              <a:rPr lang="en-US" altLang="ko-KR" sz="10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) </a:t>
            </a:r>
            <a:r>
              <a:rPr lang="ko-KR" altLang="en-US" sz="10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동작 </a:t>
            </a:r>
            <a:r>
              <a:rPr lang="ko-KR" altLang="en-US" sz="10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방식</a:t>
            </a:r>
            <a:r>
              <a:rPr lang="en-US" altLang="ko-KR" sz="10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:</a:t>
            </a:r>
          </a:p>
          <a:p>
            <a:endParaRPr lang="en-US" altLang="ko-KR" sz="10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+mn-ea"/>
              </a:rPr>
              <a:t>    </a:t>
            </a:r>
            <a:r>
              <a:rPr lang="ko-KR" altLang="en-US" sz="1000" dirty="0">
                <a:latin typeface="+mn-ea"/>
              </a:rPr>
              <a:t>입력 </a:t>
            </a:r>
            <a:r>
              <a:rPr lang="ko-KR" altLang="en-US" sz="1000" dirty="0" err="1">
                <a:latin typeface="+mn-ea"/>
              </a:rPr>
              <a:t>텐서</a:t>
            </a:r>
            <a:r>
              <a:rPr lang="ko-KR" altLang="en-US" sz="1000" dirty="0">
                <a:latin typeface="+mn-ea"/>
              </a:rPr>
              <a:t> 크기</a:t>
            </a:r>
            <a:r>
              <a:rPr lang="en-US" altLang="ko-KR" sz="1000" dirty="0">
                <a:latin typeface="+mn-ea"/>
              </a:rPr>
              <a:t>: (N, C, H, W)</a:t>
            </a:r>
          </a:p>
          <a:p>
            <a:r>
              <a:rPr lang="en-US" altLang="ko-KR" sz="1000" dirty="0">
                <a:latin typeface="+mn-ea"/>
              </a:rPr>
              <a:t>        NN: </a:t>
            </a:r>
            <a:r>
              <a:rPr lang="ko-KR" altLang="en-US" sz="1000" dirty="0">
                <a:latin typeface="+mn-ea"/>
              </a:rPr>
              <a:t>배치 크기</a:t>
            </a:r>
          </a:p>
          <a:p>
            <a:r>
              <a:rPr lang="ko-KR" altLang="en-US" sz="1000" dirty="0">
                <a:latin typeface="+mn-ea"/>
              </a:rPr>
              <a:t>        </a:t>
            </a:r>
            <a:r>
              <a:rPr lang="en-US" altLang="ko-KR" sz="1000" dirty="0">
                <a:latin typeface="+mn-ea"/>
              </a:rPr>
              <a:t>CC: </a:t>
            </a:r>
            <a:r>
              <a:rPr lang="ko-KR" altLang="en-US" sz="1000" dirty="0">
                <a:latin typeface="+mn-ea"/>
              </a:rPr>
              <a:t>채널 수</a:t>
            </a:r>
          </a:p>
          <a:p>
            <a:r>
              <a:rPr lang="ko-KR" altLang="en-US" sz="1000" dirty="0">
                <a:latin typeface="+mn-ea"/>
              </a:rPr>
              <a:t>        </a:t>
            </a:r>
            <a:r>
              <a:rPr lang="en-US" altLang="ko-KR" sz="1000" dirty="0">
                <a:latin typeface="+mn-ea"/>
              </a:rPr>
              <a:t>HH: </a:t>
            </a:r>
            <a:r>
              <a:rPr lang="ko-KR" altLang="en-US" sz="1000" dirty="0">
                <a:latin typeface="+mn-ea"/>
              </a:rPr>
              <a:t>높이</a:t>
            </a:r>
          </a:p>
          <a:p>
            <a:r>
              <a:rPr lang="ko-KR" altLang="en-US" sz="1000" dirty="0">
                <a:latin typeface="+mn-ea"/>
              </a:rPr>
              <a:t>        </a:t>
            </a:r>
            <a:r>
              <a:rPr lang="en-US" altLang="ko-KR" sz="1000" dirty="0">
                <a:latin typeface="+mn-ea"/>
              </a:rPr>
              <a:t>WW: </a:t>
            </a:r>
            <a:r>
              <a:rPr lang="ko-KR" altLang="en-US" sz="1000" dirty="0">
                <a:latin typeface="+mn-ea"/>
              </a:rPr>
              <a:t>너비</a:t>
            </a:r>
          </a:p>
          <a:p>
            <a:endParaRPr lang="ko-KR" altLang="en-US" sz="10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+mn-ea"/>
              </a:rPr>
              <a:t>    출력 </a:t>
            </a:r>
            <a:r>
              <a:rPr lang="ko-KR" altLang="en-US" sz="1000" dirty="0" err="1">
                <a:latin typeface="+mn-ea"/>
              </a:rPr>
              <a:t>텐서</a:t>
            </a:r>
            <a:r>
              <a:rPr lang="ko-KR" altLang="en-US" sz="1000" dirty="0">
                <a:latin typeface="+mn-ea"/>
              </a:rPr>
              <a:t> 크기</a:t>
            </a:r>
            <a:r>
              <a:rPr lang="en-US" altLang="ko-KR" sz="1000" dirty="0">
                <a:latin typeface="+mn-ea"/>
              </a:rPr>
              <a:t>: (N, C, H/2, W/2)</a:t>
            </a:r>
          </a:p>
          <a:p>
            <a:r>
              <a:rPr lang="en-US" altLang="ko-KR" sz="1000" dirty="0">
                <a:latin typeface="+mn-ea"/>
              </a:rPr>
              <a:t>        </a:t>
            </a:r>
            <a:r>
              <a:rPr lang="ko-KR" altLang="en-US" sz="1000" dirty="0">
                <a:latin typeface="+mn-ea"/>
              </a:rPr>
              <a:t>높이와 너비가 각각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로 나뉘어 줄어듭니다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77680" y="5955857"/>
            <a:ext cx="2061439" cy="447491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3" action="ppaction://hlinksldjump"/>
              </a:rPr>
              <a:t>return 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3" action="ppaction://hlinksldjump"/>
              </a:rPr>
              <a:t>nn.Sequential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3" action="ppaction://hlinksldjump"/>
              </a:rPr>
              <a:t>(*layers)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3" name="직선 화살표 연결선 42"/>
          <p:cNvCxnSpPr>
            <a:stCxn id="36" idx="2"/>
            <a:endCxn id="42" idx="0"/>
          </p:cNvCxnSpPr>
          <p:nvPr/>
        </p:nvCxnSpPr>
        <p:spPr>
          <a:xfrm>
            <a:off x="1608400" y="5635534"/>
            <a:ext cx="0" cy="320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49"/>
          <p:cNvSpPr/>
          <p:nvPr/>
        </p:nvSpPr>
        <p:spPr>
          <a:xfrm>
            <a:off x="3259698" y="3594790"/>
            <a:ext cx="2061439" cy="447491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nn.Sequential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(*layers)</a:t>
            </a:r>
          </a:p>
        </p:txBody>
      </p:sp>
      <p:cxnSp>
        <p:nvCxnSpPr>
          <p:cNvPr id="51" name="직선 화살표 연결선 50"/>
          <p:cNvCxnSpPr>
            <a:stCxn id="22" idx="3"/>
            <a:endCxn id="50" idx="1"/>
          </p:cNvCxnSpPr>
          <p:nvPr/>
        </p:nvCxnSpPr>
        <p:spPr>
          <a:xfrm>
            <a:off x="2481546" y="3818536"/>
            <a:ext cx="77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19" idx="3"/>
            <a:endCxn id="20" idx="3"/>
          </p:cNvCxnSpPr>
          <p:nvPr/>
        </p:nvCxnSpPr>
        <p:spPr>
          <a:xfrm flipH="1">
            <a:off x="2591013" y="1724885"/>
            <a:ext cx="57413" cy="730097"/>
          </a:xfrm>
          <a:prstGeom prst="bentConnector3">
            <a:avLst>
              <a:gd name="adj1" fmla="val -307916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/>
          <p:nvPr/>
        </p:nvCxnSpPr>
        <p:spPr>
          <a:xfrm flipH="1">
            <a:off x="2569024" y="2525184"/>
            <a:ext cx="57413" cy="730097"/>
          </a:xfrm>
          <a:prstGeom prst="bentConnector3">
            <a:avLst>
              <a:gd name="adj1" fmla="val -307916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606892" y="1959128"/>
            <a:ext cx="142848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채널 증가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606891" y="2756095"/>
            <a:ext cx="142848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채널 유지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6938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80338" y="313400"/>
            <a:ext cx="2959687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OSBlock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34435" y="1143949"/>
            <a:ext cx="987954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96535" y="1792791"/>
            <a:ext cx="1713584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Conv1x1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429871" y="1209765"/>
            <a:ext cx="465204" cy="10681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150745" y="244163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3" action="ppaction://hlinksldjump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4" idx="2"/>
            <a:endCxn id="23" idx="0"/>
          </p:cNvCxnSpPr>
          <p:nvPr/>
        </p:nvCxnSpPr>
        <p:spPr>
          <a:xfrm>
            <a:off x="3053327" y="2160067"/>
            <a:ext cx="0" cy="281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358709" y="244769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358709" y="299408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520884" y="244163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520884" y="298802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520884" y="353441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597334" y="244163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597334" y="298802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597334" y="353441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8597334" y="4080803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LightConv3x3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5" name="꺾인 연결선 34"/>
          <p:cNvCxnSpPr>
            <a:stCxn id="4" idx="3"/>
            <a:endCxn id="22" idx="0"/>
          </p:cNvCxnSpPr>
          <p:nvPr/>
        </p:nvCxnSpPr>
        <p:spPr>
          <a:xfrm>
            <a:off x="3910119" y="1976429"/>
            <a:ext cx="1351172" cy="4712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4" idx="3"/>
            <a:endCxn id="26" idx="0"/>
          </p:cNvCxnSpPr>
          <p:nvPr/>
        </p:nvCxnSpPr>
        <p:spPr>
          <a:xfrm>
            <a:off x="3910119" y="1976429"/>
            <a:ext cx="3513347" cy="4652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4" idx="3"/>
            <a:endCxn id="31" idx="0"/>
          </p:cNvCxnSpPr>
          <p:nvPr/>
        </p:nvCxnSpPr>
        <p:spPr>
          <a:xfrm>
            <a:off x="3910119" y="1976429"/>
            <a:ext cx="5589797" cy="4652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2" idx="2"/>
            <a:endCxn id="25" idx="0"/>
          </p:cNvCxnSpPr>
          <p:nvPr/>
        </p:nvCxnSpPr>
        <p:spPr>
          <a:xfrm>
            <a:off x="5261291" y="281496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26" idx="2"/>
            <a:endCxn id="28" idx="0"/>
          </p:cNvCxnSpPr>
          <p:nvPr/>
        </p:nvCxnSpPr>
        <p:spPr>
          <a:xfrm>
            <a:off x="7423466" y="280890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8" idx="2"/>
            <a:endCxn id="30" idx="0"/>
          </p:cNvCxnSpPr>
          <p:nvPr/>
        </p:nvCxnSpPr>
        <p:spPr>
          <a:xfrm>
            <a:off x="7423466" y="335529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31" idx="2"/>
            <a:endCxn id="32" idx="0"/>
          </p:cNvCxnSpPr>
          <p:nvPr/>
        </p:nvCxnSpPr>
        <p:spPr>
          <a:xfrm>
            <a:off x="9499916" y="280890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32" idx="2"/>
            <a:endCxn id="33" idx="0"/>
          </p:cNvCxnSpPr>
          <p:nvPr/>
        </p:nvCxnSpPr>
        <p:spPr>
          <a:xfrm>
            <a:off x="9499916" y="335529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33" idx="2"/>
            <a:endCxn id="34" idx="0"/>
          </p:cNvCxnSpPr>
          <p:nvPr/>
        </p:nvCxnSpPr>
        <p:spPr>
          <a:xfrm>
            <a:off x="9499916" y="3901689"/>
            <a:ext cx="0" cy="179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150745" y="4689533"/>
            <a:ext cx="1805163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ChannelGate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2" name="직선 화살표 연결선 61"/>
          <p:cNvCxnSpPr>
            <a:stCxn id="23" idx="2"/>
            <a:endCxn id="61" idx="0"/>
          </p:cNvCxnSpPr>
          <p:nvPr/>
        </p:nvCxnSpPr>
        <p:spPr>
          <a:xfrm>
            <a:off x="3053327" y="2808909"/>
            <a:ext cx="0" cy="188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25" idx="2"/>
            <a:endCxn id="69" idx="0"/>
          </p:cNvCxnSpPr>
          <p:nvPr/>
        </p:nvCxnSpPr>
        <p:spPr>
          <a:xfrm>
            <a:off x="5261291" y="3361359"/>
            <a:ext cx="5520" cy="132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4364229" y="4689533"/>
            <a:ext cx="1805163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ChannelGate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1" name="직선 화살표 연결선 70"/>
          <p:cNvCxnSpPr>
            <a:stCxn id="30" idx="2"/>
            <a:endCxn id="72" idx="0"/>
          </p:cNvCxnSpPr>
          <p:nvPr/>
        </p:nvCxnSpPr>
        <p:spPr>
          <a:xfrm>
            <a:off x="7423466" y="3901689"/>
            <a:ext cx="5520" cy="78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6526404" y="4689533"/>
            <a:ext cx="1805163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ChannelGate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4" name="직선 화살표 연결선 73"/>
          <p:cNvCxnSpPr>
            <a:stCxn id="34" idx="2"/>
            <a:endCxn id="75" idx="0"/>
          </p:cNvCxnSpPr>
          <p:nvPr/>
        </p:nvCxnSpPr>
        <p:spPr>
          <a:xfrm>
            <a:off x="9499916" y="4448079"/>
            <a:ext cx="5520" cy="241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8602854" y="4689533"/>
            <a:ext cx="1805163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ChannelGate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504054" y="5408977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8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Symbol" panose="05050102010706020507" pitchFamily="18" charset="2"/>
              </a:rPr>
              <a:t></a:t>
            </a:r>
            <a:endParaRPr lang="en-US" altLang="ko-KR" sz="18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8" name="직선 화살표 연결선 77"/>
          <p:cNvCxnSpPr>
            <a:stCxn id="69" idx="2"/>
            <a:endCxn id="77" idx="0"/>
          </p:cNvCxnSpPr>
          <p:nvPr/>
        </p:nvCxnSpPr>
        <p:spPr>
          <a:xfrm>
            <a:off x="5266811" y="5056809"/>
            <a:ext cx="1139825" cy="35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61" idx="2"/>
            <a:endCxn id="77" idx="0"/>
          </p:cNvCxnSpPr>
          <p:nvPr/>
        </p:nvCxnSpPr>
        <p:spPr>
          <a:xfrm>
            <a:off x="3053327" y="5056809"/>
            <a:ext cx="3353309" cy="35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72" idx="2"/>
            <a:endCxn id="77" idx="0"/>
          </p:cNvCxnSpPr>
          <p:nvPr/>
        </p:nvCxnSpPr>
        <p:spPr>
          <a:xfrm flipH="1">
            <a:off x="6406636" y="5056809"/>
            <a:ext cx="1022350" cy="35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75" idx="2"/>
            <a:endCxn id="77" idx="0"/>
          </p:cNvCxnSpPr>
          <p:nvPr/>
        </p:nvCxnSpPr>
        <p:spPr>
          <a:xfrm flipH="1">
            <a:off x="6406636" y="5056809"/>
            <a:ext cx="3098800" cy="35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5504051" y="5933159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5" action="ppaction://hlinksldjump"/>
              </a:rPr>
              <a:t>Conv1x1Linear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96" name="직선 화살표 연결선 95"/>
          <p:cNvCxnSpPr>
            <a:stCxn id="77" idx="2"/>
            <a:endCxn id="95" idx="0"/>
          </p:cNvCxnSpPr>
          <p:nvPr/>
        </p:nvCxnSpPr>
        <p:spPr>
          <a:xfrm flipH="1">
            <a:off x="6406633" y="5776253"/>
            <a:ext cx="3" cy="156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5504051" y="6442642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8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Symbol" panose="05050102010706020507" pitchFamily="18" charset="2"/>
              </a:rPr>
              <a:t></a:t>
            </a:r>
            <a:endParaRPr lang="en-US" altLang="ko-KR" sz="18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04" name="직선 화살표 연결선 103"/>
          <p:cNvCxnSpPr>
            <a:stCxn id="95" idx="2"/>
            <a:endCxn id="103" idx="0"/>
          </p:cNvCxnSpPr>
          <p:nvPr/>
        </p:nvCxnSpPr>
        <p:spPr>
          <a:xfrm>
            <a:off x="6406633" y="6300435"/>
            <a:ext cx="0" cy="142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108" idx="2"/>
          </p:cNvCxnSpPr>
          <p:nvPr/>
        </p:nvCxnSpPr>
        <p:spPr>
          <a:xfrm flipH="1">
            <a:off x="3053326" y="1520371"/>
            <a:ext cx="1" cy="27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2196535" y="1153095"/>
            <a:ext cx="1713584" cy="3672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Input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12" name="꺾인 연결선 111"/>
          <p:cNvCxnSpPr>
            <a:stCxn id="108" idx="1"/>
            <a:endCxn id="103" idx="1"/>
          </p:cNvCxnSpPr>
          <p:nvPr/>
        </p:nvCxnSpPr>
        <p:spPr>
          <a:xfrm rot="10800000" flipH="1" flipV="1">
            <a:off x="2196535" y="1336732"/>
            <a:ext cx="3307516" cy="5289547"/>
          </a:xfrm>
          <a:prstGeom prst="bentConnector3">
            <a:avLst>
              <a:gd name="adj1" fmla="val -69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5504051" y="7121071"/>
            <a:ext cx="1805163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Symbol" panose="05050102010706020507" pitchFamily="18" charset="2"/>
                <a:hlinkClick r:id="rId6" action="ppaction://hlinksldjump"/>
              </a:rPr>
              <a:t>ReLU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959282" y="1704009"/>
            <a:ext cx="19960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-&gt; 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채널이 감소한다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123878" y="2160067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3123878" y="2844085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5307469" y="2170045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5343625" y="3395364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7552797" y="2160067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545104" y="3894641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9628611" y="2160067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9557753" y="4452951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2049458" y="5855424"/>
            <a:ext cx="19014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downsample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차원을 </a:t>
            </a:r>
            <a:r>
              <a:rPr lang="ko-KR" altLang="en-US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맞춰줌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6" name="오른쪽 화살표 135"/>
          <p:cNvSpPr/>
          <p:nvPr/>
        </p:nvSpPr>
        <p:spPr>
          <a:xfrm rot="964242">
            <a:off x="3719495" y="2817604"/>
            <a:ext cx="4085906" cy="1052715"/>
          </a:xfrm>
          <a:prstGeom prst="rightArrow">
            <a:avLst/>
          </a:prstGeom>
          <a:solidFill>
            <a:srgbClr val="00B050">
              <a:alpha val="37000"/>
            </a:srgbClr>
          </a:solidFill>
          <a:ln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accent6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고차원 </a:t>
            </a:r>
            <a:r>
              <a:rPr lang="en-US" altLang="ko-KR" dirty="0" smtClean="0">
                <a:solidFill>
                  <a:schemeClr val="accent6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features </a:t>
            </a:r>
            <a:r>
              <a:rPr lang="ko-KR" altLang="en-US" dirty="0" smtClean="0">
                <a:solidFill>
                  <a:schemeClr val="accent6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생성</a:t>
            </a:r>
            <a:endParaRPr lang="ko-KR" altLang="en-US" dirty="0">
              <a:solidFill>
                <a:schemeClr val="accent6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3" name="순서도: 판단 142"/>
          <p:cNvSpPr/>
          <p:nvPr/>
        </p:nvSpPr>
        <p:spPr>
          <a:xfrm>
            <a:off x="7775325" y="6357302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 ? True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44" name="직선 화살표 연결선 143"/>
          <p:cNvCxnSpPr>
            <a:stCxn id="103" idx="3"/>
            <a:endCxn id="143" idx="1"/>
          </p:cNvCxnSpPr>
          <p:nvPr/>
        </p:nvCxnSpPr>
        <p:spPr>
          <a:xfrm>
            <a:off x="7309214" y="6626280"/>
            <a:ext cx="466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9776723" y="6442642"/>
            <a:ext cx="773886" cy="367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Symbol" panose="05050102010706020507" pitchFamily="18" charset="2"/>
              </a:rPr>
              <a:t>InstanceNorm2d</a:t>
            </a:r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48" name="직선 화살표 연결선 147"/>
          <p:cNvCxnSpPr>
            <a:stCxn id="143" idx="3"/>
            <a:endCxn id="147" idx="1"/>
          </p:cNvCxnSpPr>
          <p:nvPr/>
        </p:nvCxnSpPr>
        <p:spPr>
          <a:xfrm>
            <a:off x="9499915" y="6626280"/>
            <a:ext cx="276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47" idx="2"/>
            <a:endCxn id="116" idx="3"/>
          </p:cNvCxnSpPr>
          <p:nvPr/>
        </p:nvCxnSpPr>
        <p:spPr>
          <a:xfrm rot="5400000">
            <a:off x="8489045" y="5630087"/>
            <a:ext cx="494791" cy="28544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53"/>
          <p:cNvCxnSpPr>
            <a:stCxn id="143" idx="2"/>
            <a:endCxn id="116" idx="0"/>
          </p:cNvCxnSpPr>
          <p:nvPr/>
        </p:nvCxnSpPr>
        <p:spPr>
          <a:xfrm rot="5400000">
            <a:off x="7409221" y="5892671"/>
            <a:ext cx="225813" cy="22309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/>
          <p:nvPr/>
        </p:nvSpPr>
        <p:spPr>
          <a:xfrm>
            <a:off x="9280153" y="6302536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YES</a:t>
            </a:r>
            <a:endParaRPr lang="ko-KR" altLang="en-US" sz="1000" dirty="0"/>
          </a:p>
        </p:txBody>
      </p:sp>
      <p:sp>
        <p:nvSpPr>
          <p:cNvPr id="158" name="직사각형 157"/>
          <p:cNvSpPr/>
          <p:nvPr/>
        </p:nvSpPr>
        <p:spPr>
          <a:xfrm>
            <a:off x="7529177" y="6787766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NO</a:t>
            </a:r>
            <a:endParaRPr lang="ko-KR" altLang="en-US" sz="1000" dirty="0"/>
          </a:p>
        </p:txBody>
      </p:sp>
      <p:sp>
        <p:nvSpPr>
          <p:cNvPr id="159" name="직사각형 158"/>
          <p:cNvSpPr/>
          <p:nvPr/>
        </p:nvSpPr>
        <p:spPr>
          <a:xfrm>
            <a:off x="7750413" y="5679676"/>
            <a:ext cx="437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/4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7446537" y="6216829"/>
            <a:ext cx="896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 channel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82914" y="5079594"/>
            <a:ext cx="5343525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</a:rPr>
              <a:t>덧셈의 의미</a:t>
            </a:r>
            <a:r>
              <a:rPr lang="en-US" altLang="ko-KR" sz="900" dirty="0">
                <a:solidFill>
                  <a:srgbClr val="C00000"/>
                </a:solidFill>
              </a:rPr>
              <a:t>: </a:t>
            </a:r>
            <a:r>
              <a:rPr lang="ko-KR" altLang="en-US" sz="900" dirty="0">
                <a:solidFill>
                  <a:srgbClr val="C00000"/>
                </a:solidFill>
              </a:rPr>
              <a:t>네 가지 경로의 </a:t>
            </a:r>
            <a:r>
              <a:rPr lang="ko-KR" altLang="en-US" sz="900" dirty="0" err="1">
                <a:solidFill>
                  <a:srgbClr val="C00000"/>
                </a:solidFill>
              </a:rPr>
              <a:t>특징맵을</a:t>
            </a:r>
            <a:r>
              <a:rPr lang="ko-KR" altLang="en-US" sz="900" dirty="0">
                <a:solidFill>
                  <a:srgbClr val="C00000"/>
                </a:solidFill>
              </a:rPr>
              <a:t> 결합하여 다양한 스케일과 형태의 정보를 통합하고</a:t>
            </a:r>
            <a:r>
              <a:rPr lang="en-US" altLang="ko-KR" sz="900" dirty="0">
                <a:solidFill>
                  <a:srgbClr val="C00000"/>
                </a:solidFill>
              </a:rPr>
              <a:t>, </a:t>
            </a:r>
            <a:r>
              <a:rPr lang="ko-KR" altLang="en-US" sz="900" dirty="0">
                <a:solidFill>
                  <a:srgbClr val="C00000"/>
                </a:solidFill>
              </a:rPr>
              <a:t>모델의 표현력을 높이는 역할을 합니다</a:t>
            </a:r>
            <a:r>
              <a:rPr lang="en-US" altLang="ko-KR" sz="900" dirty="0">
                <a:solidFill>
                  <a:srgbClr val="C00000"/>
                </a:solidFill>
              </a:rPr>
              <a:t>. </a:t>
            </a:r>
            <a:r>
              <a:rPr lang="ko-KR" altLang="en-US" sz="900" dirty="0">
                <a:solidFill>
                  <a:srgbClr val="C00000"/>
                </a:solidFill>
              </a:rPr>
              <a:t>이로 인해 모델은 입력 데이터에 대해 보다 풍부하고 복합적인 특징을 학습할 수 있습니다</a:t>
            </a:r>
            <a:r>
              <a:rPr lang="en-US" altLang="ko-KR" sz="900" dirty="0">
                <a:solidFill>
                  <a:srgbClr val="C00000"/>
                </a:solidFill>
              </a:rPr>
              <a:t>.</a:t>
            </a:r>
            <a:endParaRPr lang="ko-KR" altLang="en-US" sz="900" dirty="0">
              <a:solidFill>
                <a:srgbClr val="C00000"/>
              </a:solidFill>
            </a:endParaRPr>
          </a:p>
        </p:txBody>
      </p:sp>
      <p:cxnSp>
        <p:nvCxnSpPr>
          <p:cNvPr id="162" name="직선 화살표 연결선 161"/>
          <p:cNvCxnSpPr>
            <a:stCxn id="159" idx="2"/>
          </p:cNvCxnSpPr>
          <p:nvPr/>
        </p:nvCxnSpPr>
        <p:spPr>
          <a:xfrm>
            <a:off x="7969383" y="5941286"/>
            <a:ext cx="0" cy="295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오른쪽 화살표 164"/>
          <p:cNvSpPr/>
          <p:nvPr/>
        </p:nvSpPr>
        <p:spPr>
          <a:xfrm>
            <a:off x="4729981" y="918309"/>
            <a:ext cx="4085906" cy="105271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좀더 넓은 영역을 관찰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950941" y="580944"/>
            <a:ext cx="15680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*</a:t>
            </a:r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 channel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이다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ch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256, 384, 512 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이다</a:t>
            </a:r>
            <a:endParaRPr lang="ko-KR" altLang="en-US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9070" y="5534657"/>
            <a:ext cx="5343525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x2 = </a:t>
            </a:r>
            <a:r>
              <a:rPr lang="en-US" altLang="ko-KR" sz="9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self.gate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(x2a) + </a:t>
            </a:r>
            <a:r>
              <a:rPr lang="en-US" altLang="ko-KR" sz="9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self.gate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(x2b) + </a:t>
            </a:r>
            <a:r>
              <a:rPr lang="en-US" altLang="ko-KR" sz="9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self.gate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(x2c) + </a:t>
            </a:r>
            <a:r>
              <a:rPr lang="en-US" altLang="ko-KR" sz="9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self.gate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(x2d)</a:t>
            </a:r>
            <a:endParaRPr lang="en-US" altLang="ko-KR" sz="900" b="0" dirty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9972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69208" y="314530"/>
            <a:ext cx="2861904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OSBlock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end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54990" y="1455737"/>
            <a:ext cx="909955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OSBlock</a:t>
            </a:r>
            <a:r>
              <a:rPr lang="ko-KR" altLang="en-US" sz="1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주요 기능</a:t>
            </a:r>
            <a:r>
              <a:rPr lang="en-US" altLang="ko-KR" sz="1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다양한 수용 영역의 학습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OSBlock</a:t>
            </a:r>
            <a:r>
              <a:rPr lang="ko-KR" altLang="en-US" sz="1100" dirty="0"/>
              <a:t>은 여러 개의 경량화된 </a:t>
            </a:r>
            <a:r>
              <a:rPr lang="en-US" altLang="ko-KR" sz="1100" dirty="0"/>
              <a:t>3x3 </a:t>
            </a:r>
            <a:r>
              <a:rPr lang="ko-KR" altLang="en-US" sz="1100" dirty="0" err="1"/>
              <a:t>컨볼루션</a:t>
            </a:r>
            <a:r>
              <a:rPr lang="en-US" altLang="ko-KR" sz="1100" dirty="0"/>
              <a:t>(LightConv3x3) </a:t>
            </a:r>
            <a:r>
              <a:rPr lang="ko-KR" altLang="en-US" sz="1100" dirty="0"/>
              <a:t>모듈을 사용하여 다양한 깊이와 경로를 통해 특징을 추출합니다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각 경로는 서로 다른 수의 </a:t>
            </a:r>
            <a:r>
              <a:rPr lang="en-US" altLang="ko-KR" sz="1100" dirty="0"/>
              <a:t>LightConv3x3 </a:t>
            </a:r>
            <a:r>
              <a:rPr lang="ko-KR" altLang="en-US" sz="1100" dirty="0"/>
              <a:t>레이어를 포함하여 다양한 공간적 수용 영역을 형성합니다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            conv2a: </a:t>
            </a:r>
            <a:r>
              <a:rPr lang="ko-KR" altLang="en-US" sz="1100" dirty="0"/>
              <a:t>단일 </a:t>
            </a:r>
            <a:r>
              <a:rPr lang="en-US" altLang="ko-KR" sz="1100" dirty="0"/>
              <a:t>LightConv3x3.</a:t>
            </a:r>
          </a:p>
          <a:p>
            <a:r>
              <a:rPr lang="en-US" altLang="ko-KR" sz="1100" dirty="0"/>
              <a:t>            conv2b: </a:t>
            </a:r>
            <a:r>
              <a:rPr lang="ko-KR" altLang="en-US" sz="1100" dirty="0"/>
              <a:t>두 개의 </a:t>
            </a:r>
            <a:r>
              <a:rPr lang="en-US" altLang="ko-KR" sz="1100" dirty="0"/>
              <a:t>LightConv3x3</a:t>
            </a:r>
            <a:r>
              <a:rPr lang="ko-KR" altLang="en-US" sz="1100" dirty="0"/>
              <a:t>을 순차적으로 연결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       conv2c: </a:t>
            </a:r>
            <a:r>
              <a:rPr lang="ko-KR" altLang="en-US" sz="1100" dirty="0"/>
              <a:t>세 개의 </a:t>
            </a:r>
            <a:r>
              <a:rPr lang="en-US" altLang="ko-KR" sz="1100" dirty="0"/>
              <a:t>LightConv3x3</a:t>
            </a:r>
            <a:r>
              <a:rPr lang="ko-KR" altLang="en-US" sz="1100" dirty="0"/>
              <a:t>을 순차적으로 연결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       conv2d: </a:t>
            </a:r>
            <a:r>
              <a:rPr lang="ko-KR" altLang="en-US" sz="1100" dirty="0"/>
              <a:t>네 개의 </a:t>
            </a:r>
            <a:r>
              <a:rPr lang="en-US" altLang="ko-KR" sz="1100" dirty="0"/>
              <a:t>LightConv3x3</a:t>
            </a:r>
            <a:r>
              <a:rPr lang="ko-KR" altLang="en-US" sz="1100" dirty="0"/>
              <a:t>을 순차적으로 연결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채널 게이트를 통한 중요도 조절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r>
              <a:rPr lang="en-US" altLang="ko-KR" sz="1100" dirty="0"/>
              <a:t>        </a:t>
            </a:r>
            <a:r>
              <a:rPr lang="ko-KR" altLang="en-US" sz="1100" dirty="0"/>
              <a:t>각 경로에서 추출된 특징 </a:t>
            </a:r>
            <a:r>
              <a:rPr lang="ko-KR" altLang="en-US" sz="1100" dirty="0" err="1"/>
              <a:t>맵들은</a:t>
            </a:r>
            <a:r>
              <a:rPr lang="ko-KR" altLang="en-US" sz="1100" dirty="0"/>
              <a:t> </a:t>
            </a:r>
            <a:r>
              <a:rPr lang="en-US" altLang="ko-KR" sz="1100" dirty="0" err="1"/>
              <a:t>ChannelGate</a:t>
            </a:r>
            <a:r>
              <a:rPr lang="ko-KR" altLang="en-US" sz="1100" dirty="0"/>
              <a:t>를 통해 </a:t>
            </a:r>
            <a:r>
              <a:rPr lang="ko-KR" altLang="en-US" sz="1100" dirty="0" err="1"/>
              <a:t>채널별</a:t>
            </a:r>
            <a:r>
              <a:rPr lang="ko-KR" altLang="en-US" sz="1100" dirty="0"/>
              <a:t> 중요도를 조절합니다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ChannelGate</a:t>
            </a:r>
            <a:r>
              <a:rPr lang="ko-KR" altLang="en-US" sz="1100" dirty="0"/>
              <a:t>는 입력 특징 </a:t>
            </a:r>
            <a:r>
              <a:rPr lang="ko-KR" altLang="en-US" sz="1100" dirty="0" err="1"/>
              <a:t>맵의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채널별로</a:t>
            </a:r>
            <a:r>
              <a:rPr lang="ko-KR" altLang="en-US" sz="1100" dirty="0"/>
              <a:t> 가중치를 학습하여</a:t>
            </a:r>
            <a:r>
              <a:rPr lang="en-US" altLang="ko-KR" sz="1100" dirty="0"/>
              <a:t>, </a:t>
            </a:r>
            <a:r>
              <a:rPr lang="ko-KR" altLang="en-US" sz="1100" dirty="0"/>
              <a:t>중요도가 높은 채널의 정보를 강조하고</a:t>
            </a:r>
            <a:r>
              <a:rPr lang="en-US" altLang="ko-KR" sz="1100" dirty="0"/>
              <a:t>, </a:t>
            </a:r>
            <a:r>
              <a:rPr lang="ko-KR" altLang="en-US" sz="1100" dirty="0"/>
              <a:t>중요도가 낮은 채널의 기여를 억제합니다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합성된 특징 맵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r>
              <a:rPr lang="en-US" altLang="ko-KR" sz="1100" dirty="0"/>
              <a:t>        conv2a, conv2b, conv2c, conv2d</a:t>
            </a:r>
            <a:r>
              <a:rPr lang="ko-KR" altLang="en-US" sz="1100" dirty="0"/>
              <a:t>로 생성된 특징 </a:t>
            </a:r>
            <a:r>
              <a:rPr lang="ko-KR" altLang="en-US" sz="1100" dirty="0" err="1"/>
              <a:t>맵들은</a:t>
            </a:r>
            <a:r>
              <a:rPr lang="ko-KR" altLang="en-US" sz="1100" dirty="0"/>
              <a:t> 모두 </a:t>
            </a:r>
            <a:r>
              <a:rPr lang="en-US" altLang="ko-KR" sz="1100" dirty="0" err="1"/>
              <a:t>ChannelGate</a:t>
            </a:r>
            <a:r>
              <a:rPr lang="ko-KR" altLang="en-US" sz="1100" dirty="0"/>
              <a:t>를 거친 후</a:t>
            </a:r>
            <a:r>
              <a:rPr lang="en-US" altLang="ko-KR" sz="1100" dirty="0"/>
              <a:t>, </a:t>
            </a:r>
            <a:r>
              <a:rPr lang="ko-KR" altLang="en-US" sz="1100" dirty="0"/>
              <a:t>이 값들을 더하여 통합된 특징 </a:t>
            </a:r>
            <a:r>
              <a:rPr lang="ko-KR" altLang="en-US" sz="1100" dirty="0" err="1"/>
              <a:t>맵을</a:t>
            </a:r>
            <a:r>
              <a:rPr lang="ko-KR" altLang="en-US" sz="1100" dirty="0"/>
              <a:t> 형성합니다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이를 통해 다양한 스케일의 정보를 하나의 통합된 표현으로 결합합니다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1x1 </a:t>
            </a:r>
            <a:r>
              <a:rPr lang="ko-KR" altLang="en-US" sz="11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컨볼루션을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통한 차원 조정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r>
              <a:rPr lang="en-US" altLang="ko-KR" sz="1100" dirty="0"/>
              <a:t>        </a:t>
            </a:r>
            <a:r>
              <a:rPr lang="ko-KR" altLang="en-US" sz="1100" dirty="0"/>
              <a:t>통합된 특징 </a:t>
            </a:r>
            <a:r>
              <a:rPr lang="ko-KR" altLang="en-US" sz="1100" dirty="0" err="1"/>
              <a:t>맵은</a:t>
            </a:r>
            <a:r>
              <a:rPr lang="ko-KR" altLang="en-US" sz="1100" dirty="0"/>
              <a:t> </a:t>
            </a:r>
            <a:r>
              <a:rPr lang="en-US" altLang="ko-KR" sz="1100" dirty="0"/>
              <a:t>Conv1x1Linear </a:t>
            </a:r>
            <a:r>
              <a:rPr lang="ko-KR" altLang="en-US" sz="1100" dirty="0"/>
              <a:t>레이어를 통과하여</a:t>
            </a:r>
            <a:r>
              <a:rPr lang="en-US" altLang="ko-KR" sz="1100" dirty="0"/>
              <a:t>, </a:t>
            </a:r>
            <a:r>
              <a:rPr lang="ko-KR" altLang="en-US" sz="1100" dirty="0"/>
              <a:t>원하는 출력 채널 수로 조정됩니다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 레이어는 활성화 함수가 없는 </a:t>
            </a:r>
            <a:r>
              <a:rPr lang="en-US" altLang="ko-KR" sz="1100" dirty="0"/>
              <a:t>1x1 </a:t>
            </a:r>
            <a:r>
              <a:rPr lang="ko-KR" altLang="en-US" sz="1100" dirty="0" err="1"/>
              <a:t>컨볼루션으로</a:t>
            </a:r>
            <a:r>
              <a:rPr lang="ko-KR" altLang="en-US" sz="1100" dirty="0"/>
              <a:t> 구성되어 있어</a:t>
            </a:r>
            <a:r>
              <a:rPr lang="en-US" altLang="ko-KR" sz="1100" dirty="0"/>
              <a:t>, </a:t>
            </a:r>
            <a:r>
              <a:rPr lang="ko-KR" altLang="en-US" sz="1100" dirty="0"/>
              <a:t>특징을 선형적으로 변환합니다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</a:t>
            </a:r>
            <a:r>
              <a:rPr lang="ko-KR" altLang="en-US" sz="11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잔차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연결 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(Residual Connection):</a:t>
            </a:r>
          </a:p>
          <a:p>
            <a:r>
              <a:rPr lang="en-US" altLang="ko-KR" sz="1100" dirty="0"/>
              <a:t>        </a:t>
            </a:r>
            <a:r>
              <a:rPr lang="ko-KR" altLang="en-US" sz="1100" dirty="0"/>
              <a:t>입력 </a:t>
            </a:r>
            <a:r>
              <a:rPr lang="ko-KR" altLang="en-US" sz="1100" dirty="0" err="1"/>
              <a:t>텐서와</a:t>
            </a:r>
            <a:r>
              <a:rPr lang="ko-KR" altLang="en-US" sz="1100" dirty="0"/>
              <a:t> 통합된 특징 </a:t>
            </a:r>
            <a:r>
              <a:rPr lang="ko-KR" altLang="en-US" sz="1100" dirty="0" err="1"/>
              <a:t>맵을</a:t>
            </a:r>
            <a:r>
              <a:rPr lang="ko-KR" altLang="en-US" sz="1100" dirty="0"/>
              <a:t> 합쳐서 최종 출력을 생성합니다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이는 </a:t>
            </a:r>
            <a:r>
              <a:rPr lang="ko-KR" altLang="en-US" sz="1100" dirty="0" err="1"/>
              <a:t>잔차</a:t>
            </a:r>
            <a:r>
              <a:rPr lang="ko-KR" altLang="en-US" sz="1100" dirty="0"/>
              <a:t> 연결을 통해 학습을 안정화하고</a:t>
            </a:r>
            <a:r>
              <a:rPr lang="en-US" altLang="ko-KR" sz="1100" dirty="0"/>
              <a:t>, </a:t>
            </a:r>
            <a:r>
              <a:rPr lang="ko-KR" altLang="en-US" sz="1100" dirty="0"/>
              <a:t>입력 정보를 유지하며 추가적인 특징을 학습하도록 돕습니다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   </a:t>
            </a:r>
            <a:r>
              <a:rPr lang="ko-KR" altLang="en-US" sz="1100" dirty="0"/>
              <a:t>만약 입력 채널 수와 출력 채널 수가 다르면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downsample</a:t>
            </a:r>
            <a:r>
              <a:rPr lang="en-US" altLang="ko-KR" sz="1100" dirty="0"/>
              <a:t> </a:t>
            </a:r>
            <a:r>
              <a:rPr lang="ko-KR" altLang="en-US" sz="1100" dirty="0"/>
              <a:t>레이어를 사용하여 입력의 채널 수를 출력의 채널 수와 맞춰줍니다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</a:t>
            </a:r>
            <a:r>
              <a:rPr lang="ko-KR" altLang="en-US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활성화 함수</a:t>
            </a:r>
            <a:r>
              <a:rPr lang="en-US" altLang="ko-KR" sz="1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r>
              <a:rPr lang="en-US" altLang="ko-KR" sz="1100" dirty="0"/>
              <a:t>        </a:t>
            </a:r>
            <a:r>
              <a:rPr lang="ko-KR" altLang="en-US" sz="1100" dirty="0"/>
              <a:t>마지막으로</a:t>
            </a:r>
            <a:r>
              <a:rPr lang="en-US" altLang="ko-KR" sz="1100" dirty="0"/>
              <a:t>, </a:t>
            </a:r>
            <a:r>
              <a:rPr lang="ko-KR" altLang="en-US" sz="1100" dirty="0"/>
              <a:t>합성된 출력에 </a:t>
            </a:r>
            <a:r>
              <a:rPr lang="en-US" altLang="ko-KR" sz="1100" dirty="0" err="1"/>
              <a:t>ReLU</a:t>
            </a:r>
            <a:r>
              <a:rPr lang="en-US" altLang="ko-KR" sz="1100" dirty="0"/>
              <a:t> </a:t>
            </a:r>
            <a:r>
              <a:rPr lang="ko-KR" altLang="en-US" sz="1100" dirty="0"/>
              <a:t>활성화 함수가 적용되어 비선형성이 추가됩니다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917028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71375" y="314530"/>
            <a:ext cx="2257572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Conv1x1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2055" y="1248724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 , forward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96535" y="1897566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1x1 (kernel:1)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676860" y="1561530"/>
            <a:ext cx="465204" cy="5741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196534" y="2486759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BatchNorm2d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4" idx="2"/>
            <a:endCxn id="23" idx="0"/>
          </p:cNvCxnSpPr>
          <p:nvPr/>
        </p:nvCxnSpPr>
        <p:spPr>
          <a:xfrm>
            <a:off x="3431485" y="2264842"/>
            <a:ext cx="0" cy="22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196534" y="3075952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ReLU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908653" y="1280906"/>
            <a:ext cx="5343525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dirty="0" smtClean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클래스의 </a:t>
            </a:r>
            <a:r>
              <a:rPr lang="ko-KR" altLang="en-US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기능 요약</a:t>
            </a:r>
            <a:r>
              <a:rPr lang="en-US" altLang="ko-KR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: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: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입력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텐서의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각 위치에 대해 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1x1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필터를 적용하여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공간 정보를 유지하면서 채널 수를 변환합니다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채널 간의 선형 결합을 수행합니다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배치 정규화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: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결과를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정규화하여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학습 속도를 높이고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학습 과정에서의 불안정성을 줄입니다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활성화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: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비선형성을 추가하여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신경망이 복잡한 패턴을 학습할 수 있도록 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inplace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=True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메모리 사용을 줄이기 위해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텐서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자체를 수정하는 방식으로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적용합니다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ko-KR" altLang="en-US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사용 목적 및 용도</a:t>
            </a:r>
            <a:r>
              <a:rPr lang="en-US" altLang="ko-KR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: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 클래스는 다양한 네트워크에서 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컨볼루션을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사용하고자 할 때 유용합니다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컨볼루션은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채널 간의 정보를 결합하거나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채널 수를 줄이거나 늘릴 때 자주 사용됩니다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배치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정규화와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활성화를 결합함으로써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 모듈은 전형적인 신경망에서 사용되는 표준적인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블록을 형성합니다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결론적으로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Conv1x1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클래스는 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배치 정규화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활성화를 결합하여 입력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텐서의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채널 수를 변환하고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정규화하며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비선형성을 추가하는 기능을 수행하는 모듈입니다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5" name="직선 화살표 연결선 24"/>
          <p:cNvCxnSpPr>
            <a:stCxn id="23" idx="2"/>
            <a:endCxn id="22" idx="0"/>
          </p:cNvCxnSpPr>
          <p:nvPr/>
        </p:nvCxnSpPr>
        <p:spPr>
          <a:xfrm>
            <a:off x="3431485" y="2854035"/>
            <a:ext cx="0" cy="22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940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644" y="314530"/>
            <a:ext cx="3145636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Conv1x1Linear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2055" y="1248724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 , forward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96535" y="1897566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1x1 (kernel:1)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676860" y="1561530"/>
            <a:ext cx="465204" cy="5741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196534" y="2486759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BatchNorm2d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4" idx="2"/>
            <a:endCxn id="23" idx="0"/>
          </p:cNvCxnSpPr>
          <p:nvPr/>
        </p:nvCxnSpPr>
        <p:spPr>
          <a:xfrm>
            <a:off x="3431485" y="2264842"/>
            <a:ext cx="0" cy="22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908653" y="1280906"/>
            <a:ext cx="5343525" cy="22929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Conv1x1Linear</a:t>
            </a:r>
            <a:r>
              <a:rPr lang="ko-KR" altLang="en-US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와 </a:t>
            </a:r>
            <a:r>
              <a:rPr lang="en-US" altLang="ko-KR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Conv1x1</a:t>
            </a:r>
            <a:r>
              <a:rPr lang="ko-KR" altLang="en-US" sz="1100" dirty="0">
                <a:solidFill>
                  <a:srgbClr val="0070C0"/>
                </a:solidFill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의 차이점</a:t>
            </a:r>
          </a:p>
          <a:p>
            <a:endParaRPr lang="ko-KR" altLang="en-US" sz="1100" dirty="0">
              <a:solidFill>
                <a:srgbClr val="0070C0"/>
              </a:solidFill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r>
              <a:rPr lang="ko-KR" altLang="en-US" sz="1100" dirty="0" err="1" smtClean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비선형성</a:t>
            </a:r>
            <a:r>
              <a:rPr lang="ko-KR" altLang="en-US" sz="1100" dirty="0" smtClean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</a:t>
            </a:r>
            <a:r>
              <a:rPr lang="en-US" altLang="ko-KR" sz="11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(</a:t>
            </a:r>
            <a:r>
              <a:rPr lang="en-US" altLang="ko-KR" sz="1100" dirty="0" err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ReLU</a:t>
            </a:r>
            <a:r>
              <a:rPr lang="en-US" altLang="ko-KR" sz="11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</a:t>
            </a:r>
            <a:r>
              <a:rPr lang="ko-KR" altLang="en-US" sz="11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활성화 함수</a:t>
            </a:r>
            <a:r>
              <a:rPr lang="en-US" altLang="ko-KR" sz="1100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):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Conv1x1Linear: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비선형성을 추가하지 않습니다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즉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컨볼루션과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배치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정규화만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수행하며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입력 데이터에 대해 순수한 선형 변환을 적용합니다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Conv1x1: 1x1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컨볼루션과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배치 정규화 이후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ReLU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활성화 함수를 사용하여 비선형성을 추가합니다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이는 신경망이 더 복잡한 패턴을 학습할 수 있게 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endParaRPr lang="en-US" altLang="ko-KR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ko-KR" altLang="en-US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용도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: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Conv1x1Linear: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주로 입력을 선형적으로 변환하고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특징 </a:t>
            </a:r>
            <a:r>
              <a:rPr lang="ko-KR" altLang="en-US" sz="11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맵을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결합하거나 축소할 때 사용됩니다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비선형성이 필요하지 않은 경우에 적합합니다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       Conv1x1: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비선형성이 필요할 때 사용됩니다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예를 들어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특정 층에서 비선형 변환을 통해 모델의 표현력을 높이고자 할 때 사용됩니다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19106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1083" y="314530"/>
            <a:ext cx="2998160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LightConv3x3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2055" y="1248724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 , forward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96535" y="1897566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1x1 (kernel:1)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676860" y="1561530"/>
            <a:ext cx="465204" cy="5741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196534" y="3088739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BatchNorm2d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4" idx="2"/>
            <a:endCxn id="11" idx="0"/>
          </p:cNvCxnSpPr>
          <p:nvPr/>
        </p:nvCxnSpPr>
        <p:spPr>
          <a:xfrm flipH="1">
            <a:off x="3431484" y="2264842"/>
            <a:ext cx="1" cy="22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196534" y="3677932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ReLU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93413" y="1840188"/>
            <a:ext cx="5343525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b="1" dirty="0" smtClean="0"/>
              <a:t>클래스의 </a:t>
            </a:r>
            <a:r>
              <a:rPr lang="ko-KR" altLang="en-US" sz="1100" b="1" dirty="0"/>
              <a:t>기능 요약</a:t>
            </a:r>
            <a:r>
              <a:rPr lang="en-US" altLang="ko-KR" sz="1100" b="1" dirty="0"/>
              <a:t>:</a:t>
            </a:r>
          </a:p>
          <a:p>
            <a:r>
              <a:rPr lang="ko-KR" altLang="en-US" sz="1100" b="1" dirty="0"/>
              <a:t>경량화된 구조</a:t>
            </a:r>
            <a:r>
              <a:rPr lang="en-US" altLang="ko-KR" sz="1100" dirty="0"/>
              <a:t>: 1x1 </a:t>
            </a:r>
            <a:r>
              <a:rPr lang="ko-KR" altLang="en-US" sz="1100" dirty="0" err="1"/>
              <a:t>컨볼루션과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깊이별</a:t>
            </a:r>
            <a:r>
              <a:rPr lang="ko-KR" altLang="en-US" sz="1100" dirty="0"/>
              <a:t> </a:t>
            </a:r>
            <a:r>
              <a:rPr lang="en-US" altLang="ko-KR" sz="1100" dirty="0"/>
              <a:t>3x3 </a:t>
            </a:r>
            <a:r>
              <a:rPr lang="ko-KR" altLang="en-US" sz="1100" dirty="0" err="1"/>
              <a:t>컨볼루션의</a:t>
            </a:r>
            <a:r>
              <a:rPr lang="ko-KR" altLang="en-US" sz="1100" dirty="0"/>
              <a:t> 결합으로 경량화된 네트워크를 구성할 수 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효율적인 학습</a:t>
            </a:r>
            <a:r>
              <a:rPr lang="en-US" altLang="ko-KR" sz="1100" dirty="0"/>
              <a:t>: </a:t>
            </a:r>
            <a:r>
              <a:rPr lang="ko-KR" altLang="en-US" sz="1100" dirty="0"/>
              <a:t>배치 </a:t>
            </a:r>
            <a:r>
              <a:rPr lang="ko-KR" altLang="en-US" sz="1100" dirty="0" err="1"/>
              <a:t>정규화와</a:t>
            </a:r>
            <a:r>
              <a:rPr lang="ko-KR" altLang="en-US" sz="1100" dirty="0"/>
              <a:t> </a:t>
            </a:r>
            <a:r>
              <a:rPr lang="en-US" altLang="ko-KR" sz="1100" dirty="0" err="1"/>
              <a:t>ReLU</a:t>
            </a:r>
            <a:r>
              <a:rPr lang="en-US" altLang="ko-KR" sz="1100" dirty="0"/>
              <a:t> </a:t>
            </a:r>
            <a:r>
              <a:rPr lang="ko-KR" altLang="en-US" sz="1100" dirty="0"/>
              <a:t>활성화 함수를 통해 학습 안정성을 높이고</a:t>
            </a:r>
            <a:r>
              <a:rPr lang="en-US" altLang="ko-KR" sz="1100" dirty="0"/>
              <a:t>, </a:t>
            </a:r>
            <a:r>
              <a:rPr lang="ko-KR" altLang="en-US" sz="1100" dirty="0"/>
              <a:t>비선형성을 추가하여 복잡한 패턴 학습을 가능하게 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특징 추출</a:t>
            </a:r>
            <a:r>
              <a:rPr lang="en-US" altLang="ko-KR" sz="1100" dirty="0"/>
              <a:t>: 1x1 </a:t>
            </a:r>
            <a:r>
              <a:rPr lang="ko-KR" altLang="en-US" sz="1100" dirty="0" err="1"/>
              <a:t>컨볼루션으로</a:t>
            </a:r>
            <a:r>
              <a:rPr lang="ko-KR" altLang="en-US" sz="1100" dirty="0"/>
              <a:t> 채널 간의 결합을 수행하고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깊이별</a:t>
            </a:r>
            <a:r>
              <a:rPr lang="ko-KR" altLang="en-US" sz="1100" dirty="0"/>
              <a:t> </a:t>
            </a:r>
            <a:r>
              <a:rPr lang="en-US" altLang="ko-KR" sz="1100" dirty="0"/>
              <a:t>3x3 </a:t>
            </a:r>
            <a:r>
              <a:rPr lang="ko-KR" altLang="en-US" sz="1100" dirty="0" err="1"/>
              <a:t>컨볼루션으로</a:t>
            </a:r>
            <a:r>
              <a:rPr lang="ko-KR" altLang="en-US" sz="1100" dirty="0"/>
              <a:t> 각 채널의 공간적 특징을 추출합니다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이 모듈은 일반적인 </a:t>
            </a:r>
            <a:r>
              <a:rPr lang="en-US" altLang="ko-KR" sz="1100" dirty="0"/>
              <a:t>3x3 </a:t>
            </a:r>
            <a:r>
              <a:rPr lang="ko-KR" altLang="en-US" sz="1100" dirty="0" err="1"/>
              <a:t>컨볼루션보다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계산량이</a:t>
            </a:r>
            <a:r>
              <a:rPr lang="ko-KR" altLang="en-US" sz="1100" dirty="0"/>
              <a:t> 적고</a:t>
            </a:r>
            <a:r>
              <a:rPr lang="en-US" altLang="ko-KR" sz="1100" dirty="0"/>
              <a:t>, </a:t>
            </a:r>
            <a:r>
              <a:rPr lang="ko-KR" altLang="en-US" sz="1100" dirty="0"/>
              <a:t>효율적인 특징 추출이 필요한 상황에서 유용하게 사용될 수 있습니다</a:t>
            </a:r>
            <a:r>
              <a:rPr lang="en-US" altLang="ko-KR" sz="1100" dirty="0"/>
              <a:t>.</a:t>
            </a:r>
          </a:p>
        </p:txBody>
      </p:sp>
      <p:cxnSp>
        <p:nvCxnSpPr>
          <p:cNvPr id="25" name="직선 화살표 연결선 24"/>
          <p:cNvCxnSpPr>
            <a:stCxn id="23" idx="2"/>
            <a:endCxn id="22" idx="0"/>
          </p:cNvCxnSpPr>
          <p:nvPr/>
        </p:nvCxnSpPr>
        <p:spPr>
          <a:xfrm>
            <a:off x="3431485" y="3456015"/>
            <a:ext cx="0" cy="22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196534" y="2493152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3x3 (kernel:3 S:1, P:1)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3" name="직선 화살표 연결선 12"/>
          <p:cNvCxnSpPr>
            <a:stCxn id="11" idx="2"/>
            <a:endCxn id="23" idx="0"/>
          </p:cNvCxnSpPr>
          <p:nvPr/>
        </p:nvCxnSpPr>
        <p:spPr>
          <a:xfrm>
            <a:off x="3431484" y="2860428"/>
            <a:ext cx="1" cy="22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01083" y="4541611"/>
            <a:ext cx="39058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 smtClean="0">
                <a:latin typeface="+mn-ea"/>
              </a:rPr>
              <a:t>예</a:t>
            </a:r>
            <a:r>
              <a:rPr lang="en-US" altLang="ko-KR" sz="1200" b="1" dirty="0" smtClean="0">
                <a:latin typeface="+mn-ea"/>
              </a:rPr>
              <a:t>) input tensor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예를 통한 각 </a:t>
            </a:r>
            <a:r>
              <a:rPr lang="ko-KR" altLang="en-US" sz="1200" b="1" dirty="0" err="1" smtClean="0">
                <a:latin typeface="+mn-ea"/>
              </a:rPr>
              <a:t>레이어별</a:t>
            </a:r>
            <a:r>
              <a:rPr lang="ko-KR" altLang="en-US" sz="1200" b="1" dirty="0" smtClean="0">
                <a:latin typeface="+mn-ea"/>
              </a:rPr>
              <a:t> 크기 변화</a:t>
            </a:r>
            <a:endParaRPr lang="en-US" altLang="ko-KR" sz="1200" b="1" dirty="0" smtClean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초기 </a:t>
            </a:r>
            <a:r>
              <a:rPr lang="ko-KR" altLang="en-US" sz="1200" dirty="0">
                <a:latin typeface="+mn-ea"/>
              </a:rPr>
              <a:t>입력 크기</a:t>
            </a:r>
            <a:r>
              <a:rPr lang="en-US" altLang="ko-KR" sz="1200" dirty="0">
                <a:latin typeface="+mn-ea"/>
              </a:rPr>
              <a:t>: (2, </a:t>
            </a:r>
            <a:r>
              <a:rPr lang="en-US" altLang="ko-KR" sz="1200" dirty="0" smtClean="0">
                <a:latin typeface="+mn-ea"/>
              </a:rPr>
              <a:t>64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en-US" altLang="ko-KR" sz="1200" dirty="0">
                <a:latin typeface="+mn-ea"/>
              </a:rPr>
              <a:t>64, 64)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1x1 </a:t>
            </a:r>
            <a:r>
              <a:rPr lang="ko-KR" altLang="en-US" sz="1200" dirty="0" err="1">
                <a:latin typeface="+mn-ea"/>
              </a:rPr>
              <a:t>컨볼루션</a:t>
            </a:r>
            <a:r>
              <a:rPr lang="ko-KR" altLang="en-US" sz="1200" dirty="0">
                <a:latin typeface="+mn-ea"/>
              </a:rPr>
              <a:t> 후</a:t>
            </a:r>
            <a:r>
              <a:rPr lang="en-US" altLang="ko-KR" sz="1200" dirty="0">
                <a:latin typeface="+mn-ea"/>
              </a:rPr>
              <a:t>: (2, 64, 64, 64)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+mn-ea"/>
              </a:rPr>
              <a:t>깊이별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3x3 </a:t>
            </a:r>
            <a:r>
              <a:rPr lang="ko-KR" altLang="en-US" sz="1200" dirty="0" err="1">
                <a:latin typeface="+mn-ea"/>
              </a:rPr>
              <a:t>컨볼루션</a:t>
            </a:r>
            <a:r>
              <a:rPr lang="ko-KR" altLang="en-US" sz="1200" dirty="0">
                <a:latin typeface="+mn-ea"/>
              </a:rPr>
              <a:t> 후</a:t>
            </a:r>
            <a:r>
              <a:rPr lang="en-US" altLang="ko-KR" sz="1200" dirty="0">
                <a:latin typeface="+mn-ea"/>
              </a:rPr>
              <a:t>: (2, 64, 64, 64)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배치 정규화 후</a:t>
            </a:r>
            <a:r>
              <a:rPr lang="en-US" altLang="ko-KR" sz="1200" dirty="0">
                <a:latin typeface="+mn-ea"/>
              </a:rPr>
              <a:t>: (2, 64, 64, 64)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ReLU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활성화 후</a:t>
            </a:r>
            <a:r>
              <a:rPr lang="en-US" altLang="ko-KR" sz="1200" dirty="0">
                <a:latin typeface="+mn-ea"/>
              </a:rPr>
              <a:t>: (2, 64, 64, 64)</a:t>
            </a:r>
            <a:endParaRPr lang="ko-KR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013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3090" y="314530"/>
            <a:ext cx="2854145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>
                <a:solidFill>
                  <a:srgbClr val="0E0585"/>
                </a:solidFill>
              </a:rPr>
              <a:t>ChannelGate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2055" y="1248724"/>
            <a:ext cx="1975910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</a:t>
            </a:r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init</a:t>
            </a:r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__ , forward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96535" y="1897566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nn.AdaptiveAvgPool2d(1)</a:t>
            </a:r>
          </a:p>
        </p:txBody>
      </p:sp>
      <p:cxnSp>
        <p:nvCxnSpPr>
          <p:cNvPr id="5" name="꺾인 연결선 4"/>
          <p:cNvCxnSpPr>
            <a:stCxn id="3" idx="2"/>
            <a:endCxn id="4" idx="1"/>
          </p:cNvCxnSpPr>
          <p:nvPr/>
        </p:nvCxnSpPr>
        <p:spPr>
          <a:xfrm rot="16200000" flipH="1">
            <a:off x="1676860" y="1561530"/>
            <a:ext cx="465204" cy="5741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196534" y="3088738"/>
            <a:ext cx="2469901" cy="7020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self.norm1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nn.LayerNorm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in_channels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// reduction, 1, 1))</a:t>
            </a:r>
          </a:p>
        </p:txBody>
      </p:sp>
      <p:cxnSp>
        <p:nvCxnSpPr>
          <p:cNvPr id="24" name="직선 화살표 연결선 23"/>
          <p:cNvCxnSpPr>
            <a:stCxn id="4" idx="2"/>
            <a:endCxn id="11" idx="0"/>
          </p:cNvCxnSpPr>
          <p:nvPr/>
        </p:nvCxnSpPr>
        <p:spPr>
          <a:xfrm flipH="1">
            <a:off x="3431484" y="2264842"/>
            <a:ext cx="1" cy="22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196534" y="4096274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1x1 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(out: input dim kernel:1 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P:0)</a:t>
            </a:r>
          </a:p>
        </p:txBody>
      </p:sp>
      <p:cxnSp>
        <p:nvCxnSpPr>
          <p:cNvPr id="25" name="직선 화살표 연결선 24"/>
          <p:cNvCxnSpPr>
            <a:stCxn id="23" idx="2"/>
            <a:endCxn id="22" idx="0"/>
          </p:cNvCxnSpPr>
          <p:nvPr/>
        </p:nvCxnSpPr>
        <p:spPr>
          <a:xfrm>
            <a:off x="3431485" y="3790835"/>
            <a:ext cx="0" cy="30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196534" y="2493152"/>
            <a:ext cx="2469900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Conv2 1x1 (kernel:1 P:0)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3" name="직선 화살표 연결선 12"/>
          <p:cNvCxnSpPr>
            <a:stCxn id="11" idx="2"/>
            <a:endCxn id="23" idx="0"/>
          </p:cNvCxnSpPr>
          <p:nvPr/>
        </p:nvCxnSpPr>
        <p:spPr>
          <a:xfrm>
            <a:off x="3431484" y="2860428"/>
            <a:ext cx="1" cy="22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endCxn id="4" idx="1"/>
          </p:cNvCxnSpPr>
          <p:nvPr/>
        </p:nvCxnSpPr>
        <p:spPr>
          <a:xfrm flipV="1">
            <a:off x="1089660" y="2081204"/>
            <a:ext cx="1106875" cy="1297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301083" y="3378888"/>
            <a:ext cx="172318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 smtClean="0">
                <a:solidFill>
                  <a:srgbClr val="0070C0"/>
                </a:solidFill>
              </a:rPr>
              <a:t>1x1 </a:t>
            </a:r>
            <a:r>
              <a:rPr lang="ko-KR" altLang="en-US" sz="1100" b="1" dirty="0" smtClean="0">
                <a:solidFill>
                  <a:srgbClr val="0070C0"/>
                </a:solidFill>
              </a:rPr>
              <a:t>크기로 </a:t>
            </a:r>
            <a:r>
              <a:rPr lang="ko-KR" altLang="en-US" sz="1100" b="1" dirty="0" err="1" smtClean="0">
                <a:solidFill>
                  <a:srgbClr val="0070C0"/>
                </a:solidFill>
              </a:rPr>
              <a:t>줄어듬</a:t>
            </a:r>
            <a:endParaRPr lang="en-US" altLang="ko-KR" sz="1100" dirty="0">
              <a:solidFill>
                <a:srgbClr val="0070C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12690" y="2948001"/>
            <a:ext cx="5343525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self.norm1 = </a:t>
            </a:r>
            <a:r>
              <a:rPr lang="en-US" altLang="ko-KR" sz="1000" dirty="0" err="1">
                <a:solidFill>
                  <a:srgbClr val="C00000"/>
                </a:solidFill>
              </a:rPr>
              <a:t>nn.LayerNorm</a:t>
            </a:r>
            <a:r>
              <a:rPr lang="en-US" altLang="ko-KR" sz="1000" dirty="0">
                <a:solidFill>
                  <a:srgbClr val="C00000"/>
                </a:solidFill>
              </a:rPr>
              <a:t>((</a:t>
            </a:r>
            <a:r>
              <a:rPr lang="en-US" altLang="ko-KR" sz="1000" dirty="0" err="1">
                <a:solidFill>
                  <a:srgbClr val="C00000"/>
                </a:solidFill>
              </a:rPr>
              <a:t>in_channels</a:t>
            </a:r>
            <a:r>
              <a:rPr lang="en-US" altLang="ko-KR" sz="1000" dirty="0">
                <a:solidFill>
                  <a:srgbClr val="C00000"/>
                </a:solidFill>
              </a:rPr>
              <a:t> // reduction, 1, 1))</a:t>
            </a:r>
            <a:r>
              <a:rPr lang="ko-KR" altLang="en-US" sz="1000" dirty="0">
                <a:solidFill>
                  <a:srgbClr val="C00000"/>
                </a:solidFill>
              </a:rPr>
              <a:t>는 채널 수를 줄인 상태에서 각 채널의 </a:t>
            </a:r>
            <a:r>
              <a:rPr lang="en-US" altLang="ko-KR" sz="1000" dirty="0">
                <a:solidFill>
                  <a:srgbClr val="C00000"/>
                </a:solidFill>
              </a:rPr>
              <a:t>1x1 </a:t>
            </a:r>
            <a:r>
              <a:rPr lang="ko-KR" altLang="en-US" sz="1000" dirty="0">
                <a:solidFill>
                  <a:srgbClr val="C00000"/>
                </a:solidFill>
              </a:rPr>
              <a:t>크기의 </a:t>
            </a:r>
            <a:r>
              <a:rPr lang="ko-KR" altLang="en-US" sz="1000" dirty="0" err="1">
                <a:solidFill>
                  <a:srgbClr val="C00000"/>
                </a:solidFill>
              </a:rPr>
              <a:t>텐서에</a:t>
            </a:r>
            <a:r>
              <a:rPr lang="ko-KR" altLang="en-US" sz="1000" dirty="0">
                <a:solidFill>
                  <a:srgbClr val="C00000"/>
                </a:solidFill>
              </a:rPr>
              <a:t> 대해 레이어 정규화를 수행하는 레이어입니다</a:t>
            </a:r>
            <a:r>
              <a:rPr lang="en-US" altLang="ko-KR" sz="1000" dirty="0">
                <a:solidFill>
                  <a:srgbClr val="C00000"/>
                </a:solidFill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</a:rPr>
              <a:t>이를 통해 네트워크는 입력의 분포에 덜 민감하게 되고</a:t>
            </a:r>
            <a:r>
              <a:rPr lang="en-US" altLang="ko-KR" sz="1000" dirty="0">
                <a:solidFill>
                  <a:srgbClr val="C00000"/>
                </a:solidFill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</a:rPr>
              <a:t>학습 과정이 </a:t>
            </a:r>
            <a:r>
              <a:rPr lang="ko-KR" altLang="en-US" sz="1000" dirty="0" err="1">
                <a:solidFill>
                  <a:srgbClr val="C00000"/>
                </a:solidFill>
              </a:rPr>
              <a:t>안정화됩니다</a:t>
            </a:r>
            <a:r>
              <a:rPr lang="en-US" altLang="ko-KR" sz="1000" dirty="0">
                <a:solidFill>
                  <a:srgbClr val="C00000"/>
                </a:solidFill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</a:rPr>
              <a:t>이 레이어는 배치 크기와 상관없이 각 샘플의 </a:t>
            </a:r>
            <a:r>
              <a:rPr lang="ko-KR" altLang="en-US" sz="1000" dirty="0" err="1">
                <a:solidFill>
                  <a:srgbClr val="C00000"/>
                </a:solidFill>
              </a:rPr>
              <a:t>텐서에</a:t>
            </a:r>
            <a:r>
              <a:rPr lang="ko-KR" altLang="en-US" sz="1000" dirty="0">
                <a:solidFill>
                  <a:srgbClr val="C00000"/>
                </a:solidFill>
              </a:rPr>
              <a:t> 대해 독립적으로 동작하여</a:t>
            </a:r>
            <a:r>
              <a:rPr lang="en-US" altLang="ko-KR" sz="1000" dirty="0">
                <a:solidFill>
                  <a:srgbClr val="C00000"/>
                </a:solidFill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</a:rPr>
              <a:t>특정 조건에서 배치 </a:t>
            </a:r>
            <a:r>
              <a:rPr lang="ko-KR" altLang="en-US" sz="1000" dirty="0" err="1">
                <a:solidFill>
                  <a:srgbClr val="C00000"/>
                </a:solidFill>
              </a:rPr>
              <a:t>정규화보다</a:t>
            </a:r>
            <a:r>
              <a:rPr lang="ko-KR" altLang="en-US" sz="1000" dirty="0">
                <a:solidFill>
                  <a:srgbClr val="C00000"/>
                </a:solidFill>
              </a:rPr>
              <a:t> 유리할 수 있습니다</a:t>
            </a:r>
            <a:r>
              <a:rPr lang="en-US" altLang="ko-KR" sz="1000" dirty="0">
                <a:solidFill>
                  <a:srgbClr val="C00000"/>
                </a:solidFill>
              </a:rPr>
              <a:t>.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041790" y="2264842"/>
            <a:ext cx="7435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1x1xc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69852" y="2851473"/>
            <a:ext cx="8688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1x1xc/16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69852" y="3820443"/>
            <a:ext cx="81550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1x1xc/16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577682" y="1546145"/>
            <a:ext cx="12610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input = </a:t>
            </a:r>
            <a:r>
              <a:rPr lang="en-US" altLang="ko-KR" sz="1000" dirty="0" err="1" smtClean="0">
                <a:solidFill>
                  <a:srgbClr val="C00000"/>
                </a:solidFill>
              </a:rPr>
              <a:t>dxdxc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196534" y="4819023"/>
            <a:ext cx="246990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Activation 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Func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(default sigmoid)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8" name="직선 화살표 연결선 27"/>
          <p:cNvCxnSpPr>
            <a:stCxn id="22" idx="2"/>
            <a:endCxn id="27" idx="0"/>
          </p:cNvCxnSpPr>
          <p:nvPr/>
        </p:nvCxnSpPr>
        <p:spPr>
          <a:xfrm>
            <a:off x="3431485" y="4463550"/>
            <a:ext cx="0" cy="355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3969851" y="4522768"/>
            <a:ext cx="81550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1x1xc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921250" y="1761635"/>
            <a:ext cx="5343525" cy="5770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50" dirty="0">
                <a:solidFill>
                  <a:srgbClr val="0070C0"/>
                </a:solidFill>
              </a:rPr>
              <a:t>nn.AdaptiveAvgPool2d(1)</a:t>
            </a:r>
            <a:r>
              <a:rPr lang="ko-KR" altLang="en-US" sz="1050" dirty="0">
                <a:solidFill>
                  <a:srgbClr val="0070C0"/>
                </a:solidFill>
              </a:rPr>
              <a:t>는 입력 </a:t>
            </a:r>
            <a:r>
              <a:rPr lang="ko-KR" altLang="en-US" sz="1050" dirty="0" err="1">
                <a:solidFill>
                  <a:srgbClr val="0070C0"/>
                </a:solidFill>
              </a:rPr>
              <a:t>텐서의</a:t>
            </a:r>
            <a:r>
              <a:rPr lang="ko-KR" altLang="en-US" sz="1050" dirty="0">
                <a:solidFill>
                  <a:srgbClr val="0070C0"/>
                </a:solidFill>
              </a:rPr>
              <a:t> 공간적 차원을 </a:t>
            </a:r>
            <a:r>
              <a:rPr lang="en-US" altLang="ko-KR" sz="1050" dirty="0">
                <a:solidFill>
                  <a:srgbClr val="0070C0"/>
                </a:solidFill>
              </a:rPr>
              <a:t>(1, 1)</a:t>
            </a:r>
            <a:r>
              <a:rPr lang="ko-KR" altLang="en-US" sz="1050" dirty="0">
                <a:solidFill>
                  <a:srgbClr val="0070C0"/>
                </a:solidFill>
              </a:rPr>
              <a:t>로 축소하는 전역 평균 </a:t>
            </a:r>
            <a:r>
              <a:rPr lang="ko-KR" altLang="en-US" sz="1050" dirty="0" err="1">
                <a:solidFill>
                  <a:srgbClr val="0070C0"/>
                </a:solidFill>
              </a:rPr>
              <a:t>풀링</a:t>
            </a:r>
            <a:r>
              <a:rPr lang="ko-KR" altLang="en-US" sz="1050" dirty="0">
                <a:solidFill>
                  <a:srgbClr val="0070C0"/>
                </a:solidFill>
              </a:rPr>
              <a:t> 레이어입니다</a:t>
            </a:r>
            <a:r>
              <a:rPr lang="en-US" altLang="ko-KR" sz="1050" dirty="0">
                <a:solidFill>
                  <a:srgbClr val="0070C0"/>
                </a:solidFill>
              </a:rPr>
              <a:t>. </a:t>
            </a:r>
            <a:r>
              <a:rPr lang="ko-KR" altLang="en-US" sz="1050" dirty="0">
                <a:solidFill>
                  <a:srgbClr val="0070C0"/>
                </a:solidFill>
              </a:rPr>
              <a:t>이는 각 채널의 전역적 특성을 요약하고</a:t>
            </a:r>
            <a:r>
              <a:rPr lang="en-US" altLang="ko-KR" sz="1050" dirty="0">
                <a:solidFill>
                  <a:srgbClr val="0070C0"/>
                </a:solidFill>
              </a:rPr>
              <a:t>, </a:t>
            </a:r>
            <a:r>
              <a:rPr lang="ko-KR" altLang="en-US" sz="1050" dirty="0">
                <a:solidFill>
                  <a:srgbClr val="0070C0"/>
                </a:solidFill>
              </a:rPr>
              <a:t>네트워크의 계산 효율성을 높이며</a:t>
            </a:r>
            <a:r>
              <a:rPr lang="en-US" altLang="ko-KR" sz="1050" dirty="0">
                <a:solidFill>
                  <a:srgbClr val="0070C0"/>
                </a:solidFill>
              </a:rPr>
              <a:t>, </a:t>
            </a:r>
            <a:r>
              <a:rPr lang="ko-KR" altLang="en-US" sz="1050" dirty="0">
                <a:solidFill>
                  <a:srgbClr val="0070C0"/>
                </a:solidFill>
              </a:rPr>
              <a:t>출력 크기를 일정하게 유지하는 데 사용됩니다</a:t>
            </a:r>
            <a:r>
              <a:rPr lang="en-US" altLang="ko-KR" sz="1050" dirty="0">
                <a:solidFill>
                  <a:srgbClr val="0070C0"/>
                </a:solidFill>
              </a:rPr>
              <a:t>.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30" name="순서도: 판단 29"/>
          <p:cNvSpPr/>
          <p:nvPr/>
        </p:nvSpPr>
        <p:spPr>
          <a:xfrm>
            <a:off x="2569189" y="5541772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return_gates</a:t>
            </a:r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== True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1" name="직선 화살표 연결선 30"/>
          <p:cNvCxnSpPr>
            <a:stCxn id="27" idx="2"/>
            <a:endCxn id="30" idx="0"/>
          </p:cNvCxnSpPr>
          <p:nvPr/>
        </p:nvCxnSpPr>
        <p:spPr>
          <a:xfrm flipH="1">
            <a:off x="3431484" y="5186299"/>
            <a:ext cx="1" cy="355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/>
        </p:nvSpPr>
        <p:spPr>
          <a:xfrm>
            <a:off x="4838701" y="5627112"/>
            <a:ext cx="1493520" cy="367276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x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800437" y="5259324"/>
            <a:ext cx="81550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rgbClr val="C00000"/>
                </a:solidFill>
              </a:rPr>
              <a:t>결과 </a:t>
            </a:r>
            <a:r>
              <a:rPr lang="en-US" altLang="ko-KR" sz="1000" dirty="0" smtClean="0">
                <a:solidFill>
                  <a:srgbClr val="C00000"/>
                </a:solidFill>
              </a:rPr>
              <a:t>: x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cxnSp>
        <p:nvCxnSpPr>
          <p:cNvPr id="35" name="직선 화살표 연결선 34"/>
          <p:cNvCxnSpPr>
            <a:stCxn id="30" idx="3"/>
            <a:endCxn id="33" idx="1"/>
          </p:cNvCxnSpPr>
          <p:nvPr/>
        </p:nvCxnSpPr>
        <p:spPr>
          <a:xfrm>
            <a:off x="4293779" y="5810750"/>
            <a:ext cx="544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4256875" y="5578570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YES</a:t>
            </a:r>
            <a:endParaRPr lang="ko-KR" altLang="en-US" sz="1000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2684724" y="6526272"/>
            <a:ext cx="1493520" cy="367276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return input * x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0" name="직선 화살표 연결선 39"/>
          <p:cNvCxnSpPr>
            <a:stCxn id="30" idx="2"/>
            <a:endCxn id="39" idx="0"/>
          </p:cNvCxnSpPr>
          <p:nvPr/>
        </p:nvCxnSpPr>
        <p:spPr>
          <a:xfrm>
            <a:off x="3431484" y="6079728"/>
            <a:ext cx="0" cy="44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3721566" y="6159123"/>
            <a:ext cx="4965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NO</a:t>
            </a:r>
            <a:endParaRPr lang="ko-KR" altLang="en-US" sz="1000" dirty="0"/>
          </a:p>
        </p:txBody>
      </p:sp>
      <p:sp>
        <p:nvSpPr>
          <p:cNvPr id="45" name="직사각형 44"/>
          <p:cNvSpPr/>
          <p:nvPr/>
        </p:nvSpPr>
        <p:spPr>
          <a:xfrm>
            <a:off x="4293779" y="6620331"/>
            <a:ext cx="215027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rgbClr val="C00000"/>
                </a:solidFill>
              </a:rPr>
              <a:t>입력에 가중치를 곱하여 </a:t>
            </a:r>
            <a:r>
              <a:rPr lang="en-US" altLang="ko-KR" sz="1000" dirty="0" smtClean="0">
                <a:solidFill>
                  <a:srgbClr val="C00000"/>
                </a:solidFill>
              </a:rPr>
              <a:t>return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473044" y="4463550"/>
            <a:ext cx="379603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/>
              <a:t>클래스의 작동 방식</a:t>
            </a:r>
            <a:r>
              <a:rPr lang="en-US" altLang="ko-KR" sz="800" dirty="0"/>
              <a:t>:</a:t>
            </a:r>
          </a:p>
          <a:p>
            <a:endParaRPr lang="en-US" altLang="ko-KR" sz="800" dirty="0"/>
          </a:p>
          <a:p>
            <a:r>
              <a:rPr lang="en-US" altLang="ko-KR" sz="800" dirty="0"/>
              <a:t>    </a:t>
            </a:r>
            <a:r>
              <a:rPr lang="ko-KR" altLang="en-US" sz="800" dirty="0"/>
              <a:t>이 클래스는 입력 </a:t>
            </a:r>
            <a:r>
              <a:rPr lang="ko-KR" altLang="en-US" sz="800" dirty="0" err="1"/>
              <a:t>텐서의</a:t>
            </a:r>
            <a:r>
              <a:rPr lang="ko-KR" altLang="en-US" sz="800" dirty="0"/>
              <a:t> </a:t>
            </a:r>
            <a:r>
              <a:rPr lang="ko-KR" altLang="en-US" sz="800" dirty="0" err="1"/>
              <a:t>채널별</a:t>
            </a:r>
            <a:r>
              <a:rPr lang="ko-KR" altLang="en-US" sz="800" dirty="0"/>
              <a:t> 전역 특성을 추출하고</a:t>
            </a:r>
            <a:r>
              <a:rPr lang="en-US" altLang="ko-KR" sz="800" dirty="0"/>
              <a:t>, </a:t>
            </a:r>
            <a:r>
              <a:rPr lang="ko-KR" altLang="en-US" sz="800" dirty="0"/>
              <a:t>이를 기반으로 각 채널에 대한 게이트 값을 생성합니다</a:t>
            </a:r>
            <a:r>
              <a:rPr lang="en-US" altLang="ko-KR" sz="800" dirty="0"/>
              <a:t>.</a:t>
            </a:r>
          </a:p>
          <a:p>
            <a:r>
              <a:rPr lang="en-US" altLang="ko-KR" sz="800" dirty="0"/>
              <a:t>    </a:t>
            </a:r>
            <a:r>
              <a:rPr lang="ko-KR" altLang="en-US" sz="800" dirty="0"/>
              <a:t>게이트 값은 입력 </a:t>
            </a:r>
            <a:r>
              <a:rPr lang="ko-KR" altLang="en-US" sz="800" dirty="0" err="1"/>
              <a:t>텐서의</a:t>
            </a:r>
            <a:r>
              <a:rPr lang="ko-KR" altLang="en-US" sz="800" dirty="0"/>
              <a:t> 각 채널에 곱해져</a:t>
            </a:r>
            <a:r>
              <a:rPr lang="en-US" altLang="ko-KR" sz="800" dirty="0"/>
              <a:t>, </a:t>
            </a:r>
            <a:r>
              <a:rPr lang="ko-KR" altLang="en-US" sz="800" dirty="0"/>
              <a:t>중요도에 따라 채널의 값을 조정합니다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이를 통해 특정 채널의 정보가 강조되거나 억제될 수 있습니다</a:t>
            </a:r>
            <a:r>
              <a:rPr lang="en-US" altLang="ko-KR" sz="800" dirty="0"/>
              <a:t>.</a:t>
            </a:r>
          </a:p>
          <a:p>
            <a:r>
              <a:rPr lang="en-US" altLang="ko-KR" sz="800" dirty="0"/>
              <a:t>    </a:t>
            </a:r>
            <a:r>
              <a:rPr lang="ko-KR" altLang="en-US" sz="800" dirty="0"/>
              <a:t>예를 들어</a:t>
            </a:r>
            <a:r>
              <a:rPr lang="en-US" altLang="ko-KR" sz="800" dirty="0"/>
              <a:t>, </a:t>
            </a:r>
            <a:r>
              <a:rPr lang="ko-KR" altLang="en-US" sz="800" dirty="0"/>
              <a:t>이미지 분류 문제에서 중요한 특징을 강조하고 불필요한 정보는 줄이는 방식으로 모델의 성능을 향상시킬 수 있습니다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ko-KR" altLang="en-US" sz="800" dirty="0"/>
              <a:t>요약</a:t>
            </a:r>
            <a:r>
              <a:rPr lang="en-US" altLang="ko-KR" sz="800" dirty="0"/>
              <a:t>:</a:t>
            </a:r>
          </a:p>
          <a:p>
            <a:endParaRPr lang="en-US" altLang="ko-KR" sz="800" dirty="0"/>
          </a:p>
          <a:p>
            <a:r>
              <a:rPr lang="en-US" altLang="ko-KR" sz="800" dirty="0" err="1"/>
              <a:t>ChannelGate</a:t>
            </a:r>
            <a:r>
              <a:rPr lang="en-US" altLang="ko-KR" sz="800" dirty="0"/>
              <a:t> </a:t>
            </a:r>
            <a:r>
              <a:rPr lang="ko-KR" altLang="en-US" sz="800" dirty="0"/>
              <a:t>클래스는 입력 </a:t>
            </a:r>
            <a:r>
              <a:rPr lang="ko-KR" altLang="en-US" sz="800" dirty="0" err="1"/>
              <a:t>텐서의</a:t>
            </a:r>
            <a:r>
              <a:rPr lang="ko-KR" altLang="en-US" sz="800" dirty="0"/>
              <a:t> </a:t>
            </a:r>
            <a:r>
              <a:rPr lang="ko-KR" altLang="en-US" sz="800" dirty="0" err="1"/>
              <a:t>채널별</a:t>
            </a:r>
            <a:r>
              <a:rPr lang="ko-KR" altLang="en-US" sz="800" dirty="0"/>
              <a:t> 중요도를 학습하고</a:t>
            </a:r>
            <a:r>
              <a:rPr lang="en-US" altLang="ko-KR" sz="800" dirty="0"/>
              <a:t>, </a:t>
            </a:r>
            <a:r>
              <a:rPr lang="ko-KR" altLang="en-US" sz="800" dirty="0"/>
              <a:t>이를 기반으로 채널 가중치를 조절하는 게이트를 생성합니다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전역 평균 </a:t>
            </a:r>
            <a:r>
              <a:rPr lang="ko-KR" altLang="en-US" sz="800" dirty="0" err="1"/>
              <a:t>풀링</a:t>
            </a:r>
            <a:r>
              <a:rPr lang="en-US" altLang="ko-KR" sz="800" dirty="0"/>
              <a:t>, 1x1 </a:t>
            </a:r>
            <a:r>
              <a:rPr lang="ko-KR" altLang="en-US" sz="800" dirty="0" err="1"/>
              <a:t>컨볼루션</a:t>
            </a:r>
            <a:r>
              <a:rPr lang="en-US" altLang="ko-KR" sz="800" dirty="0"/>
              <a:t>, </a:t>
            </a:r>
            <a:r>
              <a:rPr lang="ko-KR" altLang="en-US" sz="800" dirty="0"/>
              <a:t>선택적인 레이어 정규화</a:t>
            </a:r>
            <a:r>
              <a:rPr lang="en-US" altLang="ko-KR" sz="800" dirty="0"/>
              <a:t>, </a:t>
            </a:r>
            <a:r>
              <a:rPr lang="en-US" altLang="ko-KR" sz="800" dirty="0" err="1"/>
              <a:t>ReLU</a:t>
            </a:r>
            <a:r>
              <a:rPr lang="en-US" altLang="ko-KR" sz="800" dirty="0"/>
              <a:t> </a:t>
            </a:r>
            <a:r>
              <a:rPr lang="ko-KR" altLang="en-US" sz="800" dirty="0"/>
              <a:t>활성화</a:t>
            </a:r>
            <a:r>
              <a:rPr lang="en-US" altLang="ko-KR" sz="800" dirty="0"/>
              <a:t>, </a:t>
            </a:r>
            <a:r>
              <a:rPr lang="ko-KR" altLang="en-US" sz="800" dirty="0"/>
              <a:t>그리고 지정된 게이트 활성화 함수로 구성되어</a:t>
            </a:r>
            <a:r>
              <a:rPr lang="en-US" altLang="ko-KR" sz="800" dirty="0"/>
              <a:t>, </a:t>
            </a:r>
            <a:r>
              <a:rPr lang="ko-KR" altLang="en-US" sz="800" dirty="0"/>
              <a:t>입력 특징 </a:t>
            </a:r>
            <a:r>
              <a:rPr lang="ko-KR" altLang="en-US" sz="800" b="1" u="sng" dirty="0" err="1"/>
              <a:t>맵의</a:t>
            </a:r>
            <a:r>
              <a:rPr lang="ko-KR" altLang="en-US" sz="800" b="1" u="sng" dirty="0"/>
              <a:t> </a:t>
            </a:r>
            <a:r>
              <a:rPr lang="ko-KR" altLang="en-US" sz="800" b="1" u="sng" dirty="0" err="1">
                <a:solidFill>
                  <a:srgbClr val="C00000"/>
                </a:solidFill>
              </a:rPr>
              <a:t>채널별</a:t>
            </a:r>
            <a:r>
              <a:rPr lang="ko-KR" altLang="en-US" sz="800" b="1" u="sng" dirty="0">
                <a:solidFill>
                  <a:srgbClr val="C00000"/>
                </a:solidFill>
              </a:rPr>
              <a:t> 중요도를 동적으로 조정하는 기능을 </a:t>
            </a:r>
            <a:r>
              <a:rPr lang="ko-KR" altLang="en-US" sz="800" dirty="0"/>
              <a:t>수행합니다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이를 통해 모델이 더 효과적으로 특정 채널에 집중할 수 있게 하며</a:t>
            </a:r>
            <a:r>
              <a:rPr lang="en-US" altLang="ko-KR" sz="800" dirty="0"/>
              <a:t>, </a:t>
            </a:r>
            <a:r>
              <a:rPr lang="ko-KR" altLang="en-US" sz="800" dirty="0"/>
              <a:t>다양한 컴퓨터 비전 문제에서 성능을 개선하는 데 사용됩니다</a:t>
            </a:r>
            <a:r>
              <a:rPr lang="en-US" altLang="ko-KR" sz="800" dirty="0"/>
              <a:t>.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821752" y="1648621"/>
            <a:ext cx="18020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smtClean="0"/>
              <a:t>예</a:t>
            </a:r>
            <a:r>
              <a:rPr lang="en-US" altLang="ko-KR" sz="900" dirty="0" smtClean="0"/>
              <a:t>) </a:t>
            </a:r>
            <a:r>
              <a:rPr lang="ko-KR" altLang="en-US" sz="900" dirty="0" smtClean="0"/>
              <a:t>초기 </a:t>
            </a:r>
            <a:r>
              <a:rPr lang="ko-KR" altLang="en-US" sz="900" dirty="0"/>
              <a:t>입력 </a:t>
            </a:r>
            <a:r>
              <a:rPr lang="ko-KR" altLang="en-US" sz="900" dirty="0" err="1"/>
              <a:t>텐서</a:t>
            </a:r>
            <a:r>
              <a:rPr lang="en-US" altLang="ko-KR" sz="900" dirty="0"/>
              <a:t>: (2, 64, 8, 8)</a:t>
            </a:r>
            <a:endParaRPr lang="ko-KR" altLang="en-US" sz="900" dirty="0"/>
          </a:p>
        </p:txBody>
      </p:sp>
      <p:sp>
        <p:nvSpPr>
          <p:cNvPr id="49" name="직사각형 48"/>
          <p:cNvSpPr/>
          <p:nvPr/>
        </p:nvSpPr>
        <p:spPr>
          <a:xfrm>
            <a:off x="2396299" y="2272536"/>
            <a:ext cx="77296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/>
              <a:t>(2, 64, 1, 1)</a:t>
            </a:r>
            <a:endParaRPr lang="ko-KR" altLang="en-US" sz="900" dirty="0"/>
          </a:p>
        </p:txBody>
      </p:sp>
      <p:sp>
        <p:nvSpPr>
          <p:cNvPr id="50" name="직사각형 49"/>
          <p:cNvSpPr/>
          <p:nvPr/>
        </p:nvSpPr>
        <p:spPr>
          <a:xfrm>
            <a:off x="2381689" y="2844714"/>
            <a:ext cx="7649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(2, 4, 1, 1)</a:t>
            </a:r>
            <a:endParaRPr lang="ko-KR" altLang="en-US" sz="1000" dirty="0"/>
          </a:p>
        </p:txBody>
      </p:sp>
      <p:sp>
        <p:nvSpPr>
          <p:cNvPr id="51" name="직사각형 50"/>
          <p:cNvSpPr/>
          <p:nvPr/>
        </p:nvSpPr>
        <p:spPr>
          <a:xfrm>
            <a:off x="2431533" y="3814915"/>
            <a:ext cx="7649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(2, 4, 1, 1)</a:t>
            </a:r>
            <a:endParaRPr lang="ko-KR" altLang="en-US" sz="1000" dirty="0"/>
          </a:p>
        </p:txBody>
      </p:sp>
      <p:sp>
        <p:nvSpPr>
          <p:cNvPr id="52" name="직사각형 51"/>
          <p:cNvSpPr/>
          <p:nvPr/>
        </p:nvSpPr>
        <p:spPr>
          <a:xfrm>
            <a:off x="2443296" y="4512338"/>
            <a:ext cx="8354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(2, </a:t>
            </a:r>
            <a:r>
              <a:rPr lang="en-US" altLang="ko-KR" sz="1000" dirty="0" smtClean="0"/>
              <a:t>64, </a:t>
            </a:r>
            <a:r>
              <a:rPr lang="en-US" altLang="ko-KR" sz="1000" dirty="0"/>
              <a:t>1, 1)</a:t>
            </a:r>
            <a:endParaRPr lang="ko-KR" altLang="en-US" sz="1000" dirty="0"/>
          </a:p>
        </p:txBody>
      </p:sp>
      <p:sp>
        <p:nvSpPr>
          <p:cNvPr id="54" name="직사각형 53"/>
          <p:cNvSpPr/>
          <p:nvPr/>
        </p:nvSpPr>
        <p:spPr>
          <a:xfrm>
            <a:off x="2381689" y="5243909"/>
            <a:ext cx="8354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(2, </a:t>
            </a:r>
            <a:r>
              <a:rPr lang="en-US" altLang="ko-KR" sz="1000" dirty="0" smtClean="0"/>
              <a:t>64, </a:t>
            </a:r>
            <a:r>
              <a:rPr lang="en-US" altLang="ko-KR" sz="1000" dirty="0"/>
              <a:t>1, 1)</a:t>
            </a:r>
            <a:endParaRPr lang="ko-KR" altLang="en-US" sz="1000" dirty="0"/>
          </a:p>
        </p:txBody>
      </p:sp>
      <p:sp>
        <p:nvSpPr>
          <p:cNvPr id="55" name="직사각형 54"/>
          <p:cNvSpPr/>
          <p:nvPr/>
        </p:nvSpPr>
        <p:spPr>
          <a:xfrm>
            <a:off x="2167755" y="6948812"/>
            <a:ext cx="15055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smtClean="0"/>
              <a:t>예</a:t>
            </a:r>
            <a:r>
              <a:rPr lang="en-US" altLang="ko-KR" sz="900" dirty="0" smtClean="0"/>
              <a:t>) </a:t>
            </a:r>
            <a:r>
              <a:rPr lang="ko-KR" altLang="en-US" sz="900" dirty="0" smtClean="0"/>
              <a:t>출력 크기 </a:t>
            </a:r>
            <a:r>
              <a:rPr lang="en-US" altLang="ko-KR" sz="900" dirty="0" smtClean="0"/>
              <a:t>(</a:t>
            </a:r>
            <a:r>
              <a:rPr lang="en-US" altLang="ko-KR" sz="900" dirty="0"/>
              <a:t>2, 64, 8, 8)</a:t>
            </a:r>
            <a:endParaRPr lang="ko-KR" altLang="en-US" sz="900" dirty="0"/>
          </a:p>
        </p:txBody>
      </p:sp>
      <p:sp>
        <p:nvSpPr>
          <p:cNvPr id="6" name="직사각형 5"/>
          <p:cNvSpPr/>
          <p:nvPr/>
        </p:nvSpPr>
        <p:spPr>
          <a:xfrm>
            <a:off x="4819968" y="3575712"/>
            <a:ext cx="1050288" cy="4082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losses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9587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3377" y="314530"/>
            <a:ext cx="3113576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Engine(object)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87975" y="1896216"/>
            <a:ext cx="1347854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set_model_mode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순서도: 판단 3"/>
          <p:cNvSpPr/>
          <p:nvPr/>
        </p:nvSpPr>
        <p:spPr>
          <a:xfrm>
            <a:off x="2099607" y="3056930"/>
            <a:ext cx="1724590" cy="537956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mode == ‘train’</a:t>
            </a:r>
            <a:endParaRPr lang="ko-KR" altLang="en-US" sz="11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196535" y="2494103"/>
            <a:ext cx="1530734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names = 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self.get_model_names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86739" y="3142270"/>
            <a:ext cx="170055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self._models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[name].train()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11626" y="3790437"/>
            <a:ext cx="170055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self._models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[name].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eval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" name="직선 화살표 연결선 7"/>
          <p:cNvCxnSpPr>
            <a:stCxn id="3" idx="2"/>
            <a:endCxn id="5" idx="0"/>
          </p:cNvCxnSpPr>
          <p:nvPr/>
        </p:nvCxnSpPr>
        <p:spPr>
          <a:xfrm>
            <a:off x="2961902" y="2263492"/>
            <a:ext cx="0" cy="230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5" idx="2"/>
            <a:endCxn id="4" idx="0"/>
          </p:cNvCxnSpPr>
          <p:nvPr/>
        </p:nvCxnSpPr>
        <p:spPr>
          <a:xfrm>
            <a:off x="2961902" y="2861379"/>
            <a:ext cx="0" cy="19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" idx="2"/>
            <a:endCxn id="7" idx="0"/>
          </p:cNvCxnSpPr>
          <p:nvPr/>
        </p:nvCxnSpPr>
        <p:spPr>
          <a:xfrm>
            <a:off x="2961902" y="3594886"/>
            <a:ext cx="0" cy="19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4" idx="3"/>
            <a:endCxn id="6" idx="1"/>
          </p:cNvCxnSpPr>
          <p:nvPr/>
        </p:nvCxnSpPr>
        <p:spPr>
          <a:xfrm>
            <a:off x="3824197" y="3325908"/>
            <a:ext cx="5625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415845" y="1427493"/>
            <a:ext cx="1064813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train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5" name="꺾인 연결선 24"/>
          <p:cNvCxnSpPr>
            <a:stCxn id="24" idx="2"/>
            <a:endCxn id="3" idx="1"/>
          </p:cNvCxnSpPr>
          <p:nvPr/>
        </p:nvCxnSpPr>
        <p:spPr>
          <a:xfrm rot="16200000" flipH="1">
            <a:off x="1975571" y="1767449"/>
            <a:ext cx="285085" cy="3397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2111625" y="4477858"/>
            <a:ext cx="170055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two_stepped_transfer_learning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9" name="직선 화살표 연결선 28"/>
          <p:cNvCxnSpPr>
            <a:stCxn id="7" idx="2"/>
            <a:endCxn id="28" idx="0"/>
          </p:cNvCxnSpPr>
          <p:nvPr/>
        </p:nvCxnSpPr>
        <p:spPr>
          <a:xfrm flipH="1">
            <a:off x="2961901" y="4157713"/>
            <a:ext cx="1" cy="32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2123646" y="5079487"/>
            <a:ext cx="170055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for loop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3" name="직선 화살표 연결선 32"/>
          <p:cNvCxnSpPr>
            <a:stCxn id="28" idx="2"/>
            <a:endCxn id="32" idx="0"/>
          </p:cNvCxnSpPr>
          <p:nvPr/>
        </p:nvCxnSpPr>
        <p:spPr>
          <a:xfrm>
            <a:off x="2961901" y="4845134"/>
            <a:ext cx="12021" cy="234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3454546" y="5681116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self.forward_backward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(data)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8" name="꺾인 연결선 37"/>
          <p:cNvCxnSpPr>
            <a:stCxn id="32" idx="2"/>
            <a:endCxn id="37" idx="1"/>
          </p:cNvCxnSpPr>
          <p:nvPr/>
        </p:nvCxnSpPr>
        <p:spPr>
          <a:xfrm rot="16200000" flipH="1">
            <a:off x="2985185" y="5435500"/>
            <a:ext cx="458099" cy="4806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711408" y="6362960"/>
            <a:ext cx="2053187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self.parse_data_for_train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(data)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2" name="꺾인 연결선 41"/>
          <p:cNvCxnSpPr>
            <a:stCxn id="37" idx="2"/>
            <a:endCxn id="41" idx="1"/>
          </p:cNvCxnSpPr>
          <p:nvPr/>
        </p:nvCxnSpPr>
        <p:spPr>
          <a:xfrm rot="16200000" flipH="1">
            <a:off x="4389342" y="6224531"/>
            <a:ext cx="417991" cy="2261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948716" y="6172632"/>
            <a:ext cx="24956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solidFill>
                  <a:srgbClr val="DCDCAA"/>
                </a:solidFill>
                <a:latin typeface="Consolas" panose="020B0609020204030204" pitchFamily="49" charset="0"/>
              </a:rPr>
              <a:t>parse_data_for_train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9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9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900" dirty="0" err="1">
                <a:solidFill>
                  <a:srgbClr val="9CDCFE"/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9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900" dirty="0" err="1">
                <a:solidFill>
                  <a:srgbClr val="CE9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9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900" dirty="0" err="1">
                <a:solidFill>
                  <a:srgbClr val="9CDCFE"/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9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900" dirty="0" err="1">
                <a:solidFill>
                  <a:srgbClr val="CE9178"/>
                </a:solidFill>
                <a:latin typeface="Consolas" panose="020B0609020204030204" pitchFamily="49" charset="0"/>
              </a:rPr>
              <a:t>pid</a:t>
            </a:r>
            <a:r>
              <a:rPr lang="en-US" altLang="ko-KR" sz="9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9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900" dirty="0" err="1">
                <a:solidFill>
                  <a:srgbClr val="9CDCFE"/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9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900" dirty="0" err="1">
                <a:solidFill>
                  <a:srgbClr val="9CDCFE"/>
                </a:solidFill>
                <a:latin typeface="Consolas" panose="020B0609020204030204" pitchFamily="49" charset="0"/>
              </a:rPr>
              <a:t>pids</a:t>
            </a:r>
            <a:endParaRPr lang="en-US" altLang="ko-K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711407" y="6937662"/>
            <a:ext cx="2053187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outputs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self.model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940315" y="6955133"/>
            <a:ext cx="12610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rgbClr val="C00000"/>
                </a:solidFill>
              </a:rPr>
              <a:t>실질적인 트레이닝 수행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cxnSp>
        <p:nvCxnSpPr>
          <p:cNvPr id="26" name="직선 화살표 연결선 25"/>
          <p:cNvCxnSpPr>
            <a:stCxn id="41" idx="2"/>
            <a:endCxn id="46" idx="0"/>
          </p:cNvCxnSpPr>
          <p:nvPr/>
        </p:nvCxnSpPr>
        <p:spPr>
          <a:xfrm flipH="1">
            <a:off x="5738001" y="6730236"/>
            <a:ext cx="1" cy="207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46" idx="2"/>
          </p:cNvCxnSpPr>
          <p:nvPr/>
        </p:nvCxnSpPr>
        <p:spPr>
          <a:xfrm flipH="1">
            <a:off x="5738000" y="7304938"/>
            <a:ext cx="1" cy="254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5486969" y="3516633"/>
            <a:ext cx="5204844" cy="2839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forward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return_featuremaps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x = </a:t>
            </a:r>
            <a:r>
              <a:rPr lang="en-US" altLang="ko-KR" sz="1050" dirty="0" err="1" smtClean="0">
                <a:solidFill>
                  <a:srgbClr val="C00000"/>
                </a:solidFill>
                <a:latin typeface="Consolas" panose="020B0609020204030204" pitchFamily="49" charset="0"/>
              </a:rPr>
              <a:t>self.</a:t>
            </a:r>
            <a:r>
              <a:rPr lang="en-US" altLang="ko-KR" sz="1050" dirty="0" err="1" smtClean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featuremaps</a:t>
            </a:r>
            <a:r>
              <a:rPr lang="en-US" altLang="ko-KR" sz="105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return_featuremaps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self.global_avgpool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.view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.size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), -</a:t>
            </a:r>
            <a:r>
              <a:rPr lang="en-US" altLang="ko-KR" sz="1050" dirty="0" smtClean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fc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is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None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fc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training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classifier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loss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softmax</a:t>
            </a:r>
            <a:r>
              <a:rPr lang="en-US" altLang="ko-KR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err="1" smtClean="0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loss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'triplet'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50" dirty="0" smtClean="0">
                <a:solidFill>
                  <a:srgbClr val="C586C0"/>
                </a:solidFill>
                <a:latin typeface="Consolas" panose="020B0609020204030204" pitchFamily="49" charset="0"/>
              </a:rPr>
              <a:t>raise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KeyError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"Unsupported loss: </a:t>
            </a:r>
            <a:r>
              <a:rPr lang="en-US" altLang="ko-KR" sz="1050" dirty="0" smtClean="0">
                <a:solidFill>
                  <a:srgbClr val="569CD6"/>
                </a:solidFill>
                <a:latin typeface="Consolas" panose="020B0609020204030204" pitchFamily="49" charset="0"/>
              </a:rPr>
              <a:t>{}</a:t>
            </a:r>
            <a:r>
              <a:rPr lang="en-US" altLang="ko-KR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smtClean="0">
                <a:solidFill>
                  <a:srgbClr val="DCDCAA"/>
                </a:solidFill>
                <a:latin typeface="Consolas" panose="020B0609020204030204" pitchFamily="49" charset="0"/>
              </a:rPr>
              <a:t>format</a:t>
            </a:r>
            <a:r>
              <a:rPr lang="en-US" altLang="ko-KR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loss</a:t>
            </a:r>
            <a:r>
              <a:rPr lang="en-US" altLang="ko-KR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))</a:t>
            </a:r>
            <a:endParaRPr lang="en-US" altLang="ko-KR" sz="105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구부러진 연결선 33"/>
          <p:cNvCxnSpPr>
            <a:stCxn id="41" idx="1"/>
            <a:endCxn id="45" idx="0"/>
          </p:cNvCxnSpPr>
          <p:nvPr/>
        </p:nvCxnSpPr>
        <p:spPr>
          <a:xfrm rot="10800000">
            <a:off x="2196536" y="6172632"/>
            <a:ext cx="2514873" cy="373966"/>
          </a:xfrm>
          <a:prstGeom prst="curvedConnector4">
            <a:avLst>
              <a:gd name="adj1" fmla="val 25191"/>
              <a:gd name="adj2" fmla="val 161129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 34"/>
          <p:cNvCxnSpPr>
            <a:stCxn id="46" idx="3"/>
            <a:endCxn id="14" idx="1"/>
          </p:cNvCxnSpPr>
          <p:nvPr/>
        </p:nvCxnSpPr>
        <p:spPr>
          <a:xfrm flipH="1" flipV="1">
            <a:off x="5486969" y="4936253"/>
            <a:ext cx="1277625" cy="2185047"/>
          </a:xfrm>
          <a:prstGeom prst="curvedConnector5">
            <a:avLst>
              <a:gd name="adj1" fmla="val -17893"/>
              <a:gd name="adj2" fmla="val 21717"/>
              <a:gd name="adj3" fmla="val 117893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5655304" y="1356579"/>
            <a:ext cx="278830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featuremaps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self.conv1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self.maxpool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self.conv2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self.conv3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self.conv4</a:t>
            </a:r>
            <a:r>
              <a:rPr lang="en-US" altLang="ko-KR" sz="11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self.conv5</a:t>
            </a:r>
            <a:r>
              <a:rPr lang="en-US" altLang="ko-KR" sz="11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x</a:t>
            </a:r>
            <a:endParaRPr lang="en-US" altLang="ko-KR" sz="1100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3" name="구부러진 연결선 42"/>
          <p:cNvCxnSpPr>
            <a:endCxn id="23" idx="2"/>
          </p:cNvCxnSpPr>
          <p:nvPr/>
        </p:nvCxnSpPr>
        <p:spPr>
          <a:xfrm rot="16200000" flipV="1">
            <a:off x="6963978" y="2888608"/>
            <a:ext cx="987308" cy="81634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000139" y="6423487"/>
            <a:ext cx="865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7030A0"/>
                </a:solidFill>
              </a:rPr>
              <a:t>softmax.py</a:t>
            </a:r>
            <a:endParaRPr lang="ko-KR" altLang="en-US" sz="1000" dirty="0">
              <a:solidFill>
                <a:srgbClr val="7030A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0496" y="1080514"/>
            <a:ext cx="1152498" cy="3672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run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0" name="꺾인 연결선 49"/>
          <p:cNvCxnSpPr>
            <a:stCxn id="49" idx="2"/>
            <a:endCxn id="24" idx="1"/>
          </p:cNvCxnSpPr>
          <p:nvPr/>
        </p:nvCxnSpPr>
        <p:spPr>
          <a:xfrm rot="16200000" flipH="1">
            <a:off x="954625" y="1149910"/>
            <a:ext cx="163341" cy="7591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2570335" y="1512689"/>
            <a:ext cx="865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7030A0"/>
                </a:solidFill>
              </a:rPr>
              <a:t>engine.py</a:t>
            </a:r>
            <a:endParaRPr lang="ko-KR" altLang="en-US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9700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8550" y="295719"/>
            <a:ext cx="3870192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Engine(object)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972232" y="1225120"/>
            <a:ext cx="3106993" cy="36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self.compute_loss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self.criterion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outputs,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pids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7392599" y="1285647"/>
            <a:ext cx="126101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loss </a:t>
            </a:r>
            <a:r>
              <a:rPr lang="ko-KR" altLang="en-US" sz="1000" dirty="0" smtClean="0">
                <a:solidFill>
                  <a:srgbClr val="C00000"/>
                </a:solidFill>
              </a:rPr>
              <a:t>계산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793657" y="1761014"/>
            <a:ext cx="2571135" cy="3672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 = criterion(outputs, targets)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1" name="꺾인 연결선 50"/>
          <p:cNvCxnSpPr>
            <a:stCxn id="48" idx="2"/>
            <a:endCxn id="50" idx="1"/>
          </p:cNvCxnSpPr>
          <p:nvPr/>
        </p:nvCxnSpPr>
        <p:spPr>
          <a:xfrm rot="16200000" flipH="1">
            <a:off x="5483565" y="1634560"/>
            <a:ext cx="352256" cy="2679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2956890" y="2447174"/>
            <a:ext cx="7227969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forward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(self, inputs, targets):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Args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: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inputs (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): prediction matrix (before 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softmax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) with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    shape (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num_classes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).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targets (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torch.LongTensor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): ground truth labels with shape (</a:t>
            </a:r>
            <a:r>
              <a:rPr lang="en-US" altLang="ko-K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).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    Each position contains the label index.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"""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self.logsoftmax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(inputs)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.size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targets =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scatter</a:t>
            </a:r>
            <a:r>
              <a:rPr lang="en-US" altLang="ko-KR" sz="11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.unsqueeze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data.cpu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(),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self.use_gpu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cuda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self.eps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0070C0"/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self.eps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self.num_classes</a:t>
            </a:r>
            <a:endParaRPr lang="en-US" altLang="ko-KR" sz="11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).mean(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).sum()</a:t>
            </a:r>
            <a:endParaRPr lang="en-US" altLang="ko-KR" sz="110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6" name="구부러진 연결선 55"/>
          <p:cNvCxnSpPr>
            <a:stCxn id="50" idx="2"/>
            <a:endCxn id="55" idx="0"/>
          </p:cNvCxnSpPr>
          <p:nvPr/>
        </p:nvCxnSpPr>
        <p:spPr>
          <a:xfrm rot="5400000">
            <a:off x="6665608" y="2033557"/>
            <a:ext cx="318884" cy="508350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17907" y="5255903"/>
            <a:ext cx="5343525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self.criterion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CrossEntropyLoss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num_classes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self.datamanager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.num_train_pids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use_gpu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self.use_gpu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label_smooth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label_smooth</a:t>
            </a:r>
            <a:endParaRPr lang="en-US" altLang="ko-KR" sz="1100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)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2" name="구부러진 연결선 61"/>
          <p:cNvCxnSpPr>
            <a:endCxn id="61" idx="0"/>
          </p:cNvCxnSpPr>
          <p:nvPr/>
        </p:nvCxnSpPr>
        <p:spPr>
          <a:xfrm rot="5400000">
            <a:off x="2517796" y="2114005"/>
            <a:ext cx="3813773" cy="247002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그림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4" y="1577398"/>
            <a:ext cx="2807439" cy="692537"/>
          </a:xfrm>
          <a:prstGeom prst="rect">
            <a:avLst/>
          </a:prstGeom>
        </p:spPr>
      </p:pic>
      <p:sp>
        <p:nvSpPr>
          <p:cNvPr id="66" name="직사각형 65"/>
          <p:cNvSpPr/>
          <p:nvPr/>
        </p:nvSpPr>
        <p:spPr>
          <a:xfrm>
            <a:off x="6232486" y="5274437"/>
            <a:ext cx="28276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training</a:t>
            </a:r>
            <a:r>
              <a:rPr lang="ko-KR" altLang="en-US" sz="1000" dirty="0" smtClean="0">
                <a:solidFill>
                  <a:srgbClr val="C00000"/>
                </a:solidFill>
              </a:rPr>
              <a:t>시 에는 </a:t>
            </a:r>
            <a:r>
              <a:rPr lang="en-US" altLang="ko-KR" sz="1000" dirty="0" err="1" smtClean="0">
                <a:solidFill>
                  <a:srgbClr val="C00000"/>
                </a:solidFill>
              </a:rPr>
              <a:t>pid</a:t>
            </a:r>
            <a:r>
              <a:rPr lang="ko-KR" altLang="en-US" sz="1000" dirty="0" smtClean="0">
                <a:solidFill>
                  <a:srgbClr val="C00000"/>
                </a:solidFill>
              </a:rPr>
              <a:t>가 맞는지 확인하고</a:t>
            </a:r>
            <a:r>
              <a:rPr lang="en-US" altLang="ko-KR" sz="1000" dirty="0" smtClean="0">
                <a:solidFill>
                  <a:srgbClr val="C00000"/>
                </a:solidFill>
              </a:rPr>
              <a:t>, test</a:t>
            </a:r>
            <a:r>
              <a:rPr lang="ko-KR" altLang="en-US" sz="1000" dirty="0" smtClean="0">
                <a:solidFill>
                  <a:srgbClr val="C00000"/>
                </a:solidFill>
              </a:rPr>
              <a:t>시에는 </a:t>
            </a:r>
            <a:r>
              <a:rPr lang="en-US" altLang="ko-KR" sz="1000" dirty="0" smtClean="0">
                <a:solidFill>
                  <a:srgbClr val="C00000"/>
                </a:solidFill>
              </a:rPr>
              <a:t>feature</a:t>
            </a:r>
            <a:r>
              <a:rPr lang="ko-KR" altLang="en-US" sz="1000" dirty="0" smtClean="0">
                <a:solidFill>
                  <a:srgbClr val="C00000"/>
                </a:solidFill>
              </a:rPr>
              <a:t>가 유사 한지를 확인한다</a:t>
            </a:r>
            <a:r>
              <a:rPr lang="en-US" altLang="ko-KR" sz="1000" dirty="0" smtClean="0">
                <a:solidFill>
                  <a:srgbClr val="C00000"/>
                </a:solidFill>
              </a:rPr>
              <a:t>.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560723" y="5870320"/>
            <a:ext cx="5343525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 err="1"/>
              <a:t>OSNet</a:t>
            </a:r>
            <a:r>
              <a:rPr lang="en-US" altLang="ko-KR" sz="1000" dirty="0"/>
              <a:t> </a:t>
            </a:r>
            <a:r>
              <a:rPr lang="ko-KR" altLang="en-US" sz="1000" dirty="0"/>
              <a:t>기반의 </a:t>
            </a:r>
            <a:r>
              <a:rPr lang="en-US" altLang="ko-KR" sz="1000" dirty="0"/>
              <a:t>person re-ID </a:t>
            </a:r>
            <a:r>
              <a:rPr lang="ko-KR" altLang="en-US" sz="1000" dirty="0"/>
              <a:t>모델은 일반적으로 다음과 같이 동작합니다</a:t>
            </a:r>
            <a:r>
              <a:rPr lang="en-US" altLang="ko-KR" sz="1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Training </a:t>
            </a:r>
            <a:r>
              <a:rPr lang="ko-KR" altLang="en-US" sz="1000" b="1" dirty="0"/>
              <a:t>시</a:t>
            </a:r>
            <a:r>
              <a:rPr lang="en-US" altLang="ko-KR" sz="1000" b="1" dirty="0"/>
              <a:t>:</a:t>
            </a:r>
            <a:r>
              <a:rPr lang="ko-KR" altLang="en-US" sz="1000" dirty="0"/>
              <a:t/>
            </a:r>
            <a:br>
              <a:rPr lang="ko-KR" altLang="en-US" sz="1000" dirty="0"/>
            </a:br>
            <a:r>
              <a:rPr lang="ko-KR" altLang="en-US" sz="1000" dirty="0"/>
              <a:t>모델은 각 입력 이미지에 대해 해당 사람의 </a:t>
            </a:r>
            <a:r>
              <a:rPr lang="en-US" altLang="ko-KR" sz="1000" dirty="0"/>
              <a:t>ID (PID)</a:t>
            </a:r>
            <a:r>
              <a:rPr lang="ko-KR" altLang="en-US" sz="1000" dirty="0"/>
              <a:t>를 예측하도록 학습합니다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이때 </a:t>
            </a:r>
            <a:r>
              <a:rPr lang="en-US" altLang="ko-KR" sz="1000" dirty="0"/>
              <a:t>Cross-Entropy Loss</a:t>
            </a:r>
            <a:r>
              <a:rPr lang="ko-KR" altLang="en-US" sz="1000" dirty="0"/>
              <a:t>와 같은 분류 손실 및 경우에 따라 </a:t>
            </a:r>
            <a:r>
              <a:rPr lang="en-US" altLang="ko-KR" sz="1000" dirty="0"/>
              <a:t>Triplet Loss </a:t>
            </a:r>
            <a:r>
              <a:rPr lang="ko-KR" altLang="en-US" sz="1000" dirty="0"/>
              <a:t>등의 </a:t>
            </a:r>
            <a:r>
              <a:rPr lang="en-US" altLang="ko-KR" sz="1000" dirty="0"/>
              <a:t>metric learning </a:t>
            </a:r>
            <a:r>
              <a:rPr lang="ko-KR" altLang="en-US" sz="1000" dirty="0"/>
              <a:t>기법을 사용하여</a:t>
            </a:r>
            <a:r>
              <a:rPr lang="en-US" altLang="ko-KR" sz="1000" dirty="0"/>
              <a:t>, </a:t>
            </a:r>
            <a:r>
              <a:rPr lang="ko-KR" altLang="en-US" sz="1000" dirty="0"/>
              <a:t>같은 사람끼리는 </a:t>
            </a:r>
            <a:r>
              <a:rPr lang="en-US" altLang="ko-KR" sz="1000" dirty="0"/>
              <a:t>feature</a:t>
            </a:r>
            <a:r>
              <a:rPr lang="ko-KR" altLang="en-US" sz="1000" dirty="0"/>
              <a:t>가 가깝게</a:t>
            </a:r>
            <a:r>
              <a:rPr lang="en-US" altLang="ko-KR" sz="1000" dirty="0"/>
              <a:t>, </a:t>
            </a:r>
            <a:r>
              <a:rPr lang="ko-KR" altLang="en-US" sz="1000" dirty="0"/>
              <a:t>다른 사람은 멀게 </a:t>
            </a:r>
            <a:r>
              <a:rPr lang="ko-KR" altLang="en-US" sz="1000" dirty="0" err="1"/>
              <a:t>매핑되도록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Test </a:t>
            </a:r>
            <a:r>
              <a:rPr lang="ko-KR" altLang="en-US" sz="1000" b="1" dirty="0"/>
              <a:t>시</a:t>
            </a:r>
            <a:r>
              <a:rPr lang="en-US" altLang="ko-KR" sz="1000" b="1" dirty="0"/>
              <a:t>:</a:t>
            </a:r>
            <a:r>
              <a:rPr lang="ko-KR" altLang="en-US" sz="1000" dirty="0"/>
              <a:t/>
            </a:r>
            <a:br>
              <a:rPr lang="ko-KR" altLang="en-US" sz="1000" dirty="0"/>
            </a:br>
            <a:r>
              <a:rPr lang="ko-KR" altLang="en-US" sz="1000" dirty="0"/>
              <a:t>학습된 네트워크는 이미지를 </a:t>
            </a:r>
            <a:r>
              <a:rPr lang="en-US" altLang="ko-KR" sz="1000" dirty="0"/>
              <a:t>feature </a:t>
            </a:r>
            <a:r>
              <a:rPr lang="ko-KR" altLang="en-US" sz="1000" dirty="0"/>
              <a:t>벡터로 매핑하고</a:t>
            </a:r>
            <a:r>
              <a:rPr lang="en-US" altLang="ko-KR" sz="1000" dirty="0"/>
              <a:t>, </a:t>
            </a:r>
            <a:r>
              <a:rPr lang="ko-KR" altLang="en-US" sz="1000" dirty="0"/>
              <a:t>이 벡터들 간의 유사도 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cosine similarity, Euclidean distance </a:t>
            </a:r>
            <a:r>
              <a:rPr lang="ko-KR" altLang="en-US" sz="1000" dirty="0"/>
              <a:t>등</a:t>
            </a:r>
            <a:r>
              <a:rPr lang="en-US" altLang="ko-KR" sz="1000" dirty="0"/>
              <a:t>)</a:t>
            </a:r>
            <a:r>
              <a:rPr lang="ko-KR" altLang="en-US" sz="1000" dirty="0"/>
              <a:t>를 계산하여</a:t>
            </a:r>
            <a:r>
              <a:rPr lang="en-US" altLang="ko-KR" sz="1000" dirty="0"/>
              <a:t>, </a:t>
            </a:r>
            <a:r>
              <a:rPr lang="ko-KR" altLang="en-US" sz="1000" dirty="0"/>
              <a:t>서로 같은 사람인지 판단합니다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따라서</a:t>
            </a:r>
            <a:r>
              <a:rPr lang="en-US" altLang="ko-KR" sz="1000" dirty="0"/>
              <a:t>, training </a:t>
            </a:r>
            <a:r>
              <a:rPr lang="ko-KR" altLang="en-US" sz="1000" dirty="0"/>
              <a:t>단계에서는 </a:t>
            </a:r>
            <a:r>
              <a:rPr lang="en-US" altLang="ko-KR" sz="1000" dirty="0"/>
              <a:t>PID</a:t>
            </a:r>
            <a:r>
              <a:rPr lang="ko-KR" altLang="en-US" sz="1000" dirty="0"/>
              <a:t>를 기준으로 올바른 분류를 하는지 확인하고</a:t>
            </a:r>
            <a:r>
              <a:rPr lang="en-US" altLang="ko-KR" sz="1000" dirty="0"/>
              <a:t>, test </a:t>
            </a:r>
            <a:r>
              <a:rPr lang="ko-KR" altLang="en-US" sz="1000" dirty="0"/>
              <a:t>단계에서는 추출된 </a:t>
            </a:r>
            <a:r>
              <a:rPr lang="en-US" altLang="ko-KR" sz="1000" dirty="0"/>
              <a:t>feature</a:t>
            </a:r>
            <a:r>
              <a:rPr lang="ko-KR" altLang="en-US" sz="1000" dirty="0"/>
              <a:t>들이 서로 </a:t>
            </a:r>
            <a:r>
              <a:rPr lang="ko-KR" altLang="en-US" sz="1000" dirty="0" err="1"/>
              <a:t>유사한지</a:t>
            </a:r>
            <a:r>
              <a:rPr lang="ko-KR" altLang="en-US" sz="1000" dirty="0"/>
              <a:t> 비교하는 방식으로 동작합니다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7484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8550" y="295719"/>
            <a:ext cx="3870192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Engine(object)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80103" y="1526857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losses.update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loss_summary</a:t>
            </a:r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80101" y="3150535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self.update_lr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4" name="직선 화살표 연결선 13"/>
          <p:cNvCxnSpPr>
            <a:stCxn id="12" idx="2"/>
            <a:endCxn id="27" idx="0"/>
          </p:cNvCxnSpPr>
          <p:nvPr/>
        </p:nvCxnSpPr>
        <p:spPr>
          <a:xfrm flipH="1">
            <a:off x="3110822" y="1974348"/>
            <a:ext cx="1" cy="36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구부러진 연결선 20"/>
          <p:cNvCxnSpPr/>
          <p:nvPr/>
        </p:nvCxnSpPr>
        <p:spPr>
          <a:xfrm>
            <a:off x="3439886" y="1793966"/>
            <a:ext cx="1732376" cy="46614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94811" y="2106220"/>
            <a:ext cx="18325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loss, </a:t>
            </a:r>
            <a:r>
              <a:rPr lang="en-US" altLang="ko-KR" sz="1100" dirty="0" err="1" smtClean="0">
                <a:latin typeface="+mn-ea"/>
              </a:rPr>
              <a:t>acc</a:t>
            </a:r>
            <a:r>
              <a:rPr lang="ko-KR" altLang="en-US" sz="1100" dirty="0" smtClean="0">
                <a:latin typeface="+mn-ea"/>
              </a:rPr>
              <a:t>가 계산되어 있다</a:t>
            </a:r>
            <a:r>
              <a:rPr lang="en-US" altLang="ko-KR" sz="1100" dirty="0" smtClean="0">
                <a:latin typeface="+mn-ea"/>
              </a:rPr>
              <a:t>.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080102" y="2338696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일정 시간 마다 프린트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8" name="직선 화살표 연결선 27"/>
          <p:cNvCxnSpPr>
            <a:stCxn id="27" idx="2"/>
            <a:endCxn id="13" idx="0"/>
          </p:cNvCxnSpPr>
          <p:nvPr/>
        </p:nvCxnSpPr>
        <p:spPr>
          <a:xfrm flipH="1">
            <a:off x="3110821" y="2786187"/>
            <a:ext cx="1" cy="36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5874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8550" y="295719"/>
            <a:ext cx="3870192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Engine(object)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415845" y="1427493"/>
            <a:ext cx="1064813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test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480659" y="1927780"/>
            <a:ext cx="1578084" cy="387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rank1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self.test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5" name="꺾인 연결선 14"/>
          <p:cNvCxnSpPr>
            <a:stCxn id="10" idx="2"/>
            <a:endCxn id="11" idx="1"/>
          </p:cNvCxnSpPr>
          <p:nvPr/>
        </p:nvCxnSpPr>
        <p:spPr>
          <a:xfrm rot="16200000" flipH="1">
            <a:off x="2051099" y="1691921"/>
            <a:ext cx="326713" cy="5324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561532" y="2448195"/>
            <a:ext cx="1671949" cy="4203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set_model_mode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('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eval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')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9" name="꺾인 연결선 18"/>
          <p:cNvCxnSpPr>
            <a:stCxn id="11" idx="2"/>
            <a:endCxn id="17" idx="1"/>
          </p:cNvCxnSpPr>
          <p:nvPr/>
        </p:nvCxnSpPr>
        <p:spPr>
          <a:xfrm rot="16200000" flipH="1">
            <a:off x="3244012" y="2340872"/>
            <a:ext cx="343208" cy="2918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454527" y="3235068"/>
            <a:ext cx="1885958" cy="4203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query_loader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self.test_loader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[name]['query']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454527" y="3941541"/>
            <a:ext cx="1885959" cy="4203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gallery_loader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self.test_loader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[name]['gallery']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9" name="직선 화살표 연결선 28"/>
          <p:cNvCxnSpPr>
            <a:stCxn id="17" idx="2"/>
            <a:endCxn id="25" idx="0"/>
          </p:cNvCxnSpPr>
          <p:nvPr/>
        </p:nvCxnSpPr>
        <p:spPr>
          <a:xfrm flipH="1">
            <a:off x="4397506" y="2868589"/>
            <a:ext cx="1" cy="366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5" idx="2"/>
            <a:endCxn id="26" idx="0"/>
          </p:cNvCxnSpPr>
          <p:nvPr/>
        </p:nvCxnSpPr>
        <p:spPr>
          <a:xfrm>
            <a:off x="4397506" y="3655462"/>
            <a:ext cx="1" cy="286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3454526" y="4676727"/>
            <a:ext cx="1885959" cy="4203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rank1,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mAP</a:t>
            </a:r>
            <a:r>
              <a:rPr lang="en-US" altLang="ko-KR" sz="1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self._</a:t>
            </a:r>
            <a:r>
              <a:rPr lang="en-US" altLang="ko-KR" sz="1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evaluate</a:t>
            </a:r>
            <a:r>
              <a:rPr lang="en-US" altLang="ko-KR" sz="1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</a:t>
            </a:r>
            <a:endParaRPr lang="en-US" altLang="ko-KR" sz="1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818208" y="5306521"/>
            <a:ext cx="1700551" cy="367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_evaluate()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7" name="직선 화살표 연결선 36"/>
          <p:cNvCxnSpPr>
            <a:stCxn id="26" idx="2"/>
            <a:endCxn id="35" idx="0"/>
          </p:cNvCxnSpPr>
          <p:nvPr/>
        </p:nvCxnSpPr>
        <p:spPr>
          <a:xfrm flipH="1">
            <a:off x="4397506" y="4361935"/>
            <a:ext cx="1" cy="314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35" idx="2"/>
            <a:endCxn id="36" idx="1"/>
          </p:cNvCxnSpPr>
          <p:nvPr/>
        </p:nvCxnSpPr>
        <p:spPr>
          <a:xfrm rot="16200000" flipH="1">
            <a:off x="4411338" y="5083289"/>
            <a:ext cx="393038" cy="4207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538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9924" y="314530"/>
            <a:ext cx="2140489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def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_evaluate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9924" y="1288997"/>
            <a:ext cx="1526893" cy="393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_evaluate()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1611" y="135513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engine.py</a:t>
            </a:r>
            <a:endParaRPr lang="ko-KR" altLang="en-US" sz="11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62569" y="1867097"/>
            <a:ext cx="1578084" cy="387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batch_time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AverageMeter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" name="꺾인 연결선 5"/>
          <p:cNvCxnSpPr>
            <a:stCxn id="3" idx="2"/>
            <a:endCxn id="5" idx="1"/>
          </p:cNvCxnSpPr>
          <p:nvPr/>
        </p:nvCxnSpPr>
        <p:spPr>
          <a:xfrm rot="16200000" flipH="1">
            <a:off x="1439013" y="1737243"/>
            <a:ext cx="377914" cy="269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290502" y="2504852"/>
            <a:ext cx="2522218" cy="387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qf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q_pids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q_camids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_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feature_extraction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query_loader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1" name="직선 화살표 연결선 10"/>
          <p:cNvCxnSpPr>
            <a:stCxn id="5" idx="2"/>
            <a:endCxn id="10" idx="0"/>
          </p:cNvCxnSpPr>
          <p:nvPr/>
        </p:nvCxnSpPr>
        <p:spPr>
          <a:xfrm>
            <a:off x="2551611" y="2254501"/>
            <a:ext cx="0" cy="25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4187623" y="1197974"/>
            <a:ext cx="5970789" cy="323165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feature_extraction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data_loader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[], [], []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batch_idx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4EC9B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data_loader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parse_data_for_eval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use_gpu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.cuda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time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time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features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extract_features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imgs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batch_time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update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time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time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features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features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.cpu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f_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features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extend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.tolist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extend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.tolist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cat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asarray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 dirty="0" err="1" smtClean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 dirty="0" err="1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asarray</a:t>
            </a:r>
            <a:r>
              <a:rPr lang="en-US" altLang="ko-KR" sz="1200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camids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ko-KR" sz="1200" b="0" dirty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773123" y="2504852"/>
            <a:ext cx="21139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실질적인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inference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하는 코드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6" name="구부러진 연결선 15"/>
          <p:cNvCxnSpPr>
            <a:stCxn id="10" idx="3"/>
          </p:cNvCxnSpPr>
          <p:nvPr/>
        </p:nvCxnSpPr>
        <p:spPr>
          <a:xfrm flipV="1">
            <a:off x="3812720" y="1414463"/>
            <a:ext cx="964068" cy="1284091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1290502" y="3176687"/>
            <a:ext cx="2522218" cy="387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gf,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g_pids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g_camids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_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feature_extraction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gallery_loader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0" name="직선 화살표 연결선 19"/>
          <p:cNvCxnSpPr>
            <a:stCxn id="10" idx="2"/>
            <a:endCxn id="19" idx="0"/>
          </p:cNvCxnSpPr>
          <p:nvPr/>
        </p:nvCxnSpPr>
        <p:spPr>
          <a:xfrm>
            <a:off x="2551611" y="2892256"/>
            <a:ext cx="0" cy="28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119384" y="3917273"/>
            <a:ext cx="2864453" cy="387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distmat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metrics.compute_distance_matrix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qf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gf,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dist_metric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4" name="직선 화살표 연결선 23"/>
          <p:cNvCxnSpPr>
            <a:stCxn id="19" idx="2"/>
            <a:endCxn id="23" idx="0"/>
          </p:cNvCxnSpPr>
          <p:nvPr/>
        </p:nvCxnSpPr>
        <p:spPr>
          <a:xfrm>
            <a:off x="2551611" y="3564091"/>
            <a:ext cx="0" cy="353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842083" y="4358084"/>
            <a:ext cx="24872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query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와 </a:t>
            </a:r>
            <a:r>
              <a:rPr lang="en-US" altLang="ko-KR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gallery</a:t>
            </a:r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사이의 차이를 구함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94754" y="4687484"/>
            <a:ext cx="534352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metric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euclidean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distmat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euclidean_squared_distance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input1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input2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2" name="구부러진 연결선 31"/>
          <p:cNvCxnSpPr>
            <a:stCxn id="23" idx="3"/>
          </p:cNvCxnSpPr>
          <p:nvPr/>
        </p:nvCxnSpPr>
        <p:spPr>
          <a:xfrm>
            <a:off x="3983837" y="4110975"/>
            <a:ext cx="882308" cy="908065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6538351" y="4656706"/>
            <a:ext cx="126933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내부적 동작 코드</a:t>
            </a:r>
            <a:endParaRPr lang="en-US" altLang="ko-KR" sz="1100" dirty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7038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9093" y="314530"/>
            <a:ext cx="2142155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loss,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acc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ko-KR" altLang="en-US" sz="2400" b="1" dirty="0" smtClean="0">
                <a:solidFill>
                  <a:srgbClr val="0E0585"/>
                </a:solidFill>
              </a:rPr>
              <a:t>계산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23646" y="1908323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outputs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self.model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imgs</a:t>
            </a:r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))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85218" y="1363493"/>
            <a:ext cx="1673262" cy="3672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forward_backward</a:t>
            </a:r>
            <a:endParaRPr lang="en-US" altLang="ko-KR" sz="14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" name="꺾인 연결선 4"/>
          <p:cNvCxnSpPr>
            <a:stCxn id="4" idx="2"/>
            <a:endCxn id="3" idx="1"/>
          </p:cNvCxnSpPr>
          <p:nvPr/>
        </p:nvCxnSpPr>
        <p:spPr>
          <a:xfrm rot="16200000" flipH="1">
            <a:off x="1722097" y="1730520"/>
            <a:ext cx="401300" cy="4017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134973" y="2688382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 = </a:t>
            </a:r>
            <a:r>
              <a:rPr lang="en-US" altLang="ko-KR" sz="105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self.compute_loss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9" name="직선 화살표 연결선 8"/>
          <p:cNvCxnSpPr>
            <a:stCxn id="3" idx="2"/>
            <a:endCxn id="8" idx="0"/>
          </p:cNvCxnSpPr>
          <p:nvPr/>
        </p:nvCxnSpPr>
        <p:spPr>
          <a:xfrm>
            <a:off x="3154366" y="2355814"/>
            <a:ext cx="11327" cy="33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196468" y="5448841"/>
            <a:ext cx="69552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loss_summary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 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600" dirty="0">
                <a:solidFill>
                  <a:srgbClr val="CE9178"/>
                </a:solidFill>
                <a:latin typeface="Consolas" panose="020B0609020204030204" pitchFamily="49" charset="0"/>
              </a:rPr>
              <a:t>'loss'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loss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.item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acc</a:t>
            </a:r>
            <a:r>
              <a:rPr lang="en-US" altLang="ko-KR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metrics</a:t>
            </a:r>
            <a:r>
              <a:rPr lang="en-US" altLang="ko-KR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accuracy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outputs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pids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].item()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}</a:t>
            </a:r>
            <a:endParaRPr lang="en-US" altLang="ko-KR" sz="160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34973" y="3486011"/>
            <a:ext cx="2061439" cy="447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return </a:t>
            </a:r>
            <a:r>
              <a:rPr lang="en-US" altLang="ko-KR" sz="105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loss_summary</a:t>
            </a:r>
            <a:endParaRPr lang="en-US" altLang="ko-KR" sz="105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6" name="직선 화살표 연결선 15"/>
          <p:cNvCxnSpPr>
            <a:stCxn id="8" idx="2"/>
            <a:endCxn id="15" idx="0"/>
          </p:cNvCxnSpPr>
          <p:nvPr/>
        </p:nvCxnSpPr>
        <p:spPr>
          <a:xfrm>
            <a:off x="3165693" y="3135873"/>
            <a:ext cx="0" cy="350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구부러진 연결선 19"/>
          <p:cNvCxnSpPr>
            <a:stCxn id="15" idx="3"/>
          </p:cNvCxnSpPr>
          <p:nvPr/>
        </p:nvCxnSpPr>
        <p:spPr>
          <a:xfrm flipH="1">
            <a:off x="2343573" y="3709757"/>
            <a:ext cx="1852839" cy="1810510"/>
          </a:xfrm>
          <a:prstGeom prst="curvedConnector3">
            <a:avLst>
              <a:gd name="adj1" fmla="val -12338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308345" y="1970818"/>
            <a:ext cx="633256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accuracy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topk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)):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"""Computes the accuracy over the k top predictions for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E9178"/>
                </a:solidFill>
                <a:latin typeface="Consolas" panose="020B0609020204030204" pitchFamily="49" charset="0"/>
              </a:rPr>
              <a:t>    the specified values of k.</a:t>
            </a:r>
            <a:endParaRPr lang="en-US" altLang="ko-KR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topk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.size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(</a:t>
            </a:r>
            <a:r>
              <a:rPr lang="en-US" altLang="ko-KR" sz="1100" dirty="0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pred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.topk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pred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pred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.t()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correct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pred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.eq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.view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expand_as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pred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topk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correct_k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correct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[:</a:t>
            </a:r>
            <a:r>
              <a:rPr lang="en-US" altLang="ko-KR" sz="11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].view(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).float().sum(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keepdim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correct_k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.mul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_(</a:t>
            </a:r>
            <a:r>
              <a:rPr lang="en-US" altLang="ko-KR" sz="110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</a:t>
            </a:r>
            <a:r>
              <a:rPr lang="en-US" altLang="ko-KR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1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9CDCFE"/>
                </a:solidFill>
                <a:latin typeface="Consolas" panose="020B0609020204030204" pitchFamily="49" charset="0"/>
              </a:rPr>
              <a:t>res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구부러진 연결선 24"/>
          <p:cNvCxnSpPr>
            <a:endCxn id="23" idx="2"/>
          </p:cNvCxnSpPr>
          <p:nvPr/>
        </p:nvCxnSpPr>
        <p:spPr>
          <a:xfrm flipV="1">
            <a:off x="4741335" y="5448693"/>
            <a:ext cx="2733291" cy="572800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8306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2617" y="314530"/>
            <a:ext cx="2815096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MetricMeter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2663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638" y="337390"/>
            <a:ext cx="4319290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CrossEntropyLoss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63638" y="1161506"/>
            <a:ext cx="9870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</a:rPr>
              <a:t>CrossEntropyLoss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클래스는 레이블 </a:t>
            </a:r>
            <a:r>
              <a:rPr lang="ko-KR" altLang="en-US" sz="1200" dirty="0" err="1">
                <a:latin typeface="+mn-ea"/>
              </a:rPr>
              <a:t>스무딩</a:t>
            </a:r>
            <a:r>
              <a:rPr lang="en-US" altLang="ko-KR" sz="1200" dirty="0">
                <a:latin typeface="+mn-ea"/>
              </a:rPr>
              <a:t>(Label Smoothing) </a:t>
            </a:r>
            <a:r>
              <a:rPr lang="ko-KR" altLang="en-US" sz="1200" dirty="0" err="1">
                <a:latin typeface="+mn-ea"/>
              </a:rPr>
              <a:t>정규화가</a:t>
            </a:r>
            <a:r>
              <a:rPr lang="ko-KR" altLang="en-US" sz="1200" dirty="0">
                <a:latin typeface="+mn-ea"/>
              </a:rPr>
              <a:t> 적용된 교차 엔트로피 손실</a:t>
            </a:r>
            <a:r>
              <a:rPr lang="en-US" altLang="ko-KR" sz="1200" dirty="0">
                <a:latin typeface="+mn-ea"/>
              </a:rPr>
              <a:t>(Cross Entropy Loss)</a:t>
            </a:r>
            <a:r>
              <a:rPr lang="ko-KR" altLang="en-US" sz="1200" dirty="0">
                <a:latin typeface="+mn-ea"/>
              </a:rPr>
              <a:t>을 구현한 사용자 정의 손실 </a:t>
            </a:r>
            <a:r>
              <a:rPr lang="ko-KR" altLang="en-US" sz="1200" dirty="0" smtClean="0">
                <a:latin typeface="+mn-ea"/>
              </a:rPr>
              <a:t>함수</a:t>
            </a:r>
            <a:r>
              <a:rPr lang="en-US" altLang="ko-KR" sz="1200" dirty="0" smtClean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 클래스는 모델의 출력과 실제 레이블 간의 손실을 계산하여 모델 학습에 사용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3638" y="1623171"/>
                <a:ext cx="9940065" cy="2889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레이블 </a:t>
                </a:r>
                <a:r>
                  <a:rPr lang="ko-KR" altLang="en-US" sz="2000" dirty="0" err="1"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스무딩</a:t>
                </a:r>
                <a:r>
                  <a:rPr lang="en-US" altLang="ko-KR" sz="20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(Label Smoothing)</a:t>
                </a:r>
              </a:p>
              <a:p>
                <a:endParaRPr lang="en-US" altLang="ko-KR" sz="1200" dirty="0"/>
              </a:p>
              <a:p>
                <a:r>
                  <a:rPr lang="en-US" altLang="ko-KR" sz="1200" dirty="0"/>
                  <a:t>    </a:t>
                </a:r>
                <a:r>
                  <a:rPr lang="ko-KR" altLang="en-US" sz="1200" dirty="0"/>
                  <a:t>레이블 </a:t>
                </a:r>
                <a:r>
                  <a:rPr lang="ko-KR" altLang="en-US" sz="1200" dirty="0" err="1"/>
                  <a:t>스무딩은</a:t>
                </a:r>
                <a:r>
                  <a:rPr lang="ko-KR" altLang="en-US" sz="1200" dirty="0"/>
                  <a:t> 모델이 지나치게 확신을 가지는 것을 방지하여 </a:t>
                </a:r>
                <a:r>
                  <a:rPr lang="ko-KR" altLang="en-US" sz="1200" dirty="0" err="1"/>
                  <a:t>과적합을</a:t>
                </a:r>
                <a:r>
                  <a:rPr lang="ko-KR" altLang="en-US" sz="1200" dirty="0"/>
                  <a:t> 줄이고 일반화 성능을 높이기 위해 </a:t>
                </a:r>
                <a:r>
                  <a:rPr lang="ko-KR" altLang="en-US" sz="1200" dirty="0" smtClean="0"/>
                  <a:t>사용됨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:r>
                  <a:rPr lang="en-US" altLang="ko-KR" sz="1200" dirty="0"/>
                  <a:t>    </a:t>
                </a:r>
                <a:r>
                  <a:rPr lang="ko-KR" altLang="en-US" sz="1200" dirty="0"/>
                  <a:t>일반적인 교차 엔트로피 손실은 정답 클래스에 </a:t>
                </a:r>
                <a:r>
                  <a:rPr lang="en-US" altLang="ko-KR" sz="1200" dirty="0"/>
                  <a:t>1, </a:t>
                </a:r>
                <a:r>
                  <a:rPr lang="ko-KR" altLang="en-US" sz="1200" dirty="0"/>
                  <a:t>나머지 클래스에 </a:t>
                </a:r>
                <a:r>
                  <a:rPr lang="en-US" altLang="ko-KR" sz="1200" dirty="0"/>
                  <a:t>0</a:t>
                </a:r>
                <a:r>
                  <a:rPr lang="ko-KR" altLang="en-US" sz="1200" dirty="0"/>
                  <a:t>을 할당하는 원</a:t>
                </a:r>
                <a:r>
                  <a:rPr lang="en-US" altLang="ko-KR" sz="1200" dirty="0"/>
                  <a:t>-</a:t>
                </a:r>
                <a:r>
                  <a:rPr lang="ko-KR" altLang="en-US" sz="1200" dirty="0" err="1"/>
                  <a:t>핫</a:t>
                </a:r>
                <a:r>
                  <a:rPr lang="ko-KR" altLang="en-US" sz="1200" dirty="0"/>
                  <a:t> </a:t>
                </a:r>
                <a:r>
                  <a:rPr lang="ko-KR" altLang="en-US" sz="1200" dirty="0" err="1"/>
                  <a:t>인코딩을</a:t>
                </a:r>
                <a:r>
                  <a:rPr lang="ko-KR" altLang="en-US" sz="1200" dirty="0"/>
                  <a:t> </a:t>
                </a:r>
                <a:r>
                  <a:rPr lang="ko-KR" altLang="en-US" sz="1200" dirty="0" smtClean="0"/>
                  <a:t>사용함</a:t>
                </a:r>
                <a:r>
                  <a:rPr lang="en-US" altLang="ko-KR" sz="1200" dirty="0" smtClean="0"/>
                  <a:t>. </a:t>
                </a:r>
                <a:r>
                  <a:rPr lang="ko-KR" altLang="en-US" sz="1200" dirty="0"/>
                  <a:t>반면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레이블 </a:t>
                </a:r>
                <a:r>
                  <a:rPr lang="ko-KR" altLang="en-US" sz="1200" dirty="0" err="1"/>
                  <a:t>스무딩은</a:t>
                </a:r>
                <a:r>
                  <a:rPr lang="ko-KR" altLang="en-US" sz="1200" dirty="0"/>
                  <a:t> 정답 클래스에 </a:t>
                </a:r>
                <a:r>
                  <a:rPr lang="en-US" altLang="ko-KR" sz="1200" dirty="0"/>
                  <a:t>1</a:t>
                </a:r>
                <a:r>
                  <a:rPr lang="ko-KR" altLang="en-US" sz="1200" dirty="0"/>
                  <a:t>이 아닌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200" dirty="0" smtClean="0"/>
                  <a:t>을 </a:t>
                </a:r>
                <a:r>
                  <a:rPr lang="ko-KR" altLang="en-US" sz="1200" dirty="0"/>
                  <a:t>할당하고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나머지 클래스에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altLang="ko-KR" sz="1600" dirty="0" smtClean="0"/>
                  <a:t>​</a:t>
                </a:r>
                <a:r>
                  <a:rPr lang="ko-KR" altLang="en-US" sz="1200" dirty="0"/>
                  <a:t>을 할당합니다</a:t>
                </a:r>
                <a:r>
                  <a:rPr lang="en-US" altLang="ko-KR" sz="1200" dirty="0"/>
                  <a:t>. </a:t>
                </a:r>
                <a:r>
                  <a:rPr lang="ko-KR" altLang="en-US" sz="120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ko-KR" altLang="en-US" sz="1200" dirty="0" smtClean="0"/>
                  <a:t>는 </a:t>
                </a:r>
                <a:r>
                  <a:rPr lang="ko-KR" altLang="en-US" sz="1200" dirty="0"/>
                  <a:t>클래스의 개수</a:t>
                </a:r>
                <a:r>
                  <a:rPr lang="en-US" altLang="ko-KR" sz="1200" dirty="0"/>
                  <a:t>, </a:t>
                </a:r>
                <a:r>
                  <a:rPr lang="en-US" altLang="ko-KR" sz="1200" dirty="0" smtClean="0"/>
                  <a:t>ϵ</a:t>
                </a:r>
                <a:r>
                  <a:rPr lang="ko-KR" altLang="en-US" sz="1200" dirty="0"/>
                  <a:t>은 </a:t>
                </a:r>
                <a:r>
                  <a:rPr lang="ko-KR" altLang="en-US" sz="1200" dirty="0" err="1"/>
                  <a:t>스무딩</a:t>
                </a:r>
                <a:r>
                  <a:rPr lang="ko-KR" altLang="en-US" sz="1200" dirty="0"/>
                  <a:t> </a:t>
                </a:r>
                <a:r>
                  <a:rPr lang="ko-KR" altLang="en-US" sz="1200" dirty="0" err="1" smtClean="0"/>
                  <a:t>파라미터임</a:t>
                </a:r>
                <a:r>
                  <a:rPr lang="en-US" altLang="ko-KR" sz="1200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altLang="ko-KR" sz="1200" dirty="0" smtClean="0"/>
              </a:p>
              <a:p>
                <a:endParaRPr lang="en-US" altLang="ko-KR" sz="1200" dirty="0"/>
              </a:p>
              <a:p>
                <a:r>
                  <a:rPr lang="ko-KR" altLang="en-US" sz="1200" dirty="0"/>
                  <a:t>여기서</a:t>
                </a:r>
                <a:r>
                  <a:rPr lang="en-US" altLang="ko-KR" sz="12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200" dirty="0" smtClean="0"/>
                  <a:t>는 </a:t>
                </a:r>
                <a:r>
                  <a:rPr lang="ko-KR" altLang="en-US" sz="1200" dirty="0"/>
                  <a:t>변형된 레이블 </a:t>
                </a:r>
                <a:r>
                  <a:rPr lang="ko-KR" altLang="en-US" sz="1200" dirty="0" smtClean="0"/>
                  <a:t>값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200" dirty="0" smtClean="0"/>
                  <a:t>는 </a:t>
                </a:r>
                <a:r>
                  <a:rPr lang="ko-KR" altLang="en-US" sz="1200" dirty="0"/>
                  <a:t>원</a:t>
                </a:r>
                <a:r>
                  <a:rPr lang="en-US" altLang="ko-KR" sz="1200" dirty="0"/>
                  <a:t>-</a:t>
                </a:r>
                <a:r>
                  <a:rPr lang="ko-KR" altLang="en-US" sz="1200" dirty="0" err="1"/>
                  <a:t>핫</a:t>
                </a:r>
                <a:r>
                  <a:rPr lang="ko-KR" altLang="en-US" sz="1200" dirty="0"/>
                  <a:t> </a:t>
                </a:r>
                <a:r>
                  <a:rPr lang="ko-KR" altLang="en-US" sz="1200" dirty="0" err="1"/>
                  <a:t>인코딩된</a:t>
                </a:r>
                <a:r>
                  <a:rPr lang="ko-KR" altLang="en-US" sz="1200" dirty="0"/>
                  <a:t> 레이블 </a:t>
                </a:r>
                <a:r>
                  <a:rPr lang="ko-KR" altLang="en-US" sz="1200" dirty="0" smtClean="0"/>
                  <a:t>값 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정답 클래스에는 </a:t>
                </a:r>
                <a:r>
                  <a:rPr lang="en-US" altLang="ko-KR" sz="1200" dirty="0"/>
                  <a:t>1, </a:t>
                </a:r>
                <a:r>
                  <a:rPr lang="ko-KR" altLang="en-US" sz="1200" dirty="0"/>
                  <a:t>나머지에는 </a:t>
                </a:r>
                <a:r>
                  <a:rPr lang="en-US" altLang="ko-KR" sz="1200" dirty="0"/>
                  <a:t>0).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은 레이블 </a:t>
                </a:r>
                <a:r>
                  <a:rPr lang="ko-KR" altLang="en-US" sz="1200" dirty="0" err="1"/>
                  <a:t>스무딩</a:t>
                </a:r>
                <a:r>
                  <a:rPr lang="ko-KR" altLang="en-US" sz="1200" dirty="0"/>
                  <a:t> </a:t>
                </a:r>
                <a:r>
                  <a:rPr lang="ko-KR" altLang="en-US" sz="1200" dirty="0" err="1" smtClean="0"/>
                  <a:t>파라미터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는 클래스의 개수입니다</a:t>
                </a:r>
                <a:r>
                  <a:rPr lang="en-US" altLang="ko-KR" sz="1200" dirty="0"/>
                  <a:t>.</a:t>
                </a:r>
              </a:p>
              <a:p>
                <a:endParaRPr lang="ko-KR" altLang="en-US" sz="1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8" y="1623171"/>
                <a:ext cx="9940065" cy="2889958"/>
              </a:xfrm>
              <a:prstGeom prst="rect">
                <a:avLst/>
              </a:prstGeom>
              <a:blipFill>
                <a:blip r:embed="rId2"/>
                <a:stretch>
                  <a:fillRect l="-552" t="-8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63638" y="4404471"/>
                <a:ext cx="9940065" cy="2816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손실 계산</a:t>
                </a:r>
                <a:endParaRPr lang="en-US" altLang="ko-KR" sz="2000" dirty="0"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endParaRPr lang="en-US" altLang="ko-KR" sz="1200" dirty="0"/>
              </a:p>
              <a:p>
                <a:r>
                  <a:rPr lang="en-US" altLang="ko-KR" sz="1200" dirty="0"/>
                  <a:t>    </a:t>
                </a:r>
                <a:r>
                  <a:rPr lang="ko-KR" altLang="en-US" sz="1200" dirty="0"/>
                  <a:t>레이블 </a:t>
                </a:r>
                <a:r>
                  <a:rPr lang="ko-KR" altLang="en-US" sz="1200" dirty="0" err="1"/>
                  <a:t>스무딩이</a:t>
                </a:r>
                <a:r>
                  <a:rPr lang="ko-KR" altLang="en-US" sz="1200" dirty="0"/>
                  <a:t> 적용된 레이블과 로그 확률을 곱하고 이를 </a:t>
                </a:r>
                <a:r>
                  <a:rPr lang="ko-KR" altLang="en-US" sz="1200" dirty="0" err="1"/>
                  <a:t>평균내어</a:t>
                </a:r>
                <a:r>
                  <a:rPr lang="ko-KR" altLang="en-US" sz="1200" dirty="0"/>
                  <a:t> 최종 손실 값을 </a:t>
                </a:r>
                <a:r>
                  <a:rPr lang="ko-KR" altLang="en-US" sz="1200" dirty="0" smtClean="0"/>
                  <a:t>계산함</a:t>
                </a:r>
                <a:r>
                  <a:rPr lang="en-US" altLang="ko-KR" sz="1200" dirty="0" smtClean="0"/>
                  <a:t>.</a:t>
                </a:r>
                <a:endParaRPr lang="en-US" altLang="ko-KR" sz="12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1200" dirty="0" smtClean="0"/>
              </a:p>
              <a:p>
                <a:endParaRPr lang="en-US" altLang="ko-KR" sz="1200" dirty="0"/>
              </a:p>
              <a:p>
                <a:r>
                  <a:rPr lang="ko-KR" altLang="en-US" sz="1200" dirty="0"/>
                  <a:t>여기서</a:t>
                </a:r>
                <a:r>
                  <a:rPr lang="en-US" altLang="ko-KR" sz="12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은 최종 손실 </a:t>
                </a:r>
                <a:r>
                  <a:rPr lang="ko-KR" altLang="en-US" sz="1200" dirty="0" smtClean="0"/>
                  <a:t>값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은 배치 </a:t>
                </a:r>
                <a:r>
                  <a:rPr lang="ko-KR" altLang="en-US" sz="1200" dirty="0" smtClean="0"/>
                  <a:t>크기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는 클래스의 </a:t>
                </a:r>
                <a:r>
                  <a:rPr lang="ko-KR" altLang="en-US" sz="1200" dirty="0" smtClean="0"/>
                  <a:t>개수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1200" dirty="0"/>
                  <a:t>는 변형된 레이블의 </a:t>
                </a:r>
                <a:r>
                  <a:rPr lang="en-US" altLang="ko-KR" sz="1200" dirty="0" err="1"/>
                  <a:t>i</a:t>
                </a:r>
                <a:r>
                  <a:rPr lang="en-US" altLang="ko-KR" sz="1200" dirty="0" smtClean="0"/>
                  <a:t>-</a:t>
                </a:r>
                <a:r>
                  <a:rPr lang="ko-KR" altLang="en-US" sz="1200" dirty="0"/>
                  <a:t>번째 샘플에 대한 </a:t>
                </a:r>
                <a:r>
                  <a:rPr lang="en-US" altLang="ko-KR" sz="1200" dirty="0" smtClean="0"/>
                  <a:t>j-</a:t>
                </a:r>
                <a:r>
                  <a:rPr lang="ko-KR" altLang="en-US" sz="1200" dirty="0"/>
                  <a:t>번째 클래스 </a:t>
                </a:r>
                <a:r>
                  <a:rPr lang="ko-KR" altLang="en-US" sz="1200" dirty="0" smtClean="0"/>
                  <a:t>값</a:t>
                </a:r>
                <a:r>
                  <a:rPr lang="en-US" altLang="ko-KR" sz="1200" dirty="0" smtClean="0"/>
                  <a:t>.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200" dirty="0"/>
                  <a:t>​</a:t>
                </a:r>
                <a:r>
                  <a:rPr lang="ko-KR" altLang="en-US" sz="1200" dirty="0"/>
                  <a:t>는 </a:t>
                </a:r>
                <a:r>
                  <a:rPr lang="en-US" altLang="ko-KR" sz="1200" dirty="0" err="1" smtClean="0"/>
                  <a:t>i</a:t>
                </a:r>
                <a:r>
                  <a:rPr lang="en-US" altLang="ko-KR" sz="1200" dirty="0" smtClean="0"/>
                  <a:t>-</a:t>
                </a:r>
                <a:r>
                  <a:rPr lang="ko-KR" altLang="en-US" sz="1200" dirty="0"/>
                  <a:t>번째 샘플에 대한 </a:t>
                </a:r>
                <a:r>
                  <a:rPr lang="en-US" altLang="ko-KR" sz="1200" dirty="0" smtClean="0"/>
                  <a:t>j-</a:t>
                </a:r>
                <a:r>
                  <a:rPr lang="ko-KR" altLang="en-US" sz="1200" dirty="0"/>
                  <a:t>번째 클래스의 로그 </a:t>
                </a:r>
                <a:r>
                  <a:rPr lang="ko-KR" altLang="en-US" sz="1200" dirty="0" smtClean="0"/>
                  <a:t>확률 </a:t>
                </a:r>
                <a:r>
                  <a:rPr lang="en-US" altLang="ko-KR" sz="1200" dirty="0"/>
                  <a:t>(</a:t>
                </a:r>
                <a:r>
                  <a:rPr lang="en-US" altLang="ko-KR" sz="1200" dirty="0" err="1"/>
                  <a:t>LogSoftmax</a:t>
                </a:r>
                <a:r>
                  <a:rPr lang="ko-KR" altLang="en-US" sz="1200" dirty="0"/>
                  <a:t>의 결과</a:t>
                </a:r>
                <a:r>
                  <a:rPr lang="en-US" altLang="ko-KR" sz="1200" dirty="0"/>
                  <a:t>).</a:t>
                </a:r>
              </a:p>
              <a:p>
                <a:endParaRPr lang="ko-KR" altLang="en-US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8" y="4404471"/>
                <a:ext cx="9940065" cy="2816733"/>
              </a:xfrm>
              <a:prstGeom prst="rect">
                <a:avLst/>
              </a:prstGeom>
              <a:blipFill>
                <a:blip r:embed="rId3"/>
                <a:stretch>
                  <a:fillRect l="-552" t="-10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8700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7569" y="322150"/>
            <a:ext cx="4221507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>
                <a:solidFill>
                  <a:srgbClr val="0E0585"/>
                </a:solidFill>
              </a:rPr>
              <a:t>class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CrossEntropyLoss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end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569" y="1341231"/>
            <a:ext cx="9940065" cy="587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코드 이해</a:t>
            </a:r>
            <a:endParaRPr lang="en-US" altLang="ko-KR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200" dirty="0"/>
          </a:p>
          <a:p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forward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inputs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Args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: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inputs (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): prediction matrix (before 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softmax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) with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    shape (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num_classes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).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targets (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torch.LongTensor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): ground truth labels with shape (</a:t>
            </a:r>
            <a:r>
              <a:rPr lang="en-US" altLang="ko-KR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).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        Each position contains the label index.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        """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logsoftmax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inputs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.size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zeros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scatter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_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.unsqueeze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data.cpu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use_gpu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cuda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eps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eps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num_classes</a:t>
            </a:r>
            <a:endParaRPr lang="en-US" altLang="ko-KR" sz="1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targets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log_probs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).mean(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CCCCCC"/>
                </a:solidFill>
                <a:latin typeface="Consolas" panose="020B0609020204030204" pitchFamily="49" charset="0"/>
              </a:rPr>
              <a:t>).sum()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targets = </a:t>
            </a:r>
            <a:r>
              <a:rPr lang="en-US" altLang="ko-KR" sz="1200" dirty="0" err="1"/>
              <a:t>zeros.scatter</a:t>
            </a:r>
            <a:r>
              <a:rPr lang="en-US" altLang="ko-KR" sz="1200" dirty="0"/>
              <a:t>_(1, </a:t>
            </a:r>
            <a:r>
              <a:rPr lang="en-US" altLang="ko-KR" sz="1200" dirty="0" err="1"/>
              <a:t>targets.unsqueeze</a:t>
            </a:r>
            <a:r>
              <a:rPr lang="en-US" altLang="ko-KR" sz="1200" dirty="0"/>
              <a:t>(1).</a:t>
            </a:r>
            <a:r>
              <a:rPr lang="en-US" altLang="ko-KR" sz="1200" dirty="0" err="1"/>
              <a:t>data.cpu</a:t>
            </a:r>
            <a:r>
              <a:rPr lang="en-US" altLang="ko-KR" sz="1200" dirty="0"/>
              <a:t>(), 1)</a:t>
            </a:r>
          </a:p>
          <a:p>
            <a:endParaRPr lang="en-US" altLang="ko-KR" sz="1200" dirty="0"/>
          </a:p>
          <a:p>
            <a:r>
              <a:rPr lang="ko-KR" altLang="en-US" sz="1050" dirty="0" smtClean="0"/>
              <a:t>역할</a:t>
            </a:r>
            <a:r>
              <a:rPr lang="en-US" altLang="ko-KR" sz="1050" dirty="0"/>
              <a:t>: </a:t>
            </a:r>
            <a:r>
              <a:rPr lang="ko-KR" altLang="en-US" sz="1050" dirty="0"/>
              <a:t>실제 레이블</a:t>
            </a:r>
            <a:r>
              <a:rPr lang="en-US" altLang="ko-KR" sz="1050" dirty="0"/>
              <a:t>(targets)</a:t>
            </a:r>
            <a:r>
              <a:rPr lang="ko-KR" altLang="en-US" sz="1050" dirty="0"/>
              <a:t>을 원</a:t>
            </a:r>
            <a:r>
              <a:rPr lang="en-US" altLang="ko-KR" sz="1050" dirty="0"/>
              <a:t>-</a:t>
            </a:r>
            <a:r>
              <a:rPr lang="ko-KR" altLang="en-US" sz="1050" dirty="0" err="1"/>
              <a:t>핫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인코딩</a:t>
            </a:r>
            <a:r>
              <a:rPr lang="ko-KR" altLang="en-US" sz="1050" dirty="0"/>
              <a:t> 형태로 변환합니다</a:t>
            </a:r>
            <a:r>
              <a:rPr lang="en-US" altLang="ko-KR" sz="1050" dirty="0"/>
              <a:t>.</a:t>
            </a:r>
          </a:p>
          <a:p>
            <a:r>
              <a:rPr lang="ko-KR" altLang="en-US" sz="1050" dirty="0" smtClean="0"/>
              <a:t>작동 </a:t>
            </a:r>
            <a:r>
              <a:rPr lang="ko-KR" altLang="en-US" sz="1050" dirty="0"/>
              <a:t>방식</a:t>
            </a:r>
            <a:r>
              <a:rPr lang="en-US" altLang="ko-KR" sz="1050" dirty="0"/>
              <a:t>:</a:t>
            </a:r>
          </a:p>
          <a:p>
            <a:r>
              <a:rPr lang="en-US" altLang="ko-KR" sz="1050" dirty="0"/>
              <a:t>        targets</a:t>
            </a:r>
            <a:r>
              <a:rPr lang="ko-KR" altLang="en-US" sz="1050" dirty="0"/>
              <a:t>는 정답 레이블의 인덱스를 담고 있는 </a:t>
            </a:r>
            <a:r>
              <a:rPr lang="en-US" altLang="ko-KR" sz="1050" dirty="0"/>
              <a:t>1</a:t>
            </a:r>
            <a:r>
              <a:rPr lang="ko-KR" altLang="en-US" sz="1050" dirty="0"/>
              <a:t>차원 </a:t>
            </a:r>
            <a:r>
              <a:rPr lang="ko-KR" altLang="en-US" sz="1050" dirty="0" err="1"/>
              <a:t>텐서입니다</a:t>
            </a:r>
            <a:r>
              <a:rPr lang="en-US" altLang="ko-KR" sz="1050" dirty="0"/>
              <a:t>. </a:t>
            </a:r>
            <a:r>
              <a:rPr lang="ko-KR" altLang="en-US" sz="1050" dirty="0"/>
              <a:t>예를 들어</a:t>
            </a:r>
            <a:r>
              <a:rPr lang="en-US" altLang="ko-KR" sz="1050" dirty="0"/>
              <a:t>, [1, 0, 4]</a:t>
            </a:r>
            <a:r>
              <a:rPr lang="ko-KR" altLang="en-US" sz="1050" dirty="0"/>
              <a:t>와 같은 형태로 배치 크기만큼의 값을 가집니다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targets.unsqueeze</a:t>
            </a:r>
            <a:r>
              <a:rPr lang="en-US" altLang="ko-KR" sz="1050" dirty="0"/>
              <a:t>(1)</a:t>
            </a:r>
            <a:r>
              <a:rPr lang="ko-KR" altLang="en-US" sz="1050" dirty="0"/>
              <a:t>는 </a:t>
            </a:r>
            <a:r>
              <a:rPr lang="en-US" altLang="ko-KR" sz="1050" dirty="0"/>
              <a:t>targets</a:t>
            </a:r>
            <a:r>
              <a:rPr lang="ko-KR" altLang="en-US" sz="1050" dirty="0"/>
              <a:t>의 차원을 늘려 </a:t>
            </a:r>
            <a:r>
              <a:rPr lang="en-US" altLang="ko-KR" sz="1050" dirty="0"/>
              <a:t>(</a:t>
            </a:r>
            <a:r>
              <a:rPr lang="en-US" altLang="ko-KR" sz="1050" dirty="0" err="1"/>
              <a:t>batch_size</a:t>
            </a:r>
            <a:r>
              <a:rPr lang="en-US" altLang="ko-KR" sz="1050" dirty="0"/>
              <a:t>, 1) </a:t>
            </a:r>
            <a:r>
              <a:rPr lang="ko-KR" altLang="en-US" sz="1050" dirty="0"/>
              <a:t>형태로 만듭니다</a:t>
            </a:r>
            <a:r>
              <a:rPr lang="en-US" altLang="ko-KR" sz="1050" dirty="0"/>
              <a:t>. </a:t>
            </a:r>
            <a:r>
              <a:rPr lang="ko-KR" altLang="en-US" sz="1050" dirty="0"/>
              <a:t>이렇게 하면 각 레이블 인덱스를 </a:t>
            </a:r>
            <a:r>
              <a:rPr lang="en-US" altLang="ko-KR" sz="1050" dirty="0"/>
              <a:t>2</a:t>
            </a:r>
            <a:r>
              <a:rPr lang="ko-KR" altLang="en-US" sz="1050" dirty="0"/>
              <a:t>차원으로 변환하여 </a:t>
            </a:r>
            <a:r>
              <a:rPr lang="en-US" altLang="ko-KR" sz="1050" dirty="0"/>
              <a:t>.scatter_ </a:t>
            </a:r>
            <a:r>
              <a:rPr lang="ko-KR" altLang="en-US" sz="1050" dirty="0"/>
              <a:t>메서드가 사용할 수 있게 됩니다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        .</a:t>
            </a:r>
            <a:r>
              <a:rPr lang="en-US" altLang="ko-KR" sz="1050" dirty="0" err="1"/>
              <a:t>data.cpu</a:t>
            </a:r>
            <a:r>
              <a:rPr lang="en-US" altLang="ko-KR" sz="1050" dirty="0"/>
              <a:t>()</a:t>
            </a:r>
            <a:r>
              <a:rPr lang="ko-KR" altLang="en-US" sz="1050" dirty="0"/>
              <a:t>는 </a:t>
            </a:r>
            <a:r>
              <a:rPr lang="en-US" altLang="ko-KR" sz="1050" dirty="0"/>
              <a:t>targets</a:t>
            </a:r>
            <a:r>
              <a:rPr lang="ko-KR" altLang="en-US" sz="1050" dirty="0"/>
              <a:t>를 </a:t>
            </a:r>
            <a:r>
              <a:rPr lang="en-US" altLang="ko-KR" sz="1050" dirty="0"/>
              <a:t>CPU </a:t>
            </a:r>
            <a:r>
              <a:rPr lang="ko-KR" altLang="en-US" sz="1050" dirty="0"/>
              <a:t>메모리로 이동시키고</a:t>
            </a:r>
            <a:r>
              <a:rPr lang="en-US" altLang="ko-KR" sz="1050" dirty="0"/>
              <a:t>, .scatter_(1, </a:t>
            </a:r>
            <a:r>
              <a:rPr lang="en-US" altLang="ko-KR" sz="1050" dirty="0" err="1"/>
              <a:t>targets.unsqueeze</a:t>
            </a:r>
            <a:r>
              <a:rPr lang="en-US" altLang="ko-KR" sz="1050" dirty="0"/>
              <a:t>(1).</a:t>
            </a:r>
            <a:r>
              <a:rPr lang="en-US" altLang="ko-KR" sz="1050" dirty="0" err="1"/>
              <a:t>data.cpu</a:t>
            </a:r>
            <a:r>
              <a:rPr lang="en-US" altLang="ko-KR" sz="1050" dirty="0"/>
              <a:t>(), 1)</a:t>
            </a:r>
            <a:r>
              <a:rPr lang="ko-KR" altLang="en-US" sz="1050" dirty="0"/>
              <a:t>는 원</a:t>
            </a:r>
            <a:r>
              <a:rPr lang="en-US" altLang="ko-KR" sz="1050" dirty="0"/>
              <a:t>-</a:t>
            </a:r>
            <a:r>
              <a:rPr lang="ko-KR" altLang="en-US" sz="1050" dirty="0" err="1"/>
              <a:t>핫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인코딩을</a:t>
            </a:r>
            <a:r>
              <a:rPr lang="ko-KR" altLang="en-US" sz="1050" dirty="0"/>
              <a:t> 수행합니다</a:t>
            </a:r>
            <a:r>
              <a:rPr lang="en-US" altLang="ko-KR" sz="1050" dirty="0"/>
              <a:t>:</a:t>
            </a:r>
          </a:p>
          <a:p>
            <a:r>
              <a:rPr lang="en-US" altLang="ko-KR" sz="1050" dirty="0"/>
              <a:t>            .scatter_</a:t>
            </a:r>
            <a:r>
              <a:rPr lang="ko-KR" altLang="en-US" sz="1050" dirty="0"/>
              <a:t>는 인덱스 기준으로 값을 할당하는 함수입니다</a:t>
            </a:r>
            <a:r>
              <a:rPr lang="en-US" altLang="ko-KR" sz="1050" dirty="0"/>
              <a:t>. </a:t>
            </a:r>
            <a:r>
              <a:rPr lang="ko-KR" altLang="en-US" sz="1050" dirty="0"/>
              <a:t>여기서 </a:t>
            </a:r>
            <a:r>
              <a:rPr lang="en-US" altLang="ko-KR" sz="1050" dirty="0"/>
              <a:t>1</a:t>
            </a:r>
            <a:r>
              <a:rPr lang="ko-KR" altLang="en-US" sz="1050" dirty="0"/>
              <a:t>은 차원을 나타내며</a:t>
            </a:r>
            <a:r>
              <a:rPr lang="en-US" altLang="ko-KR" sz="1050" dirty="0"/>
              <a:t>, </a:t>
            </a:r>
            <a:r>
              <a:rPr lang="ko-KR" altLang="en-US" sz="1050" dirty="0"/>
              <a:t>각 행</a:t>
            </a:r>
            <a:r>
              <a:rPr lang="en-US" altLang="ko-KR" sz="1050" dirty="0"/>
              <a:t>(</a:t>
            </a:r>
            <a:r>
              <a:rPr lang="ko-KR" altLang="en-US" sz="1050" dirty="0"/>
              <a:t>샘플</a:t>
            </a:r>
            <a:r>
              <a:rPr lang="en-US" altLang="ko-KR" sz="1050" dirty="0"/>
              <a:t>)</a:t>
            </a:r>
            <a:r>
              <a:rPr lang="ko-KR" altLang="en-US" sz="1050" dirty="0"/>
              <a:t>에 대해 해당 차원의 값을 </a:t>
            </a:r>
            <a:r>
              <a:rPr lang="en-US" altLang="ko-KR" sz="1050" dirty="0"/>
              <a:t>1</a:t>
            </a:r>
            <a:r>
              <a:rPr lang="ko-KR" altLang="en-US" sz="1050" dirty="0"/>
              <a:t>로 설정합니다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            </a:t>
            </a:r>
            <a:r>
              <a:rPr lang="ko-KR" altLang="en-US" sz="1050" dirty="0"/>
              <a:t>예를 들어</a:t>
            </a:r>
            <a:r>
              <a:rPr lang="en-US" altLang="ko-KR" sz="1050" dirty="0"/>
              <a:t>, targets</a:t>
            </a:r>
            <a:r>
              <a:rPr lang="ko-KR" altLang="en-US" sz="1050" dirty="0"/>
              <a:t>가 </a:t>
            </a:r>
            <a:r>
              <a:rPr lang="en-US" altLang="ko-KR" sz="1050" dirty="0"/>
              <a:t>[1, 0, 4]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 </a:t>
            </a:r>
            <a:r>
              <a:rPr lang="ko-KR" altLang="en-US" sz="1050" dirty="0"/>
              <a:t>이 코드가 실행되면 </a:t>
            </a:r>
            <a:r>
              <a:rPr lang="en-US" altLang="ko-KR" sz="1050" dirty="0"/>
              <a:t>zeros</a:t>
            </a:r>
            <a:r>
              <a:rPr lang="ko-KR" altLang="en-US" sz="1050" dirty="0"/>
              <a:t>는 다음과 같은 형태로 변환됩니다</a:t>
            </a:r>
            <a:r>
              <a:rPr lang="en-US" altLang="ko-KR" sz="1050" dirty="0"/>
              <a:t>:</a:t>
            </a:r>
          </a:p>
          <a:p>
            <a:r>
              <a:rPr lang="ko-KR" altLang="en-US" sz="1050" dirty="0" smtClean="0"/>
              <a:t>결과</a:t>
            </a:r>
            <a:endParaRPr lang="en-US" altLang="ko-KR" sz="1050" dirty="0"/>
          </a:p>
          <a:p>
            <a:r>
              <a:rPr lang="en-US" altLang="ko-KR" sz="1050" dirty="0"/>
              <a:t>            [[0, 1, 0, 0, 0],</a:t>
            </a:r>
          </a:p>
          <a:p>
            <a:r>
              <a:rPr lang="en-US" altLang="ko-KR" sz="1050" dirty="0"/>
              <a:t>             [1, 0, 0, 0, 0],</a:t>
            </a:r>
          </a:p>
          <a:p>
            <a:r>
              <a:rPr lang="en-US" altLang="ko-KR" sz="1050" dirty="0"/>
              <a:t>             [0, 0, 0, 0, 1]]</a:t>
            </a:r>
          </a:p>
          <a:p>
            <a:r>
              <a:rPr lang="ko-KR" altLang="en-US" sz="1050" dirty="0" smtClean="0"/>
              <a:t>결과</a:t>
            </a:r>
            <a:r>
              <a:rPr lang="en-US" altLang="ko-KR" sz="1050" dirty="0"/>
              <a:t>: targets</a:t>
            </a:r>
            <a:r>
              <a:rPr lang="ko-KR" altLang="en-US" sz="1050" dirty="0"/>
              <a:t>는 원</a:t>
            </a:r>
            <a:r>
              <a:rPr lang="en-US" altLang="ko-KR" sz="1050" dirty="0"/>
              <a:t>-</a:t>
            </a:r>
            <a:r>
              <a:rPr lang="ko-KR" altLang="en-US" sz="1050" dirty="0" err="1"/>
              <a:t>핫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인코딩된</a:t>
            </a:r>
            <a:r>
              <a:rPr lang="ko-KR" altLang="en-US" sz="1050" dirty="0"/>
              <a:t> 형태의 </a:t>
            </a:r>
            <a:r>
              <a:rPr lang="ko-KR" altLang="en-US" sz="1050" dirty="0" err="1"/>
              <a:t>텐서로</a:t>
            </a:r>
            <a:r>
              <a:rPr lang="en-US" altLang="ko-KR" sz="1050" dirty="0"/>
              <a:t>, </a:t>
            </a:r>
            <a:r>
              <a:rPr lang="ko-KR" altLang="en-US" sz="1050" dirty="0"/>
              <a:t>각 샘플에 대해 정답 클래스 위치에 </a:t>
            </a:r>
            <a:r>
              <a:rPr lang="en-US" altLang="ko-KR" sz="1050" dirty="0"/>
              <a:t>1</a:t>
            </a:r>
            <a:r>
              <a:rPr lang="ko-KR" altLang="en-US" sz="1050" dirty="0"/>
              <a:t>이 할당된 형태가 됩니다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이 코드 전체의 목적은 </a:t>
            </a:r>
            <a:r>
              <a:rPr lang="ko-KR" altLang="en-US" sz="1050" dirty="0" err="1"/>
              <a:t>예측값의</a:t>
            </a:r>
            <a:r>
              <a:rPr lang="ko-KR" altLang="en-US" sz="1050" dirty="0"/>
              <a:t> 로그 확률을 구하고</a:t>
            </a:r>
            <a:r>
              <a:rPr lang="en-US" altLang="ko-KR" sz="1050" dirty="0"/>
              <a:t>, </a:t>
            </a:r>
            <a:r>
              <a:rPr lang="ko-KR" altLang="en-US" sz="1050" dirty="0"/>
              <a:t>실제 레이블을 원</a:t>
            </a:r>
            <a:r>
              <a:rPr lang="en-US" altLang="ko-KR" sz="1050" dirty="0"/>
              <a:t>-</a:t>
            </a:r>
            <a:r>
              <a:rPr lang="ko-KR" altLang="en-US" sz="1050" dirty="0" err="1"/>
              <a:t>핫</a:t>
            </a:r>
            <a:r>
              <a:rPr lang="ko-KR" altLang="en-US" sz="1050" dirty="0"/>
              <a:t> 인코딩하여 교차 엔트로피 손실 계산에 사용할 수 있는 형태로 변환하는 것입니다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6790479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08045" y="422371"/>
            <a:ext cx="80021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ko-KR" altLang="en-US" sz="2400" b="1" dirty="0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논문</a:t>
            </a:r>
            <a:endParaRPr lang="en-US" altLang="ko-KR" sz="2400" b="1" dirty="0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 flipV="1">
            <a:off x="11670974" y="1369270"/>
            <a:ext cx="0" cy="5736096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708045" y="1369270"/>
            <a:ext cx="139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8288" indent="-268288">
              <a:spcBef>
                <a:spcPts val="1200"/>
              </a:spcBef>
              <a:buFont typeface="Wingdings" pitchFamily="2" charset="2"/>
              <a:buChar char="l"/>
            </a:pPr>
            <a:r>
              <a:rPr lang="en-US" altLang="ko-KR" sz="2400" b="1" dirty="0" err="1" smtClean="0">
                <a:ln w="0"/>
                <a:solidFill>
                  <a:prstClr val="black"/>
                </a:solidFill>
                <a:latin typeface="Arial" pitchFamily="34" charset="0"/>
              </a:rPr>
              <a:t>OSNet</a:t>
            </a:r>
            <a:endParaRPr lang="en-US" altLang="ko-KR" sz="2400" b="1" dirty="0">
              <a:ln w="0"/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47" y="2077022"/>
            <a:ext cx="2982526" cy="232082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47" y="4892246"/>
            <a:ext cx="4692318" cy="18434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466" y="2077022"/>
            <a:ext cx="4533943" cy="35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4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08045" y="422371"/>
            <a:ext cx="80021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ko-KR" altLang="en-US" sz="2400" b="1" dirty="0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논문</a:t>
            </a:r>
            <a:endParaRPr lang="en-US" altLang="ko-KR" sz="2400" b="1" dirty="0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 flipV="1">
            <a:off x="11670974" y="1369270"/>
            <a:ext cx="0" cy="5736096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708045" y="1369270"/>
            <a:ext cx="2097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8288" indent="-268288">
              <a:spcBef>
                <a:spcPts val="1200"/>
              </a:spcBef>
              <a:buFont typeface="Wingdings" pitchFamily="2" charset="2"/>
              <a:buChar char="l"/>
            </a:pPr>
            <a:r>
              <a:rPr lang="en-US" altLang="ko-KR" sz="2400" b="1" dirty="0" err="1" smtClean="0">
                <a:ln w="0"/>
                <a:solidFill>
                  <a:prstClr val="black"/>
                </a:solidFill>
                <a:latin typeface="Arial" pitchFamily="34" charset="0"/>
              </a:rPr>
              <a:t>OSNet</a:t>
            </a:r>
            <a:r>
              <a:rPr lang="en-US" altLang="ko-KR" sz="2400" b="1" dirty="0" smtClean="0">
                <a:ln w="0"/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ko-KR" altLang="en-US" sz="2400" b="1" dirty="0" smtClean="0">
                <a:ln w="0"/>
                <a:solidFill>
                  <a:prstClr val="black"/>
                </a:solidFill>
                <a:latin typeface="Arial" pitchFamily="34" charset="0"/>
              </a:rPr>
              <a:t>구조</a:t>
            </a:r>
            <a:endParaRPr lang="en-US" altLang="ko-KR" sz="2400" b="1" dirty="0">
              <a:ln w="0"/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23" y="1913704"/>
            <a:ext cx="5849166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7905" y="314530"/>
            <a:ext cx="3225785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self </a:t>
            </a:r>
            <a:r>
              <a:rPr lang="ko-KR" altLang="en-US" sz="2400" b="1" dirty="0" smtClean="0">
                <a:solidFill>
                  <a:srgbClr val="0E0585"/>
                </a:solidFill>
              </a:rPr>
              <a:t>질문 리스트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722910" y="1493704"/>
                <a:ext cx="6302730" cy="4013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1. </a:t>
                </a:r>
                <a:r>
                  <a:rPr lang="ko-KR" altLang="en-US" sz="11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실질적 훈련은 어떤 함수에서  수행되나</a:t>
                </a:r>
                <a:r>
                  <a:rPr lang="en-US" altLang="ko-KR" sz="11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?</a:t>
                </a:r>
              </a:p>
              <a:p>
                <a:r>
                  <a:rPr lang="en-US" altLang="ko-KR" sz="11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    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class engine run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함수에서 수행이 되고 내부적으로 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self.train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함수가 수행된다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pPr lvl="0"/>
                <a:endParaRPr lang="en-US" altLang="ko-KR" sz="1100" dirty="0" smtClean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pPr lvl="0"/>
                <a:endParaRPr lang="en-US" altLang="ko-KR" sz="1100" dirty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pPr lvl="0"/>
                <a:r>
                  <a:rPr lang="en-US" altLang="ko-KR" sz="11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2. </a:t>
                </a:r>
                <a:r>
                  <a:rPr lang="en-US" altLang="ko-KR" sz="11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OSBlock</a:t>
                </a:r>
                <a:r>
                  <a:rPr lang="ko-KR" altLang="en-US" sz="11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초기화는 어디에서 이루어지나</a:t>
                </a:r>
                <a:r>
                  <a:rPr lang="en-US" altLang="ko-KR" sz="110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?</a:t>
                </a:r>
                <a:endParaRPr lang="en-US" altLang="ko-KR" sz="11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  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def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_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make_layer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함수에서 </a:t>
                </a:r>
                <a:r>
                  <a:rPr lang="en-US" altLang="ko-KR" sz="1100" dirty="0" err="1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layers.append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(block(</a:t>
                </a:r>
                <a:r>
                  <a:rPr lang="en-US" altLang="ko-KR" sz="1100" dirty="0" err="1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in_channels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en-US" altLang="ko-KR" sz="1100" dirty="0" err="1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out_channels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IN=IN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)) </a:t>
                </a:r>
                <a:r>
                  <a:rPr lang="ko-KR" altLang="en-US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호출시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이루어진다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처음 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OSBlock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을 </a:t>
                </a:r>
                <a:r>
                  <a:rPr lang="ko-KR" altLang="en-US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지날때만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channel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이 증가하고 그 이후로는 유지한다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endParaRPr lang="en-US" altLang="ko-KR" sz="1100" dirty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en-US" altLang="ko-KR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3. stack t</a:t>
                </a:r>
                <a:r>
                  <a:rPr lang="ko-KR" altLang="en-US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가 </a:t>
                </a:r>
                <a:r>
                  <a:rPr lang="ko-KR" altLang="en-US" sz="1100" dirty="0" err="1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있을때</a:t>
                </a:r>
                <a:r>
                  <a:rPr lang="ko-KR" altLang="en-US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en-US" altLang="ko-KR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Lite 3x3 layers</a:t>
                </a:r>
                <a:r>
                  <a:rPr lang="ko-KR" altLang="en-US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에 대하여 </a:t>
                </a:r>
                <a:r>
                  <a:rPr lang="ko-KR" altLang="en-US" sz="1100" dirty="0" err="1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수용영역</a:t>
                </a:r>
                <a:r>
                  <a:rPr lang="en-US" altLang="ko-KR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(receptive field) </a:t>
                </a:r>
                <a:r>
                  <a:rPr lang="ko-KR" altLang="en-US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크기가 </a:t>
                </a:r>
                <a:r>
                  <a:rPr lang="en-US" altLang="ko-KR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(2t+1)(2t+1)</a:t>
                </a:r>
                <a:r>
                  <a:rPr lang="ko-KR" altLang="en-US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이란 의미는</a:t>
                </a:r>
                <a:r>
                  <a:rPr lang="en-US" altLang="ko-KR" sz="1100" dirty="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?</a:t>
                </a:r>
              </a:p>
              <a:p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Lite 3x3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을 지날 때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3x3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커널이므로 한 점이 만들어지기 위해서는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3x3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영역을 커버한다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그러므로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t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개가 쌓이면 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(2t+1)(2t+1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)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영역이 된다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endParaRPr lang="en-US" altLang="ko-KR" sz="1100" dirty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4.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𝑡</m:t>
                        </m:r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𝑇</m:t>
                        </m:r>
                      </m:sup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𝐺</m:t>
                        </m:r>
                        <m:d>
                          <m:dPr>
                            <m:ctrlP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경기천년바탕 Regular" panose="02020503020101020101" pitchFamily="18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경기천년바탕 Regular" panose="02020503020101020101" pitchFamily="18" charset="-127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경기천년바탕 Regular" panose="02020503020101020101" pitchFamily="18" charset="-127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⊙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</m:e>
                    </m:nary>
                  </m:oMath>
                </a14:m>
                <a:r>
                  <a:rPr lang="en-US" altLang="ko-KR" sz="14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subjected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𝑡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의미는</a:t>
                </a:r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?</a:t>
                </a:r>
              </a:p>
              <a:p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𝑡</m:t>
                        </m:r>
                      </m:sup>
                    </m:sSup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sSup>
                      <m:sSupPr>
                        <m:ctrlP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는 입력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x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가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Lite 3x3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을 통과한 결과 값이고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𝐺</m:t>
                    </m:r>
                    <m:d>
                      <m:dPr>
                        <m:ctrlP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채널 깊이에 대한 가중치 벡터이고 그 모든 합을 더한 것을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accPr>
                      <m:e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로 정의 하였다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즉 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OSBlock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을 통과한 값이다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endParaRPr lang="en-US" altLang="ko-KR" sz="1100" dirty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5.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fPr>
                      <m:num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𝐺</m:t>
                        </m:r>
                      </m:den>
                    </m:f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fPr>
                      <m:num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acc>
                          <m:accPr>
                            <m:chr m:val="̃"/>
                            <m:ctrlPr>
                              <a:rPr lang="ko-KR" alt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fPr>
                      <m:num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acc>
                          <m:accPr>
                            <m:chr m:val="̃"/>
                            <m:ctrlPr>
                              <a:rPr lang="ko-KR" alt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𝐺</m:t>
                        </m:r>
                      </m:den>
                    </m:f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fPr>
                      <m:num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𝜕</m:t>
                        </m:r>
                        <m:acc>
                          <m:accPr>
                            <m:chr m:val="̃"/>
                            <m:ctrlPr>
                              <a:rPr lang="ko-KR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ko-KR" sz="14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𝑡</m:t>
                        </m:r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𝑇</m:t>
                        </m:r>
                      </m:sup>
                      <m:e>
                        <m:sSup>
                          <m:sSupPr>
                            <m:ctrlPr>
                              <a:rPr lang="en-US" altLang="ko-KR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 </a:t>
                </a:r>
                <a:r>
                  <a:rPr lang="ko-KR" altLang="en-US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의미는</a:t>
                </a:r>
                <a:r>
                  <a:rPr lang="en-US" altLang="ko-KR" sz="1100" dirty="0" smtClean="0">
                    <a:solidFill>
                      <a:schemeClr val="tx1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?</a:t>
                </a:r>
              </a:p>
              <a:p>
                <a:endParaRPr lang="en-US" altLang="ko-KR" sz="1100" dirty="0" smtClean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AG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에 들어가는 </a:t>
                </a:r>
                <a:r>
                  <a:rPr lang="ko-KR" altLang="en-US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파라미터는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en-US" altLang="ko-KR" sz="1100" dirty="0" err="1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OSBlock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개수 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T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와 관계가 없다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 </a:t>
                </a:r>
                <a:r>
                  <a:rPr lang="ko-KR" altLang="en-US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그러므로 좀 더 확장 가능하다</a:t>
                </a:r>
                <a:r>
                  <a:rPr lang="en-US" altLang="ko-KR" sz="1100" dirty="0" smtClean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공통 게이트 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GG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를 사용하면 모든 스트림의 </a:t>
                </a:r>
                <a:r>
                  <a:rPr lang="ko-KR" altLang="en-US" sz="1100" dirty="0" err="1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수퍼비전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신호가 통합되어 모델 학습이 효과적으로 안내되지만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개별 게이트를 사용할 경우 각 스트림이 독립적으로 학습되어 </a:t>
                </a:r>
                <a:r>
                  <a:rPr lang="ko-KR" altLang="en-US" sz="1100" dirty="0" err="1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수퍼비전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신호가 분산되게 됩니다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 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따라서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ko-KR" altLang="en-US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공통 게이트의 사용은 스트림 간 균형 잡힌 학습을 유도하는 데 중요한 역할을 합니다</a:t>
                </a:r>
                <a:r>
                  <a:rPr lang="en-US" altLang="ko-KR" sz="1100" dirty="0">
                    <a:solidFill>
                      <a:srgbClr val="0070C0"/>
                    </a:solidFill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  <a:endParaRPr lang="en-US" altLang="ko-KR" sz="1100" dirty="0" smtClean="0">
                  <a:solidFill>
                    <a:srgbClr val="0070C0"/>
                  </a:solidFill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10" y="1493704"/>
                <a:ext cx="6302730" cy="4013984"/>
              </a:xfrm>
              <a:prstGeom prst="rect">
                <a:avLst/>
              </a:prstGeom>
              <a:blipFill>
                <a:blip r:embed="rId2"/>
                <a:stretch>
                  <a:fillRect b="-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263499"/>
              </p:ext>
            </p:extLst>
          </p:nvPr>
        </p:nvGraphicFramePr>
        <p:xfrm>
          <a:off x="7025640" y="1493704"/>
          <a:ext cx="235458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916">
                  <a:extLst>
                    <a:ext uri="{9D8B030D-6E8A-4147-A177-3AD203B41FA5}">
                      <a16:colId xmlns:a16="http://schemas.microsoft.com/office/drawing/2014/main" val="3640456308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1212387443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468940793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2442823535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4138778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5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25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1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10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671924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96777"/>
              </p:ext>
            </p:extLst>
          </p:nvPr>
        </p:nvGraphicFramePr>
        <p:xfrm>
          <a:off x="8488680" y="3528244"/>
          <a:ext cx="141274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916">
                  <a:extLst>
                    <a:ext uri="{9D8B030D-6E8A-4147-A177-3AD203B41FA5}">
                      <a16:colId xmlns:a16="http://schemas.microsoft.com/office/drawing/2014/main" val="3640456308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1212387443"/>
                    </a:ext>
                  </a:extLst>
                </a:gridCol>
                <a:gridCol w="470916">
                  <a:extLst>
                    <a:ext uri="{9D8B030D-6E8A-4147-A177-3AD203B41FA5}">
                      <a16:colId xmlns:a16="http://schemas.microsoft.com/office/drawing/2014/main" val="468940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05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25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4079"/>
                  </a:ext>
                </a:extLst>
              </a:tr>
            </a:tbl>
          </a:graphicData>
        </a:graphic>
      </p:graphicFrame>
      <p:cxnSp>
        <p:nvCxnSpPr>
          <p:cNvPr id="31" name="직선 화살표 연결선 30"/>
          <p:cNvCxnSpPr/>
          <p:nvPr/>
        </p:nvCxnSpPr>
        <p:spPr>
          <a:xfrm>
            <a:off x="8467185" y="2621280"/>
            <a:ext cx="473615" cy="130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8432800" y="1493704"/>
            <a:ext cx="508000" cy="203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7025639" y="2621280"/>
            <a:ext cx="1463041" cy="130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7025639" y="1493704"/>
            <a:ext cx="1463041" cy="203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43059"/>
              </p:ext>
            </p:extLst>
          </p:nvPr>
        </p:nvGraphicFramePr>
        <p:xfrm>
          <a:off x="9813509" y="5262852"/>
          <a:ext cx="47091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916">
                  <a:extLst>
                    <a:ext uri="{9D8B030D-6E8A-4147-A177-3AD203B41FA5}">
                      <a16:colId xmlns:a16="http://schemas.microsoft.com/office/drawing/2014/main" val="3640456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056343"/>
                  </a:ext>
                </a:extLst>
              </a:tr>
            </a:tbl>
          </a:graphicData>
        </a:graphic>
      </p:graphicFrame>
      <p:cxnSp>
        <p:nvCxnSpPr>
          <p:cNvPr id="11" name="직선 화살표 연결선 10"/>
          <p:cNvCxnSpPr/>
          <p:nvPr/>
        </p:nvCxnSpPr>
        <p:spPr>
          <a:xfrm>
            <a:off x="9910827" y="3528244"/>
            <a:ext cx="373598" cy="1734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8498078" y="3516906"/>
            <a:ext cx="1284538" cy="174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8498078" y="4640764"/>
            <a:ext cx="1315431" cy="992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9910826" y="4640764"/>
            <a:ext cx="373599" cy="992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813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5580" y="314530"/>
            <a:ext cx="2469169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smtClean="0">
                <a:solidFill>
                  <a:srgbClr val="0E0585"/>
                </a:solidFill>
              </a:rPr>
              <a:t>self </a:t>
            </a:r>
            <a:r>
              <a:rPr lang="ko-KR" altLang="en-US" sz="2400" b="1" dirty="0" smtClean="0">
                <a:solidFill>
                  <a:srgbClr val="0E0585"/>
                </a:solidFill>
              </a:rPr>
              <a:t>질문 리스트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50428" y="1420037"/>
            <a:ext cx="5343525" cy="447814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5.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OSNet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에서 </a:t>
            </a:r>
            <a:r>
              <a:rPr lang="en-US" altLang="ko-KR" sz="800" dirty="0" err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two_stepped_transfer_learning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기능은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</a:p>
          <a:p>
            <a:endParaRPr lang="en-US" altLang="ko-KR" sz="500" dirty="0" smtClean="0">
              <a:solidFill>
                <a:schemeClr val="tx1">
                  <a:lumMod val="75000"/>
                  <a:lumOff val="25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800" dirty="0" err="1"/>
              <a:t>OSNet</a:t>
            </a:r>
            <a:r>
              <a:rPr lang="en-US" altLang="ko-KR" sz="800" dirty="0"/>
              <a:t>(Omni-Scale Network)</a:t>
            </a:r>
            <a:r>
              <a:rPr lang="ko-KR" altLang="en-US" sz="800" dirty="0"/>
              <a:t>은 사람 </a:t>
            </a:r>
            <a:r>
              <a:rPr lang="ko-KR" altLang="en-US" sz="800" dirty="0" err="1"/>
              <a:t>재식별</a:t>
            </a:r>
            <a:r>
              <a:rPr lang="en-US" altLang="ko-KR" sz="800" dirty="0"/>
              <a:t>(Person Re-Identification)</a:t>
            </a:r>
            <a:r>
              <a:rPr lang="ko-KR" altLang="en-US" sz="800" dirty="0"/>
              <a:t>을 위한 고성능 신경망 구조로</a:t>
            </a:r>
            <a:r>
              <a:rPr lang="en-US" altLang="ko-KR" sz="800" dirty="0"/>
              <a:t>, </a:t>
            </a:r>
            <a:r>
              <a:rPr lang="ko-KR" altLang="en-US" sz="800" dirty="0"/>
              <a:t>다양한 스케일의 특징을 효과적으로 결합하여 사람의 이미지를 인식하는 데 최적화되어 있습니다</a:t>
            </a:r>
            <a:r>
              <a:rPr lang="en-US" altLang="ko-KR" sz="800" dirty="0"/>
              <a:t>. </a:t>
            </a:r>
            <a:r>
              <a:rPr lang="en-US" altLang="ko-KR" sz="800" b="1" dirty="0"/>
              <a:t>Two-Stepped Transfer Learning</a:t>
            </a:r>
            <a:r>
              <a:rPr lang="ko-KR" altLang="en-US" sz="800" dirty="0"/>
              <a:t>은 </a:t>
            </a:r>
            <a:r>
              <a:rPr lang="en-US" altLang="ko-KR" sz="800" dirty="0" err="1"/>
              <a:t>OSNet</a:t>
            </a:r>
            <a:r>
              <a:rPr lang="ko-KR" altLang="en-US" sz="800" dirty="0"/>
              <a:t>과 같은 </a:t>
            </a:r>
            <a:r>
              <a:rPr lang="ko-KR" altLang="en-US" sz="800" dirty="0" err="1"/>
              <a:t>딥러닝</a:t>
            </a:r>
            <a:r>
              <a:rPr lang="ko-KR" altLang="en-US" sz="800" dirty="0"/>
              <a:t> 모델에서 성능을 높이기 위해 사용되는 학습 방법 중 하나입니다</a:t>
            </a:r>
            <a:r>
              <a:rPr lang="en-US" altLang="ko-KR" sz="800" dirty="0"/>
              <a:t>. </a:t>
            </a:r>
            <a:r>
              <a:rPr lang="ko-KR" altLang="en-US" sz="800" dirty="0"/>
              <a:t>이 방법은 일반적인 </a:t>
            </a:r>
            <a:r>
              <a:rPr lang="en-US" altLang="ko-KR" sz="800" dirty="0"/>
              <a:t>Transfer Learning</a:t>
            </a:r>
            <a:r>
              <a:rPr lang="ko-KR" altLang="en-US" sz="800" dirty="0"/>
              <a:t>을 두 단계로 나누어 진행함으로써 모델의 성능을 최적화하는 것을 목표로 합니다</a:t>
            </a:r>
            <a:r>
              <a:rPr lang="en-US" altLang="ko-KR" sz="800" dirty="0"/>
              <a:t>.</a:t>
            </a:r>
          </a:p>
          <a:p>
            <a:r>
              <a:rPr lang="en-US" altLang="ko-KR" sz="800" b="1" dirty="0"/>
              <a:t>Two-Stepped Transfer Learning</a:t>
            </a:r>
            <a:r>
              <a:rPr lang="ko-KR" altLang="en-US" sz="800" b="1" dirty="0"/>
              <a:t>의 기능과 목적</a:t>
            </a:r>
            <a:r>
              <a:rPr lang="en-US" altLang="ko-KR" sz="800" b="1" dirty="0"/>
              <a:t>:</a:t>
            </a:r>
          </a:p>
          <a:p>
            <a:r>
              <a:rPr lang="en-US" altLang="ko-KR" sz="800" b="1" dirty="0"/>
              <a:t>1</a:t>
            </a:r>
            <a:r>
              <a:rPr lang="ko-KR" altLang="en-US" sz="800" b="1" dirty="0"/>
              <a:t>단계</a:t>
            </a:r>
            <a:r>
              <a:rPr lang="en-US" altLang="ko-KR" sz="800" b="1" dirty="0"/>
              <a:t>: </a:t>
            </a:r>
            <a:r>
              <a:rPr lang="ko-KR" altLang="en-US" sz="800" b="1" dirty="0"/>
              <a:t>일반적 특징 학습 </a:t>
            </a:r>
            <a:r>
              <a:rPr lang="en-US" altLang="ko-KR" sz="800" b="1" dirty="0"/>
              <a:t>(General Feature Learning)</a:t>
            </a:r>
            <a:r>
              <a:rPr lang="en-US" altLang="ko-KR" sz="800" dirty="0"/>
              <a:t>:</a:t>
            </a:r>
          </a:p>
          <a:p>
            <a:pPr lvl="1"/>
            <a:r>
              <a:rPr lang="ko-KR" altLang="en-US" sz="800" dirty="0"/>
              <a:t>첫 번째 단계에서는 모델이 대규모의 일반적인 </a:t>
            </a:r>
            <a:r>
              <a:rPr lang="ko-KR" altLang="en-US" sz="800" dirty="0" err="1"/>
              <a:t>데이터셋</a:t>
            </a:r>
            <a:r>
              <a:rPr lang="en-US" altLang="ko-KR" sz="800" dirty="0"/>
              <a:t>(</a:t>
            </a:r>
            <a:r>
              <a:rPr lang="ko-KR" altLang="en-US" sz="800" dirty="0"/>
              <a:t>예</a:t>
            </a:r>
            <a:r>
              <a:rPr lang="en-US" altLang="ko-KR" sz="800" dirty="0"/>
              <a:t>: ImageNet)</a:t>
            </a:r>
            <a:r>
              <a:rPr lang="ko-KR" altLang="en-US" sz="800" dirty="0"/>
              <a:t>에서 사전 학습된 가중치를 사용하여 일반적인 시각적 특징을 학습합니다</a:t>
            </a:r>
            <a:r>
              <a:rPr lang="en-US" altLang="ko-KR" sz="800" dirty="0"/>
              <a:t>.</a:t>
            </a:r>
          </a:p>
          <a:p>
            <a:pPr lvl="1"/>
            <a:r>
              <a:rPr lang="ko-KR" altLang="en-US" sz="800" dirty="0"/>
              <a:t>이 단계는 모델이 다양한 객체의 일반적인 특징을 학습하여 기초적인 시각적 이해를 높이도록 도와줍니다</a:t>
            </a:r>
            <a:r>
              <a:rPr lang="en-US" altLang="ko-KR" sz="800" dirty="0"/>
              <a:t>.</a:t>
            </a:r>
          </a:p>
          <a:p>
            <a:pPr lvl="1"/>
            <a:r>
              <a:rPr lang="ko-KR" altLang="en-US" sz="800" dirty="0"/>
              <a:t>이 과정에서 모델은 다양한 카테고리의 이미지에 대한 기본적인 패턴 인식을 강화합니다</a:t>
            </a:r>
            <a:r>
              <a:rPr lang="en-US" altLang="ko-KR" sz="800" dirty="0"/>
              <a:t>.</a:t>
            </a:r>
          </a:p>
          <a:p>
            <a:r>
              <a:rPr lang="en-US" altLang="ko-KR" sz="800" b="1" dirty="0"/>
              <a:t>2</a:t>
            </a:r>
            <a:r>
              <a:rPr lang="ko-KR" altLang="en-US" sz="800" b="1" dirty="0"/>
              <a:t>단계</a:t>
            </a:r>
            <a:r>
              <a:rPr lang="en-US" altLang="ko-KR" sz="800" b="1" dirty="0"/>
              <a:t>: </a:t>
            </a:r>
            <a:r>
              <a:rPr lang="ko-KR" altLang="en-US" sz="800" b="1" dirty="0"/>
              <a:t>특정 도메인 적응 </a:t>
            </a:r>
            <a:r>
              <a:rPr lang="en-US" altLang="ko-KR" sz="800" b="1" dirty="0"/>
              <a:t>(Domain-Specific Adaptation)</a:t>
            </a:r>
            <a:r>
              <a:rPr lang="en-US" altLang="ko-KR" sz="800" dirty="0"/>
              <a:t>:</a:t>
            </a:r>
          </a:p>
          <a:p>
            <a:pPr lvl="1"/>
            <a:r>
              <a:rPr lang="ko-KR" altLang="en-US" sz="800" dirty="0"/>
              <a:t>두 번째 단계에서는 첫 번째 단계에서 학습한 일반적인 특징을 바탕으로</a:t>
            </a:r>
            <a:r>
              <a:rPr lang="en-US" altLang="ko-KR" sz="800" dirty="0"/>
              <a:t>, </a:t>
            </a:r>
            <a:r>
              <a:rPr lang="ko-KR" altLang="en-US" sz="800" dirty="0"/>
              <a:t>특정한 </a:t>
            </a:r>
            <a:r>
              <a:rPr lang="ko-KR" altLang="en-US" sz="800" dirty="0" err="1"/>
              <a:t>재식별</a:t>
            </a:r>
            <a:r>
              <a:rPr lang="ko-KR" altLang="en-US" sz="800" dirty="0"/>
              <a:t> 작업에 적합하도록 모델을 미세 조정</a:t>
            </a:r>
            <a:r>
              <a:rPr lang="en-US" altLang="ko-KR" sz="800" dirty="0"/>
              <a:t>(Fine-Tuning)</a:t>
            </a:r>
            <a:r>
              <a:rPr lang="ko-KR" altLang="en-US" sz="800" dirty="0"/>
              <a:t>합니다</a:t>
            </a:r>
            <a:r>
              <a:rPr lang="en-US" altLang="ko-KR" sz="800" dirty="0"/>
              <a:t>.</a:t>
            </a:r>
          </a:p>
          <a:p>
            <a:pPr lvl="1"/>
            <a:r>
              <a:rPr lang="ko-KR" altLang="en-US" sz="800" dirty="0"/>
              <a:t>이 단계에서는 사람 </a:t>
            </a:r>
            <a:r>
              <a:rPr lang="ko-KR" altLang="en-US" sz="800" dirty="0" err="1"/>
              <a:t>재식별에</a:t>
            </a:r>
            <a:r>
              <a:rPr lang="ko-KR" altLang="en-US" sz="800" dirty="0"/>
              <a:t> 특화된 </a:t>
            </a:r>
            <a:r>
              <a:rPr lang="ko-KR" altLang="en-US" sz="800" dirty="0" err="1"/>
              <a:t>데이터셋</a:t>
            </a:r>
            <a:r>
              <a:rPr lang="en-US" altLang="ko-KR" sz="800" dirty="0"/>
              <a:t>(</a:t>
            </a:r>
            <a:r>
              <a:rPr lang="ko-KR" altLang="en-US" sz="800" dirty="0"/>
              <a:t>예</a:t>
            </a:r>
            <a:r>
              <a:rPr lang="en-US" altLang="ko-KR" sz="800" dirty="0"/>
              <a:t>: Market-1501, </a:t>
            </a:r>
            <a:r>
              <a:rPr lang="en-US" altLang="ko-KR" sz="800" dirty="0" err="1"/>
              <a:t>DukeMTMC-reID</a:t>
            </a:r>
            <a:r>
              <a:rPr lang="en-US" altLang="ko-KR" sz="800" dirty="0"/>
              <a:t>)</a:t>
            </a:r>
            <a:r>
              <a:rPr lang="ko-KR" altLang="en-US" sz="800" dirty="0"/>
              <a:t>을 사용하여 모델이 해당 도메인의 특징에 더욱 최적화되도록 합니다</a:t>
            </a:r>
            <a:r>
              <a:rPr lang="en-US" altLang="ko-KR" sz="800" dirty="0"/>
              <a:t>.</a:t>
            </a:r>
          </a:p>
          <a:p>
            <a:pPr lvl="1"/>
            <a:r>
              <a:rPr lang="ko-KR" altLang="en-US" sz="800" dirty="0"/>
              <a:t>모델은 사람의 이미지에서 중요한 세부사항</a:t>
            </a:r>
            <a:r>
              <a:rPr lang="en-US" altLang="ko-KR" sz="800" dirty="0"/>
              <a:t>, </a:t>
            </a:r>
            <a:r>
              <a:rPr lang="ko-KR" altLang="en-US" sz="800" dirty="0"/>
              <a:t>예를 들어 옷의 색상</a:t>
            </a:r>
            <a:r>
              <a:rPr lang="en-US" altLang="ko-KR" sz="800" dirty="0"/>
              <a:t>, </a:t>
            </a:r>
            <a:r>
              <a:rPr lang="ko-KR" altLang="en-US" sz="800" dirty="0"/>
              <a:t>패턴</a:t>
            </a:r>
            <a:r>
              <a:rPr lang="en-US" altLang="ko-KR" sz="800" dirty="0"/>
              <a:t>, </a:t>
            </a:r>
            <a:r>
              <a:rPr lang="ko-KR" altLang="en-US" sz="800" dirty="0"/>
              <a:t>포즈 등을 학습하게 됩니다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주요 기능 및 장점</a:t>
            </a:r>
            <a:r>
              <a:rPr lang="en-US" altLang="ko-KR" sz="800" b="1" dirty="0"/>
              <a:t>:</a:t>
            </a:r>
          </a:p>
          <a:p>
            <a:r>
              <a:rPr lang="ko-KR" altLang="en-US" sz="800" b="1" dirty="0"/>
              <a:t>성능 향상</a:t>
            </a:r>
            <a:r>
              <a:rPr lang="en-US" altLang="ko-KR" sz="800" dirty="0"/>
              <a:t>: </a:t>
            </a:r>
            <a:r>
              <a:rPr lang="ko-KR" altLang="en-US" sz="800" dirty="0"/>
              <a:t>두 단계로 나누어 학습함으로써</a:t>
            </a:r>
            <a:r>
              <a:rPr lang="en-US" altLang="ko-KR" sz="800" dirty="0"/>
              <a:t>, </a:t>
            </a:r>
            <a:r>
              <a:rPr lang="ko-KR" altLang="en-US" sz="800" dirty="0"/>
              <a:t>모델이 처음부터 학습하지 않아도 되므로 학습 속도가 빨라지고</a:t>
            </a:r>
            <a:r>
              <a:rPr lang="en-US" altLang="ko-KR" sz="800" dirty="0"/>
              <a:t>, </a:t>
            </a:r>
            <a:r>
              <a:rPr lang="ko-KR" altLang="en-US" sz="800" dirty="0"/>
              <a:t>성능이 향상됩니다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효율적인 학습</a:t>
            </a:r>
            <a:r>
              <a:rPr lang="en-US" altLang="ko-KR" sz="800" dirty="0"/>
              <a:t>: </a:t>
            </a:r>
            <a:r>
              <a:rPr lang="ko-KR" altLang="en-US" sz="800" dirty="0"/>
              <a:t>사전 학습된 가중치를 활용함으로써 데이터의 효율적인 사용이 가능하고</a:t>
            </a:r>
            <a:r>
              <a:rPr lang="en-US" altLang="ko-KR" sz="800" dirty="0"/>
              <a:t>, </a:t>
            </a:r>
            <a:r>
              <a:rPr lang="ko-KR" altLang="en-US" sz="800" dirty="0"/>
              <a:t>적은 데이터로도 좋은 성능을 낼 수 있습니다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특정 도메인에 최적화</a:t>
            </a:r>
            <a:r>
              <a:rPr lang="en-US" altLang="ko-KR" sz="800" dirty="0"/>
              <a:t>: </a:t>
            </a:r>
            <a:r>
              <a:rPr lang="ko-KR" altLang="en-US" sz="800" dirty="0"/>
              <a:t>두 번째 단계에서 특정 도메인에 맞춘 학습이 이루어지므로</a:t>
            </a:r>
            <a:r>
              <a:rPr lang="en-US" altLang="ko-KR" sz="800" dirty="0"/>
              <a:t>, </a:t>
            </a:r>
            <a:r>
              <a:rPr lang="ko-KR" altLang="en-US" sz="800" dirty="0" err="1"/>
              <a:t>재식별</a:t>
            </a:r>
            <a:r>
              <a:rPr lang="ko-KR" altLang="en-US" sz="800" dirty="0"/>
              <a:t> 작업과 같은 특정한 응용에서 높은 정확도를 달성할 수 있습니다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적용 시의 고려 사항</a:t>
            </a:r>
            <a:r>
              <a:rPr lang="en-US" altLang="ko-KR" sz="800" b="1" dirty="0"/>
              <a:t>:</a:t>
            </a:r>
          </a:p>
          <a:p>
            <a:r>
              <a:rPr lang="ko-KR" altLang="en-US" sz="800" b="1" dirty="0"/>
              <a:t>사전 학습된 모델 선택</a:t>
            </a:r>
            <a:r>
              <a:rPr lang="en-US" altLang="ko-KR" sz="800" dirty="0"/>
              <a:t>: </a:t>
            </a:r>
            <a:r>
              <a:rPr lang="ko-KR" altLang="en-US" sz="800" dirty="0"/>
              <a:t>첫 번째 단계에서 사용하는 사전 학습된 모델이 도메인 적응을 잘 할 수 있는 기반이 되는지 확인이 필요합니다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데이터 품질과 양</a:t>
            </a:r>
            <a:r>
              <a:rPr lang="en-US" altLang="ko-KR" sz="800" dirty="0"/>
              <a:t>: </a:t>
            </a:r>
            <a:r>
              <a:rPr lang="ko-KR" altLang="en-US" sz="800" dirty="0"/>
              <a:t>두 번째 단계에서 사용하는 도메인 </a:t>
            </a:r>
            <a:r>
              <a:rPr lang="ko-KR" altLang="en-US" sz="800" dirty="0" err="1"/>
              <a:t>데이터셋의</a:t>
            </a:r>
            <a:r>
              <a:rPr lang="ko-KR" altLang="en-US" sz="800" dirty="0"/>
              <a:t> 품질과 양은 최종 모델 성능에 큰 영향을 미칩니다</a:t>
            </a:r>
            <a:r>
              <a:rPr lang="en-US" altLang="ko-KR" sz="800" dirty="0"/>
              <a:t>.</a:t>
            </a:r>
          </a:p>
          <a:p>
            <a:r>
              <a:rPr lang="ko-KR" altLang="en-US" sz="800" b="1" dirty="0"/>
              <a:t>적절한 미세 조정</a:t>
            </a:r>
            <a:r>
              <a:rPr lang="en-US" altLang="ko-KR" sz="800" dirty="0"/>
              <a:t>: </a:t>
            </a:r>
            <a:r>
              <a:rPr lang="ko-KR" altLang="en-US" sz="800" dirty="0"/>
              <a:t>두 번째 단계에서의 </a:t>
            </a:r>
            <a:r>
              <a:rPr lang="ko-KR" altLang="en-US" sz="800" dirty="0" err="1"/>
              <a:t>학습률과</a:t>
            </a:r>
            <a:r>
              <a:rPr lang="ko-KR" altLang="en-US" sz="800" dirty="0"/>
              <a:t> </a:t>
            </a:r>
            <a:r>
              <a:rPr lang="ko-KR" altLang="en-US" sz="800" dirty="0" err="1"/>
              <a:t>하이퍼파라미터</a:t>
            </a:r>
            <a:r>
              <a:rPr lang="ko-KR" altLang="en-US" sz="800" dirty="0"/>
              <a:t> 조정이 중요합니다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잘못 설정하면 모델이 오버피팅되거나 성능이 떨어질 수 있습니다</a:t>
            </a:r>
            <a:r>
              <a:rPr lang="en-US" altLang="ko-KR" sz="800" dirty="0"/>
              <a:t>.</a:t>
            </a:r>
          </a:p>
          <a:p>
            <a:r>
              <a:rPr lang="ko-KR" altLang="en-US" sz="800" dirty="0"/>
              <a:t>결론적으로</a:t>
            </a:r>
            <a:r>
              <a:rPr lang="en-US" altLang="ko-KR" sz="800" dirty="0"/>
              <a:t>, </a:t>
            </a:r>
            <a:r>
              <a:rPr lang="en-US" altLang="ko-KR" sz="800" b="1" dirty="0"/>
              <a:t>Two-Stepped Transfer Learning</a:t>
            </a:r>
            <a:r>
              <a:rPr lang="ko-KR" altLang="en-US" sz="800" dirty="0"/>
              <a:t>은 </a:t>
            </a:r>
            <a:r>
              <a:rPr lang="en-US" altLang="ko-KR" sz="800" dirty="0" err="1"/>
              <a:t>OSNet</a:t>
            </a:r>
            <a:r>
              <a:rPr lang="ko-KR" altLang="en-US" sz="800" dirty="0"/>
              <a:t>과 같은 모델에서 일반적인 특징 학습과 도메인 특화 학습을 분리하여</a:t>
            </a:r>
            <a:r>
              <a:rPr lang="en-US" altLang="ko-KR" sz="800" dirty="0"/>
              <a:t>, </a:t>
            </a:r>
            <a:r>
              <a:rPr lang="ko-KR" altLang="en-US" sz="800" dirty="0"/>
              <a:t>최적의 </a:t>
            </a:r>
            <a:r>
              <a:rPr lang="ko-KR" altLang="en-US" sz="800" dirty="0" err="1"/>
              <a:t>재식별</a:t>
            </a:r>
            <a:r>
              <a:rPr lang="ko-KR" altLang="en-US" sz="800" dirty="0"/>
              <a:t> 성능을 달성하기 위한 전략입니다</a:t>
            </a:r>
            <a:r>
              <a:rPr lang="en-US" altLang="ko-KR" sz="800" dirty="0"/>
              <a:t>. </a:t>
            </a:r>
            <a:r>
              <a:rPr lang="ko-KR" altLang="en-US" sz="800" dirty="0"/>
              <a:t>이 방법은 모델이 사람 </a:t>
            </a:r>
            <a:r>
              <a:rPr lang="ko-KR" altLang="en-US" sz="800" dirty="0" err="1"/>
              <a:t>재식별</a:t>
            </a:r>
            <a:r>
              <a:rPr lang="ko-KR" altLang="en-US" sz="800" dirty="0"/>
              <a:t> 작업에 맞춤화되도록 </a:t>
            </a:r>
            <a:r>
              <a:rPr lang="ko-KR" altLang="en-US" sz="800" dirty="0" smtClean="0"/>
              <a:t>도와줍니다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0441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06604" y="231980"/>
            <a:ext cx="1491721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gt_query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60" y="1471728"/>
            <a:ext cx="6131052" cy="1732147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6603" y="3330832"/>
            <a:ext cx="6764217" cy="57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파일은 “올바른 긍정(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)” 샘플만 담아 모델이 다른 카메라 뷰에서도 같은 사람을 찾아내도록 평가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Junk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파일은 동일 카메라 내 동일 인스턴스(또는 </a:t>
            </a:r>
            <a:r>
              <a:rPr kumimoji="0" lang="ko-KR" altLang="ko-KR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데이터셋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외 인물 등)로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평가 지표 계산에서 제외(</a:t>
            </a:r>
            <a:r>
              <a:rPr kumimoji="0" lang="ko-KR" altLang="ko-KR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해야 할 항목들을 지정함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60" y="4034870"/>
            <a:ext cx="6172041" cy="34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661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360" y="260855"/>
            <a:ext cx="2248339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dirty="0" err="1" smtClean="0">
                <a:solidFill>
                  <a:srgbClr val="0E0585"/>
                </a:solidFill>
              </a:rPr>
              <a:t>gt_query</a:t>
            </a:r>
            <a:r>
              <a:rPr lang="en-US" altLang="ko-KR" sz="2400" b="1" dirty="0" smtClean="0">
                <a:solidFill>
                  <a:srgbClr val="0E0585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0E0585"/>
                </a:solidFill>
              </a:rPr>
              <a:t>cont</a:t>
            </a:r>
            <a:endParaRPr lang="en-US" altLang="ko-KR" sz="2400" b="1" dirty="0">
              <a:solidFill>
                <a:srgbClr val="0E0585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3169" y="1157122"/>
            <a:ext cx="8020317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import </a:t>
            </a:r>
            <a:r>
              <a:rPr lang="en-US" altLang="ko-KR" sz="600" dirty="0" err="1">
                <a:latin typeface="Consolas" panose="020B0609020204030204" pitchFamily="49" charset="0"/>
              </a:rPr>
              <a:t>os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import re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import scipy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>
                <a:latin typeface="Consolas" panose="020B0609020204030204" pitchFamily="49" charset="0"/>
              </a:rPr>
              <a:t>io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sio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예시 </a:t>
            </a:r>
            <a:r>
              <a:rPr lang="ko-KR" altLang="en-US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정규표현식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파일명에서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person id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와 카메라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id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를 추출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예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: '0001_c1s1_001051_00.jpg' -&gt; </a:t>
            </a:r>
            <a:r>
              <a:rPr lang="en-US" altLang="ko-KR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pid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=1, </a:t>
            </a:r>
            <a:r>
              <a:rPr lang="en-US" altLang="ko-KR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camid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=1 (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앞의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0001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은 정수 </a:t>
            </a:r>
            <a:r>
              <a:rPr lang="ko-KR" altLang="en-US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변환시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 됨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pattern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re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compile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latin typeface="Consolas" panose="020B0609020204030204" pitchFamily="49" charset="0"/>
              </a:rPr>
              <a:t>r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'([-\d]+)_c(\d)'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 err="1">
                <a:latin typeface="Consolas" panose="020B0609020204030204" pitchFamily="49" charset="0"/>
              </a:rPr>
              <a:t>def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parse_filename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fname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"""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   </a:t>
            </a:r>
            <a:r>
              <a:rPr lang="ko-KR" altLang="en-US" sz="600" dirty="0">
                <a:solidFill>
                  <a:srgbClr val="FF00FF"/>
                </a:solidFill>
                <a:latin typeface="Consolas" panose="020B0609020204030204" pitchFamily="49" charset="0"/>
              </a:rPr>
              <a:t>파일명에서 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person id (</a:t>
            </a:r>
            <a:r>
              <a:rPr lang="en-US" altLang="ko-KR" sz="600" dirty="0" err="1">
                <a:solidFill>
                  <a:srgbClr val="FF00FF"/>
                </a:solidFill>
                <a:latin typeface="Consolas" panose="020B0609020204030204" pitchFamily="49" charset="0"/>
              </a:rPr>
              <a:t>pid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ko-KR" altLang="en-US" sz="600" dirty="0">
                <a:solidFill>
                  <a:srgbClr val="FF00FF"/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camera id (</a:t>
            </a:r>
            <a:r>
              <a:rPr lang="en-US" altLang="ko-KR" sz="600" dirty="0" err="1">
                <a:solidFill>
                  <a:srgbClr val="FF00FF"/>
                </a:solidFill>
                <a:latin typeface="Consolas" panose="020B0609020204030204" pitchFamily="49" charset="0"/>
              </a:rPr>
              <a:t>camid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ko-KR" altLang="en-US" sz="600" dirty="0">
                <a:solidFill>
                  <a:srgbClr val="FF00FF"/>
                </a:solidFill>
                <a:latin typeface="Consolas" panose="020B0609020204030204" pitchFamily="49" charset="0"/>
              </a:rPr>
              <a:t>를 추출합니다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.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solidFill>
                  <a:srgbClr val="FF00FF"/>
                </a:solidFill>
                <a:latin typeface="Consolas" panose="020B0609020204030204" pitchFamily="49" charset="0"/>
              </a:rPr>
              <a:t>   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"""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latin typeface="Consolas" panose="020B0609020204030204" pitchFamily="49" charset="0"/>
              </a:rPr>
              <a:t>m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pattern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search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fname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600" dirty="0">
                <a:latin typeface="Consolas" panose="020B0609020204030204" pitchFamily="49" charset="0"/>
              </a:rPr>
              <a:t> m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 err="1">
                <a:latin typeface="Consolas" panose="020B0609020204030204" pitchFamily="49" charset="0"/>
              </a:rPr>
              <a:t>pid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int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m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group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solidFill>
                  <a:srgbClr val="CC66C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 err="1">
                <a:latin typeface="Consolas" panose="020B0609020204030204" pitchFamily="49" charset="0"/>
              </a:rPr>
              <a:t>camid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int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m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group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solidFill>
                  <a:srgbClr val="CC66C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pid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camid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600" dirty="0">
                <a:latin typeface="Consolas" panose="020B0609020204030204" pitchFamily="49" charset="0"/>
              </a:rPr>
              <a:t> None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None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Query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이미지와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Gallery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 목록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예시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 err="1">
                <a:latin typeface="Consolas" panose="020B0609020204030204" pitchFamily="49" charset="0"/>
              </a:rPr>
              <a:t>query_imgs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[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"0001_c1s1_001051_00.jpg"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다른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query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 파일명들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...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]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 err="1">
                <a:latin typeface="Consolas" panose="020B0609020204030204" pitchFamily="49" charset="0"/>
              </a:rPr>
              <a:t>gallery_imgs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[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"0001_c1s1_001051_00.jpg"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id,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카메라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(junk)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"0001_c2s1_001052_00.jpg"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id,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다른 카메라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(good)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"0002_c1s1_000451_03.jpg"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다른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id (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무관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다른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gallery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 파일명들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...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]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각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Query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이미지에 대해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good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junk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세트를 구분하여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.mat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파일로 저장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600" dirty="0">
                <a:latin typeface="Consolas" panose="020B0609020204030204" pitchFamily="49" charset="0"/>
              </a:rPr>
              <a:t> query in </a:t>
            </a:r>
            <a:r>
              <a:rPr lang="en-US" altLang="ko-KR" sz="600" dirty="0" err="1">
                <a:latin typeface="Consolas" panose="020B0609020204030204" pitchFamily="49" charset="0"/>
              </a:rPr>
              <a:t>query_imgs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 err="1">
                <a:latin typeface="Consolas" panose="020B0609020204030204" pitchFamily="49" charset="0"/>
              </a:rPr>
              <a:t>q_pid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q_camid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parse_filename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latin typeface="Consolas" panose="020B0609020204030204" pitchFamily="49" charset="0"/>
              </a:rPr>
              <a:t>query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q_pid</a:t>
            </a:r>
            <a:r>
              <a:rPr lang="en-US" altLang="ko-KR" sz="600" dirty="0">
                <a:latin typeface="Consolas" panose="020B0609020204030204" pitchFamily="49" charset="0"/>
              </a:rPr>
              <a:t> is None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continue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파일명 </a:t>
            </a:r>
            <a:r>
              <a:rPr lang="ko-KR" altLang="en-US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파싱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 실패 시 건너뛰기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latin typeface="Consolas" panose="020B0609020204030204" pitchFamily="49" charset="0"/>
              </a:rPr>
              <a:t>good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[]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인물인데 다른 카메라의 이미지 인덱스 리스트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</a:t>
            </a:r>
            <a:r>
              <a:rPr lang="en-US" altLang="ko-KR" sz="600" dirty="0">
                <a:latin typeface="Consolas" panose="020B0609020204030204" pitchFamily="49" charset="0"/>
              </a:rPr>
              <a:t>junk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[]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인물이고 같은 카메라의 이미지 인덱스 리스트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distractor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</a:t>
            </a: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i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g in enumerate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gallery_imgs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 err="1">
                <a:latin typeface="Consolas" panose="020B0609020204030204" pitchFamily="49" charset="0"/>
              </a:rPr>
              <a:t>g_pid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g_camid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parse_filename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latin typeface="Consolas" panose="020B0609020204030204" pitchFamily="49" charset="0"/>
              </a:rPr>
              <a:t>g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g_pid</a:t>
            </a:r>
            <a:r>
              <a:rPr lang="en-US" altLang="ko-KR" sz="600" dirty="0">
                <a:latin typeface="Consolas" panose="020B0609020204030204" pitchFamily="49" charset="0"/>
              </a:rPr>
              <a:t> is None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continue</a:t>
            </a:r>
            <a:r>
              <a:rPr lang="en-US" altLang="ko-KR" sz="600" dirty="0">
                <a:latin typeface="Consolas" panose="020B0609020204030204" pitchFamily="49" charset="0"/>
              </a:rPr>
              <a:t>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파싱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 실패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   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만약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gallery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이미지가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distractor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라면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예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pid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 == -1)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무조건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junk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처리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   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g_pid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600" dirty="0">
                <a:solidFill>
                  <a:srgbClr val="CC66C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</a:t>
            </a:r>
            <a:r>
              <a:rPr lang="en-US" altLang="ko-KR" sz="600" dirty="0" err="1">
                <a:latin typeface="Consolas" panose="020B0609020204030204" pitchFamily="49" charset="0"/>
              </a:rPr>
              <a:t>junk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append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i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</a:t>
            </a:r>
            <a:r>
              <a:rPr lang="en-US" altLang="ko-KR" sz="600" dirty="0" err="1">
                <a:latin typeface="Consolas" panose="020B0609020204030204" pitchFamily="49" charset="0"/>
              </a:rPr>
              <a:t>elif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g_pid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q_pid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g_camid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q_camid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   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같은 카메라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크기가 다르더라도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junk set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에 포함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           </a:t>
            </a:r>
            <a:r>
              <a:rPr lang="en-US" altLang="ko-KR" sz="600" dirty="0" err="1">
                <a:latin typeface="Consolas" panose="020B0609020204030204" pitchFamily="49" charset="0"/>
              </a:rPr>
              <a:t>junk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append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i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           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다른 카메라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: good set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에 포함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            </a:t>
            </a:r>
            <a:r>
              <a:rPr lang="en-US" altLang="ko-KR" sz="600" dirty="0" err="1">
                <a:latin typeface="Consolas" panose="020B0609020204030204" pitchFamily="49" charset="0"/>
              </a:rPr>
              <a:t>good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append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i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.mat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 이름은 원본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Query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파일명을 기반으로 생성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600" i="1" dirty="0" err="1">
                <a:solidFill>
                  <a:srgbClr val="666666"/>
                </a:solidFill>
                <a:latin typeface="Consolas" panose="020B0609020204030204" pitchFamily="49" charset="0"/>
              </a:rPr>
              <a:t>확장자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 제거 후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</a:t>
            </a:r>
            <a:r>
              <a:rPr lang="en-US" altLang="ko-KR" sz="600" dirty="0" err="1">
                <a:latin typeface="Consolas" panose="020B0609020204030204" pitchFamily="49" charset="0"/>
              </a:rPr>
              <a:t>query_basename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os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path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splitext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>
                <a:latin typeface="Consolas" panose="020B0609020204030204" pitchFamily="49" charset="0"/>
              </a:rPr>
              <a:t>query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600" dirty="0">
                <a:solidFill>
                  <a:srgbClr val="CC66C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]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 err="1">
                <a:latin typeface="Consolas" panose="020B0609020204030204" pitchFamily="49" charset="0"/>
              </a:rPr>
              <a:t>good_mat_filename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query_basename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'_</a:t>
            </a:r>
            <a:r>
              <a:rPr lang="en-US" altLang="ko-KR" sz="600" dirty="0" err="1">
                <a:solidFill>
                  <a:srgbClr val="0000FF"/>
                </a:solidFill>
                <a:latin typeface="Consolas" panose="020B0609020204030204" pitchFamily="49" charset="0"/>
              </a:rPr>
              <a:t>good.mat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 err="1">
                <a:latin typeface="Consolas" panose="020B0609020204030204" pitchFamily="49" charset="0"/>
              </a:rPr>
              <a:t>junk_mat_filename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 err="1">
                <a:latin typeface="Consolas" panose="020B0609020204030204" pitchFamily="49" charset="0"/>
              </a:rPr>
              <a:t>query_basename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'_</a:t>
            </a:r>
            <a:r>
              <a:rPr lang="en-US" altLang="ko-KR" sz="600" dirty="0" err="1">
                <a:solidFill>
                  <a:srgbClr val="0000FF"/>
                </a:solidFill>
                <a:latin typeface="Consolas" panose="020B0609020204030204" pitchFamily="49" charset="0"/>
              </a:rPr>
              <a:t>junk.mat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각각의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set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을 </a:t>
            </a:r>
            <a:r>
              <a:rPr lang="en-US" altLang="ko-KR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MATLAB </a:t>
            </a:r>
            <a:r>
              <a:rPr lang="ko-KR" altLang="en-US" sz="600" i="1" dirty="0">
                <a:solidFill>
                  <a:srgbClr val="666666"/>
                </a:solidFill>
                <a:latin typeface="Consolas" panose="020B0609020204030204" pitchFamily="49" charset="0"/>
              </a:rPr>
              <a:t>파일로 저장</a:t>
            </a:r>
            <a:endParaRPr lang="ko-KR" altLang="en-US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ko-KR" altLang="en-US" sz="600" dirty="0">
                <a:latin typeface="Consolas" panose="020B0609020204030204" pitchFamily="49" charset="0"/>
              </a:rPr>
              <a:t>   </a:t>
            </a:r>
            <a:r>
              <a:rPr lang="en-US" altLang="ko-KR" sz="600" dirty="0" err="1">
                <a:latin typeface="Consolas" panose="020B0609020204030204" pitchFamily="49" charset="0"/>
              </a:rPr>
              <a:t>sio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savemat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good_mat_filename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'good'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600" dirty="0">
                <a:latin typeface="Consolas" panose="020B0609020204030204" pitchFamily="49" charset="0"/>
              </a:rPr>
              <a:t> good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})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 err="1">
                <a:latin typeface="Consolas" panose="020B0609020204030204" pitchFamily="49" charset="0"/>
              </a:rPr>
              <a:t>sio</a:t>
            </a:r>
            <a:r>
              <a:rPr lang="en-US" altLang="ko-KR" sz="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00" dirty="0" err="1">
                <a:latin typeface="Consolas" panose="020B0609020204030204" pitchFamily="49" charset="0"/>
              </a:rPr>
              <a:t>savemat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junk_mat_filename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00" dirty="0">
                <a:latin typeface="Consolas" panose="020B0609020204030204" pitchFamily="49" charset="0"/>
              </a:rPr>
              <a:t> 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600" dirty="0">
                <a:solidFill>
                  <a:srgbClr val="0000FF"/>
                </a:solidFill>
                <a:latin typeface="Consolas" panose="020B0609020204030204" pitchFamily="49" charset="0"/>
              </a:rPr>
              <a:t>'junk'</a:t>
            </a:r>
            <a:r>
              <a:rPr lang="en-US" altLang="ko-KR" sz="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600" dirty="0">
                <a:latin typeface="Consolas" panose="020B0609020204030204" pitchFamily="49" charset="0"/>
              </a:rPr>
              <a:t> junk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})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   </a:t>
            </a:r>
            <a:r>
              <a:rPr lang="en-US" altLang="ko-KR" sz="600" dirty="0">
                <a:solidFill>
                  <a:srgbClr val="00008B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00" dirty="0" err="1">
                <a:latin typeface="Consolas" panose="020B0609020204030204" pitchFamily="49" charset="0"/>
              </a:rPr>
              <a:t>f</a:t>
            </a:r>
            <a:r>
              <a:rPr lang="en-US" altLang="ko-KR" sz="600" dirty="0" err="1">
                <a:solidFill>
                  <a:srgbClr val="FF00FF"/>
                </a:solidFill>
                <a:latin typeface="Consolas" panose="020B0609020204030204" pitchFamily="49" charset="0"/>
              </a:rPr>
              <a:t>"Saved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 {</a:t>
            </a:r>
            <a:r>
              <a:rPr lang="en-US" altLang="ko-KR" sz="600" dirty="0" err="1">
                <a:solidFill>
                  <a:srgbClr val="FF00FF"/>
                </a:solidFill>
                <a:latin typeface="Consolas" panose="020B0609020204030204" pitchFamily="49" charset="0"/>
              </a:rPr>
              <a:t>good_mat_filename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} and {</a:t>
            </a:r>
            <a:r>
              <a:rPr lang="en-US" altLang="ko-KR" sz="600" dirty="0" err="1">
                <a:solidFill>
                  <a:srgbClr val="FF00FF"/>
                </a:solidFill>
                <a:latin typeface="Consolas" panose="020B0609020204030204" pitchFamily="49" charset="0"/>
              </a:rPr>
              <a:t>junk_mat_filename</a:t>
            </a:r>
            <a:r>
              <a:rPr lang="en-US" altLang="ko-KR" sz="600" dirty="0">
                <a:solidFill>
                  <a:srgbClr val="FF00FF"/>
                </a:solidFill>
                <a:latin typeface="Consolas" panose="020B0609020204030204" pitchFamily="49" charset="0"/>
              </a:rPr>
              <a:t>}"</a:t>
            </a:r>
            <a:r>
              <a:rPr lang="en-US" altLang="ko-KR" sz="6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  <a:endParaRPr lang="en-US" altLang="ko-KR" sz="600" dirty="0">
              <a:latin typeface="Consolas" panose="020B0609020204030204" pitchFamily="49" charset="0"/>
            </a:endParaRPr>
          </a:p>
          <a:p>
            <a:pPr fontAlgn="t">
              <a:buFont typeface="+mj-lt"/>
              <a:buAutoNum type="arabicPeriod"/>
            </a:pPr>
            <a:r>
              <a:rPr lang="en-US" altLang="ko-KR" sz="600" dirty="0">
                <a:latin typeface="Consolas" panose="020B0609020204030204" pitchFamily="49" charset="0"/>
              </a:rPr>
              <a:t> </a:t>
            </a:r>
            <a:endParaRPr lang="en-US" altLang="ko-KR" sz="600" b="0" i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778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3008354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dirty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End-of-Document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9003" y="3108172"/>
            <a:ext cx="5489516" cy="12881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7771" b="1" dirty="0">
                <a:solidFill>
                  <a:srgbClr val="0E0585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6581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58911</TotalTime>
  <Words>6631</Words>
  <Application>Microsoft Office PowerPoint</Application>
  <PresentationFormat>사용자 지정</PresentationFormat>
  <Paragraphs>742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맑은 고딕</vt:lpstr>
      <vt:lpstr>KoPub돋움체 Bold</vt:lpstr>
      <vt:lpstr>Symbol</vt:lpstr>
      <vt:lpstr>Arial</vt:lpstr>
      <vt:lpstr>Wingdings</vt:lpstr>
      <vt:lpstr>Cambria Math</vt:lpstr>
      <vt:lpstr>경기천년바탕 Regular</vt:lpstr>
      <vt:lpstr>경기천년바탕 Bold</vt:lpstr>
      <vt:lpstr>Arial Unicode MS</vt:lpstr>
      <vt:lpstr>Consolas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비즈니스아츠</dc:creator>
  <cp:lastModifiedBy>headway</cp:lastModifiedBy>
  <cp:revision>2800</cp:revision>
  <cp:lastPrinted>2023-05-19T04:59:04Z</cp:lastPrinted>
  <dcterms:created xsi:type="dcterms:W3CDTF">2019-01-23T01:28:59Z</dcterms:created>
  <dcterms:modified xsi:type="dcterms:W3CDTF">2025-04-03T10:27:54Z</dcterms:modified>
</cp:coreProperties>
</file>