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89" r:id="rId1"/>
  </p:sldMasterIdLst>
  <p:notesMasterIdLst>
    <p:notesMasterId r:id="rId28"/>
  </p:notesMasterIdLst>
  <p:sldIdLst>
    <p:sldId id="489" r:id="rId2"/>
    <p:sldId id="530" r:id="rId3"/>
    <p:sldId id="534" r:id="rId4"/>
    <p:sldId id="533" r:id="rId5"/>
    <p:sldId id="538" r:id="rId6"/>
    <p:sldId id="550" r:id="rId7"/>
    <p:sldId id="535" r:id="rId8"/>
    <p:sldId id="536" r:id="rId9"/>
    <p:sldId id="537" r:id="rId10"/>
    <p:sldId id="539" r:id="rId11"/>
    <p:sldId id="543" r:id="rId12"/>
    <p:sldId id="545" r:id="rId13"/>
    <p:sldId id="544" r:id="rId14"/>
    <p:sldId id="546" r:id="rId15"/>
    <p:sldId id="542" r:id="rId16"/>
    <p:sldId id="547" r:id="rId17"/>
    <p:sldId id="548" r:id="rId18"/>
    <p:sldId id="541" r:id="rId19"/>
    <p:sldId id="549" r:id="rId20"/>
    <p:sldId id="552" r:id="rId21"/>
    <p:sldId id="553" r:id="rId22"/>
    <p:sldId id="532" r:id="rId23"/>
    <p:sldId id="554" r:id="rId24"/>
    <p:sldId id="551" r:id="rId25"/>
    <p:sldId id="555" r:id="rId26"/>
    <p:sldId id="493" r:id="rId27"/>
  </p:sldIdLst>
  <p:sldSz cx="10691813" cy="7559675"/>
  <p:notesSz cx="9926638" cy="6797675"/>
  <p:embeddedFontLst>
    <p:embeddedFont>
      <p:font typeface="KoPub돋움체 Bold" panose="02020603020101020101" pitchFamily="18" charset="-127"/>
      <p:regular r:id="rId29"/>
    </p:embeddedFont>
    <p:embeddedFont>
      <p:font typeface="Consolas" panose="020B0609020204030204" pitchFamily="49" charset="0"/>
      <p:regular r:id="rId30"/>
      <p:bold r:id="rId31"/>
      <p:italic r:id="rId32"/>
      <p:boldItalic r:id="rId33"/>
    </p:embeddedFont>
    <p:embeddedFont>
      <p:font typeface="맑은 고딕" panose="020B0503020000020004" pitchFamily="50" charset="-127"/>
      <p:regular r:id="rId34"/>
      <p:bold r:id="rId35"/>
    </p:embeddedFont>
    <p:embeddedFont>
      <p:font typeface="경기천년바탕 Bold" panose="02020803020101020101" pitchFamily="18" charset="-127"/>
      <p:bold r:id="rId36"/>
    </p:embeddedFont>
    <p:embeddedFont>
      <p:font typeface="경기천년바탕 Regular" panose="02020503020101020101" pitchFamily="18" charset="-127"/>
      <p:regular r:id="rId37"/>
    </p:embeddedFont>
    <p:embeddedFont>
      <p:font typeface="Cambria Math" panose="02040503050406030204" pitchFamily="18" charset="0"/>
      <p:regular r:id="rId38"/>
    </p:embeddedFont>
  </p:embeddedFontLst>
  <p:defaultTextStyle>
    <a:defPPr>
      <a:defRPr lang="ko-KR"/>
    </a:defPPr>
    <a:lvl1pPr marL="0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8" orient="horz" pos="2358" userDrawn="1">
          <p15:clr>
            <a:srgbClr val="A4A3A4"/>
          </p15:clr>
        </p15:guide>
        <p15:guide id="9" pos="3345" userDrawn="1">
          <p15:clr>
            <a:srgbClr val="A4A3A4"/>
          </p15:clr>
        </p15:guide>
        <p15:guide id="10" pos="782" userDrawn="1">
          <p15:clr>
            <a:srgbClr val="A4A3A4"/>
          </p15:clr>
        </p15:guide>
        <p15:guide id="11" pos="1349" userDrawn="1">
          <p15:clr>
            <a:srgbClr val="A4A3A4"/>
          </p15:clr>
        </p15:guide>
        <p15:guide id="12" pos="2438" userDrawn="1">
          <p15:clr>
            <a:srgbClr val="A4A3A4"/>
          </p15:clr>
        </p15:guide>
        <p15:guide id="13" pos="5704" userDrawn="1">
          <p15:clr>
            <a:srgbClr val="A4A3A4"/>
          </p15:clr>
        </p15:guide>
        <p15:guide id="14" pos="53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3399"/>
    <a:srgbClr val="990033"/>
    <a:srgbClr val="990099"/>
    <a:srgbClr val="C691C2"/>
    <a:srgbClr val="C68EC2"/>
    <a:srgbClr val="FF66FF"/>
    <a:srgbClr val="9CDCFE"/>
    <a:srgbClr val="F4B183"/>
    <a:srgbClr val="9933FF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DCAF9ED-07DC-4A11-8D7F-57B35C25682E}" styleName="보통 스타일 1 - 강조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E171933-4619-4E11-9A3F-F7608DF75F80}" styleName="보통 스타일 1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849" autoAdjust="0"/>
    <p:restoredTop sz="93184" autoAdjust="0"/>
  </p:normalViewPr>
  <p:slideViewPr>
    <p:cSldViewPr snapToGrid="0" showGuides="1">
      <p:cViewPr>
        <p:scale>
          <a:sx n="125" d="100"/>
          <a:sy n="125" d="100"/>
        </p:scale>
        <p:origin x="1944" y="552"/>
      </p:cViewPr>
      <p:guideLst>
        <p:guide orient="horz" pos="2358"/>
        <p:guide pos="3345"/>
        <p:guide pos="782"/>
        <p:guide pos="1349"/>
        <p:guide pos="2438"/>
        <p:guide pos="5704"/>
        <p:guide pos="533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5676"/>
    </p:cViewPr>
  </p:sorterViewPr>
  <p:notesViewPr>
    <p:cSldViewPr snapToGrid="0">
      <p:cViewPr>
        <p:scale>
          <a:sx n="125" d="100"/>
          <a:sy n="125" d="100"/>
        </p:scale>
        <p:origin x="3720" y="87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font" Target="fonts/font9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301385" cy="340835"/>
          </a:xfrm>
          <a:prstGeom prst="rect">
            <a:avLst/>
          </a:prstGeom>
        </p:spPr>
        <p:txBody>
          <a:bodyPr vert="horz" lIns="91312" tIns="45656" rIns="91312" bIns="45656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083" y="1"/>
            <a:ext cx="4302970" cy="340835"/>
          </a:xfrm>
          <a:prstGeom prst="rect">
            <a:avLst/>
          </a:prstGeom>
        </p:spPr>
        <p:txBody>
          <a:bodyPr vert="horz" lIns="91312" tIns="45656" rIns="91312" bIns="45656" rtlCol="0"/>
          <a:lstStyle>
            <a:lvl1pPr algn="r">
              <a:defRPr sz="1200"/>
            </a:lvl1pPr>
          </a:lstStyle>
          <a:p>
            <a:fld id="{4BBBCA84-884A-4990-B4B7-7C892AB4BE20}" type="datetimeFigureOut">
              <a:rPr lang="ko-KR" altLang="en-US" smtClean="0"/>
              <a:t>2024-09-12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341688" y="849313"/>
            <a:ext cx="3243262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312" tIns="45656" rIns="91312" bIns="45656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505" y="3272015"/>
            <a:ext cx="7941628" cy="2675950"/>
          </a:xfrm>
          <a:prstGeom prst="rect">
            <a:avLst/>
          </a:prstGeom>
        </p:spPr>
        <p:txBody>
          <a:bodyPr vert="horz" lIns="91312" tIns="45656" rIns="91312" bIns="45656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56841"/>
            <a:ext cx="4301385" cy="340834"/>
          </a:xfrm>
          <a:prstGeom prst="rect">
            <a:avLst/>
          </a:prstGeom>
        </p:spPr>
        <p:txBody>
          <a:bodyPr vert="horz" lIns="91312" tIns="45656" rIns="91312" bIns="45656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083" y="6456841"/>
            <a:ext cx="4302970" cy="340834"/>
          </a:xfrm>
          <a:prstGeom prst="rect">
            <a:avLst/>
          </a:prstGeom>
        </p:spPr>
        <p:txBody>
          <a:bodyPr vert="horz" lIns="91312" tIns="45656" rIns="91312" bIns="45656" rtlCol="0" anchor="b"/>
          <a:lstStyle>
            <a:lvl1pPr algn="r">
              <a:defRPr sz="1200"/>
            </a:lvl1pPr>
          </a:lstStyle>
          <a:p>
            <a:fld id="{B27341C3-77BA-4E20-A2DA-6C31421BF4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56728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7341C3-77BA-4E20-A2DA-6C31421BF43B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40751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7341C3-77BA-4E20-A2DA-6C31421BF43B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87781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gradFill flip="none" rotWithShape="1">
          <a:gsLst>
            <a:gs pos="0">
              <a:schemeClr val="bg1"/>
            </a:gs>
            <a:gs pos="48000">
              <a:schemeClr val="bg1">
                <a:lumMod val="95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9813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5013" y="403225"/>
            <a:ext cx="9221787" cy="14605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735013" y="2012950"/>
            <a:ext cx="9221787" cy="4795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2024-09-12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485684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0250" y="1884363"/>
            <a:ext cx="9220200" cy="31448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30250" y="5059363"/>
            <a:ext cx="9220200" cy="16525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2024-09-12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31593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5013" y="403225"/>
            <a:ext cx="9221787" cy="14605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735013" y="2012950"/>
            <a:ext cx="4533900" cy="4795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421313" y="2012950"/>
            <a:ext cx="4535487" cy="4795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2024-09-12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45921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6600" y="403225"/>
            <a:ext cx="9221788" cy="14605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36600" y="1852613"/>
            <a:ext cx="4522788" cy="90805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736600" y="2760663"/>
            <a:ext cx="4522788" cy="40624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413375" y="1852613"/>
            <a:ext cx="4545013" cy="90805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413375" y="2760663"/>
            <a:ext cx="4545013" cy="40624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2024-09-12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47588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5013" y="403225"/>
            <a:ext cx="9221787" cy="14605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2024-09-12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75112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2024-09-12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544690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6600" y="503238"/>
            <a:ext cx="3448050" cy="17653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45013" y="1089025"/>
            <a:ext cx="5413375" cy="53721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736600" y="2268538"/>
            <a:ext cx="3448050" cy="42005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2024-09-12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6334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6600" y="503238"/>
            <a:ext cx="3448050" cy="17653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4545013" y="1089025"/>
            <a:ext cx="5413375" cy="5372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736600" y="2268538"/>
            <a:ext cx="3448050" cy="42005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2024-09-12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8550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5013" y="403225"/>
            <a:ext cx="9221787" cy="14605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735013" y="2012950"/>
            <a:ext cx="9221787" cy="4795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2024-09-12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2182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7651750" y="403225"/>
            <a:ext cx="2305050" cy="6405563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735013" y="403225"/>
            <a:ext cx="6764337" cy="64055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2024-09-12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4760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02124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0747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 userDrawn="1"/>
        </p:nvGrpSpPr>
        <p:grpSpPr>
          <a:xfrm>
            <a:off x="5" y="971562"/>
            <a:ext cx="10241689" cy="142875"/>
            <a:chOff x="5" y="971562"/>
            <a:chExt cx="10241689" cy="142875"/>
          </a:xfrm>
        </p:grpSpPr>
        <p:sp>
          <p:nvSpPr>
            <p:cNvPr id="6" name="양쪽 모서리가 둥근 사각형 5"/>
            <p:cNvSpPr/>
            <p:nvPr/>
          </p:nvSpPr>
          <p:spPr>
            <a:xfrm rot="5400000">
              <a:off x="9982319" y="855061"/>
              <a:ext cx="142866" cy="375885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02B4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" name="직사각형 9"/>
            <p:cNvSpPr/>
            <p:nvPr/>
          </p:nvSpPr>
          <p:spPr>
            <a:xfrm rot="16200000" flipH="1">
              <a:off x="4861470" y="-3889903"/>
              <a:ext cx="142875" cy="986580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8747" y="7118588"/>
            <a:ext cx="924124" cy="275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772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673" r:id="rId12"/>
    <p:sldLayoutId id="2147483688" r:id="rId13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86328" y="1875652"/>
            <a:ext cx="10691814" cy="45436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749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cs typeface="Arial" pitchFamily="34" charset="0"/>
              </a:rPr>
              <a:t> </a:t>
            </a:r>
            <a:r>
              <a:rPr lang="en-US" altLang="ko-KR" sz="4749" b="1" dirty="0" smtClean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cs typeface="Arial" pitchFamily="34" charset="0"/>
              </a:rPr>
              <a:t>Deep-person-</a:t>
            </a:r>
            <a:r>
              <a:rPr lang="en-US" altLang="ko-KR" sz="4749" b="1" dirty="0" err="1" smtClean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cs typeface="Arial" pitchFamily="34" charset="0"/>
              </a:rPr>
              <a:t>reid</a:t>
            </a:r>
            <a:r>
              <a:rPr lang="en-US" altLang="ko-KR" sz="4749" b="1" dirty="0" smtClean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cs typeface="Arial" pitchFamily="34" charset="0"/>
              </a:rPr>
              <a:t> </a:t>
            </a:r>
            <a:r>
              <a:rPr lang="ko-KR" altLang="en-US" sz="4749" b="1" dirty="0" smtClean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cs typeface="Arial" pitchFamily="34" charset="0"/>
              </a:rPr>
              <a:t>구조와 이해</a:t>
            </a:r>
            <a:endParaRPr lang="en-US" altLang="ko-KR" sz="3022" b="1" dirty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endParaRPr lang="en-US" altLang="ko-KR" sz="3022" b="1" dirty="0" smtClean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endParaRPr lang="en-US" altLang="ko-KR" sz="3022" b="1" dirty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endParaRPr lang="en-US" altLang="ko-KR" sz="3022" b="1" dirty="0" smtClean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endParaRPr lang="en-US" altLang="ko-KR" sz="3022" b="1" dirty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endParaRPr lang="en-US" altLang="ko-KR" sz="3022" b="1" dirty="0" smtClean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r>
              <a:rPr lang="ko-KR" altLang="en-US" sz="3022" b="1" dirty="0" smtClean="0">
                <a:solidFill>
                  <a:prstClr val="white">
                    <a:lumMod val="50000"/>
                  </a:prstClr>
                </a:solidFill>
                <a:latin typeface="Arial" pitchFamily="34" charset="0"/>
              </a:rPr>
              <a:t>작성자 </a:t>
            </a:r>
            <a:r>
              <a:rPr lang="en-US" altLang="ko-KR" sz="3022" b="1" dirty="0" smtClean="0">
                <a:solidFill>
                  <a:prstClr val="white">
                    <a:lumMod val="50000"/>
                  </a:prstClr>
                </a:solidFill>
                <a:latin typeface="Arial" pitchFamily="34" charset="0"/>
              </a:rPr>
              <a:t>: </a:t>
            </a:r>
            <a:r>
              <a:rPr lang="ko-KR" altLang="en-US" sz="3022" b="1" dirty="0" smtClean="0">
                <a:solidFill>
                  <a:prstClr val="white">
                    <a:lumMod val="50000"/>
                  </a:prstClr>
                </a:solidFill>
                <a:latin typeface="Arial" pitchFamily="34" charset="0"/>
              </a:rPr>
              <a:t>윤경섭</a:t>
            </a:r>
            <a:endParaRPr lang="en-US" altLang="ko-KR" sz="3022" b="1" dirty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endParaRPr lang="en-US" altLang="ko-KR" sz="3022" b="1" dirty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r>
              <a:rPr lang="en-US" altLang="ko-KR" sz="3022" b="1" dirty="0" smtClean="0">
                <a:solidFill>
                  <a:prstClr val="white">
                    <a:lumMod val="50000"/>
                  </a:prstClr>
                </a:solidFill>
                <a:latin typeface="Arial" pitchFamily="34" charset="0"/>
              </a:rPr>
              <a:t>2024. 08. 20.</a:t>
            </a:r>
            <a:endParaRPr lang="en-US" altLang="ko-KR" sz="3022" b="1" dirty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481527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483749" y="315601"/>
            <a:ext cx="1502558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err="1" smtClean="0">
                <a:solidFill>
                  <a:srgbClr val="0E0585"/>
                </a:solidFill>
              </a:rPr>
              <a:t>CfgNode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699795" y="1494828"/>
            <a:ext cx="8574833" cy="8079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CfgNode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클래스는 일반적으로 </a:t>
            </a:r>
            <a:r>
              <a:rPr kumimoji="0" lang="ko-KR" altLang="ko-KR" sz="105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딕셔너리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(</a:t>
            </a:r>
            <a:r>
              <a:rPr kumimoji="0" lang="ko-KR" altLang="ko-KR" sz="105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dict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)</a:t>
            </a:r>
            <a:r>
              <a:rPr kumimoji="0" lang="ko-KR" altLang="ko-KR" sz="105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를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상속받는 </a:t>
            </a:r>
            <a:r>
              <a:rPr kumimoji="0" lang="ko-KR" altLang="ko-KR" sz="105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Python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클래스입니다. 이 클래스는 주로 컴퓨터 비전이나 </a:t>
            </a:r>
            <a:r>
              <a:rPr kumimoji="0" lang="ko-KR" altLang="ko-KR" sz="105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딥러닝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프로젝트에서 설정(</a:t>
            </a:r>
            <a:r>
              <a:rPr kumimoji="0" lang="ko-KR" altLang="ko-KR" sz="105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config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) 파일을 관리하기 위해 사용됩니다. 특히 </a:t>
            </a:r>
            <a:r>
              <a:rPr kumimoji="0" lang="ko-KR" altLang="ko-KR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yacs</a:t>
            </a:r>
            <a:r>
              <a:rPr kumimoji="0" lang="ko-KR" altLang="ko-KR" sz="105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라는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05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Python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라이브러리에서 자주 사용되며, 주로 YAML 파일로부터 설정을 읽어와서 이를 다루기 쉽게 만들어주는 역할 </a:t>
            </a:r>
            <a:endParaRPr kumimoji="0" lang="ko-KR" altLang="ko-KR" sz="4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671803" y="2571121"/>
            <a:ext cx="8602825" cy="24622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1" i="0" u="none" strike="noStrike" cap="none" normalizeH="0" baseline="0" dirty="0" smtClean="0">
                <a:ln>
                  <a:noFill/>
                </a:ln>
                <a:solidFill>
                  <a:srgbClr val="C00000"/>
                </a:solidFill>
                <a:effectLst/>
                <a:latin typeface="+mn-ea"/>
              </a:rPr>
              <a:t>주요 특징 및 기능:</a:t>
            </a:r>
            <a:endParaRPr kumimoji="0" lang="en-US" altLang="ko-KR" sz="1400" b="1" i="0" u="none" strike="noStrike" cap="none" normalizeH="0" baseline="0" dirty="0" smtClean="0">
              <a:ln>
                <a:noFill/>
              </a:ln>
              <a:solidFill>
                <a:srgbClr val="C00000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ko-KR" altLang="ko-K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딕셔너리</a:t>
            </a:r>
            <a:r>
              <a:rPr kumimoji="0" lang="ko-KR" altLang="ko-K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기능 상속</a:t>
            </a:r>
            <a:r>
              <a:rPr kumimoji="0" lang="ko-KR" altLang="ko-K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: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CfgNode는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Python의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기본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딕셔너리를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상속받기 때문에,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딕셔너리처럼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키-값 쌍으로 데이터를 저장하고, 조회할 수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ko-KR" altLang="ko-K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속성 접근</a:t>
            </a:r>
            <a:r>
              <a:rPr kumimoji="0" lang="ko-KR" altLang="ko-K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: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CfgNode의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주요 특징 중 하나는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딕셔너리의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키를 속성(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attribute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)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처럼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접근할 수 있다는 점입니다. 예를 들어,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cfg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["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key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"] 대신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cfg.key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형태로 접근할 수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ko-KR" altLang="ko-K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중첩된 구성 관리</a:t>
            </a:r>
            <a:r>
              <a:rPr kumimoji="0" lang="ko-KR" altLang="ko-K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: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CfgNode는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중첩된 구성을 쉽게 관리할 수 있도록 도와줍니다. 즉, 구성 파일에서 여러 단계로 중첩된 설정들을 효과적으로 다룰 수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ko-KR" altLang="ko-K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구성 파일 읽기 및 쓰기</a:t>
            </a:r>
            <a:r>
              <a:rPr kumimoji="0" lang="ko-KR" altLang="ko-K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: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CfgNode는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YAML 또는 JSON 파일로부터 설정을 쉽게 읽어오고, 이를 다시 파일로 저장할 수 있는 기능을 제공합니다.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kumimoji="0" lang="ko-KR" altLang="ko-K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유효성 검사 및 기본값</a:t>
            </a:r>
            <a:r>
              <a:rPr kumimoji="0" lang="ko-KR" altLang="ko-K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: 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기본값을 설정하고, 유효하지 않은 값을 방지하기 위해 유효성 검사를 수행할 수 있습니다. 이는 설정을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로드할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때 유용합니다.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0618578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483749" y="315601"/>
            <a:ext cx="1502558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err="1" smtClean="0">
                <a:solidFill>
                  <a:srgbClr val="0E0585"/>
                </a:solidFill>
              </a:rPr>
              <a:t>CfgNode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99889" l="0" r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65107" y="1497693"/>
            <a:ext cx="6422705" cy="5481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689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146158" y="322620"/>
            <a:ext cx="2116508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main.py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cont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507909" y="1727780"/>
            <a:ext cx="1333592" cy="28333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smtClean="0">
                <a:latin typeface="Consolas" panose="020B0609020204030204" pitchFamily="49" charset="0"/>
              </a:rPr>
              <a:t>parser </a:t>
            </a:r>
            <a:r>
              <a:rPr lang="ko-KR" altLang="en-US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초기화</a:t>
            </a:r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507909" y="2193446"/>
            <a:ext cx="1333592" cy="28333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err="1" smtClean="0">
                <a:latin typeface="Consolas" panose="020B0609020204030204" pitchFamily="49" charset="0"/>
              </a:rPr>
              <a:t>cfg</a:t>
            </a:r>
            <a:r>
              <a:rPr lang="en-US" altLang="ko-KR" sz="1100" dirty="0" smtClean="0">
                <a:latin typeface="Consolas" panose="020B0609020204030204" pitchFamily="49" charset="0"/>
              </a:rPr>
              <a:t> </a:t>
            </a:r>
            <a:r>
              <a:rPr lang="ko-KR" altLang="en-US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초기화</a:t>
            </a:r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3" name="직선 화살표 연결선 12"/>
          <p:cNvCxnSpPr>
            <a:stCxn id="11" idx="2"/>
            <a:endCxn id="12" idx="0"/>
          </p:cNvCxnSpPr>
          <p:nvPr/>
        </p:nvCxnSpPr>
        <p:spPr>
          <a:xfrm>
            <a:off x="1174705" y="2011117"/>
            <a:ext cx="0" cy="182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507909" y="2659112"/>
            <a:ext cx="1333592" cy="28333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cfg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파일 읽기 및 병합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6" name="직선 화살표 연결선 15"/>
          <p:cNvCxnSpPr>
            <a:stCxn id="12" idx="2"/>
            <a:endCxn id="15" idx="0"/>
          </p:cNvCxnSpPr>
          <p:nvPr/>
        </p:nvCxnSpPr>
        <p:spPr>
          <a:xfrm>
            <a:off x="1174705" y="2476783"/>
            <a:ext cx="0" cy="182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직사각형 2"/>
          <p:cNvSpPr/>
          <p:nvPr/>
        </p:nvSpPr>
        <p:spPr>
          <a:xfrm>
            <a:off x="1947855" y="1591537"/>
            <a:ext cx="4635825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9CDCFE"/>
                </a:solidFill>
                <a:latin typeface="Consolas" panose="020B0609020204030204" pitchFamily="49" charset="0"/>
              </a:rPr>
              <a:t>parser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argparse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ArgumentParser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formatter_class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argparse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ArgumentDefaultsHelpFormatter</a:t>
            </a:r>
            <a:endParaRPr lang="en-US" altLang="ko-KR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)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1947855" y="2208371"/>
            <a:ext cx="2018501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get_default_config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()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1959575" y="2654229"/>
            <a:ext cx="279435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merge_from_file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.config_file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6" name="직사각형 65"/>
          <p:cNvSpPr/>
          <p:nvPr/>
        </p:nvSpPr>
        <p:spPr>
          <a:xfrm>
            <a:off x="508210" y="3172063"/>
            <a:ext cx="1333592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cfg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를 이용해</a:t>
            </a:r>
            <a:endParaRPr lang="en-US" altLang="ko-KR" sz="1000" dirty="0" smtClean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algn="ctr"/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datamanager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생성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69" name="직선 화살표 연결선 68"/>
          <p:cNvCxnSpPr>
            <a:stCxn id="15" idx="2"/>
            <a:endCxn id="66" idx="0"/>
          </p:cNvCxnSpPr>
          <p:nvPr/>
        </p:nvCxnSpPr>
        <p:spPr>
          <a:xfrm>
            <a:off x="1174705" y="2942449"/>
            <a:ext cx="301" cy="2296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/>
          <p:cNvSpPr/>
          <p:nvPr/>
        </p:nvSpPr>
        <p:spPr>
          <a:xfrm>
            <a:off x="1959575" y="3240285"/>
            <a:ext cx="2492990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900" dirty="0" err="1">
                <a:solidFill>
                  <a:srgbClr val="9CDCFE"/>
                </a:solidFill>
                <a:latin typeface="Consolas" panose="020B0609020204030204" pitchFamily="49" charset="0"/>
              </a:rPr>
              <a:t>datamanager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 err="1">
                <a:solidFill>
                  <a:srgbClr val="DCDCAA"/>
                </a:solidFill>
                <a:latin typeface="Consolas" panose="020B0609020204030204" pitchFamily="49" charset="0"/>
              </a:rPr>
              <a:t>build_datamanager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9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3" name="직사각형 72"/>
          <p:cNvSpPr/>
          <p:nvPr/>
        </p:nvSpPr>
        <p:spPr>
          <a:xfrm>
            <a:off x="186750" y="4488077"/>
            <a:ext cx="1975910" cy="36727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torchreid.data.</a:t>
            </a:r>
            <a:r>
              <a:rPr lang="en-US" altLang="ko-KR" sz="1000" dirty="0" err="1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ImageDataManager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(**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imagedata_kwargs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cfg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))</a:t>
            </a:r>
          </a:p>
        </p:txBody>
      </p:sp>
      <p:sp>
        <p:nvSpPr>
          <p:cNvPr id="77" name="직사각형 76"/>
          <p:cNvSpPr/>
          <p:nvPr/>
        </p:nvSpPr>
        <p:spPr>
          <a:xfrm>
            <a:off x="2289856" y="3841790"/>
            <a:ext cx="2076403" cy="36727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torchreid.data.</a:t>
            </a:r>
            <a:r>
              <a:rPr lang="en-US" altLang="ko-KR" sz="1000" dirty="0" err="1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VideoDataManager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(**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videodata_kwargs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cfg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))</a:t>
            </a:r>
          </a:p>
        </p:txBody>
      </p:sp>
      <p:sp>
        <p:nvSpPr>
          <p:cNvPr id="24" name="순서도: 판단 23"/>
          <p:cNvSpPr/>
          <p:nvPr/>
        </p:nvSpPr>
        <p:spPr>
          <a:xfrm>
            <a:off x="301558" y="3768953"/>
            <a:ext cx="1746294" cy="512951"/>
          </a:xfrm>
          <a:prstGeom prst="flowChartDecision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image type?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80" name="직선 화살표 연결선 79"/>
          <p:cNvCxnSpPr>
            <a:stCxn id="66" idx="2"/>
            <a:endCxn id="24" idx="0"/>
          </p:cNvCxnSpPr>
          <p:nvPr/>
        </p:nvCxnSpPr>
        <p:spPr>
          <a:xfrm flipH="1">
            <a:off x="1174705" y="3539339"/>
            <a:ext cx="301" cy="2296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/>
          <p:cNvCxnSpPr>
            <a:stCxn id="24" idx="3"/>
            <a:endCxn id="77" idx="1"/>
          </p:cNvCxnSpPr>
          <p:nvPr/>
        </p:nvCxnSpPr>
        <p:spPr>
          <a:xfrm flipV="1">
            <a:off x="2047852" y="4025428"/>
            <a:ext cx="24200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/>
          <p:cNvCxnSpPr>
            <a:stCxn id="24" idx="2"/>
            <a:endCxn id="73" idx="0"/>
          </p:cNvCxnSpPr>
          <p:nvPr/>
        </p:nvCxnSpPr>
        <p:spPr>
          <a:xfrm>
            <a:off x="1174705" y="4281904"/>
            <a:ext cx="0" cy="2061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415552" y="4234619"/>
            <a:ext cx="37221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 smtClean="0">
                <a:solidFill>
                  <a:schemeClr val="accent5">
                    <a:lumMod val="50000"/>
                  </a:schemeClr>
                </a:solidFill>
              </a:rPr>
              <a:t>YES</a:t>
            </a:r>
            <a:endParaRPr lang="ko-KR" altLang="en-US" sz="900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929460" y="3755566"/>
            <a:ext cx="36260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 smtClean="0">
                <a:solidFill>
                  <a:schemeClr val="accent5">
                    <a:lumMod val="50000"/>
                  </a:schemeClr>
                </a:solidFill>
              </a:rPr>
              <a:t>NO</a:t>
            </a:r>
            <a:endParaRPr lang="ko-KR" altLang="en-US" sz="900" dirty="0">
              <a:solidFill>
                <a:schemeClr val="accent5">
                  <a:lumMod val="50000"/>
                </a:schemeClr>
              </a:solidFill>
            </a:endParaRPr>
          </a:p>
        </p:txBody>
      </p:sp>
      <p:graphicFrame>
        <p:nvGraphicFramePr>
          <p:cNvPr id="48" name="표 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529776"/>
              </p:ext>
            </p:extLst>
          </p:nvPr>
        </p:nvGraphicFramePr>
        <p:xfrm>
          <a:off x="6637020" y="5130265"/>
          <a:ext cx="2028984" cy="563572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2028984">
                  <a:extLst>
                    <a:ext uri="{9D8B030D-6E8A-4147-A177-3AD203B41FA5}">
                      <a16:colId xmlns:a16="http://schemas.microsoft.com/office/drawing/2014/main" val="2590600746"/>
                    </a:ext>
                  </a:extLst>
                </a:gridCol>
              </a:tblGrid>
              <a:tr h="2817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 smtClean="0"/>
                        <a:t>DataManager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890123"/>
                  </a:ext>
                </a:extLst>
              </a:tr>
              <a:tr h="28178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7178603"/>
                  </a:ext>
                </a:extLst>
              </a:tr>
            </a:tbl>
          </a:graphicData>
        </a:graphic>
      </p:graphicFrame>
      <p:graphicFrame>
        <p:nvGraphicFramePr>
          <p:cNvPr id="100" name="표 9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4853211"/>
              </p:ext>
            </p:extLst>
          </p:nvPr>
        </p:nvGraphicFramePr>
        <p:xfrm>
          <a:off x="6637020" y="5953000"/>
          <a:ext cx="2028984" cy="54864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028984">
                  <a:extLst>
                    <a:ext uri="{9D8B030D-6E8A-4147-A177-3AD203B41FA5}">
                      <a16:colId xmlns:a16="http://schemas.microsoft.com/office/drawing/2014/main" val="2590600746"/>
                    </a:ext>
                  </a:extLst>
                </a:gridCol>
              </a:tblGrid>
              <a:tr h="223165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kern="1200" dirty="0" err="1" smtClean="0">
                          <a:effectLst/>
                        </a:rPr>
                        <a:t>ImageDataManager</a:t>
                      </a:r>
                      <a:endParaRPr lang="en-US" altLang="ko-KR" sz="12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890123"/>
                  </a:ext>
                </a:extLst>
              </a:tr>
              <a:tr h="223165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7178603"/>
                  </a:ext>
                </a:extLst>
              </a:tr>
            </a:tbl>
          </a:graphicData>
        </a:graphic>
      </p:graphicFrame>
      <p:cxnSp>
        <p:nvCxnSpPr>
          <p:cNvPr id="50" name="직선 화살표 연결선 49"/>
          <p:cNvCxnSpPr>
            <a:stCxn id="48" idx="2"/>
            <a:endCxn id="100" idx="0"/>
          </p:cNvCxnSpPr>
          <p:nvPr/>
        </p:nvCxnSpPr>
        <p:spPr>
          <a:xfrm>
            <a:off x="7651512" y="5693837"/>
            <a:ext cx="0" cy="2591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직사각형 57"/>
          <p:cNvSpPr/>
          <p:nvPr/>
        </p:nvSpPr>
        <p:spPr>
          <a:xfrm>
            <a:off x="5241291" y="2193446"/>
            <a:ext cx="3940810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700" dirty="0" err="1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700" dirty="0" err="1">
                <a:solidFill>
                  <a:srgbClr val="FFC000"/>
                </a:solidFill>
                <a:latin typeface="Consolas" panose="020B0609020204030204" pitchFamily="49" charset="0"/>
              </a:rPr>
              <a:t>imagedata_kwargs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7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'root'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.data.root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'sources'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.data.sources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'targets'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.data.targets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'height'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.data.height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'width'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.data.width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'transforms'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.data.transforms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norm_mean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.data.norm_mean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norm_std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.data.norm_std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use_gpu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.use_gpu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split_id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.data.split_id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combineall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.data.combineall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load_train_targets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.data.load_train_targets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batch_size_train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.train.batch_size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batch_size_test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.test.batch_size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'workers'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.data.workers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num_instances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.sampler.num_instances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train_sampler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.sampler.train_sampler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6A9955"/>
                </a:solidFill>
                <a:latin typeface="Consolas" panose="020B0609020204030204" pitchFamily="49" charset="0"/>
              </a:rPr>
              <a:t># image</a:t>
            </a:r>
            <a:endParaRPr lang="en-US" altLang="ko-KR" sz="7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'cuhk03_labeled'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.cuhk03.labeled_images,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'cuhk03_classic_split'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.cuhk03.classic_split,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'market1501_500k'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.market1501.use_500k_distractors,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7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sz="7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59" name="직사각형 58"/>
          <p:cNvSpPr/>
          <p:nvPr/>
        </p:nvSpPr>
        <p:spPr>
          <a:xfrm>
            <a:off x="5205852" y="2011947"/>
            <a:ext cx="201529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000" b="1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cfg</a:t>
            </a:r>
            <a:r>
              <a:rPr lang="ko-KR" altLang="en-US" sz="1000" b="1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를 받아 </a:t>
            </a:r>
            <a:r>
              <a:rPr lang="en-US" altLang="ko-KR" sz="1000" b="1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Dictionary </a:t>
            </a:r>
            <a:r>
              <a:rPr lang="ko-KR" altLang="en-US" sz="1000" b="1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형태로 변환</a:t>
            </a:r>
            <a:endParaRPr lang="en-US" altLang="ko-KR" sz="1000" b="1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70" name="구부러진 연결선 69"/>
          <p:cNvCxnSpPr>
            <a:stCxn id="59" idx="1"/>
            <a:endCxn id="73" idx="3"/>
          </p:cNvCxnSpPr>
          <p:nvPr/>
        </p:nvCxnSpPr>
        <p:spPr>
          <a:xfrm rot="10800000" flipV="1">
            <a:off x="2162660" y="2135057"/>
            <a:ext cx="3043192" cy="2536657"/>
          </a:xfrm>
          <a:prstGeom prst="curvedConnector3">
            <a:avLst/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구부러진 연결선 27"/>
          <p:cNvCxnSpPr>
            <a:stCxn id="73" idx="2"/>
            <a:endCxn id="100" idx="1"/>
          </p:cNvCxnSpPr>
          <p:nvPr/>
        </p:nvCxnSpPr>
        <p:spPr>
          <a:xfrm rot="16200000" flipH="1">
            <a:off x="3219879" y="2810178"/>
            <a:ext cx="1371967" cy="5462315"/>
          </a:xfrm>
          <a:prstGeom prst="curvedConnector2">
            <a:avLst/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606718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92327" y="306910"/>
            <a:ext cx="2116508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main.py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cont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77730" y="1244203"/>
            <a:ext cx="2097830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model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torchreid.models.build_model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704072" y="1297036"/>
            <a:ext cx="8515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model 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생성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916112" y="1912090"/>
            <a:ext cx="1575920" cy="335383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def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build_model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3869690" y="1896855"/>
            <a:ext cx="708787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900" dirty="0" err="1"/>
              <a:t>avai_models</a:t>
            </a:r>
            <a:endParaRPr lang="ko-KR" altLang="en-US" sz="900" dirty="0"/>
          </a:p>
          <a:p>
            <a:r>
              <a:rPr lang="ko-KR" altLang="en-US" sz="900" dirty="0" err="1"/>
              <a:t>Out</a:t>
            </a:r>
            <a:r>
              <a:rPr lang="ko-KR" altLang="en-US" sz="900" dirty="0"/>
              <a:t>  [9]: ['resnet18', 'resnet34', 'resnet50', 'resnet101', 'resnet152', 'resnext50_32x4d', 'resnext101_32x8d', 'resnet50_fc512', 'se_resnet50', 'se_resnet50_fc512', 'se_resnet101', 'se_resnext50_32x4d', 'se_resnext101_32x4d', 'densenet121', 'densenet169', 'densenet201', 'densenet161', 'densenet121_fc512', 'inceptionresnetv2', 'inceptionv4', '</a:t>
            </a:r>
            <a:r>
              <a:rPr lang="ko-KR" altLang="en-US" sz="900" dirty="0" err="1"/>
              <a:t>xception</a:t>
            </a:r>
            <a:r>
              <a:rPr lang="ko-KR" altLang="en-US" sz="900" dirty="0"/>
              <a:t>', 'resnet50_ibn_a', 'resnet50_ibn_b', '</a:t>
            </a:r>
            <a:r>
              <a:rPr lang="ko-KR" altLang="en-US" sz="900" dirty="0" err="1"/>
              <a:t>nasnsetmobile</a:t>
            </a:r>
            <a:r>
              <a:rPr lang="ko-KR" altLang="en-US" sz="900" dirty="0"/>
              <a:t>', 'mobilenetv2_x1_0', 'mobilenetv2_x1_4', '</a:t>
            </a:r>
            <a:r>
              <a:rPr lang="ko-KR" altLang="en-US" sz="900" dirty="0" err="1"/>
              <a:t>shufflenet</a:t>
            </a:r>
            <a:r>
              <a:rPr lang="ko-KR" altLang="en-US" sz="900" dirty="0"/>
              <a:t>', 'squeezenet1_0', 'squeezenet1_0_fc512', 'squeezenet1_1', 'shufflenet_v2_x0_5', 'shufflenet_v2_x1_0', 'shufflenet_v2_x1_5', 'shufflenet_v2_x2_0', '</a:t>
            </a:r>
            <a:r>
              <a:rPr lang="ko-KR" altLang="en-US" sz="900" dirty="0" err="1"/>
              <a:t>mudeep</a:t>
            </a:r>
            <a:r>
              <a:rPr lang="ko-KR" altLang="en-US" sz="900" dirty="0"/>
              <a:t>', 'resnet50mid', '</a:t>
            </a:r>
            <a:r>
              <a:rPr lang="ko-KR" altLang="en-US" sz="900" dirty="0" err="1"/>
              <a:t>hacnn</a:t>
            </a:r>
            <a:r>
              <a:rPr lang="ko-KR" altLang="en-US" sz="900" dirty="0"/>
              <a:t>', 'pcb_p6', 'pcb_p4', '</a:t>
            </a:r>
            <a:r>
              <a:rPr lang="ko-KR" altLang="en-US" sz="900" dirty="0" err="1"/>
              <a:t>mlfn</a:t>
            </a:r>
            <a:r>
              <a:rPr lang="ko-KR" altLang="en-US" sz="900" dirty="0"/>
              <a:t>', 'osnet_x1_0', 'osnet_x0_75', 'osnet_x0_5', 'osnet_x0_25', 'osnet_ibn_x1_0', 'osnet_ain_x1_0', 'osnet_ain_x0_75', 'osnet_ain_x0_5', 'osnet_ain_x0_25']</a:t>
            </a:r>
          </a:p>
        </p:txBody>
      </p:sp>
      <p:cxnSp>
        <p:nvCxnSpPr>
          <p:cNvPr id="15" name="꺾인 연결선 14"/>
          <p:cNvCxnSpPr>
            <a:stCxn id="12" idx="2"/>
            <a:endCxn id="14" idx="1"/>
          </p:cNvCxnSpPr>
          <p:nvPr/>
        </p:nvCxnSpPr>
        <p:spPr>
          <a:xfrm rot="16200000" flipH="1">
            <a:off x="1487227" y="1650896"/>
            <a:ext cx="468303" cy="38946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/>
          <p:cNvSpPr/>
          <p:nvPr/>
        </p:nvSpPr>
        <p:spPr>
          <a:xfrm>
            <a:off x="1916112" y="2548084"/>
            <a:ext cx="1575920" cy="335383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avai_models</a:t>
            </a:r>
            <a:r>
              <a:rPr lang="en-US" altLang="ko-KR" sz="9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list(__</a:t>
            </a:r>
            <a:r>
              <a:rPr lang="en-US" altLang="ko-KR" sz="9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model_factory.keys</a:t>
            </a:r>
            <a:r>
              <a:rPr lang="en-US" altLang="ko-KR" sz="9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())</a:t>
            </a:r>
          </a:p>
        </p:txBody>
      </p:sp>
      <p:cxnSp>
        <p:nvCxnSpPr>
          <p:cNvPr id="18" name="직선 화살표 연결선 17"/>
          <p:cNvCxnSpPr>
            <a:stCxn id="14" idx="2"/>
            <a:endCxn id="17" idx="0"/>
          </p:cNvCxnSpPr>
          <p:nvPr/>
        </p:nvCxnSpPr>
        <p:spPr>
          <a:xfrm>
            <a:off x="2704072" y="2247473"/>
            <a:ext cx="0" cy="3006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/>
          <p:cNvSpPr/>
          <p:nvPr/>
        </p:nvSpPr>
        <p:spPr>
          <a:xfrm>
            <a:off x="1916112" y="3184078"/>
            <a:ext cx="1575920" cy="335383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900" dirty="0" err="1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model_factory</a:t>
            </a:r>
            <a:r>
              <a:rPr lang="en-US" altLang="ko-KR" sz="9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[name]</a:t>
            </a:r>
            <a:endParaRPr lang="en-US" altLang="ko-KR" sz="9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2" name="직선 화살표 연결선 21"/>
          <p:cNvCxnSpPr>
            <a:stCxn id="17" idx="2"/>
            <a:endCxn id="21" idx="0"/>
          </p:cNvCxnSpPr>
          <p:nvPr/>
        </p:nvCxnSpPr>
        <p:spPr>
          <a:xfrm>
            <a:off x="2704072" y="2883467"/>
            <a:ext cx="0" cy="3006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/>
          <p:cNvSpPr/>
          <p:nvPr/>
        </p:nvSpPr>
        <p:spPr>
          <a:xfrm>
            <a:off x="3782889" y="3127318"/>
            <a:ext cx="238398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dirty="0" smtClean="0"/>
              <a:t>name = </a:t>
            </a:r>
            <a:r>
              <a:rPr lang="ko-KR" altLang="en-US" sz="1600" dirty="0" smtClean="0"/>
              <a:t>osnet_ibn_x1_0</a:t>
            </a:r>
            <a:endParaRPr lang="ko-KR" altLang="en-US" sz="1600" dirty="0"/>
          </a:p>
        </p:txBody>
      </p:sp>
      <p:sp>
        <p:nvSpPr>
          <p:cNvPr id="26" name="직사각형 25"/>
          <p:cNvSpPr/>
          <p:nvPr/>
        </p:nvSpPr>
        <p:spPr>
          <a:xfrm>
            <a:off x="2906712" y="3820072"/>
            <a:ext cx="1575920" cy="33538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def</a:t>
            </a:r>
            <a:r>
              <a:rPr lang="en-US" altLang="ko-KR" sz="1000" dirty="0">
                <a:solidFill>
                  <a:schemeClr val="tx1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osnet_ibn_x1_0</a:t>
            </a:r>
          </a:p>
        </p:txBody>
      </p:sp>
      <p:cxnSp>
        <p:nvCxnSpPr>
          <p:cNvPr id="27" name="꺾인 연결선 26"/>
          <p:cNvCxnSpPr>
            <a:stCxn id="21" idx="2"/>
            <a:endCxn id="26" idx="1"/>
          </p:cNvCxnSpPr>
          <p:nvPr/>
        </p:nvCxnSpPr>
        <p:spPr>
          <a:xfrm rot="16200000" flipH="1">
            <a:off x="2571241" y="3652292"/>
            <a:ext cx="468303" cy="20264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2906712" y="4407191"/>
            <a:ext cx="1575920" cy="33538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model = </a:t>
            </a:r>
            <a:r>
              <a:rPr lang="en-US" altLang="ko-KR" sz="1000" dirty="0" err="1">
                <a:solidFill>
                  <a:schemeClr val="tx1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OSNet</a:t>
            </a:r>
            <a:endParaRPr lang="en-US" altLang="ko-KR" sz="1000" dirty="0">
              <a:solidFill>
                <a:schemeClr val="tx1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1" name="직선 화살표 연결선 30"/>
          <p:cNvCxnSpPr>
            <a:stCxn id="26" idx="2"/>
            <a:endCxn id="30" idx="0"/>
          </p:cNvCxnSpPr>
          <p:nvPr/>
        </p:nvCxnSpPr>
        <p:spPr>
          <a:xfrm>
            <a:off x="3694672" y="4155455"/>
            <a:ext cx="0" cy="251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직사각형 33"/>
          <p:cNvSpPr/>
          <p:nvPr/>
        </p:nvSpPr>
        <p:spPr>
          <a:xfrm>
            <a:off x="4728019" y="4407191"/>
            <a:ext cx="287771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200" i="1" dirty="0" err="1" smtClean="0"/>
              <a:t>OSBlock</a:t>
            </a:r>
            <a:r>
              <a:rPr lang="ko-KR" altLang="en-US" sz="1200" i="1" dirty="0" smtClean="0"/>
              <a:t> 의 구조를 살펴볼 필요가 있음</a:t>
            </a:r>
            <a:endParaRPr lang="ko-KR" altLang="en-US" sz="1200" i="1" dirty="0"/>
          </a:p>
        </p:txBody>
      </p:sp>
      <p:pic>
        <p:nvPicPr>
          <p:cNvPr id="35" name="그림 3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524" y="4749450"/>
            <a:ext cx="6030515" cy="2146649"/>
          </a:xfrm>
          <a:prstGeom prst="rect">
            <a:avLst/>
          </a:prstGeom>
        </p:spPr>
      </p:pic>
      <p:cxnSp>
        <p:nvCxnSpPr>
          <p:cNvPr id="36" name="꺾인 연결선 35"/>
          <p:cNvCxnSpPr>
            <a:stCxn id="30" idx="2"/>
          </p:cNvCxnSpPr>
          <p:nvPr/>
        </p:nvCxnSpPr>
        <p:spPr>
          <a:xfrm rot="5400000">
            <a:off x="1923785" y="4345433"/>
            <a:ext cx="1373746" cy="216802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247739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41219" y="306910"/>
            <a:ext cx="2018724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main.py end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43863" y="1551114"/>
            <a:ext cx="2097830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num_params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flops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compute_model_complexity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724393" y="1585760"/>
            <a:ext cx="189987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model </a:t>
            </a:r>
            <a:r>
              <a:rPr lang="ko-KR" altLang="en-US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파라미터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복잡도 계산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9" name="직선 화살표 연결선 18"/>
          <p:cNvCxnSpPr>
            <a:stCxn id="12" idx="2"/>
            <a:endCxn id="23" idx="0"/>
          </p:cNvCxnSpPr>
          <p:nvPr/>
        </p:nvCxnSpPr>
        <p:spPr>
          <a:xfrm>
            <a:off x="1492778" y="1918390"/>
            <a:ext cx="0" cy="330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443863" y="2248746"/>
            <a:ext cx="2097830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load_pretrained_weights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2724393" y="2301579"/>
            <a:ext cx="88838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weight load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443863" y="2875279"/>
            <a:ext cx="2097830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optimizer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torchreid.optim.build_optimizer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2" name="직선 화살표 연결선 31"/>
          <p:cNvCxnSpPr>
            <a:stCxn id="23" idx="2"/>
            <a:endCxn id="29" idx="0"/>
          </p:cNvCxnSpPr>
          <p:nvPr/>
        </p:nvCxnSpPr>
        <p:spPr>
          <a:xfrm>
            <a:off x="1492778" y="2616022"/>
            <a:ext cx="0" cy="2592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/>
          <p:cNvSpPr/>
          <p:nvPr/>
        </p:nvSpPr>
        <p:spPr>
          <a:xfrm>
            <a:off x="2726984" y="2898050"/>
            <a:ext cx="105670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optimizer 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생성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443863" y="3576320"/>
            <a:ext cx="2097830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scheduler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torchreid.optim.build_lr_scheduler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7" name="직선 화살표 연결선 36"/>
          <p:cNvCxnSpPr>
            <a:stCxn id="29" idx="2"/>
            <a:endCxn id="36" idx="0"/>
          </p:cNvCxnSpPr>
          <p:nvPr/>
        </p:nvCxnSpPr>
        <p:spPr>
          <a:xfrm>
            <a:off x="1492778" y="3242555"/>
            <a:ext cx="0" cy="3337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직사각형 37"/>
          <p:cNvSpPr/>
          <p:nvPr/>
        </p:nvSpPr>
        <p:spPr>
          <a:xfrm>
            <a:off x="2724393" y="3613869"/>
            <a:ext cx="106792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scheduler 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생성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43863" y="4260429"/>
            <a:ext cx="2097830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engine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build_engine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0" name="직선 화살표 연결선 39"/>
          <p:cNvCxnSpPr>
            <a:stCxn id="36" idx="2"/>
            <a:endCxn id="39" idx="0"/>
          </p:cNvCxnSpPr>
          <p:nvPr/>
        </p:nvCxnSpPr>
        <p:spPr>
          <a:xfrm>
            <a:off x="1492778" y="3943596"/>
            <a:ext cx="0" cy="3168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2762423" y="4313262"/>
            <a:ext cx="734496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엔진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생성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443863" y="4944538"/>
            <a:ext cx="2097830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engine.run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4" name="직선 화살표 연결선 43"/>
          <p:cNvCxnSpPr>
            <a:stCxn id="39" idx="2"/>
            <a:endCxn id="43" idx="0"/>
          </p:cNvCxnSpPr>
          <p:nvPr/>
        </p:nvCxnSpPr>
        <p:spPr>
          <a:xfrm>
            <a:off x="1492778" y="4627705"/>
            <a:ext cx="0" cy="3168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/>
          <p:cNvSpPr/>
          <p:nvPr/>
        </p:nvSpPr>
        <p:spPr>
          <a:xfrm>
            <a:off x="2762423" y="4926159"/>
            <a:ext cx="95250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training 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시작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9" name="직선 화살표 연결선 48"/>
          <p:cNvCxnSpPr>
            <a:endCxn id="12" idx="0"/>
          </p:cNvCxnSpPr>
          <p:nvPr/>
        </p:nvCxnSpPr>
        <p:spPr>
          <a:xfrm>
            <a:off x="1492778" y="1216747"/>
            <a:ext cx="0" cy="33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423392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61325" y="227325"/>
            <a:ext cx="3847750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err="1" smtClean="0">
                <a:solidFill>
                  <a:srgbClr val="0E0585"/>
                </a:solidFill>
              </a:rPr>
              <a:t>ImageDataManager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cont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660309" y="1165805"/>
            <a:ext cx="1333592" cy="28333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err="1" smtClean="0">
                <a:latin typeface="Consolas" panose="020B0609020204030204" pitchFamily="49" charset="0"/>
              </a:rPr>
              <a:t>supder</a:t>
            </a:r>
            <a:r>
              <a:rPr lang="en-US" altLang="ko-KR" sz="1100" dirty="0" smtClean="0">
                <a:latin typeface="Consolas" panose="020B0609020204030204" pitchFamily="49" charset="0"/>
              </a:rPr>
              <a:t>.__</a:t>
            </a:r>
            <a:r>
              <a:rPr lang="en-US" altLang="ko-KR" sz="1100" dirty="0" err="1" smtClean="0">
                <a:latin typeface="Consolas" panose="020B0609020204030204" pitchFamily="49" charset="0"/>
              </a:rPr>
              <a:t>init</a:t>
            </a:r>
            <a:r>
              <a:rPr lang="en-US" altLang="ko-KR" sz="1100" dirty="0" smtClean="0">
                <a:latin typeface="Consolas" panose="020B0609020204030204" pitchFamily="49" charset="0"/>
              </a:rPr>
              <a:t>__</a:t>
            </a:r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660309" y="1631471"/>
            <a:ext cx="1333592" cy="28333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err="1">
                <a:latin typeface="Consolas" panose="020B0609020204030204" pitchFamily="49" charset="0"/>
              </a:rPr>
              <a:t>self.sources</a:t>
            </a:r>
            <a:endParaRPr lang="en-US" altLang="ko-KR" sz="1100" dirty="0">
              <a:latin typeface="Consolas" panose="020B0609020204030204" pitchFamily="49" charset="0"/>
            </a:endParaRPr>
          </a:p>
          <a:p>
            <a:pPr algn="ctr"/>
            <a:r>
              <a:rPr lang="en-US" altLang="ko-KR" sz="1100" dirty="0" smtClean="0">
                <a:latin typeface="Consolas" panose="020B0609020204030204" pitchFamily="49" charset="0"/>
              </a:rPr>
              <a:t>[</a:t>
            </a:r>
            <a:r>
              <a:rPr lang="en-US" altLang="ko-KR" sz="1100" dirty="0">
                <a:latin typeface="Consolas" panose="020B0609020204030204" pitchFamily="49" charset="0"/>
              </a:rPr>
              <a:t>'market1501']</a:t>
            </a:r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3" name="직선 화살표 연결선 12"/>
          <p:cNvCxnSpPr>
            <a:stCxn id="11" idx="2"/>
            <a:endCxn id="12" idx="0"/>
          </p:cNvCxnSpPr>
          <p:nvPr/>
        </p:nvCxnSpPr>
        <p:spPr>
          <a:xfrm>
            <a:off x="1327105" y="1449142"/>
            <a:ext cx="0" cy="182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660309" y="2097137"/>
            <a:ext cx="1333592" cy="28333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cfg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파일 읽기 및 병합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6" name="직선 화살표 연결선 15"/>
          <p:cNvCxnSpPr>
            <a:stCxn id="12" idx="2"/>
            <a:endCxn id="15" idx="0"/>
          </p:cNvCxnSpPr>
          <p:nvPr/>
        </p:nvCxnSpPr>
        <p:spPr>
          <a:xfrm>
            <a:off x="1327105" y="1914808"/>
            <a:ext cx="0" cy="182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직사각형 65"/>
          <p:cNvSpPr/>
          <p:nvPr/>
        </p:nvSpPr>
        <p:spPr>
          <a:xfrm>
            <a:off x="660610" y="2610088"/>
            <a:ext cx="1333592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init_image_dataset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69" name="직선 화살표 연결선 68"/>
          <p:cNvCxnSpPr>
            <a:stCxn id="15" idx="2"/>
            <a:endCxn id="66" idx="0"/>
          </p:cNvCxnSpPr>
          <p:nvPr/>
        </p:nvCxnSpPr>
        <p:spPr>
          <a:xfrm>
            <a:off x="1327105" y="2380474"/>
            <a:ext cx="301" cy="2296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직사각형 72"/>
          <p:cNvSpPr/>
          <p:nvPr/>
        </p:nvSpPr>
        <p:spPr>
          <a:xfrm>
            <a:off x="1993901" y="3171197"/>
            <a:ext cx="1975910" cy="36727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class Market1501(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ImageDataset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</a:t>
            </a:r>
          </a:p>
        </p:txBody>
      </p:sp>
      <p:cxnSp>
        <p:nvCxnSpPr>
          <p:cNvPr id="7" name="꺾인 연결선 6"/>
          <p:cNvCxnSpPr>
            <a:stCxn id="66" idx="2"/>
            <a:endCxn id="73" idx="1"/>
          </p:cNvCxnSpPr>
          <p:nvPr/>
        </p:nvCxnSpPr>
        <p:spPr>
          <a:xfrm rot="16200000" flipH="1">
            <a:off x="1471918" y="2832851"/>
            <a:ext cx="377471" cy="66649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1993901" y="3763324"/>
            <a:ext cx="1975910" cy="36727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</a:p>
        </p:txBody>
      </p:sp>
      <p:sp>
        <p:nvSpPr>
          <p:cNvPr id="31" name="직사각형 30"/>
          <p:cNvSpPr/>
          <p:nvPr/>
        </p:nvSpPr>
        <p:spPr>
          <a:xfrm>
            <a:off x="2215386" y="2793726"/>
            <a:ext cx="1893689" cy="345879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1600" b="1" dirty="0" smtClean="0">
                <a:solidFill>
                  <a:srgbClr val="FFC000"/>
                </a:solidFill>
              </a:rPr>
              <a:t>class Market1501</a:t>
            </a:r>
            <a:endParaRPr lang="en-US" altLang="ko-KR" sz="1600" b="1" dirty="0">
              <a:solidFill>
                <a:srgbClr val="FFC000"/>
              </a:solidFill>
            </a:endParaRPr>
          </a:p>
        </p:txBody>
      </p:sp>
      <p:cxnSp>
        <p:nvCxnSpPr>
          <p:cNvPr id="32" name="직선 화살표 연결선 31"/>
          <p:cNvCxnSpPr>
            <a:stCxn id="73" idx="2"/>
            <a:endCxn id="30" idx="0"/>
          </p:cNvCxnSpPr>
          <p:nvPr/>
        </p:nvCxnSpPr>
        <p:spPr>
          <a:xfrm>
            <a:off x="2981856" y="3538473"/>
            <a:ext cx="0" cy="2248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그림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464" y="1165805"/>
            <a:ext cx="2924583" cy="3172268"/>
          </a:xfrm>
          <a:prstGeom prst="rect">
            <a:avLst/>
          </a:prstGeom>
        </p:spPr>
      </p:pic>
      <p:sp>
        <p:nvSpPr>
          <p:cNvPr id="38" name="직사각형 37"/>
          <p:cNvSpPr/>
          <p:nvPr/>
        </p:nvSpPr>
        <p:spPr>
          <a:xfrm>
            <a:off x="8352277" y="1205750"/>
            <a:ext cx="50206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400" b="1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root</a:t>
            </a:r>
            <a:endParaRPr lang="en-US" altLang="ko-KR" sz="1400" b="1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0" name="직선 화살표 연결선 19"/>
          <p:cNvCxnSpPr>
            <a:stCxn id="38" idx="1"/>
          </p:cNvCxnSpPr>
          <p:nvPr/>
        </p:nvCxnSpPr>
        <p:spPr>
          <a:xfrm flipH="1">
            <a:off x="8029575" y="1359639"/>
            <a:ext cx="32270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8437300" y="2619060"/>
            <a:ext cx="85940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400" b="1" dirty="0" err="1" smtClean="0">
                <a:solidFill>
                  <a:srgbClr val="00B05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train_dir</a:t>
            </a:r>
            <a:endParaRPr lang="en-US" altLang="ko-KR" sz="1400" b="1" dirty="0">
              <a:solidFill>
                <a:srgbClr val="00B05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3" name="직선 화살표 연결선 42"/>
          <p:cNvCxnSpPr>
            <a:stCxn id="42" idx="1"/>
          </p:cNvCxnSpPr>
          <p:nvPr/>
        </p:nvCxnSpPr>
        <p:spPr>
          <a:xfrm flipH="1">
            <a:off x="8114598" y="2772949"/>
            <a:ext cx="32270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/>
          <p:cNvSpPr/>
          <p:nvPr/>
        </p:nvSpPr>
        <p:spPr>
          <a:xfrm>
            <a:off x="7502749" y="3982670"/>
            <a:ext cx="93455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400" b="1" dirty="0" err="1" smtClean="0">
                <a:solidFill>
                  <a:srgbClr val="00B05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query_dir</a:t>
            </a:r>
            <a:endParaRPr lang="en-US" altLang="ko-KR" sz="1400" b="1" dirty="0">
              <a:solidFill>
                <a:srgbClr val="00B05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6" name="직선 화살표 연결선 45"/>
          <p:cNvCxnSpPr>
            <a:stCxn id="44" idx="1"/>
          </p:cNvCxnSpPr>
          <p:nvPr/>
        </p:nvCxnSpPr>
        <p:spPr>
          <a:xfrm flipH="1">
            <a:off x="7180047" y="4136559"/>
            <a:ext cx="32270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/>
          <p:cNvSpPr/>
          <p:nvPr/>
        </p:nvSpPr>
        <p:spPr>
          <a:xfrm>
            <a:off x="8437300" y="2157396"/>
            <a:ext cx="102912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400" b="1" dirty="0" err="1" smtClean="0">
                <a:solidFill>
                  <a:srgbClr val="00B05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gallery_dir</a:t>
            </a:r>
            <a:endParaRPr lang="en-US" altLang="ko-KR" sz="1400" b="1" dirty="0">
              <a:solidFill>
                <a:srgbClr val="00B05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9" name="직선 화살표 연결선 48"/>
          <p:cNvCxnSpPr>
            <a:stCxn id="47" idx="1"/>
          </p:cNvCxnSpPr>
          <p:nvPr/>
        </p:nvCxnSpPr>
        <p:spPr>
          <a:xfrm flipH="1">
            <a:off x="8114598" y="2311285"/>
            <a:ext cx="32270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6137986" y="4446769"/>
            <a:ext cx="234240" cy="156762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/>
          <p:cNvSpPr txBox="1"/>
          <p:nvPr/>
        </p:nvSpPr>
        <p:spPr>
          <a:xfrm>
            <a:off x="6412706" y="4371261"/>
            <a:ext cx="7633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images</a:t>
            </a:r>
            <a:endParaRPr lang="ko-KR" altLang="en-US" sz="1400" dirty="0"/>
          </a:p>
        </p:txBody>
      </p:sp>
      <p:sp>
        <p:nvSpPr>
          <p:cNvPr id="52" name="직사각형 51"/>
          <p:cNvSpPr/>
          <p:nvPr/>
        </p:nvSpPr>
        <p:spPr>
          <a:xfrm>
            <a:off x="7502749" y="4404324"/>
            <a:ext cx="151791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400" b="1" dirty="0" err="1" smtClean="0">
                <a:solidFill>
                  <a:srgbClr val="00B05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extra_gallery_dir</a:t>
            </a:r>
            <a:endParaRPr lang="en-US" altLang="ko-KR" sz="1400" b="1" dirty="0">
              <a:solidFill>
                <a:srgbClr val="00B05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3" name="직선 화살표 연결선 52"/>
          <p:cNvCxnSpPr>
            <a:stCxn id="52" idx="1"/>
          </p:cNvCxnSpPr>
          <p:nvPr/>
        </p:nvCxnSpPr>
        <p:spPr>
          <a:xfrm flipH="1">
            <a:off x="7180047" y="4558213"/>
            <a:ext cx="32270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/>
          <p:cNvSpPr/>
          <p:nvPr/>
        </p:nvSpPr>
        <p:spPr>
          <a:xfrm>
            <a:off x="7527532" y="4627508"/>
            <a:ext cx="267893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market1501_500k가 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true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일 때 필요한 폴더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3244289" y="4393267"/>
            <a:ext cx="1732675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process_dir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5" name="꺾인 연결선 54"/>
          <p:cNvCxnSpPr>
            <a:stCxn id="30" idx="2"/>
            <a:endCxn id="54" idx="1"/>
          </p:cNvCxnSpPr>
          <p:nvPr/>
        </p:nvCxnSpPr>
        <p:spPr>
          <a:xfrm rot="16200000" flipH="1">
            <a:off x="2889920" y="4222535"/>
            <a:ext cx="446305" cy="26243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직사각형 59"/>
          <p:cNvSpPr/>
          <p:nvPr/>
        </p:nvSpPr>
        <p:spPr>
          <a:xfrm>
            <a:off x="3244289" y="5030046"/>
            <a:ext cx="1732675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pattern = re.compile(r'([-\d]+)_c(\d)')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61" name="직선 화살표 연결선 60"/>
          <p:cNvCxnSpPr>
            <a:stCxn id="54" idx="2"/>
            <a:endCxn id="60" idx="0"/>
          </p:cNvCxnSpPr>
          <p:nvPr/>
        </p:nvCxnSpPr>
        <p:spPr>
          <a:xfrm>
            <a:off x="4110627" y="4760543"/>
            <a:ext cx="0" cy="269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"/>
          <p:cNvSpPr>
            <a:spLocks noChangeArrowheads="1"/>
          </p:cNvSpPr>
          <p:nvPr/>
        </p:nvSpPr>
        <p:spPr bwMode="auto">
          <a:xfrm>
            <a:off x="4969819" y="4978454"/>
            <a:ext cx="3276599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rgbClr val="00206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정규 표현식이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rgbClr val="00206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img_path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rgbClr val="00206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문자열에서 패턴에 맞는 부분을 찾습니다. "0002_c1s1_000451_03.jpg"에서 매칭되는 부분은 "0002_c1"입니다. </a:t>
            </a:r>
          </a:p>
        </p:txBody>
      </p:sp>
      <p:sp>
        <p:nvSpPr>
          <p:cNvPr id="67" name="직사각형 66"/>
          <p:cNvSpPr/>
          <p:nvPr/>
        </p:nvSpPr>
        <p:spPr>
          <a:xfrm>
            <a:off x="3244289" y="5666825"/>
            <a:ext cx="1732675" cy="50600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pid, _ = map(int, pattern.search(img_path).groups())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68" name="Rectangle 3"/>
          <p:cNvSpPr>
            <a:spLocks noChangeArrowheads="1"/>
          </p:cNvSpPr>
          <p:nvPr/>
        </p:nvSpPr>
        <p:spPr bwMode="auto">
          <a:xfrm>
            <a:off x="5075679" y="5796718"/>
            <a:ext cx="242707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tuple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 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map 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형태로</a:t>
            </a:r>
            <a:r>
              <a:rPr lang="ko-KR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[2</a:t>
            </a:r>
            <a:r>
              <a:rPr lang="ko-KR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1]으로 변환됩니다. </a:t>
            </a:r>
          </a:p>
        </p:txBody>
      </p:sp>
      <p:sp>
        <p:nvSpPr>
          <p:cNvPr id="71" name="직사각형 70"/>
          <p:cNvSpPr/>
          <p:nvPr/>
        </p:nvSpPr>
        <p:spPr>
          <a:xfrm>
            <a:off x="3244289" y="6442336"/>
            <a:ext cx="1732675" cy="38060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pid2label = {pid: </a:t>
            </a:r>
            <a:r>
              <a:rPr lang="it-IT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label}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72" name="직선 화살표 연결선 71"/>
          <p:cNvCxnSpPr>
            <a:stCxn id="60" idx="2"/>
            <a:endCxn id="67" idx="0"/>
          </p:cNvCxnSpPr>
          <p:nvPr/>
        </p:nvCxnSpPr>
        <p:spPr>
          <a:xfrm>
            <a:off x="4110627" y="5397322"/>
            <a:ext cx="0" cy="269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/>
          <p:cNvCxnSpPr>
            <a:stCxn id="67" idx="2"/>
            <a:endCxn id="71" idx="0"/>
          </p:cNvCxnSpPr>
          <p:nvPr/>
        </p:nvCxnSpPr>
        <p:spPr>
          <a:xfrm>
            <a:off x="4110627" y="6172833"/>
            <a:ext cx="0" cy="269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3"/>
          <p:cNvSpPr>
            <a:spLocks noChangeArrowheads="1"/>
          </p:cNvSpPr>
          <p:nvPr/>
        </p:nvSpPr>
        <p:spPr bwMode="auto">
          <a:xfrm>
            <a:off x="5100462" y="6422833"/>
            <a:ext cx="242707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pid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와 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label </a:t>
            </a:r>
            <a:r>
              <a:rPr lang="ko-KR" altLang="en-US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형테의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집합을 만든다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label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은 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0, 1, 2 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이런 식으로 증가한다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r>
              <a:rPr lang="ko-KR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endParaRPr lang="ko-KR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3244289" y="7092446"/>
            <a:ext cx="1732675" cy="38060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return data</a:t>
            </a:r>
          </a:p>
        </p:txBody>
      </p:sp>
      <p:cxnSp>
        <p:nvCxnSpPr>
          <p:cNvPr id="82" name="직선 화살표 연결선 81"/>
          <p:cNvCxnSpPr>
            <a:stCxn id="71" idx="2"/>
            <a:endCxn id="81" idx="0"/>
          </p:cNvCxnSpPr>
          <p:nvPr/>
        </p:nvCxnSpPr>
        <p:spPr>
          <a:xfrm>
            <a:off x="4110627" y="6822943"/>
            <a:ext cx="0" cy="269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직사각형 75"/>
          <p:cNvSpPr/>
          <p:nvPr/>
        </p:nvSpPr>
        <p:spPr>
          <a:xfrm>
            <a:off x="6767162" y="6043441"/>
            <a:ext cx="4174351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50" dirty="0">
                <a:solidFill>
                  <a:srgbClr val="C00000"/>
                </a:solidFill>
              </a:rPr>
              <a:t> </a:t>
            </a:r>
            <a:r>
              <a:rPr lang="ko-KR" altLang="en-US" sz="1050" dirty="0" err="1">
                <a:solidFill>
                  <a:srgbClr val="C00000"/>
                </a:solidFill>
              </a:rPr>
              <a:t>assert</a:t>
            </a:r>
            <a:r>
              <a:rPr lang="ko-KR" altLang="en-US" sz="1050" dirty="0">
                <a:solidFill>
                  <a:srgbClr val="C00000"/>
                </a:solidFill>
              </a:rPr>
              <a:t> 0 &lt;= </a:t>
            </a:r>
            <a:r>
              <a:rPr lang="ko-KR" altLang="en-US" sz="1050" dirty="0" err="1">
                <a:solidFill>
                  <a:srgbClr val="C00000"/>
                </a:solidFill>
              </a:rPr>
              <a:t>pid</a:t>
            </a:r>
            <a:r>
              <a:rPr lang="ko-KR" altLang="en-US" sz="1050" dirty="0">
                <a:solidFill>
                  <a:srgbClr val="C00000"/>
                </a:solidFill>
              </a:rPr>
              <a:t> &lt;= 1501 # </a:t>
            </a:r>
            <a:r>
              <a:rPr lang="ko-KR" altLang="en-US" sz="1050" dirty="0" err="1">
                <a:solidFill>
                  <a:srgbClr val="C00000"/>
                </a:solidFill>
              </a:rPr>
              <a:t>pid</a:t>
            </a:r>
            <a:r>
              <a:rPr lang="ko-KR" altLang="en-US" sz="1050" dirty="0">
                <a:solidFill>
                  <a:srgbClr val="C00000"/>
                </a:solidFill>
              </a:rPr>
              <a:t> == 0 </a:t>
            </a:r>
            <a:r>
              <a:rPr lang="ko-KR" altLang="en-US" sz="1050" dirty="0" err="1">
                <a:solidFill>
                  <a:srgbClr val="C00000"/>
                </a:solidFill>
              </a:rPr>
              <a:t>means</a:t>
            </a:r>
            <a:r>
              <a:rPr lang="ko-KR" altLang="en-US" sz="1050" dirty="0">
                <a:solidFill>
                  <a:srgbClr val="C00000"/>
                </a:solidFill>
              </a:rPr>
              <a:t> </a:t>
            </a:r>
            <a:r>
              <a:rPr lang="ko-KR" altLang="en-US" sz="1050" dirty="0" err="1">
                <a:solidFill>
                  <a:srgbClr val="C00000"/>
                </a:solidFill>
              </a:rPr>
              <a:t>background</a:t>
            </a:r>
            <a:endParaRPr lang="ko-KR" altLang="en-US" sz="1050" dirty="0">
              <a:solidFill>
                <a:srgbClr val="C00000"/>
              </a:solidFill>
            </a:endParaRPr>
          </a:p>
          <a:p>
            <a:r>
              <a:rPr lang="ko-KR" altLang="en-US" sz="1050" dirty="0">
                <a:solidFill>
                  <a:srgbClr val="C00000"/>
                </a:solidFill>
              </a:rPr>
              <a:t> </a:t>
            </a:r>
            <a:r>
              <a:rPr lang="ko-KR" altLang="en-US" sz="1050" dirty="0" err="1" smtClean="0">
                <a:solidFill>
                  <a:srgbClr val="C00000"/>
                </a:solidFill>
              </a:rPr>
              <a:t>assert</a:t>
            </a:r>
            <a:r>
              <a:rPr lang="ko-KR" altLang="en-US" sz="1050" dirty="0" smtClean="0">
                <a:solidFill>
                  <a:srgbClr val="C00000"/>
                </a:solidFill>
              </a:rPr>
              <a:t> </a:t>
            </a:r>
            <a:r>
              <a:rPr lang="ko-KR" altLang="en-US" sz="1050" dirty="0">
                <a:solidFill>
                  <a:srgbClr val="C00000"/>
                </a:solidFill>
              </a:rPr>
              <a:t>1 &lt;= </a:t>
            </a:r>
            <a:r>
              <a:rPr lang="ko-KR" altLang="en-US" sz="1050" dirty="0" err="1">
                <a:solidFill>
                  <a:srgbClr val="C00000"/>
                </a:solidFill>
              </a:rPr>
              <a:t>camid</a:t>
            </a:r>
            <a:r>
              <a:rPr lang="ko-KR" altLang="en-US" sz="1050" dirty="0">
                <a:solidFill>
                  <a:srgbClr val="C00000"/>
                </a:solidFill>
              </a:rPr>
              <a:t> &lt;= 6</a:t>
            </a:r>
          </a:p>
        </p:txBody>
      </p:sp>
      <p:sp>
        <p:nvSpPr>
          <p:cNvPr id="87" name="Rectangle 3"/>
          <p:cNvSpPr>
            <a:spLocks noChangeArrowheads="1"/>
          </p:cNvSpPr>
          <p:nvPr/>
        </p:nvSpPr>
        <p:spPr bwMode="auto">
          <a:xfrm>
            <a:off x="5075679" y="7095489"/>
            <a:ext cx="242707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리스트 형태이며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[(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img_path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pid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camid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)] 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를 반환한다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ko-KR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696646" y="6742250"/>
            <a:ext cx="1749197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dsetid</a:t>
            </a:r>
            <a:r>
              <a:rPr lang="ko-KR" altLang="en-US" sz="1100" dirty="0" smtClean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가 나오는데</a:t>
            </a:r>
            <a:endParaRPr lang="en-US" altLang="ko-KR" sz="1100" dirty="0" smtClean="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ko-KR" altLang="en-US" sz="1100" b="0" dirty="0" smtClean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이건 </a:t>
            </a:r>
            <a:r>
              <a:rPr lang="en-US" altLang="ko-KR" sz="1100" b="0" dirty="0" smtClean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dataset id </a:t>
            </a:r>
            <a:r>
              <a:rPr lang="ko-KR" altLang="en-US" sz="1100" b="0" dirty="0" smtClean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같다</a:t>
            </a:r>
            <a:r>
              <a:rPr lang="en-US" altLang="ko-KR" sz="1100" b="0" dirty="0" smtClean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.</a:t>
            </a:r>
            <a:endParaRPr lang="en-US" altLang="ko-KR" sz="1100" b="0" dirty="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graphicFrame>
        <p:nvGraphicFramePr>
          <p:cNvPr id="88" name="표 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8047124"/>
              </p:ext>
            </p:extLst>
          </p:nvPr>
        </p:nvGraphicFramePr>
        <p:xfrm>
          <a:off x="352939" y="5264645"/>
          <a:ext cx="1563083" cy="548640"/>
        </p:xfrm>
        <a:graphic>
          <a:graphicData uri="http://schemas.openxmlformats.org/drawingml/2006/table">
            <a:tbl>
              <a:tblPr firstRow="1" bandRow="1">
                <a:tableStyleId>{1E171933-4619-4E11-9A3F-F7608DF75F80}</a:tableStyleId>
              </a:tblPr>
              <a:tblGrid>
                <a:gridCol w="1563083">
                  <a:extLst>
                    <a:ext uri="{9D8B030D-6E8A-4147-A177-3AD203B41FA5}">
                      <a16:colId xmlns:a16="http://schemas.microsoft.com/office/drawing/2014/main" val="2590600746"/>
                    </a:ext>
                  </a:extLst>
                </a:gridCol>
              </a:tblGrid>
              <a:tr h="2435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 smtClean="0"/>
                        <a:t>ImageDataset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890123"/>
                  </a:ext>
                </a:extLst>
              </a:tr>
              <a:tr h="209845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7178603"/>
                  </a:ext>
                </a:extLst>
              </a:tr>
            </a:tbl>
          </a:graphicData>
        </a:graphic>
      </p:graphicFrame>
      <p:graphicFrame>
        <p:nvGraphicFramePr>
          <p:cNvPr id="89" name="표 8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732365"/>
              </p:ext>
            </p:extLst>
          </p:nvPr>
        </p:nvGraphicFramePr>
        <p:xfrm>
          <a:off x="352939" y="5966484"/>
          <a:ext cx="1563083" cy="54864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563083">
                  <a:extLst>
                    <a:ext uri="{9D8B030D-6E8A-4147-A177-3AD203B41FA5}">
                      <a16:colId xmlns:a16="http://schemas.microsoft.com/office/drawing/2014/main" val="2590600746"/>
                    </a:ext>
                  </a:extLst>
                </a:gridCol>
              </a:tblGrid>
              <a:tr h="255244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Market1501</a:t>
                      </a:r>
                      <a:endParaRPr lang="en-US" altLang="ko-KR" sz="12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890123"/>
                  </a:ext>
                </a:extLst>
              </a:tr>
              <a:tr h="255244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7178603"/>
                  </a:ext>
                </a:extLst>
              </a:tr>
            </a:tbl>
          </a:graphicData>
        </a:graphic>
      </p:graphicFrame>
      <p:cxnSp>
        <p:nvCxnSpPr>
          <p:cNvPr id="91" name="직선 화살표 연결선 90"/>
          <p:cNvCxnSpPr>
            <a:stCxn id="88" idx="2"/>
            <a:endCxn id="89" idx="0"/>
          </p:cNvCxnSpPr>
          <p:nvPr/>
        </p:nvCxnSpPr>
        <p:spPr>
          <a:xfrm>
            <a:off x="1134480" y="5813285"/>
            <a:ext cx="0" cy="1531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2" name="표 1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1207004"/>
              </p:ext>
            </p:extLst>
          </p:nvPr>
        </p:nvGraphicFramePr>
        <p:xfrm>
          <a:off x="352939" y="4558212"/>
          <a:ext cx="1563083" cy="54864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1563083">
                  <a:extLst>
                    <a:ext uri="{9D8B030D-6E8A-4147-A177-3AD203B41FA5}">
                      <a16:colId xmlns:a16="http://schemas.microsoft.com/office/drawing/2014/main" val="2590600746"/>
                    </a:ext>
                  </a:extLst>
                </a:gridCol>
              </a:tblGrid>
              <a:tr h="2435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Dataset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890123"/>
                  </a:ext>
                </a:extLst>
              </a:tr>
              <a:tr h="209845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7178603"/>
                  </a:ext>
                </a:extLst>
              </a:tr>
            </a:tbl>
          </a:graphicData>
        </a:graphic>
      </p:graphicFrame>
      <p:cxnSp>
        <p:nvCxnSpPr>
          <p:cNvPr id="103" name="직선 화살표 연결선 102"/>
          <p:cNvCxnSpPr>
            <a:stCxn id="102" idx="2"/>
            <a:endCxn id="88" idx="0"/>
          </p:cNvCxnSpPr>
          <p:nvPr/>
        </p:nvCxnSpPr>
        <p:spPr>
          <a:xfrm>
            <a:off x="1134480" y="5106852"/>
            <a:ext cx="0" cy="1577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직사각형 105"/>
          <p:cNvSpPr/>
          <p:nvPr/>
        </p:nvSpPr>
        <p:spPr>
          <a:xfrm>
            <a:off x="3309398" y="4079751"/>
            <a:ext cx="4174351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50" dirty="0" smtClean="0">
                <a:solidFill>
                  <a:srgbClr val="C00000"/>
                </a:solidFill>
              </a:rPr>
              <a:t>train, query, </a:t>
            </a:r>
            <a:r>
              <a:rPr lang="en-US" altLang="ko-KR" sz="1050" smtClean="0">
                <a:solidFill>
                  <a:srgbClr val="C00000"/>
                </a:solidFill>
              </a:rPr>
              <a:t>gallery </a:t>
            </a:r>
            <a:r>
              <a:rPr lang="ko-KR" altLang="en-US" sz="1050" dirty="0" smtClean="0">
                <a:solidFill>
                  <a:srgbClr val="C00000"/>
                </a:solidFill>
              </a:rPr>
              <a:t>별로 수행</a:t>
            </a:r>
            <a:endParaRPr lang="ko-KR" altLang="en-US" sz="105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4357977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153774" y="219280"/>
            <a:ext cx="3749968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err="1" smtClean="0">
                <a:solidFill>
                  <a:srgbClr val="0E0585"/>
                </a:solidFill>
              </a:rPr>
              <a:t>ImageDataManager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end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3362568" y="1640442"/>
            <a:ext cx="1732675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Dataset.__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4438993" y="2216353"/>
            <a:ext cx="1732675" cy="36727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[(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img_path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camid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dsetid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(0))…]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로 바꾼다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train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50" name="직사각형 49"/>
          <p:cNvSpPr/>
          <p:nvPr/>
        </p:nvSpPr>
        <p:spPr>
          <a:xfrm>
            <a:off x="4438993" y="2814815"/>
            <a:ext cx="1732675" cy="36727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[(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img_path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camid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dsetid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(0))…]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로 바꾼다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query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4438993" y="3406979"/>
            <a:ext cx="1732675" cy="502601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[(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img_path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camid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dsetid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(0))…]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로 바꾼다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gallery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6" name="꺾인 연결선 55"/>
          <p:cNvCxnSpPr>
            <a:stCxn id="45" idx="2"/>
            <a:endCxn id="48" idx="1"/>
          </p:cNvCxnSpPr>
          <p:nvPr/>
        </p:nvCxnSpPr>
        <p:spPr>
          <a:xfrm rot="16200000" flipH="1">
            <a:off x="4137813" y="2098810"/>
            <a:ext cx="392273" cy="21008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/>
          <p:cNvCxnSpPr>
            <a:stCxn id="48" idx="2"/>
            <a:endCxn id="50" idx="0"/>
          </p:cNvCxnSpPr>
          <p:nvPr/>
        </p:nvCxnSpPr>
        <p:spPr>
          <a:xfrm>
            <a:off x="5305331" y="2583629"/>
            <a:ext cx="0" cy="231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/>
          <p:cNvCxnSpPr>
            <a:stCxn id="50" idx="2"/>
            <a:endCxn id="51" idx="0"/>
          </p:cNvCxnSpPr>
          <p:nvPr/>
        </p:nvCxnSpPr>
        <p:spPr>
          <a:xfrm>
            <a:off x="5305331" y="3182091"/>
            <a:ext cx="0" cy="2248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/>
          <p:cNvSpPr/>
          <p:nvPr/>
        </p:nvSpPr>
        <p:spPr>
          <a:xfrm>
            <a:off x="4438993" y="4233147"/>
            <a:ext cx="1732675" cy="108962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mode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에 따라서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self.data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에 데이터가 바뀐다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pPr algn="ctr"/>
            <a:r>
              <a:rPr lang="ko-KR" altLang="en-US" sz="10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예</a:t>
            </a:r>
            <a:r>
              <a:rPr lang="en-US" altLang="ko-KR" sz="10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</a:t>
            </a:r>
            <a:br>
              <a:rPr lang="en-US" altLang="ko-KR" sz="10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</a:br>
            <a:r>
              <a:rPr lang="en-US" altLang="ko-KR" sz="10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if </a:t>
            </a:r>
            <a:r>
              <a:rPr lang="en-US" altLang="ko-KR" sz="1000" dirty="0" err="1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self.mode</a:t>
            </a:r>
            <a:r>
              <a:rPr lang="en-US" altLang="ko-KR" sz="10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== 'train':</a:t>
            </a:r>
          </a:p>
          <a:p>
            <a:pPr algn="ctr"/>
            <a:r>
              <a:rPr lang="en-US" altLang="ko-KR" sz="10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</a:t>
            </a:r>
            <a:r>
              <a:rPr lang="en-US" altLang="ko-KR" sz="10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self.data</a:t>
            </a:r>
            <a:r>
              <a:rPr lang="en-US" altLang="ko-KR" sz="10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en-US" altLang="ko-KR" sz="10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= </a:t>
            </a:r>
            <a:r>
              <a:rPr lang="en-US" altLang="ko-KR" sz="1000" dirty="0" err="1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self.train</a:t>
            </a:r>
            <a:endParaRPr lang="en-US" altLang="ko-KR" sz="10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62" name="직선 화살표 연결선 61"/>
          <p:cNvCxnSpPr>
            <a:stCxn id="51" idx="2"/>
            <a:endCxn id="59" idx="0"/>
          </p:cNvCxnSpPr>
          <p:nvPr/>
        </p:nvCxnSpPr>
        <p:spPr>
          <a:xfrm>
            <a:off x="5305331" y="3909580"/>
            <a:ext cx="0" cy="3235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/>
          <p:cNvCxnSpPr/>
          <p:nvPr/>
        </p:nvCxnSpPr>
        <p:spPr>
          <a:xfrm>
            <a:off x="4219919" y="1370939"/>
            <a:ext cx="0" cy="269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/>
          <p:cNvSpPr/>
          <p:nvPr/>
        </p:nvSpPr>
        <p:spPr>
          <a:xfrm>
            <a:off x="4333949" y="1243268"/>
            <a:ext cx="3721114" cy="345879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1600" b="1" dirty="0" smtClean="0">
                <a:solidFill>
                  <a:srgbClr val="FFC000"/>
                </a:solidFill>
              </a:rPr>
              <a:t>class </a:t>
            </a:r>
            <a:r>
              <a:rPr lang="en-US" altLang="ko-KR" sz="1600" b="1" dirty="0" err="1" smtClean="0">
                <a:solidFill>
                  <a:srgbClr val="FFC000"/>
                </a:solidFill>
              </a:rPr>
              <a:t>ImageDataset</a:t>
            </a:r>
            <a:r>
              <a:rPr lang="en-US" altLang="ko-KR" sz="1600" b="1" dirty="0" smtClean="0">
                <a:solidFill>
                  <a:srgbClr val="FFC000"/>
                </a:solidFill>
              </a:rPr>
              <a:t> -&gt; class Dataset</a:t>
            </a:r>
            <a:endParaRPr lang="en-US" altLang="ko-KR" sz="1600" b="1" dirty="0">
              <a:solidFill>
                <a:srgbClr val="FFC000"/>
              </a:solidFill>
            </a:endParaRPr>
          </a:p>
        </p:txBody>
      </p:sp>
      <p:sp>
        <p:nvSpPr>
          <p:cNvPr id="65" name="모서리가 둥근 직사각형 64"/>
          <p:cNvSpPr/>
          <p:nvPr/>
        </p:nvSpPr>
        <p:spPr>
          <a:xfrm>
            <a:off x="4434830" y="5630387"/>
            <a:ext cx="1732675" cy="367276"/>
          </a:xfrm>
          <a:prstGeom prst="roundRect">
            <a:avLst>
              <a:gd name="adj" fmla="val 37633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return Dataset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70" name="직선 화살표 연결선 69"/>
          <p:cNvCxnSpPr>
            <a:stCxn id="59" idx="2"/>
          </p:cNvCxnSpPr>
          <p:nvPr/>
        </p:nvCxnSpPr>
        <p:spPr>
          <a:xfrm flipH="1">
            <a:off x="5301168" y="5322771"/>
            <a:ext cx="4163" cy="3076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연결선 15"/>
          <p:cNvCxnSpPr>
            <a:stCxn id="65" idx="2"/>
          </p:cNvCxnSpPr>
          <p:nvPr/>
        </p:nvCxnSpPr>
        <p:spPr>
          <a:xfrm rot="5400000">
            <a:off x="3806177" y="5050190"/>
            <a:ext cx="547519" cy="244246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305883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05634" y="219280"/>
            <a:ext cx="3046250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err="1" smtClean="0">
                <a:solidFill>
                  <a:srgbClr val="0E0585"/>
                </a:solidFill>
              </a:rPr>
              <a:t>build_train_sampler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순서도: 판단 2"/>
          <p:cNvSpPr/>
          <p:nvPr/>
        </p:nvSpPr>
        <p:spPr>
          <a:xfrm>
            <a:off x="3009362" y="2400720"/>
            <a:ext cx="2508317" cy="537956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train_sampler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== </a:t>
            </a:r>
            <a:r>
              <a:rPr lang="en-US" altLang="ko-KR" sz="11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RandomSampler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3275567" y="1910701"/>
            <a:ext cx="1975910" cy="27182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build_train_sampler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" name="직선 화살표 연결선 4"/>
          <p:cNvCxnSpPr>
            <a:stCxn id="4" idx="2"/>
            <a:endCxn id="3" idx="0"/>
          </p:cNvCxnSpPr>
          <p:nvPr/>
        </p:nvCxnSpPr>
        <p:spPr>
          <a:xfrm flipH="1">
            <a:off x="4263521" y="2182530"/>
            <a:ext cx="1" cy="2181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3275566" y="3156866"/>
            <a:ext cx="1975910" cy="413557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sampler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RandomSampler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data_source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</a:t>
            </a:r>
          </a:p>
        </p:txBody>
      </p:sp>
      <p:cxnSp>
        <p:nvCxnSpPr>
          <p:cNvPr id="10" name="직선 화살표 연결선 9"/>
          <p:cNvCxnSpPr>
            <a:stCxn id="3" idx="2"/>
            <a:endCxn id="9" idx="0"/>
          </p:cNvCxnSpPr>
          <p:nvPr/>
        </p:nvCxnSpPr>
        <p:spPr>
          <a:xfrm>
            <a:off x="4263521" y="2938676"/>
            <a:ext cx="0" cy="2181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/>
          <p:cNvSpPr/>
          <p:nvPr/>
        </p:nvSpPr>
        <p:spPr>
          <a:xfrm>
            <a:off x="2010646" y="1288381"/>
            <a:ext cx="1975910" cy="36727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torch.utils.data.DataLoader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4263521" y="1294987"/>
            <a:ext cx="4535217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torch.utils.data.DataLoader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를 수행하기 위한 </a:t>
            </a:r>
            <a:r>
              <a:rPr lang="ko-KR" altLang="en-US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파라미터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sampler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를 생성한다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1" name="꺾인 연결선 10"/>
          <p:cNvCxnSpPr>
            <a:stCxn id="14" idx="2"/>
            <a:endCxn id="4" idx="1"/>
          </p:cNvCxnSpPr>
          <p:nvPr/>
        </p:nvCxnSpPr>
        <p:spPr>
          <a:xfrm rot="16200000" flipH="1">
            <a:off x="2941605" y="1712653"/>
            <a:ext cx="390959" cy="27696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5631979" y="2454254"/>
            <a:ext cx="3429144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ImageDataManager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의 </a:t>
            </a:r>
            <a:r>
              <a:rPr lang="ko-KR" altLang="en-US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파라미터이다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train_sample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의 이름의 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Default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는 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RandomSampler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이다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3" name="모서리가 둥근 직사각형 22"/>
          <p:cNvSpPr/>
          <p:nvPr/>
        </p:nvSpPr>
        <p:spPr>
          <a:xfrm>
            <a:off x="3397182" y="3782799"/>
            <a:ext cx="1732675" cy="367276"/>
          </a:xfrm>
          <a:prstGeom prst="roundRect">
            <a:avLst>
              <a:gd name="adj" fmla="val 37633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return sampler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4" name="직선 화살표 연결선 23"/>
          <p:cNvCxnSpPr>
            <a:stCxn id="9" idx="2"/>
            <a:endCxn id="23" idx="0"/>
          </p:cNvCxnSpPr>
          <p:nvPr/>
        </p:nvCxnSpPr>
        <p:spPr>
          <a:xfrm flipH="1">
            <a:off x="4263520" y="3570423"/>
            <a:ext cx="1" cy="2123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459311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463976" y="314530"/>
            <a:ext cx="2672365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DataLoader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395255" y="1173666"/>
            <a:ext cx="2088865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queryset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init_image_dataset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2054861" y="1716212"/>
            <a:ext cx="1975910" cy="36727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avai_datasets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list(__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image_datasets.keys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())</a:t>
            </a:r>
          </a:p>
        </p:txBody>
      </p:sp>
      <p:cxnSp>
        <p:nvCxnSpPr>
          <p:cNvPr id="13" name="꺾인 연결선 12"/>
          <p:cNvCxnSpPr>
            <a:stCxn id="4" idx="2"/>
            <a:endCxn id="12" idx="1"/>
          </p:cNvCxnSpPr>
          <p:nvPr/>
        </p:nvCxnSpPr>
        <p:spPr>
          <a:xfrm rot="16200000" flipH="1">
            <a:off x="1567820" y="1412809"/>
            <a:ext cx="358908" cy="6151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4030771" y="1667990"/>
            <a:ext cx="4352290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700" dirty="0" err="1"/>
              <a:t>avai_datasets</a:t>
            </a:r>
            <a:endParaRPr lang="ko-KR" altLang="en-US" sz="700" dirty="0"/>
          </a:p>
          <a:p>
            <a:r>
              <a:rPr lang="ko-KR" altLang="en-US" sz="700" dirty="0" err="1"/>
              <a:t>Out</a:t>
            </a:r>
            <a:r>
              <a:rPr lang="ko-KR" altLang="en-US" sz="700" dirty="0"/>
              <a:t>  [5]: ['market1501', 'cuhk03', '</a:t>
            </a:r>
            <a:r>
              <a:rPr lang="ko-KR" altLang="en-US" sz="700" dirty="0" err="1"/>
              <a:t>dukemtmcreid</a:t>
            </a:r>
            <a:r>
              <a:rPr lang="ko-KR" altLang="en-US" sz="700" dirty="0"/>
              <a:t>', 'msmt17', '</a:t>
            </a:r>
            <a:r>
              <a:rPr lang="ko-KR" altLang="en-US" sz="700" dirty="0" err="1"/>
              <a:t>viper</a:t>
            </a:r>
            <a:r>
              <a:rPr lang="ko-KR" altLang="en-US" sz="700" dirty="0"/>
              <a:t>', '</a:t>
            </a:r>
            <a:r>
              <a:rPr lang="ko-KR" altLang="en-US" sz="700" dirty="0" err="1"/>
              <a:t>grid</a:t>
            </a:r>
            <a:r>
              <a:rPr lang="ko-KR" altLang="en-US" sz="700" dirty="0"/>
              <a:t>', 'cuhk01', '</a:t>
            </a:r>
            <a:r>
              <a:rPr lang="ko-KR" altLang="en-US" sz="700" dirty="0" err="1"/>
              <a:t>ilids</a:t>
            </a:r>
            <a:r>
              <a:rPr lang="ko-KR" altLang="en-US" sz="700" dirty="0"/>
              <a:t>', '</a:t>
            </a:r>
            <a:r>
              <a:rPr lang="ko-KR" altLang="en-US" sz="700" dirty="0" err="1"/>
              <a:t>sensereid</a:t>
            </a:r>
            <a:r>
              <a:rPr lang="ko-KR" altLang="en-US" sz="700" dirty="0"/>
              <a:t>', '</a:t>
            </a:r>
            <a:r>
              <a:rPr lang="ko-KR" altLang="en-US" sz="700" dirty="0" err="1"/>
              <a:t>prid</a:t>
            </a:r>
            <a:r>
              <a:rPr lang="ko-KR" altLang="en-US" sz="700" dirty="0"/>
              <a:t>', 'cuhk02', 'university1652', '</a:t>
            </a:r>
            <a:r>
              <a:rPr lang="ko-KR" altLang="en-US" sz="700" dirty="0" err="1"/>
              <a:t>cuhksysu</a:t>
            </a:r>
            <a:r>
              <a:rPr lang="ko-KR" altLang="en-US" sz="700" dirty="0"/>
              <a:t>']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2054861" y="2356292"/>
            <a:ext cx="1975910" cy="36727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9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image_datasets</a:t>
            </a:r>
            <a:r>
              <a:rPr lang="en-US" altLang="ko-KR" sz="9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[name](**</a:t>
            </a:r>
            <a:r>
              <a:rPr lang="en-US" altLang="ko-KR" sz="9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kwargs</a:t>
            </a:r>
            <a:r>
              <a:rPr lang="en-US" altLang="ko-KR" sz="9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</a:t>
            </a:r>
          </a:p>
        </p:txBody>
      </p:sp>
      <p:cxnSp>
        <p:nvCxnSpPr>
          <p:cNvPr id="17" name="직선 화살표 연결선 16"/>
          <p:cNvCxnSpPr>
            <a:stCxn id="12" idx="2"/>
            <a:endCxn id="16" idx="0"/>
          </p:cNvCxnSpPr>
          <p:nvPr/>
        </p:nvCxnSpPr>
        <p:spPr>
          <a:xfrm>
            <a:off x="3042816" y="2083488"/>
            <a:ext cx="0" cy="2728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/>
          <p:cNvSpPr/>
          <p:nvPr/>
        </p:nvSpPr>
        <p:spPr>
          <a:xfrm>
            <a:off x="3404309" y="2899747"/>
            <a:ext cx="1068631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Market1501</a:t>
            </a:r>
          </a:p>
        </p:txBody>
      </p:sp>
      <p:cxnSp>
        <p:nvCxnSpPr>
          <p:cNvPr id="21" name="꺾인 연결선 20"/>
          <p:cNvCxnSpPr>
            <a:stCxn id="16" idx="2"/>
            <a:endCxn id="20" idx="1"/>
          </p:cNvCxnSpPr>
          <p:nvPr/>
        </p:nvCxnSpPr>
        <p:spPr>
          <a:xfrm rot="16200000" flipH="1">
            <a:off x="3043654" y="2722729"/>
            <a:ext cx="359817" cy="36149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직사각형 25"/>
          <p:cNvSpPr/>
          <p:nvPr/>
        </p:nvSpPr>
        <p:spPr>
          <a:xfrm>
            <a:off x="395254" y="3612066"/>
            <a:ext cx="2088865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self.test_loader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[name]['query'] =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torch.utils.data.DataLoader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7" name="꺾인 연결선 26"/>
          <p:cNvCxnSpPr>
            <a:stCxn id="20" idx="2"/>
            <a:endCxn id="26" idx="3"/>
          </p:cNvCxnSpPr>
          <p:nvPr/>
        </p:nvCxnSpPr>
        <p:spPr>
          <a:xfrm rot="5400000">
            <a:off x="2947032" y="2804110"/>
            <a:ext cx="528681" cy="145450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2843059" y="3908271"/>
            <a:ext cx="3169457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이런 식으로 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query, gallery,  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test_dataset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을 만든다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6375180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671375" y="314530"/>
            <a:ext cx="2257572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Conv1x1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642055" y="1248724"/>
            <a:ext cx="1975910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14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</a:t>
            </a:r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 , forward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2196535" y="1897566"/>
            <a:ext cx="246990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Conv2 1x1 (kernel:1)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" name="꺾인 연결선 4"/>
          <p:cNvCxnSpPr>
            <a:stCxn id="3" idx="2"/>
            <a:endCxn id="4" idx="1"/>
          </p:cNvCxnSpPr>
          <p:nvPr/>
        </p:nvCxnSpPr>
        <p:spPr>
          <a:xfrm rot="16200000" flipH="1">
            <a:off x="1676860" y="1561530"/>
            <a:ext cx="465204" cy="57414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2196534" y="2486759"/>
            <a:ext cx="246990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BatchNorm2d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4" name="직선 화살표 연결선 23"/>
          <p:cNvCxnSpPr>
            <a:stCxn id="4" idx="2"/>
            <a:endCxn id="23" idx="0"/>
          </p:cNvCxnSpPr>
          <p:nvPr/>
        </p:nvCxnSpPr>
        <p:spPr>
          <a:xfrm>
            <a:off x="3431485" y="2264842"/>
            <a:ext cx="0" cy="2219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2196534" y="3075952"/>
            <a:ext cx="246990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ReLU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908653" y="1280906"/>
            <a:ext cx="5343525" cy="449353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sz="1100" dirty="0" smtClean="0">
                <a:solidFill>
                  <a:srgbClr val="0070C0"/>
                </a:solidFill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클래스의 </a:t>
            </a:r>
            <a:r>
              <a:rPr lang="ko-KR" altLang="en-US" sz="1100" dirty="0">
                <a:solidFill>
                  <a:srgbClr val="0070C0"/>
                </a:solidFill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기능 요약</a:t>
            </a:r>
            <a:r>
              <a:rPr lang="en-US" altLang="ko-KR" sz="1100" dirty="0">
                <a:solidFill>
                  <a:srgbClr val="0070C0"/>
                </a:solidFill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:</a:t>
            </a:r>
          </a:p>
          <a:p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1x1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컨볼루션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: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입력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텐서의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각 위치에 대해 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1x1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필터를 적용하여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공간 정보를 유지하면서 채널 수를 변환합니다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채널 간의 선형 결합을 수행합니다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배치 정규화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: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컨볼루션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결과를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정규화하여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학습 속도를 높이고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학습 과정에서의 불안정성을 줄입니다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</a:t>
            </a:r>
            <a:r>
              <a:rPr lang="en-US" altLang="ko-KR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ReLU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활성화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: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비선형성을 추가하여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신경망이 복잡한 패턴을 학습할 수 있도록 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</a:t>
            </a:r>
            <a:r>
              <a:rPr lang="en-US" altLang="ko-KR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inplace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=True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는 메모리 사용을 줄이기 위해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텐서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자체를 수정하는 방식으로 </a:t>
            </a:r>
            <a:r>
              <a:rPr lang="en-US" altLang="ko-KR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ReLU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를 적용합니다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r>
              <a:rPr lang="ko-KR" altLang="en-US" sz="1100" dirty="0">
                <a:solidFill>
                  <a:srgbClr val="0070C0"/>
                </a:solidFill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사용 목적 및 용도</a:t>
            </a:r>
            <a:r>
              <a:rPr lang="en-US" altLang="ko-KR" sz="1100" dirty="0">
                <a:solidFill>
                  <a:srgbClr val="0070C0"/>
                </a:solidFill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:</a:t>
            </a:r>
          </a:p>
          <a:p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 클래스는 다양한 네트워크에서 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1x1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컨볼루션을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사용하고자 할 때 유용합니다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1x1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컨볼루션은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채널 간의 정보를 결합하거나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채널 수를 줄이거나 늘릴 때 자주 사용됩니다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배치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정규화와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en-US" altLang="ko-KR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ReLU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활성화를 결합함으로써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 모듈은 전형적인 신경망에서 사용되는 표준적인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컨볼루션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블록을 형성합니다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결론적으로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Conv1x1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클래스는 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1x1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컨볼루션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배치 정규화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ReLU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활성화를 결합하여 입력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텐서의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채널 수를 변환하고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정규화하며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비선형성을 추가하는 기능을 수행하는 모듈입니다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5" name="직선 화살표 연결선 24"/>
          <p:cNvCxnSpPr>
            <a:stCxn id="23" idx="2"/>
            <a:endCxn id="22" idx="0"/>
          </p:cNvCxnSpPr>
          <p:nvPr/>
        </p:nvCxnSpPr>
        <p:spPr>
          <a:xfrm>
            <a:off x="3431485" y="2854035"/>
            <a:ext cx="0" cy="2219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994014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36644" y="314530"/>
            <a:ext cx="3145636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Conv1x1Linear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642055" y="1248724"/>
            <a:ext cx="1975910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14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</a:t>
            </a:r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 , forward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2196535" y="1897566"/>
            <a:ext cx="246990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Conv2 1x1 (kernel:1)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" name="꺾인 연결선 4"/>
          <p:cNvCxnSpPr>
            <a:stCxn id="3" idx="2"/>
            <a:endCxn id="4" idx="1"/>
          </p:cNvCxnSpPr>
          <p:nvPr/>
        </p:nvCxnSpPr>
        <p:spPr>
          <a:xfrm rot="16200000" flipH="1">
            <a:off x="1676860" y="1561530"/>
            <a:ext cx="465204" cy="57414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2196534" y="2486759"/>
            <a:ext cx="246990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BatchNorm2d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4" name="직선 화살표 연결선 23"/>
          <p:cNvCxnSpPr>
            <a:stCxn id="4" idx="2"/>
            <a:endCxn id="23" idx="0"/>
          </p:cNvCxnSpPr>
          <p:nvPr/>
        </p:nvCxnSpPr>
        <p:spPr>
          <a:xfrm>
            <a:off x="3431485" y="2264842"/>
            <a:ext cx="0" cy="2219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직사각형 5"/>
          <p:cNvSpPr/>
          <p:nvPr/>
        </p:nvSpPr>
        <p:spPr>
          <a:xfrm>
            <a:off x="4908653" y="1280906"/>
            <a:ext cx="5343525" cy="229293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sz="1100" dirty="0">
                <a:solidFill>
                  <a:srgbClr val="0070C0"/>
                </a:solidFill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Conv1x1Linear</a:t>
            </a:r>
            <a:r>
              <a:rPr lang="ko-KR" altLang="en-US" sz="1100" dirty="0">
                <a:solidFill>
                  <a:srgbClr val="0070C0"/>
                </a:solidFill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와 </a:t>
            </a:r>
            <a:r>
              <a:rPr lang="en-US" altLang="ko-KR" sz="1100" dirty="0">
                <a:solidFill>
                  <a:srgbClr val="0070C0"/>
                </a:solidFill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Conv1x1</a:t>
            </a:r>
            <a:r>
              <a:rPr lang="ko-KR" altLang="en-US" sz="1100" dirty="0">
                <a:solidFill>
                  <a:srgbClr val="0070C0"/>
                </a:solidFill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의 차이점</a:t>
            </a:r>
          </a:p>
          <a:p>
            <a:endParaRPr lang="ko-KR" altLang="en-US" sz="1100" dirty="0">
              <a:solidFill>
                <a:srgbClr val="0070C0"/>
              </a:solidFill>
              <a:latin typeface="경기천년바탕 Bold" panose="02020803020101020101" pitchFamily="18" charset="-127"/>
              <a:ea typeface="경기천년바탕 Bold" panose="02020803020101020101" pitchFamily="18" charset="-127"/>
            </a:endParaRPr>
          </a:p>
          <a:p>
            <a:r>
              <a:rPr lang="ko-KR" altLang="en-US" sz="1100" dirty="0" err="1" smtClean="0"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비선형성</a:t>
            </a:r>
            <a:r>
              <a:rPr lang="ko-KR" altLang="en-US" sz="1100" dirty="0" smtClean="0"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 </a:t>
            </a:r>
            <a:r>
              <a:rPr lang="en-US" altLang="ko-KR" sz="1100" dirty="0"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(</a:t>
            </a:r>
            <a:r>
              <a:rPr lang="en-US" altLang="ko-KR" sz="1100" dirty="0" err="1"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ReLU</a:t>
            </a:r>
            <a:r>
              <a:rPr lang="en-US" altLang="ko-KR" sz="1100" dirty="0"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 </a:t>
            </a:r>
            <a:r>
              <a:rPr lang="ko-KR" altLang="en-US" sz="1100" dirty="0"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활성화 함수</a:t>
            </a:r>
            <a:r>
              <a:rPr lang="en-US" altLang="ko-KR" sz="1100" dirty="0"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):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Conv1x1Linear: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비선형성을 추가하지 않습니다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즉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1x1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컨볼루션과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배치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정규화만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수행하며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입력 데이터에 대해 순수한 선형 변환을 적용합니다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Conv1x1: 1x1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컨볼루션과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배치 정규화 이후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ReLU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활성화 함수를 사용하여 비선형성을 추가합니다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이는 신경망이 더 복잡한 패턴을 학습할 수 있게 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r>
              <a:rPr lang="ko-KR" altLang="en-US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용도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: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Conv1x1Linear: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주로 입력을 선형적으로 변환하고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특징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맵을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결합하거나 축소할 때 사용됩니다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비선형성이 필요하지 않은 경우에 적합합니다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Conv1x1: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비선형성이 필요할 때 사용됩니다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예를 들어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특정 층에서 비선형 변환을 통해 모델의 표현력을 높이고자 할 때 사용됩니다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191063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01083" y="314530"/>
            <a:ext cx="2998160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LightConv3x3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642055" y="1248724"/>
            <a:ext cx="1975910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14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</a:t>
            </a:r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 , forward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2196535" y="1897566"/>
            <a:ext cx="246990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Conv2 1x1 (kernel:1)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" name="꺾인 연결선 4"/>
          <p:cNvCxnSpPr>
            <a:stCxn id="3" idx="2"/>
            <a:endCxn id="4" idx="1"/>
          </p:cNvCxnSpPr>
          <p:nvPr/>
        </p:nvCxnSpPr>
        <p:spPr>
          <a:xfrm rot="16200000" flipH="1">
            <a:off x="1676860" y="1561530"/>
            <a:ext cx="465204" cy="57414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2196534" y="3088739"/>
            <a:ext cx="246990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BatchNorm2d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4" name="직선 화살표 연결선 23"/>
          <p:cNvCxnSpPr>
            <a:stCxn id="4" idx="2"/>
            <a:endCxn id="11" idx="0"/>
          </p:cNvCxnSpPr>
          <p:nvPr/>
        </p:nvCxnSpPr>
        <p:spPr>
          <a:xfrm flipH="1">
            <a:off x="3431484" y="2264842"/>
            <a:ext cx="1" cy="2283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2196534" y="3677932"/>
            <a:ext cx="246990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ReLU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893413" y="1840188"/>
            <a:ext cx="5343525" cy="161582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sz="1100" b="1" dirty="0" smtClean="0"/>
              <a:t>클래스의 </a:t>
            </a:r>
            <a:r>
              <a:rPr lang="ko-KR" altLang="en-US" sz="1100" b="1" dirty="0"/>
              <a:t>기능 요약</a:t>
            </a:r>
            <a:r>
              <a:rPr lang="en-US" altLang="ko-KR" sz="1100" b="1" dirty="0"/>
              <a:t>:</a:t>
            </a:r>
          </a:p>
          <a:p>
            <a:r>
              <a:rPr lang="ko-KR" altLang="en-US" sz="1100" b="1" dirty="0"/>
              <a:t>경량화된 구조</a:t>
            </a:r>
            <a:r>
              <a:rPr lang="en-US" altLang="ko-KR" sz="1100" dirty="0"/>
              <a:t>: 1x1 </a:t>
            </a:r>
            <a:r>
              <a:rPr lang="ko-KR" altLang="en-US" sz="1100" dirty="0" err="1"/>
              <a:t>컨볼루션과</a:t>
            </a:r>
            <a:r>
              <a:rPr lang="ko-KR" altLang="en-US" sz="1100" dirty="0"/>
              <a:t> </a:t>
            </a:r>
            <a:r>
              <a:rPr lang="ko-KR" altLang="en-US" sz="1100" dirty="0" err="1"/>
              <a:t>깊이별</a:t>
            </a:r>
            <a:r>
              <a:rPr lang="ko-KR" altLang="en-US" sz="1100" dirty="0"/>
              <a:t> </a:t>
            </a:r>
            <a:r>
              <a:rPr lang="en-US" altLang="ko-KR" sz="1100" dirty="0"/>
              <a:t>3x3 </a:t>
            </a:r>
            <a:r>
              <a:rPr lang="ko-KR" altLang="en-US" sz="1100" dirty="0" err="1"/>
              <a:t>컨볼루션의</a:t>
            </a:r>
            <a:r>
              <a:rPr lang="ko-KR" altLang="en-US" sz="1100" dirty="0"/>
              <a:t> 결합으로 경량화된 네트워크를 구성할 수 있습니다</a:t>
            </a:r>
            <a:r>
              <a:rPr lang="en-US" altLang="ko-KR" sz="1100" dirty="0"/>
              <a:t>.</a:t>
            </a:r>
          </a:p>
          <a:p>
            <a:r>
              <a:rPr lang="ko-KR" altLang="en-US" sz="1100" b="1" dirty="0"/>
              <a:t>효율적인 학습</a:t>
            </a:r>
            <a:r>
              <a:rPr lang="en-US" altLang="ko-KR" sz="1100" dirty="0"/>
              <a:t>: </a:t>
            </a:r>
            <a:r>
              <a:rPr lang="ko-KR" altLang="en-US" sz="1100" dirty="0"/>
              <a:t>배치 </a:t>
            </a:r>
            <a:r>
              <a:rPr lang="ko-KR" altLang="en-US" sz="1100" dirty="0" err="1"/>
              <a:t>정규화와</a:t>
            </a:r>
            <a:r>
              <a:rPr lang="ko-KR" altLang="en-US" sz="1100" dirty="0"/>
              <a:t> </a:t>
            </a:r>
            <a:r>
              <a:rPr lang="en-US" altLang="ko-KR" sz="1100" dirty="0" err="1"/>
              <a:t>ReLU</a:t>
            </a:r>
            <a:r>
              <a:rPr lang="en-US" altLang="ko-KR" sz="1100" dirty="0"/>
              <a:t> </a:t>
            </a:r>
            <a:r>
              <a:rPr lang="ko-KR" altLang="en-US" sz="1100" dirty="0"/>
              <a:t>활성화 함수를 통해 학습 안정성을 높이고</a:t>
            </a:r>
            <a:r>
              <a:rPr lang="en-US" altLang="ko-KR" sz="1100" dirty="0"/>
              <a:t>, </a:t>
            </a:r>
            <a:r>
              <a:rPr lang="ko-KR" altLang="en-US" sz="1100" dirty="0"/>
              <a:t>비선형성을 추가하여 복잡한 패턴 학습을 가능하게 합니다</a:t>
            </a:r>
            <a:r>
              <a:rPr lang="en-US" altLang="ko-KR" sz="1100" dirty="0"/>
              <a:t>.</a:t>
            </a:r>
          </a:p>
          <a:p>
            <a:r>
              <a:rPr lang="ko-KR" altLang="en-US" sz="1100" b="1" dirty="0"/>
              <a:t>특징 추출</a:t>
            </a:r>
            <a:r>
              <a:rPr lang="en-US" altLang="ko-KR" sz="1100" dirty="0"/>
              <a:t>: 1x1 </a:t>
            </a:r>
            <a:r>
              <a:rPr lang="ko-KR" altLang="en-US" sz="1100" dirty="0" err="1"/>
              <a:t>컨볼루션으로</a:t>
            </a:r>
            <a:r>
              <a:rPr lang="ko-KR" altLang="en-US" sz="1100" dirty="0"/>
              <a:t> 채널 간의 결합을 수행하고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깊이별</a:t>
            </a:r>
            <a:r>
              <a:rPr lang="ko-KR" altLang="en-US" sz="1100" dirty="0"/>
              <a:t> </a:t>
            </a:r>
            <a:r>
              <a:rPr lang="en-US" altLang="ko-KR" sz="1100" dirty="0"/>
              <a:t>3x3 </a:t>
            </a:r>
            <a:r>
              <a:rPr lang="ko-KR" altLang="en-US" sz="1100" dirty="0" err="1"/>
              <a:t>컨볼루션으로</a:t>
            </a:r>
            <a:r>
              <a:rPr lang="ko-KR" altLang="en-US" sz="1100" dirty="0"/>
              <a:t> 각 채널의 공간적 특징을 추출합니다</a:t>
            </a:r>
            <a:r>
              <a:rPr lang="en-US" altLang="ko-KR" sz="1100" dirty="0"/>
              <a:t>.</a:t>
            </a:r>
          </a:p>
          <a:p>
            <a:r>
              <a:rPr lang="ko-KR" altLang="en-US" sz="1100" dirty="0"/>
              <a:t>이 모듈은 일반적인 </a:t>
            </a:r>
            <a:r>
              <a:rPr lang="en-US" altLang="ko-KR" sz="1100" dirty="0"/>
              <a:t>3x3 </a:t>
            </a:r>
            <a:r>
              <a:rPr lang="ko-KR" altLang="en-US" sz="1100" dirty="0" err="1"/>
              <a:t>컨볼루션보다</a:t>
            </a:r>
            <a:r>
              <a:rPr lang="ko-KR" altLang="en-US" sz="1100" dirty="0"/>
              <a:t> </a:t>
            </a:r>
            <a:r>
              <a:rPr lang="ko-KR" altLang="en-US" sz="1100" dirty="0" err="1"/>
              <a:t>계산량이</a:t>
            </a:r>
            <a:r>
              <a:rPr lang="ko-KR" altLang="en-US" sz="1100" dirty="0"/>
              <a:t> 적고</a:t>
            </a:r>
            <a:r>
              <a:rPr lang="en-US" altLang="ko-KR" sz="1100" dirty="0"/>
              <a:t>, </a:t>
            </a:r>
            <a:r>
              <a:rPr lang="ko-KR" altLang="en-US" sz="1100" dirty="0"/>
              <a:t>효율적인 특징 추출이 필요한 상황에서 유용하게 사용될 수 있습니다</a:t>
            </a:r>
            <a:r>
              <a:rPr lang="en-US" altLang="ko-KR" sz="1100" dirty="0"/>
              <a:t>.</a:t>
            </a:r>
          </a:p>
        </p:txBody>
      </p:sp>
      <p:cxnSp>
        <p:nvCxnSpPr>
          <p:cNvPr id="25" name="직선 화살표 연결선 24"/>
          <p:cNvCxnSpPr>
            <a:stCxn id="23" idx="2"/>
            <a:endCxn id="22" idx="0"/>
          </p:cNvCxnSpPr>
          <p:nvPr/>
        </p:nvCxnSpPr>
        <p:spPr>
          <a:xfrm>
            <a:off x="3431485" y="3456015"/>
            <a:ext cx="0" cy="2219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/>
          <p:cNvSpPr/>
          <p:nvPr/>
        </p:nvSpPr>
        <p:spPr>
          <a:xfrm>
            <a:off x="2196534" y="2493152"/>
            <a:ext cx="246990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Conv2 3x3 (kernel:3 S:1, P:1)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3" name="직선 화살표 연결선 12"/>
          <p:cNvCxnSpPr>
            <a:stCxn id="11" idx="2"/>
            <a:endCxn id="23" idx="0"/>
          </p:cNvCxnSpPr>
          <p:nvPr/>
        </p:nvCxnSpPr>
        <p:spPr>
          <a:xfrm>
            <a:off x="3431484" y="2860428"/>
            <a:ext cx="1" cy="2283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/>
          <p:cNvCxnSpPr>
            <a:endCxn id="4" idx="1"/>
          </p:cNvCxnSpPr>
          <p:nvPr/>
        </p:nvCxnSpPr>
        <p:spPr>
          <a:xfrm flipV="1">
            <a:off x="1089660" y="2081204"/>
            <a:ext cx="1106875" cy="12976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/>
          <p:cNvSpPr/>
          <p:nvPr/>
        </p:nvSpPr>
        <p:spPr>
          <a:xfrm>
            <a:off x="301083" y="3378888"/>
            <a:ext cx="1405797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100" b="1" dirty="0" err="1" smtClean="0">
                <a:solidFill>
                  <a:srgbClr val="0070C0"/>
                </a:solidFill>
              </a:rPr>
              <a:t>이부분에서</a:t>
            </a:r>
            <a:r>
              <a:rPr lang="ko-KR" altLang="en-US" sz="1100" b="1" dirty="0" smtClean="0">
                <a:solidFill>
                  <a:srgbClr val="0070C0"/>
                </a:solidFill>
              </a:rPr>
              <a:t> </a:t>
            </a:r>
            <a:r>
              <a:rPr lang="en-US" altLang="ko-KR" sz="1100" b="1" dirty="0" smtClean="0">
                <a:solidFill>
                  <a:srgbClr val="0070C0"/>
                </a:solidFill>
              </a:rPr>
              <a:t>channel</a:t>
            </a:r>
            <a:r>
              <a:rPr lang="ko-KR" altLang="en-US" sz="1100" b="1" dirty="0" smtClean="0">
                <a:solidFill>
                  <a:srgbClr val="0070C0"/>
                </a:solidFill>
              </a:rPr>
              <a:t>을 줄이므로 </a:t>
            </a:r>
            <a:r>
              <a:rPr lang="ko-KR" altLang="en-US" sz="1100" b="1" dirty="0" err="1" smtClean="0">
                <a:solidFill>
                  <a:srgbClr val="0070C0"/>
                </a:solidFill>
              </a:rPr>
              <a:t>연산량이</a:t>
            </a:r>
            <a:r>
              <a:rPr lang="ko-KR" altLang="en-US" sz="1100" b="1" dirty="0" smtClean="0">
                <a:solidFill>
                  <a:srgbClr val="0070C0"/>
                </a:solidFill>
              </a:rPr>
              <a:t> 줄어든다</a:t>
            </a:r>
            <a:r>
              <a:rPr lang="en-US" altLang="ko-KR" sz="1100" b="1" dirty="0" smtClean="0">
                <a:solidFill>
                  <a:srgbClr val="0070C0"/>
                </a:solidFill>
              </a:rPr>
              <a:t>.</a:t>
            </a:r>
            <a:endParaRPr lang="en-US" altLang="ko-KR" sz="1100" dirty="0">
              <a:solidFill>
                <a:srgbClr val="0070C0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301083" y="4541611"/>
            <a:ext cx="390584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200" b="1" dirty="0" smtClean="0">
                <a:latin typeface="+mn-ea"/>
              </a:rPr>
              <a:t>예</a:t>
            </a:r>
            <a:r>
              <a:rPr lang="en-US" altLang="ko-KR" sz="1200" b="1" dirty="0" smtClean="0">
                <a:latin typeface="+mn-ea"/>
              </a:rPr>
              <a:t>) input tensor</a:t>
            </a:r>
            <a:r>
              <a:rPr lang="ko-KR" altLang="en-US" sz="1200" b="1" dirty="0">
                <a:latin typeface="+mn-ea"/>
              </a:rPr>
              <a:t> </a:t>
            </a:r>
            <a:r>
              <a:rPr lang="ko-KR" altLang="en-US" sz="1200" b="1" dirty="0" smtClean="0">
                <a:latin typeface="+mn-ea"/>
              </a:rPr>
              <a:t>예를 통한 각 </a:t>
            </a:r>
            <a:r>
              <a:rPr lang="ko-KR" altLang="en-US" sz="1200" b="1" dirty="0" err="1" smtClean="0">
                <a:latin typeface="+mn-ea"/>
              </a:rPr>
              <a:t>레이어별</a:t>
            </a:r>
            <a:r>
              <a:rPr lang="ko-KR" altLang="en-US" sz="1200" b="1" dirty="0" smtClean="0">
                <a:latin typeface="+mn-ea"/>
              </a:rPr>
              <a:t> 크기 변화</a:t>
            </a:r>
            <a:endParaRPr lang="en-US" altLang="ko-KR" sz="1200" b="1" dirty="0" smtClean="0">
              <a:latin typeface="+mn-ea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+mn-ea"/>
              </a:rPr>
              <a:t>초기 </a:t>
            </a:r>
            <a:r>
              <a:rPr lang="ko-KR" altLang="en-US" sz="1200" dirty="0">
                <a:latin typeface="+mn-ea"/>
              </a:rPr>
              <a:t>입력 크기</a:t>
            </a:r>
            <a:r>
              <a:rPr lang="en-US" altLang="ko-KR" sz="1200" dirty="0">
                <a:latin typeface="+mn-ea"/>
              </a:rPr>
              <a:t>: (2, 32, 64, 64)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+mn-ea"/>
              </a:rPr>
              <a:t>1x1 </a:t>
            </a:r>
            <a:r>
              <a:rPr lang="ko-KR" altLang="en-US" sz="1200" dirty="0" err="1">
                <a:latin typeface="+mn-ea"/>
              </a:rPr>
              <a:t>컨볼루션</a:t>
            </a:r>
            <a:r>
              <a:rPr lang="ko-KR" altLang="en-US" sz="1200" dirty="0">
                <a:latin typeface="+mn-ea"/>
              </a:rPr>
              <a:t> 후</a:t>
            </a:r>
            <a:r>
              <a:rPr lang="en-US" altLang="ko-KR" sz="1200" dirty="0">
                <a:latin typeface="+mn-ea"/>
              </a:rPr>
              <a:t>: (2, 64, 64, 64)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 err="1">
                <a:latin typeface="+mn-ea"/>
              </a:rPr>
              <a:t>깊이별</a:t>
            </a:r>
            <a:r>
              <a:rPr lang="ko-KR" altLang="en-US" sz="1200" dirty="0">
                <a:latin typeface="+mn-ea"/>
              </a:rPr>
              <a:t> </a:t>
            </a:r>
            <a:r>
              <a:rPr lang="en-US" altLang="ko-KR" sz="1200" dirty="0">
                <a:latin typeface="+mn-ea"/>
              </a:rPr>
              <a:t>3x3 </a:t>
            </a:r>
            <a:r>
              <a:rPr lang="ko-KR" altLang="en-US" sz="1200" dirty="0" err="1">
                <a:latin typeface="+mn-ea"/>
              </a:rPr>
              <a:t>컨볼루션</a:t>
            </a:r>
            <a:r>
              <a:rPr lang="ko-KR" altLang="en-US" sz="1200" dirty="0">
                <a:latin typeface="+mn-ea"/>
              </a:rPr>
              <a:t> 후</a:t>
            </a:r>
            <a:r>
              <a:rPr lang="en-US" altLang="ko-KR" sz="1200" dirty="0">
                <a:latin typeface="+mn-ea"/>
              </a:rPr>
              <a:t>: (2, 64, 64, 64)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+mn-ea"/>
              </a:rPr>
              <a:t>배치 정규화 후</a:t>
            </a:r>
            <a:r>
              <a:rPr lang="en-US" altLang="ko-KR" sz="1200" dirty="0">
                <a:latin typeface="+mn-ea"/>
              </a:rPr>
              <a:t>: (2, 64, 64, 64)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 err="1">
                <a:latin typeface="+mn-ea"/>
              </a:rPr>
              <a:t>ReLU</a:t>
            </a:r>
            <a:r>
              <a:rPr lang="en-US" altLang="ko-KR" sz="1200" dirty="0">
                <a:latin typeface="+mn-ea"/>
              </a:rPr>
              <a:t> </a:t>
            </a:r>
            <a:r>
              <a:rPr lang="ko-KR" altLang="en-US" sz="1200" dirty="0">
                <a:latin typeface="+mn-ea"/>
              </a:rPr>
              <a:t>활성화 후</a:t>
            </a:r>
            <a:r>
              <a:rPr lang="en-US" altLang="ko-KR" sz="1200" dirty="0">
                <a:latin typeface="+mn-ea"/>
              </a:rPr>
              <a:t>: (2, 64, 64, 64)</a:t>
            </a:r>
            <a:endParaRPr lang="ko-KR" altLang="en-US" sz="12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7101304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73090" y="314530"/>
            <a:ext cx="2854145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>
                <a:solidFill>
                  <a:srgbClr val="0E0585"/>
                </a:solidFill>
              </a:rPr>
              <a:t>class </a:t>
            </a:r>
            <a:r>
              <a:rPr lang="en-US" altLang="ko-KR" sz="2400" b="1" dirty="0" err="1">
                <a:solidFill>
                  <a:srgbClr val="0E0585"/>
                </a:solidFill>
              </a:rPr>
              <a:t>ChannelGate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642055" y="1248724"/>
            <a:ext cx="1975910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14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</a:t>
            </a:r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 , forward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2196535" y="1897566"/>
            <a:ext cx="246990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nn.AdaptiveAvgPool2d(1)</a:t>
            </a:r>
          </a:p>
        </p:txBody>
      </p:sp>
      <p:cxnSp>
        <p:nvCxnSpPr>
          <p:cNvPr id="5" name="꺾인 연결선 4"/>
          <p:cNvCxnSpPr>
            <a:stCxn id="3" idx="2"/>
            <a:endCxn id="4" idx="1"/>
          </p:cNvCxnSpPr>
          <p:nvPr/>
        </p:nvCxnSpPr>
        <p:spPr>
          <a:xfrm rot="16200000" flipH="1">
            <a:off x="1676860" y="1561530"/>
            <a:ext cx="465204" cy="57414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2196534" y="3088738"/>
            <a:ext cx="2469901" cy="70209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self.norm1 =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nn.LayerNorm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((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in_channels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// reduction, 1, 1))</a:t>
            </a:r>
          </a:p>
        </p:txBody>
      </p:sp>
      <p:cxnSp>
        <p:nvCxnSpPr>
          <p:cNvPr id="24" name="직선 화살표 연결선 23"/>
          <p:cNvCxnSpPr>
            <a:stCxn id="4" idx="2"/>
            <a:endCxn id="11" idx="0"/>
          </p:cNvCxnSpPr>
          <p:nvPr/>
        </p:nvCxnSpPr>
        <p:spPr>
          <a:xfrm flipH="1">
            <a:off x="3431484" y="2264842"/>
            <a:ext cx="1" cy="2283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2196534" y="4096274"/>
            <a:ext cx="246990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Conv2 1x1 </a:t>
            </a:r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(out: input dim kernel:1 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P:0)</a:t>
            </a:r>
          </a:p>
        </p:txBody>
      </p:sp>
      <p:cxnSp>
        <p:nvCxnSpPr>
          <p:cNvPr id="25" name="직선 화살표 연결선 24"/>
          <p:cNvCxnSpPr>
            <a:stCxn id="23" idx="2"/>
            <a:endCxn id="22" idx="0"/>
          </p:cNvCxnSpPr>
          <p:nvPr/>
        </p:nvCxnSpPr>
        <p:spPr>
          <a:xfrm>
            <a:off x="3431485" y="3790835"/>
            <a:ext cx="0" cy="305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/>
          <p:cNvSpPr/>
          <p:nvPr/>
        </p:nvSpPr>
        <p:spPr>
          <a:xfrm>
            <a:off x="2196534" y="2493152"/>
            <a:ext cx="246990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Conv2 1x1 (kernel:1 P:0)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3" name="직선 화살표 연결선 12"/>
          <p:cNvCxnSpPr>
            <a:stCxn id="11" idx="2"/>
            <a:endCxn id="23" idx="0"/>
          </p:cNvCxnSpPr>
          <p:nvPr/>
        </p:nvCxnSpPr>
        <p:spPr>
          <a:xfrm>
            <a:off x="3431484" y="2860428"/>
            <a:ext cx="1" cy="2283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/>
          <p:cNvCxnSpPr>
            <a:endCxn id="4" idx="1"/>
          </p:cNvCxnSpPr>
          <p:nvPr/>
        </p:nvCxnSpPr>
        <p:spPr>
          <a:xfrm flipV="1">
            <a:off x="1089660" y="2081204"/>
            <a:ext cx="1106875" cy="12976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/>
          <p:cNvSpPr/>
          <p:nvPr/>
        </p:nvSpPr>
        <p:spPr>
          <a:xfrm>
            <a:off x="301083" y="3378888"/>
            <a:ext cx="1723186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b="1" dirty="0" smtClean="0">
                <a:solidFill>
                  <a:srgbClr val="0070C0"/>
                </a:solidFill>
              </a:rPr>
              <a:t>1x1 </a:t>
            </a:r>
            <a:r>
              <a:rPr lang="ko-KR" altLang="en-US" sz="1100" b="1" dirty="0" smtClean="0">
                <a:solidFill>
                  <a:srgbClr val="0070C0"/>
                </a:solidFill>
              </a:rPr>
              <a:t>크기로 </a:t>
            </a:r>
            <a:r>
              <a:rPr lang="ko-KR" altLang="en-US" sz="1100" b="1" dirty="0" err="1" smtClean="0">
                <a:solidFill>
                  <a:srgbClr val="0070C0"/>
                </a:solidFill>
              </a:rPr>
              <a:t>줄어듬</a:t>
            </a:r>
            <a:endParaRPr lang="en-US" altLang="ko-KR" sz="1100" dirty="0">
              <a:solidFill>
                <a:srgbClr val="0070C0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012690" y="2948001"/>
            <a:ext cx="5343525" cy="86177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sz="1000" dirty="0">
                <a:solidFill>
                  <a:srgbClr val="C00000"/>
                </a:solidFill>
              </a:rPr>
              <a:t>self.norm1 = </a:t>
            </a:r>
            <a:r>
              <a:rPr lang="en-US" altLang="ko-KR" sz="1000" dirty="0" err="1">
                <a:solidFill>
                  <a:srgbClr val="C00000"/>
                </a:solidFill>
              </a:rPr>
              <a:t>nn.LayerNorm</a:t>
            </a:r>
            <a:r>
              <a:rPr lang="en-US" altLang="ko-KR" sz="1000" dirty="0">
                <a:solidFill>
                  <a:srgbClr val="C00000"/>
                </a:solidFill>
              </a:rPr>
              <a:t>((</a:t>
            </a:r>
            <a:r>
              <a:rPr lang="en-US" altLang="ko-KR" sz="1000" dirty="0" err="1">
                <a:solidFill>
                  <a:srgbClr val="C00000"/>
                </a:solidFill>
              </a:rPr>
              <a:t>in_channels</a:t>
            </a:r>
            <a:r>
              <a:rPr lang="en-US" altLang="ko-KR" sz="1000" dirty="0">
                <a:solidFill>
                  <a:srgbClr val="C00000"/>
                </a:solidFill>
              </a:rPr>
              <a:t> // reduction, 1, 1))</a:t>
            </a:r>
            <a:r>
              <a:rPr lang="ko-KR" altLang="en-US" sz="1000" dirty="0">
                <a:solidFill>
                  <a:srgbClr val="C00000"/>
                </a:solidFill>
              </a:rPr>
              <a:t>는 채널 수를 줄인 상태에서 각 채널의 </a:t>
            </a:r>
            <a:r>
              <a:rPr lang="en-US" altLang="ko-KR" sz="1000" dirty="0">
                <a:solidFill>
                  <a:srgbClr val="C00000"/>
                </a:solidFill>
              </a:rPr>
              <a:t>1x1 </a:t>
            </a:r>
            <a:r>
              <a:rPr lang="ko-KR" altLang="en-US" sz="1000" dirty="0">
                <a:solidFill>
                  <a:srgbClr val="C00000"/>
                </a:solidFill>
              </a:rPr>
              <a:t>크기의 </a:t>
            </a:r>
            <a:r>
              <a:rPr lang="ko-KR" altLang="en-US" sz="1000" dirty="0" err="1">
                <a:solidFill>
                  <a:srgbClr val="C00000"/>
                </a:solidFill>
              </a:rPr>
              <a:t>텐서에</a:t>
            </a:r>
            <a:r>
              <a:rPr lang="ko-KR" altLang="en-US" sz="1000" dirty="0">
                <a:solidFill>
                  <a:srgbClr val="C00000"/>
                </a:solidFill>
              </a:rPr>
              <a:t> 대해 레이어 정규화를 수행하는 레이어입니다</a:t>
            </a:r>
            <a:r>
              <a:rPr lang="en-US" altLang="ko-KR" sz="1000" dirty="0">
                <a:solidFill>
                  <a:srgbClr val="C00000"/>
                </a:solidFill>
              </a:rPr>
              <a:t>. </a:t>
            </a:r>
            <a:r>
              <a:rPr lang="ko-KR" altLang="en-US" sz="1000" dirty="0">
                <a:solidFill>
                  <a:srgbClr val="C00000"/>
                </a:solidFill>
              </a:rPr>
              <a:t>이를 통해 네트워크는 입력의 분포에 덜 민감하게 되고</a:t>
            </a:r>
            <a:r>
              <a:rPr lang="en-US" altLang="ko-KR" sz="1000" dirty="0">
                <a:solidFill>
                  <a:srgbClr val="C00000"/>
                </a:solidFill>
              </a:rPr>
              <a:t>, </a:t>
            </a:r>
            <a:r>
              <a:rPr lang="ko-KR" altLang="en-US" sz="1000" dirty="0">
                <a:solidFill>
                  <a:srgbClr val="C00000"/>
                </a:solidFill>
              </a:rPr>
              <a:t>학습 과정이 </a:t>
            </a:r>
            <a:r>
              <a:rPr lang="ko-KR" altLang="en-US" sz="1000" dirty="0" err="1">
                <a:solidFill>
                  <a:srgbClr val="C00000"/>
                </a:solidFill>
              </a:rPr>
              <a:t>안정화됩니다</a:t>
            </a:r>
            <a:r>
              <a:rPr lang="en-US" altLang="ko-KR" sz="1000" dirty="0">
                <a:solidFill>
                  <a:srgbClr val="C00000"/>
                </a:solidFill>
              </a:rPr>
              <a:t>. </a:t>
            </a:r>
            <a:r>
              <a:rPr lang="ko-KR" altLang="en-US" sz="1000" dirty="0">
                <a:solidFill>
                  <a:srgbClr val="C00000"/>
                </a:solidFill>
              </a:rPr>
              <a:t>이 레이어는 배치 크기와 상관없이 각 샘플의 </a:t>
            </a:r>
            <a:r>
              <a:rPr lang="ko-KR" altLang="en-US" sz="1000" dirty="0" err="1">
                <a:solidFill>
                  <a:srgbClr val="C00000"/>
                </a:solidFill>
              </a:rPr>
              <a:t>텐서에</a:t>
            </a:r>
            <a:r>
              <a:rPr lang="ko-KR" altLang="en-US" sz="1000" dirty="0">
                <a:solidFill>
                  <a:srgbClr val="C00000"/>
                </a:solidFill>
              </a:rPr>
              <a:t> 대해 독립적으로 동작하여</a:t>
            </a:r>
            <a:r>
              <a:rPr lang="en-US" altLang="ko-KR" sz="1000" dirty="0">
                <a:solidFill>
                  <a:srgbClr val="C00000"/>
                </a:solidFill>
              </a:rPr>
              <a:t>, </a:t>
            </a:r>
            <a:r>
              <a:rPr lang="ko-KR" altLang="en-US" sz="1000" dirty="0">
                <a:solidFill>
                  <a:srgbClr val="C00000"/>
                </a:solidFill>
              </a:rPr>
              <a:t>특정 조건에서 배치 </a:t>
            </a:r>
            <a:r>
              <a:rPr lang="ko-KR" altLang="en-US" sz="1000" dirty="0" err="1">
                <a:solidFill>
                  <a:srgbClr val="C00000"/>
                </a:solidFill>
              </a:rPr>
              <a:t>정규화보다</a:t>
            </a:r>
            <a:r>
              <a:rPr lang="ko-KR" altLang="en-US" sz="1000" dirty="0">
                <a:solidFill>
                  <a:srgbClr val="C00000"/>
                </a:solidFill>
              </a:rPr>
              <a:t> 유리할 수 있습니다</a:t>
            </a:r>
            <a:r>
              <a:rPr lang="en-US" altLang="ko-KR" sz="1000" dirty="0">
                <a:solidFill>
                  <a:srgbClr val="C00000"/>
                </a:solidFill>
              </a:rPr>
              <a:t>.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4041790" y="2264842"/>
            <a:ext cx="74356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rgbClr val="C00000"/>
                </a:solidFill>
              </a:rPr>
              <a:t>1x1xc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3969852" y="2851473"/>
            <a:ext cx="86884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rgbClr val="C00000"/>
                </a:solidFill>
              </a:rPr>
              <a:t>1x1xc/16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3969852" y="3820443"/>
            <a:ext cx="81550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rgbClr val="C00000"/>
                </a:solidFill>
              </a:rPr>
              <a:t>1x1xc/16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3577682" y="1546145"/>
            <a:ext cx="126101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rgbClr val="C00000"/>
                </a:solidFill>
              </a:rPr>
              <a:t>input = </a:t>
            </a:r>
            <a:r>
              <a:rPr lang="en-US" altLang="ko-KR" sz="1000" dirty="0" err="1" smtClean="0">
                <a:solidFill>
                  <a:srgbClr val="C00000"/>
                </a:solidFill>
              </a:rPr>
              <a:t>dxdxc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2196534" y="4819023"/>
            <a:ext cx="246990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Activation </a:t>
            </a:r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Func</a:t>
            </a:r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(default sigmoid)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8" name="직선 화살표 연결선 27"/>
          <p:cNvCxnSpPr>
            <a:stCxn id="22" idx="2"/>
            <a:endCxn id="27" idx="0"/>
          </p:cNvCxnSpPr>
          <p:nvPr/>
        </p:nvCxnSpPr>
        <p:spPr>
          <a:xfrm>
            <a:off x="3431485" y="4463550"/>
            <a:ext cx="0" cy="3554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/>
          <p:cNvSpPr/>
          <p:nvPr/>
        </p:nvSpPr>
        <p:spPr>
          <a:xfrm>
            <a:off x="3969851" y="4522768"/>
            <a:ext cx="81550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rgbClr val="C00000"/>
                </a:solidFill>
              </a:rPr>
              <a:t>1x1xc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921250" y="1761635"/>
            <a:ext cx="5343525" cy="57708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sz="1050" dirty="0">
                <a:solidFill>
                  <a:srgbClr val="0070C0"/>
                </a:solidFill>
              </a:rPr>
              <a:t>nn.AdaptiveAvgPool2d(1)</a:t>
            </a:r>
            <a:r>
              <a:rPr lang="ko-KR" altLang="en-US" sz="1050" dirty="0">
                <a:solidFill>
                  <a:srgbClr val="0070C0"/>
                </a:solidFill>
              </a:rPr>
              <a:t>는 입력 </a:t>
            </a:r>
            <a:r>
              <a:rPr lang="ko-KR" altLang="en-US" sz="1050" dirty="0" err="1">
                <a:solidFill>
                  <a:srgbClr val="0070C0"/>
                </a:solidFill>
              </a:rPr>
              <a:t>텐서의</a:t>
            </a:r>
            <a:r>
              <a:rPr lang="ko-KR" altLang="en-US" sz="1050" dirty="0">
                <a:solidFill>
                  <a:srgbClr val="0070C0"/>
                </a:solidFill>
              </a:rPr>
              <a:t> 공간적 차원을 </a:t>
            </a:r>
            <a:r>
              <a:rPr lang="en-US" altLang="ko-KR" sz="1050" dirty="0">
                <a:solidFill>
                  <a:srgbClr val="0070C0"/>
                </a:solidFill>
              </a:rPr>
              <a:t>(1, 1)</a:t>
            </a:r>
            <a:r>
              <a:rPr lang="ko-KR" altLang="en-US" sz="1050" dirty="0">
                <a:solidFill>
                  <a:srgbClr val="0070C0"/>
                </a:solidFill>
              </a:rPr>
              <a:t>로 축소하는 전역 평균 </a:t>
            </a:r>
            <a:r>
              <a:rPr lang="ko-KR" altLang="en-US" sz="1050" dirty="0" err="1">
                <a:solidFill>
                  <a:srgbClr val="0070C0"/>
                </a:solidFill>
              </a:rPr>
              <a:t>풀링</a:t>
            </a:r>
            <a:r>
              <a:rPr lang="ko-KR" altLang="en-US" sz="1050" dirty="0">
                <a:solidFill>
                  <a:srgbClr val="0070C0"/>
                </a:solidFill>
              </a:rPr>
              <a:t> 레이어입니다</a:t>
            </a:r>
            <a:r>
              <a:rPr lang="en-US" altLang="ko-KR" sz="1050" dirty="0">
                <a:solidFill>
                  <a:srgbClr val="0070C0"/>
                </a:solidFill>
              </a:rPr>
              <a:t>. </a:t>
            </a:r>
            <a:r>
              <a:rPr lang="ko-KR" altLang="en-US" sz="1050" dirty="0">
                <a:solidFill>
                  <a:srgbClr val="0070C0"/>
                </a:solidFill>
              </a:rPr>
              <a:t>이는 각 채널의 전역적 특성을 요약하고</a:t>
            </a:r>
            <a:r>
              <a:rPr lang="en-US" altLang="ko-KR" sz="1050" dirty="0">
                <a:solidFill>
                  <a:srgbClr val="0070C0"/>
                </a:solidFill>
              </a:rPr>
              <a:t>, </a:t>
            </a:r>
            <a:r>
              <a:rPr lang="ko-KR" altLang="en-US" sz="1050" dirty="0">
                <a:solidFill>
                  <a:srgbClr val="0070C0"/>
                </a:solidFill>
              </a:rPr>
              <a:t>네트워크의 계산 효율성을 높이며</a:t>
            </a:r>
            <a:r>
              <a:rPr lang="en-US" altLang="ko-KR" sz="1050" dirty="0">
                <a:solidFill>
                  <a:srgbClr val="0070C0"/>
                </a:solidFill>
              </a:rPr>
              <a:t>, </a:t>
            </a:r>
            <a:r>
              <a:rPr lang="ko-KR" altLang="en-US" sz="1050" dirty="0">
                <a:solidFill>
                  <a:srgbClr val="0070C0"/>
                </a:solidFill>
              </a:rPr>
              <a:t>출력 크기를 일정하게 유지하는 데 사용됩니다</a:t>
            </a:r>
            <a:r>
              <a:rPr lang="en-US" altLang="ko-KR" sz="1050" dirty="0">
                <a:solidFill>
                  <a:srgbClr val="0070C0"/>
                </a:solidFill>
              </a:rPr>
              <a:t>.</a:t>
            </a:r>
            <a:endParaRPr lang="ko-KR" altLang="en-US" sz="1050" dirty="0">
              <a:solidFill>
                <a:srgbClr val="0070C0"/>
              </a:solidFill>
            </a:endParaRPr>
          </a:p>
        </p:txBody>
      </p:sp>
      <p:sp>
        <p:nvSpPr>
          <p:cNvPr id="30" name="순서도: 판단 29"/>
          <p:cNvSpPr/>
          <p:nvPr/>
        </p:nvSpPr>
        <p:spPr>
          <a:xfrm>
            <a:off x="2569189" y="5541772"/>
            <a:ext cx="1724590" cy="537956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return_gates</a:t>
            </a:r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== True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1" name="직선 화살표 연결선 30"/>
          <p:cNvCxnSpPr>
            <a:stCxn id="27" idx="2"/>
            <a:endCxn id="30" idx="0"/>
          </p:cNvCxnSpPr>
          <p:nvPr/>
        </p:nvCxnSpPr>
        <p:spPr>
          <a:xfrm flipH="1">
            <a:off x="3431484" y="5186299"/>
            <a:ext cx="1" cy="3554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모서리가 둥근 직사각형 32"/>
          <p:cNvSpPr/>
          <p:nvPr/>
        </p:nvSpPr>
        <p:spPr>
          <a:xfrm>
            <a:off x="4838701" y="5627112"/>
            <a:ext cx="1493520" cy="367276"/>
          </a:xfrm>
          <a:prstGeom prst="roundRect">
            <a:avLst>
              <a:gd name="adj" fmla="val 50000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return x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3800437" y="5259324"/>
            <a:ext cx="81550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rgbClr val="C00000"/>
                </a:solidFill>
              </a:rPr>
              <a:t>결과 </a:t>
            </a:r>
            <a:r>
              <a:rPr lang="en-US" altLang="ko-KR" sz="1000" dirty="0" smtClean="0">
                <a:solidFill>
                  <a:srgbClr val="C00000"/>
                </a:solidFill>
              </a:rPr>
              <a:t>: x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cxnSp>
        <p:nvCxnSpPr>
          <p:cNvPr id="35" name="직선 화살표 연결선 34"/>
          <p:cNvCxnSpPr>
            <a:stCxn id="30" idx="3"/>
            <a:endCxn id="33" idx="1"/>
          </p:cNvCxnSpPr>
          <p:nvPr/>
        </p:nvCxnSpPr>
        <p:spPr>
          <a:xfrm>
            <a:off x="4293779" y="5810750"/>
            <a:ext cx="54492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직사각형 37"/>
          <p:cNvSpPr/>
          <p:nvPr/>
        </p:nvSpPr>
        <p:spPr>
          <a:xfrm>
            <a:off x="4256875" y="5578570"/>
            <a:ext cx="49657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YES</a:t>
            </a:r>
            <a:endParaRPr lang="ko-KR" altLang="en-US" sz="1000" dirty="0"/>
          </a:p>
        </p:txBody>
      </p:sp>
      <p:sp>
        <p:nvSpPr>
          <p:cNvPr id="39" name="모서리가 둥근 직사각형 38"/>
          <p:cNvSpPr/>
          <p:nvPr/>
        </p:nvSpPr>
        <p:spPr>
          <a:xfrm>
            <a:off x="2684724" y="6526272"/>
            <a:ext cx="1493520" cy="367276"/>
          </a:xfrm>
          <a:prstGeom prst="roundRect">
            <a:avLst>
              <a:gd name="adj" fmla="val 50000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return input * x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0" name="직선 화살표 연결선 39"/>
          <p:cNvCxnSpPr>
            <a:stCxn id="30" idx="2"/>
            <a:endCxn id="39" idx="0"/>
          </p:cNvCxnSpPr>
          <p:nvPr/>
        </p:nvCxnSpPr>
        <p:spPr>
          <a:xfrm>
            <a:off x="3431484" y="6079728"/>
            <a:ext cx="0" cy="4465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/>
          <p:cNvSpPr/>
          <p:nvPr/>
        </p:nvSpPr>
        <p:spPr>
          <a:xfrm>
            <a:off x="3721566" y="6159123"/>
            <a:ext cx="49657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NO</a:t>
            </a:r>
            <a:endParaRPr lang="ko-KR" altLang="en-US" sz="1000" dirty="0"/>
          </a:p>
        </p:txBody>
      </p:sp>
      <p:sp>
        <p:nvSpPr>
          <p:cNvPr id="45" name="직사각형 44"/>
          <p:cNvSpPr/>
          <p:nvPr/>
        </p:nvSpPr>
        <p:spPr>
          <a:xfrm>
            <a:off x="4293779" y="6620331"/>
            <a:ext cx="215027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rgbClr val="C00000"/>
                </a:solidFill>
              </a:rPr>
              <a:t>입력에 가중치를 곱하여 </a:t>
            </a:r>
            <a:r>
              <a:rPr lang="en-US" altLang="ko-KR" sz="1000" dirty="0" smtClean="0">
                <a:solidFill>
                  <a:srgbClr val="C00000"/>
                </a:solidFill>
              </a:rPr>
              <a:t>return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6473044" y="4463550"/>
            <a:ext cx="3796032" cy="21852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800" dirty="0"/>
              <a:t>클래스의 작동 방식</a:t>
            </a:r>
            <a:r>
              <a:rPr lang="en-US" altLang="ko-KR" sz="800" dirty="0"/>
              <a:t>:</a:t>
            </a:r>
          </a:p>
          <a:p>
            <a:endParaRPr lang="en-US" altLang="ko-KR" sz="800" dirty="0"/>
          </a:p>
          <a:p>
            <a:r>
              <a:rPr lang="en-US" altLang="ko-KR" sz="800" dirty="0"/>
              <a:t>    </a:t>
            </a:r>
            <a:r>
              <a:rPr lang="ko-KR" altLang="en-US" sz="800" dirty="0"/>
              <a:t>이 클래스는 입력 </a:t>
            </a:r>
            <a:r>
              <a:rPr lang="ko-KR" altLang="en-US" sz="800" dirty="0" err="1"/>
              <a:t>텐서의</a:t>
            </a:r>
            <a:r>
              <a:rPr lang="ko-KR" altLang="en-US" sz="800" dirty="0"/>
              <a:t> </a:t>
            </a:r>
            <a:r>
              <a:rPr lang="ko-KR" altLang="en-US" sz="800" dirty="0" err="1"/>
              <a:t>채널별</a:t>
            </a:r>
            <a:r>
              <a:rPr lang="ko-KR" altLang="en-US" sz="800" dirty="0"/>
              <a:t> 전역 특성을 추출하고</a:t>
            </a:r>
            <a:r>
              <a:rPr lang="en-US" altLang="ko-KR" sz="800" dirty="0"/>
              <a:t>, </a:t>
            </a:r>
            <a:r>
              <a:rPr lang="ko-KR" altLang="en-US" sz="800" dirty="0"/>
              <a:t>이를 기반으로 각 채널에 대한 게이트 값을 생성합니다</a:t>
            </a:r>
            <a:r>
              <a:rPr lang="en-US" altLang="ko-KR" sz="800" dirty="0"/>
              <a:t>.</a:t>
            </a:r>
          </a:p>
          <a:p>
            <a:r>
              <a:rPr lang="en-US" altLang="ko-KR" sz="800" dirty="0"/>
              <a:t>    </a:t>
            </a:r>
            <a:r>
              <a:rPr lang="ko-KR" altLang="en-US" sz="800" dirty="0"/>
              <a:t>게이트 값은 입력 </a:t>
            </a:r>
            <a:r>
              <a:rPr lang="ko-KR" altLang="en-US" sz="800" dirty="0" err="1"/>
              <a:t>텐서의</a:t>
            </a:r>
            <a:r>
              <a:rPr lang="ko-KR" altLang="en-US" sz="800" dirty="0"/>
              <a:t> 각 채널에 곱해져</a:t>
            </a:r>
            <a:r>
              <a:rPr lang="en-US" altLang="ko-KR" sz="800" dirty="0"/>
              <a:t>, </a:t>
            </a:r>
            <a:r>
              <a:rPr lang="ko-KR" altLang="en-US" sz="800" dirty="0"/>
              <a:t>중요도에 따라 채널의 값을 조정합니다</a:t>
            </a:r>
            <a:r>
              <a:rPr lang="en-US" altLang="ko-KR" sz="800" dirty="0"/>
              <a:t>. </a:t>
            </a:r>
            <a:r>
              <a:rPr lang="ko-KR" altLang="en-US" sz="800" dirty="0"/>
              <a:t>이를 통해 특정 채널의 정보가 강조되거나 억제될 수 있습니다</a:t>
            </a:r>
            <a:r>
              <a:rPr lang="en-US" altLang="ko-KR" sz="800" dirty="0"/>
              <a:t>.</a:t>
            </a:r>
          </a:p>
          <a:p>
            <a:r>
              <a:rPr lang="en-US" altLang="ko-KR" sz="800" dirty="0"/>
              <a:t>    </a:t>
            </a:r>
            <a:r>
              <a:rPr lang="ko-KR" altLang="en-US" sz="800" dirty="0"/>
              <a:t>예를 들어</a:t>
            </a:r>
            <a:r>
              <a:rPr lang="en-US" altLang="ko-KR" sz="800" dirty="0"/>
              <a:t>, </a:t>
            </a:r>
            <a:r>
              <a:rPr lang="ko-KR" altLang="en-US" sz="800" dirty="0"/>
              <a:t>이미지 분류 문제에서 중요한 특징을 강조하고 불필요한 정보는 줄이는 방식으로 모델의 성능을 향상시킬 수 있습니다</a:t>
            </a:r>
            <a:r>
              <a:rPr lang="en-US" altLang="ko-KR" sz="800" dirty="0"/>
              <a:t>.</a:t>
            </a:r>
          </a:p>
          <a:p>
            <a:endParaRPr lang="en-US" altLang="ko-KR" sz="800" dirty="0"/>
          </a:p>
          <a:p>
            <a:r>
              <a:rPr lang="ko-KR" altLang="en-US" sz="800" dirty="0"/>
              <a:t>요약</a:t>
            </a:r>
            <a:r>
              <a:rPr lang="en-US" altLang="ko-KR" sz="800" dirty="0"/>
              <a:t>:</a:t>
            </a:r>
          </a:p>
          <a:p>
            <a:endParaRPr lang="en-US" altLang="ko-KR" sz="800" dirty="0"/>
          </a:p>
          <a:p>
            <a:r>
              <a:rPr lang="en-US" altLang="ko-KR" sz="800" dirty="0" err="1"/>
              <a:t>ChannelGate</a:t>
            </a:r>
            <a:r>
              <a:rPr lang="en-US" altLang="ko-KR" sz="800" dirty="0"/>
              <a:t> </a:t>
            </a:r>
            <a:r>
              <a:rPr lang="ko-KR" altLang="en-US" sz="800" dirty="0"/>
              <a:t>클래스는 입력 </a:t>
            </a:r>
            <a:r>
              <a:rPr lang="ko-KR" altLang="en-US" sz="800" dirty="0" err="1"/>
              <a:t>텐서의</a:t>
            </a:r>
            <a:r>
              <a:rPr lang="ko-KR" altLang="en-US" sz="800" dirty="0"/>
              <a:t> </a:t>
            </a:r>
            <a:r>
              <a:rPr lang="ko-KR" altLang="en-US" sz="800" dirty="0" err="1"/>
              <a:t>채널별</a:t>
            </a:r>
            <a:r>
              <a:rPr lang="ko-KR" altLang="en-US" sz="800" dirty="0"/>
              <a:t> 중요도를 학습하고</a:t>
            </a:r>
            <a:r>
              <a:rPr lang="en-US" altLang="ko-KR" sz="800" dirty="0"/>
              <a:t>, </a:t>
            </a:r>
            <a:r>
              <a:rPr lang="ko-KR" altLang="en-US" sz="800" dirty="0"/>
              <a:t>이를 기반으로 채널 가중치를 조절하는 게이트를 생성합니다</a:t>
            </a:r>
            <a:r>
              <a:rPr lang="en-US" altLang="ko-KR" sz="800" dirty="0"/>
              <a:t>. </a:t>
            </a:r>
            <a:r>
              <a:rPr lang="ko-KR" altLang="en-US" sz="800" dirty="0"/>
              <a:t>전역 평균 </a:t>
            </a:r>
            <a:r>
              <a:rPr lang="ko-KR" altLang="en-US" sz="800" dirty="0" err="1"/>
              <a:t>풀링</a:t>
            </a:r>
            <a:r>
              <a:rPr lang="en-US" altLang="ko-KR" sz="800" dirty="0"/>
              <a:t>, 1x1 </a:t>
            </a:r>
            <a:r>
              <a:rPr lang="ko-KR" altLang="en-US" sz="800" dirty="0" err="1"/>
              <a:t>컨볼루션</a:t>
            </a:r>
            <a:r>
              <a:rPr lang="en-US" altLang="ko-KR" sz="800" dirty="0"/>
              <a:t>, </a:t>
            </a:r>
            <a:r>
              <a:rPr lang="ko-KR" altLang="en-US" sz="800" dirty="0"/>
              <a:t>선택적인 레이어 정규화</a:t>
            </a:r>
            <a:r>
              <a:rPr lang="en-US" altLang="ko-KR" sz="800" dirty="0"/>
              <a:t>, </a:t>
            </a:r>
            <a:r>
              <a:rPr lang="en-US" altLang="ko-KR" sz="800" dirty="0" err="1"/>
              <a:t>ReLU</a:t>
            </a:r>
            <a:r>
              <a:rPr lang="en-US" altLang="ko-KR" sz="800" dirty="0"/>
              <a:t> </a:t>
            </a:r>
            <a:r>
              <a:rPr lang="ko-KR" altLang="en-US" sz="800" dirty="0"/>
              <a:t>활성화</a:t>
            </a:r>
            <a:r>
              <a:rPr lang="en-US" altLang="ko-KR" sz="800" dirty="0"/>
              <a:t>, </a:t>
            </a:r>
            <a:r>
              <a:rPr lang="ko-KR" altLang="en-US" sz="800" dirty="0"/>
              <a:t>그리고 지정된 게이트 활성화 함수로 구성되어</a:t>
            </a:r>
            <a:r>
              <a:rPr lang="en-US" altLang="ko-KR" sz="800" dirty="0"/>
              <a:t>, </a:t>
            </a:r>
            <a:r>
              <a:rPr lang="ko-KR" altLang="en-US" sz="800" dirty="0"/>
              <a:t>입력 특징 </a:t>
            </a:r>
            <a:r>
              <a:rPr lang="ko-KR" altLang="en-US" sz="800" dirty="0" err="1"/>
              <a:t>맵의</a:t>
            </a:r>
            <a:r>
              <a:rPr lang="ko-KR" altLang="en-US" sz="800" dirty="0"/>
              <a:t> </a:t>
            </a:r>
            <a:r>
              <a:rPr lang="ko-KR" altLang="en-US" sz="800" dirty="0" err="1">
                <a:solidFill>
                  <a:srgbClr val="C00000"/>
                </a:solidFill>
              </a:rPr>
              <a:t>채널별</a:t>
            </a:r>
            <a:r>
              <a:rPr lang="ko-KR" altLang="en-US" sz="800" dirty="0">
                <a:solidFill>
                  <a:srgbClr val="C00000"/>
                </a:solidFill>
              </a:rPr>
              <a:t> 중요도를 동적으로 조정하는 기능을 </a:t>
            </a:r>
            <a:r>
              <a:rPr lang="ko-KR" altLang="en-US" sz="800" dirty="0"/>
              <a:t>수행합니다</a:t>
            </a:r>
            <a:r>
              <a:rPr lang="en-US" altLang="ko-KR" sz="800" dirty="0"/>
              <a:t>. </a:t>
            </a:r>
            <a:r>
              <a:rPr lang="ko-KR" altLang="en-US" sz="800" dirty="0"/>
              <a:t>이를 통해 모델이 더 효과적으로 특정 채널에 집중할 수 있게 하며</a:t>
            </a:r>
            <a:r>
              <a:rPr lang="en-US" altLang="ko-KR" sz="800" dirty="0"/>
              <a:t>, </a:t>
            </a:r>
            <a:r>
              <a:rPr lang="ko-KR" altLang="en-US" sz="800" dirty="0"/>
              <a:t>다양한 컴퓨터 비전 문제에서 성능을 개선하는 데 사용됩니다</a:t>
            </a:r>
            <a:r>
              <a:rPr lang="en-US" altLang="ko-KR" sz="800" dirty="0"/>
              <a:t>.</a:t>
            </a:r>
          </a:p>
        </p:txBody>
      </p:sp>
      <p:sp>
        <p:nvSpPr>
          <p:cNvPr id="48" name="직사각형 47"/>
          <p:cNvSpPr/>
          <p:nvPr/>
        </p:nvSpPr>
        <p:spPr>
          <a:xfrm>
            <a:off x="1821752" y="1648621"/>
            <a:ext cx="1802096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900" dirty="0" smtClean="0"/>
              <a:t>예</a:t>
            </a:r>
            <a:r>
              <a:rPr lang="en-US" altLang="ko-KR" sz="900" dirty="0" smtClean="0"/>
              <a:t>) </a:t>
            </a:r>
            <a:r>
              <a:rPr lang="ko-KR" altLang="en-US" sz="900" dirty="0" smtClean="0"/>
              <a:t>초기 </a:t>
            </a:r>
            <a:r>
              <a:rPr lang="ko-KR" altLang="en-US" sz="900" dirty="0"/>
              <a:t>입력 </a:t>
            </a:r>
            <a:r>
              <a:rPr lang="ko-KR" altLang="en-US" sz="900" dirty="0" err="1"/>
              <a:t>텐서</a:t>
            </a:r>
            <a:r>
              <a:rPr lang="en-US" altLang="ko-KR" sz="900" dirty="0"/>
              <a:t>: (2, 64, 8, 8)</a:t>
            </a:r>
            <a:endParaRPr lang="ko-KR" altLang="en-US" sz="900" dirty="0"/>
          </a:p>
        </p:txBody>
      </p:sp>
      <p:sp>
        <p:nvSpPr>
          <p:cNvPr id="49" name="직사각형 48"/>
          <p:cNvSpPr/>
          <p:nvPr/>
        </p:nvSpPr>
        <p:spPr>
          <a:xfrm>
            <a:off x="2396299" y="2272536"/>
            <a:ext cx="77296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900" dirty="0"/>
              <a:t>(2, 64, 1, 1)</a:t>
            </a:r>
            <a:endParaRPr lang="ko-KR" altLang="en-US" sz="900" dirty="0"/>
          </a:p>
        </p:txBody>
      </p:sp>
      <p:sp>
        <p:nvSpPr>
          <p:cNvPr id="50" name="직사각형 49"/>
          <p:cNvSpPr/>
          <p:nvPr/>
        </p:nvSpPr>
        <p:spPr>
          <a:xfrm>
            <a:off x="2381689" y="2844714"/>
            <a:ext cx="764953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/>
              <a:t>(2, 4, 1, 1)</a:t>
            </a:r>
            <a:endParaRPr lang="ko-KR" altLang="en-US" sz="1000" dirty="0"/>
          </a:p>
        </p:txBody>
      </p:sp>
      <p:sp>
        <p:nvSpPr>
          <p:cNvPr id="51" name="직사각형 50"/>
          <p:cNvSpPr/>
          <p:nvPr/>
        </p:nvSpPr>
        <p:spPr>
          <a:xfrm>
            <a:off x="2431533" y="3814915"/>
            <a:ext cx="764953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/>
              <a:t>(2, 4, 1, 1)</a:t>
            </a:r>
            <a:endParaRPr lang="ko-KR" altLang="en-US" sz="1000" dirty="0"/>
          </a:p>
        </p:txBody>
      </p:sp>
      <p:sp>
        <p:nvSpPr>
          <p:cNvPr id="52" name="직사각형 51"/>
          <p:cNvSpPr/>
          <p:nvPr/>
        </p:nvSpPr>
        <p:spPr>
          <a:xfrm>
            <a:off x="2443296" y="4512338"/>
            <a:ext cx="83548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/>
              <a:t>(2, </a:t>
            </a:r>
            <a:r>
              <a:rPr lang="en-US" altLang="ko-KR" sz="1000" dirty="0" smtClean="0"/>
              <a:t>64, </a:t>
            </a:r>
            <a:r>
              <a:rPr lang="en-US" altLang="ko-KR" sz="1000" dirty="0"/>
              <a:t>1, 1)</a:t>
            </a:r>
            <a:endParaRPr lang="ko-KR" altLang="en-US" sz="1000" dirty="0"/>
          </a:p>
        </p:txBody>
      </p:sp>
      <p:sp>
        <p:nvSpPr>
          <p:cNvPr id="54" name="직사각형 53"/>
          <p:cNvSpPr/>
          <p:nvPr/>
        </p:nvSpPr>
        <p:spPr>
          <a:xfrm>
            <a:off x="2381689" y="5243909"/>
            <a:ext cx="83548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/>
              <a:t>(2, </a:t>
            </a:r>
            <a:r>
              <a:rPr lang="en-US" altLang="ko-KR" sz="1000" dirty="0" smtClean="0"/>
              <a:t>64, </a:t>
            </a:r>
            <a:r>
              <a:rPr lang="en-US" altLang="ko-KR" sz="1000" dirty="0"/>
              <a:t>1, 1)</a:t>
            </a:r>
            <a:endParaRPr lang="ko-KR" altLang="en-US" sz="1000" dirty="0"/>
          </a:p>
        </p:txBody>
      </p:sp>
      <p:sp>
        <p:nvSpPr>
          <p:cNvPr id="55" name="직사각형 54"/>
          <p:cNvSpPr/>
          <p:nvPr/>
        </p:nvSpPr>
        <p:spPr>
          <a:xfrm>
            <a:off x="2167755" y="6948812"/>
            <a:ext cx="1505540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900" dirty="0" smtClean="0"/>
              <a:t>예</a:t>
            </a:r>
            <a:r>
              <a:rPr lang="en-US" altLang="ko-KR" sz="900" dirty="0" smtClean="0"/>
              <a:t>) </a:t>
            </a:r>
            <a:r>
              <a:rPr lang="ko-KR" altLang="en-US" sz="900" dirty="0" smtClean="0"/>
              <a:t>출력 크기 </a:t>
            </a:r>
            <a:r>
              <a:rPr lang="en-US" altLang="ko-KR" sz="900" dirty="0" smtClean="0"/>
              <a:t>(</a:t>
            </a:r>
            <a:r>
              <a:rPr lang="en-US" altLang="ko-KR" sz="900" dirty="0"/>
              <a:t>2, 64, 8, 8)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262895877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480338" y="313400"/>
            <a:ext cx="2959687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OSBlock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cont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634435" y="1143949"/>
            <a:ext cx="987954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14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</a:t>
            </a:r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2196535" y="1792791"/>
            <a:ext cx="1713584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Conv1x1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" name="꺾인 연결선 4"/>
          <p:cNvCxnSpPr>
            <a:stCxn id="3" idx="2"/>
            <a:endCxn id="4" idx="1"/>
          </p:cNvCxnSpPr>
          <p:nvPr/>
        </p:nvCxnSpPr>
        <p:spPr>
          <a:xfrm rot="16200000" flipH="1">
            <a:off x="1429871" y="1209765"/>
            <a:ext cx="465204" cy="10681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2150745" y="244163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4" name="직선 화살표 연결선 23"/>
          <p:cNvCxnSpPr>
            <a:stCxn id="4" idx="2"/>
            <a:endCxn id="23" idx="0"/>
          </p:cNvCxnSpPr>
          <p:nvPr/>
        </p:nvCxnSpPr>
        <p:spPr>
          <a:xfrm>
            <a:off x="3053327" y="2160067"/>
            <a:ext cx="0" cy="2815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358709" y="244769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4358709" y="299408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6520884" y="244163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6520884" y="298802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6520884" y="353441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8597334" y="244163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8597334" y="298802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8597334" y="353441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8597334" y="408080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5" name="꺾인 연결선 34"/>
          <p:cNvCxnSpPr>
            <a:stCxn id="4" idx="3"/>
            <a:endCxn id="22" idx="0"/>
          </p:cNvCxnSpPr>
          <p:nvPr/>
        </p:nvCxnSpPr>
        <p:spPr>
          <a:xfrm>
            <a:off x="3910119" y="1976429"/>
            <a:ext cx="1351172" cy="47126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꺾인 연결선 37"/>
          <p:cNvCxnSpPr>
            <a:stCxn id="4" idx="3"/>
            <a:endCxn id="26" idx="0"/>
          </p:cNvCxnSpPr>
          <p:nvPr/>
        </p:nvCxnSpPr>
        <p:spPr>
          <a:xfrm>
            <a:off x="3910119" y="1976429"/>
            <a:ext cx="3513347" cy="4652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꺾인 연결선 39"/>
          <p:cNvCxnSpPr>
            <a:stCxn id="4" idx="3"/>
            <a:endCxn id="31" idx="0"/>
          </p:cNvCxnSpPr>
          <p:nvPr/>
        </p:nvCxnSpPr>
        <p:spPr>
          <a:xfrm>
            <a:off x="3910119" y="1976429"/>
            <a:ext cx="5589797" cy="4652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/>
          <p:cNvCxnSpPr>
            <a:stCxn id="22" idx="2"/>
            <a:endCxn id="25" idx="0"/>
          </p:cNvCxnSpPr>
          <p:nvPr/>
        </p:nvCxnSpPr>
        <p:spPr>
          <a:xfrm>
            <a:off x="5261291" y="2814969"/>
            <a:ext cx="0" cy="1791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/>
          <p:cNvCxnSpPr>
            <a:stCxn id="26" idx="2"/>
            <a:endCxn id="28" idx="0"/>
          </p:cNvCxnSpPr>
          <p:nvPr/>
        </p:nvCxnSpPr>
        <p:spPr>
          <a:xfrm>
            <a:off x="7423466" y="2808909"/>
            <a:ext cx="0" cy="1791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/>
          <p:cNvCxnSpPr>
            <a:stCxn id="28" idx="2"/>
            <a:endCxn id="30" idx="0"/>
          </p:cNvCxnSpPr>
          <p:nvPr/>
        </p:nvCxnSpPr>
        <p:spPr>
          <a:xfrm>
            <a:off x="7423466" y="3355299"/>
            <a:ext cx="0" cy="1791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/>
          <p:cNvCxnSpPr>
            <a:stCxn id="31" idx="2"/>
            <a:endCxn id="32" idx="0"/>
          </p:cNvCxnSpPr>
          <p:nvPr/>
        </p:nvCxnSpPr>
        <p:spPr>
          <a:xfrm>
            <a:off x="9499916" y="2808909"/>
            <a:ext cx="0" cy="1791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/>
          <p:cNvCxnSpPr>
            <a:stCxn id="32" idx="2"/>
            <a:endCxn id="33" idx="0"/>
          </p:cNvCxnSpPr>
          <p:nvPr/>
        </p:nvCxnSpPr>
        <p:spPr>
          <a:xfrm>
            <a:off x="9499916" y="3355299"/>
            <a:ext cx="0" cy="1791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/>
          <p:cNvCxnSpPr>
            <a:stCxn id="33" idx="2"/>
            <a:endCxn id="34" idx="0"/>
          </p:cNvCxnSpPr>
          <p:nvPr/>
        </p:nvCxnSpPr>
        <p:spPr>
          <a:xfrm>
            <a:off x="9499916" y="3901689"/>
            <a:ext cx="0" cy="1791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/>
          <p:cNvSpPr/>
          <p:nvPr/>
        </p:nvSpPr>
        <p:spPr>
          <a:xfrm>
            <a:off x="2150745" y="4689533"/>
            <a:ext cx="1805163" cy="36727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ChannelGate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62" name="직선 화살표 연결선 61"/>
          <p:cNvCxnSpPr>
            <a:stCxn id="23" idx="2"/>
            <a:endCxn id="61" idx="0"/>
          </p:cNvCxnSpPr>
          <p:nvPr/>
        </p:nvCxnSpPr>
        <p:spPr>
          <a:xfrm>
            <a:off x="3053327" y="2808909"/>
            <a:ext cx="0" cy="18806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65"/>
          <p:cNvCxnSpPr>
            <a:stCxn id="25" idx="2"/>
            <a:endCxn id="69" idx="0"/>
          </p:cNvCxnSpPr>
          <p:nvPr/>
        </p:nvCxnSpPr>
        <p:spPr>
          <a:xfrm>
            <a:off x="5261291" y="3361359"/>
            <a:ext cx="5520" cy="13281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직사각형 68"/>
          <p:cNvSpPr/>
          <p:nvPr/>
        </p:nvSpPr>
        <p:spPr>
          <a:xfrm>
            <a:off x="4364229" y="4689533"/>
            <a:ext cx="1805163" cy="36727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ChannelGate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71" name="직선 화살표 연결선 70"/>
          <p:cNvCxnSpPr>
            <a:stCxn id="30" idx="2"/>
            <a:endCxn id="72" idx="0"/>
          </p:cNvCxnSpPr>
          <p:nvPr/>
        </p:nvCxnSpPr>
        <p:spPr>
          <a:xfrm>
            <a:off x="7423466" y="3901689"/>
            <a:ext cx="5520" cy="7878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직사각형 71"/>
          <p:cNvSpPr/>
          <p:nvPr/>
        </p:nvSpPr>
        <p:spPr>
          <a:xfrm>
            <a:off x="6526404" y="4689533"/>
            <a:ext cx="1805163" cy="36727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ChannelGate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74" name="직선 화살표 연결선 73"/>
          <p:cNvCxnSpPr>
            <a:stCxn id="34" idx="2"/>
            <a:endCxn id="75" idx="0"/>
          </p:cNvCxnSpPr>
          <p:nvPr/>
        </p:nvCxnSpPr>
        <p:spPr>
          <a:xfrm>
            <a:off x="9499916" y="4448079"/>
            <a:ext cx="5520" cy="241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직사각형 74"/>
          <p:cNvSpPr/>
          <p:nvPr/>
        </p:nvSpPr>
        <p:spPr>
          <a:xfrm>
            <a:off x="8602854" y="4689533"/>
            <a:ext cx="1805163" cy="36727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ChannelGate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5504054" y="5408977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8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sym typeface="Symbol" panose="05050102010706020507" pitchFamily="18" charset="2"/>
              </a:rPr>
              <a:t></a:t>
            </a:r>
            <a:endParaRPr lang="en-US" altLang="ko-KR" sz="18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78" name="직선 화살표 연결선 77"/>
          <p:cNvCxnSpPr>
            <a:stCxn id="69" idx="2"/>
            <a:endCxn id="77" idx="0"/>
          </p:cNvCxnSpPr>
          <p:nvPr/>
        </p:nvCxnSpPr>
        <p:spPr>
          <a:xfrm>
            <a:off x="5266811" y="5056809"/>
            <a:ext cx="1139825" cy="3521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/>
          <p:cNvCxnSpPr>
            <a:stCxn id="61" idx="2"/>
            <a:endCxn id="77" idx="0"/>
          </p:cNvCxnSpPr>
          <p:nvPr/>
        </p:nvCxnSpPr>
        <p:spPr>
          <a:xfrm>
            <a:off x="3053327" y="5056809"/>
            <a:ext cx="3353309" cy="3521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/>
          <p:cNvCxnSpPr>
            <a:stCxn id="72" idx="2"/>
            <a:endCxn id="77" idx="0"/>
          </p:cNvCxnSpPr>
          <p:nvPr/>
        </p:nvCxnSpPr>
        <p:spPr>
          <a:xfrm flipH="1">
            <a:off x="6406636" y="5056809"/>
            <a:ext cx="1022350" cy="3521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화살표 연결선 91"/>
          <p:cNvCxnSpPr>
            <a:stCxn id="75" idx="2"/>
            <a:endCxn id="77" idx="0"/>
          </p:cNvCxnSpPr>
          <p:nvPr/>
        </p:nvCxnSpPr>
        <p:spPr>
          <a:xfrm flipH="1">
            <a:off x="6406636" y="5056809"/>
            <a:ext cx="3098800" cy="3521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직사각형 94"/>
          <p:cNvSpPr/>
          <p:nvPr/>
        </p:nvSpPr>
        <p:spPr>
          <a:xfrm>
            <a:off x="5504051" y="5933159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Conv1x1Linear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96" name="직선 화살표 연결선 95"/>
          <p:cNvCxnSpPr>
            <a:stCxn id="77" idx="2"/>
            <a:endCxn id="95" idx="0"/>
          </p:cNvCxnSpPr>
          <p:nvPr/>
        </p:nvCxnSpPr>
        <p:spPr>
          <a:xfrm flipH="1">
            <a:off x="6406633" y="5776253"/>
            <a:ext cx="3" cy="1569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직사각형 102"/>
          <p:cNvSpPr/>
          <p:nvPr/>
        </p:nvSpPr>
        <p:spPr>
          <a:xfrm>
            <a:off x="5504051" y="6442642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8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sym typeface="Symbol" panose="05050102010706020507" pitchFamily="18" charset="2"/>
              </a:rPr>
              <a:t></a:t>
            </a:r>
            <a:endParaRPr lang="en-US" altLang="ko-KR" sz="18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04" name="직선 화살표 연결선 103"/>
          <p:cNvCxnSpPr>
            <a:stCxn id="95" idx="2"/>
            <a:endCxn id="103" idx="0"/>
          </p:cNvCxnSpPr>
          <p:nvPr/>
        </p:nvCxnSpPr>
        <p:spPr>
          <a:xfrm>
            <a:off x="6406633" y="6300435"/>
            <a:ext cx="0" cy="1422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/>
          <p:cNvCxnSpPr>
            <a:stCxn id="108" idx="2"/>
          </p:cNvCxnSpPr>
          <p:nvPr/>
        </p:nvCxnSpPr>
        <p:spPr>
          <a:xfrm flipH="1">
            <a:off x="3053326" y="1520371"/>
            <a:ext cx="1" cy="2724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직사각형 107"/>
          <p:cNvSpPr/>
          <p:nvPr/>
        </p:nvSpPr>
        <p:spPr>
          <a:xfrm>
            <a:off x="2196535" y="1153095"/>
            <a:ext cx="1713584" cy="36727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Input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12" name="꺾인 연결선 111"/>
          <p:cNvCxnSpPr>
            <a:stCxn id="108" idx="1"/>
            <a:endCxn id="103" idx="1"/>
          </p:cNvCxnSpPr>
          <p:nvPr/>
        </p:nvCxnSpPr>
        <p:spPr>
          <a:xfrm rot="10800000" flipH="1" flipV="1">
            <a:off x="2196535" y="1336732"/>
            <a:ext cx="3307516" cy="5289547"/>
          </a:xfrm>
          <a:prstGeom prst="bentConnector3">
            <a:avLst>
              <a:gd name="adj1" fmla="val -691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직사각형 115"/>
          <p:cNvSpPr/>
          <p:nvPr/>
        </p:nvSpPr>
        <p:spPr>
          <a:xfrm>
            <a:off x="5504051" y="7121071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sym typeface="Symbol" panose="05050102010706020507" pitchFamily="18" charset="2"/>
              </a:rPr>
              <a:t>ReLU</a:t>
            </a:r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26" name="직사각형 125"/>
          <p:cNvSpPr/>
          <p:nvPr/>
        </p:nvSpPr>
        <p:spPr>
          <a:xfrm>
            <a:off x="3959282" y="1704009"/>
            <a:ext cx="199605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-&gt; 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 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로 채널이 감소한다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27" name="직사각형 126"/>
          <p:cNvSpPr/>
          <p:nvPr/>
        </p:nvSpPr>
        <p:spPr>
          <a:xfrm>
            <a:off x="3123878" y="2160067"/>
            <a:ext cx="43794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28" name="직사각형 127"/>
          <p:cNvSpPr/>
          <p:nvPr/>
        </p:nvSpPr>
        <p:spPr>
          <a:xfrm>
            <a:off x="3123878" y="2844085"/>
            <a:ext cx="43794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29" name="직사각형 128"/>
          <p:cNvSpPr/>
          <p:nvPr/>
        </p:nvSpPr>
        <p:spPr>
          <a:xfrm>
            <a:off x="5307469" y="2170045"/>
            <a:ext cx="43794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0" name="직사각형 129"/>
          <p:cNvSpPr/>
          <p:nvPr/>
        </p:nvSpPr>
        <p:spPr>
          <a:xfrm>
            <a:off x="5343625" y="3395364"/>
            <a:ext cx="43794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1" name="직사각형 130"/>
          <p:cNvSpPr/>
          <p:nvPr/>
        </p:nvSpPr>
        <p:spPr>
          <a:xfrm>
            <a:off x="7552797" y="2160067"/>
            <a:ext cx="43794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2" name="직사각형 131"/>
          <p:cNvSpPr/>
          <p:nvPr/>
        </p:nvSpPr>
        <p:spPr>
          <a:xfrm>
            <a:off x="7545104" y="3894641"/>
            <a:ext cx="43794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3" name="직사각형 132"/>
          <p:cNvSpPr/>
          <p:nvPr/>
        </p:nvSpPr>
        <p:spPr>
          <a:xfrm>
            <a:off x="9628611" y="2160067"/>
            <a:ext cx="43794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4" name="직사각형 133"/>
          <p:cNvSpPr/>
          <p:nvPr/>
        </p:nvSpPr>
        <p:spPr>
          <a:xfrm>
            <a:off x="9557753" y="4452951"/>
            <a:ext cx="43794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5" name="직사각형 134"/>
          <p:cNvSpPr/>
          <p:nvPr/>
        </p:nvSpPr>
        <p:spPr>
          <a:xfrm>
            <a:off x="2049458" y="5855424"/>
            <a:ext cx="190148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downsample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차원을 </a:t>
            </a:r>
            <a:r>
              <a:rPr lang="ko-KR" altLang="en-US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맞춰줌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6" name="오른쪽 화살표 135"/>
          <p:cNvSpPr/>
          <p:nvPr/>
        </p:nvSpPr>
        <p:spPr>
          <a:xfrm rot="964242">
            <a:off x="3719495" y="2817604"/>
            <a:ext cx="4085906" cy="1052715"/>
          </a:xfrm>
          <a:prstGeom prst="rightArrow">
            <a:avLst/>
          </a:prstGeom>
          <a:solidFill>
            <a:srgbClr val="00B050">
              <a:alpha val="37000"/>
            </a:srgbClr>
          </a:solidFill>
          <a:ln>
            <a:solidFill>
              <a:schemeClr val="accent6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accent6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고차원 </a:t>
            </a:r>
            <a:r>
              <a:rPr lang="en-US" altLang="ko-KR" dirty="0" smtClean="0">
                <a:solidFill>
                  <a:schemeClr val="accent6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features </a:t>
            </a:r>
            <a:r>
              <a:rPr lang="ko-KR" altLang="en-US" dirty="0" smtClean="0">
                <a:solidFill>
                  <a:schemeClr val="accent6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생성</a:t>
            </a:r>
            <a:endParaRPr lang="ko-KR" altLang="en-US" dirty="0">
              <a:solidFill>
                <a:schemeClr val="accent6">
                  <a:lumMod val="50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43" name="순서도: 판단 142"/>
          <p:cNvSpPr/>
          <p:nvPr/>
        </p:nvSpPr>
        <p:spPr>
          <a:xfrm>
            <a:off x="7775325" y="6357302"/>
            <a:ext cx="1724590" cy="537956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 ? True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44" name="직선 화살표 연결선 143"/>
          <p:cNvCxnSpPr>
            <a:stCxn id="103" idx="3"/>
            <a:endCxn id="143" idx="1"/>
          </p:cNvCxnSpPr>
          <p:nvPr/>
        </p:nvCxnSpPr>
        <p:spPr>
          <a:xfrm>
            <a:off x="7309214" y="6626280"/>
            <a:ext cx="46611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직사각형 146"/>
          <p:cNvSpPr/>
          <p:nvPr/>
        </p:nvSpPr>
        <p:spPr>
          <a:xfrm>
            <a:off x="9776723" y="6442642"/>
            <a:ext cx="773886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>
                <a:latin typeface="경기천년바탕 Regular" panose="02020503020101020101" pitchFamily="18" charset="-127"/>
                <a:ea typeface="경기천년바탕 Regular" panose="02020503020101020101" pitchFamily="18" charset="-127"/>
                <a:sym typeface="Symbol" panose="05050102010706020507" pitchFamily="18" charset="2"/>
              </a:rPr>
              <a:t>InstanceNorm2d</a:t>
            </a:r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48" name="직선 화살표 연결선 147"/>
          <p:cNvCxnSpPr>
            <a:stCxn id="143" idx="3"/>
            <a:endCxn id="147" idx="1"/>
          </p:cNvCxnSpPr>
          <p:nvPr/>
        </p:nvCxnSpPr>
        <p:spPr>
          <a:xfrm>
            <a:off x="9499915" y="6626280"/>
            <a:ext cx="2768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꺾인 연결선 150"/>
          <p:cNvCxnSpPr>
            <a:stCxn id="147" idx="2"/>
            <a:endCxn id="116" idx="3"/>
          </p:cNvCxnSpPr>
          <p:nvPr/>
        </p:nvCxnSpPr>
        <p:spPr>
          <a:xfrm rot="5400000">
            <a:off x="8489045" y="5630087"/>
            <a:ext cx="494791" cy="285445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꺾인 연결선 153"/>
          <p:cNvCxnSpPr>
            <a:stCxn id="143" idx="2"/>
            <a:endCxn id="116" idx="0"/>
          </p:cNvCxnSpPr>
          <p:nvPr/>
        </p:nvCxnSpPr>
        <p:spPr>
          <a:xfrm rot="5400000">
            <a:off x="7409221" y="5892671"/>
            <a:ext cx="225813" cy="223098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직사각형 156"/>
          <p:cNvSpPr/>
          <p:nvPr/>
        </p:nvSpPr>
        <p:spPr>
          <a:xfrm>
            <a:off x="9280153" y="6302536"/>
            <a:ext cx="49657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YES</a:t>
            </a:r>
            <a:endParaRPr lang="ko-KR" altLang="en-US" sz="1000" dirty="0"/>
          </a:p>
        </p:txBody>
      </p:sp>
      <p:sp>
        <p:nvSpPr>
          <p:cNvPr id="158" name="직사각형 157"/>
          <p:cNvSpPr/>
          <p:nvPr/>
        </p:nvSpPr>
        <p:spPr>
          <a:xfrm>
            <a:off x="7529177" y="6787766"/>
            <a:ext cx="49657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NO</a:t>
            </a:r>
            <a:endParaRPr lang="ko-KR" altLang="en-US" sz="1000" dirty="0"/>
          </a:p>
        </p:txBody>
      </p:sp>
      <p:sp>
        <p:nvSpPr>
          <p:cNvPr id="159" name="직사각형 158"/>
          <p:cNvSpPr/>
          <p:nvPr/>
        </p:nvSpPr>
        <p:spPr>
          <a:xfrm>
            <a:off x="7750413" y="5679676"/>
            <a:ext cx="43794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60" name="직사각형 159"/>
          <p:cNvSpPr/>
          <p:nvPr/>
        </p:nvSpPr>
        <p:spPr>
          <a:xfrm>
            <a:off x="7446537" y="6216829"/>
            <a:ext cx="89639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out channel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61" name="직사각형 160"/>
          <p:cNvSpPr/>
          <p:nvPr/>
        </p:nvSpPr>
        <p:spPr>
          <a:xfrm>
            <a:off x="182914" y="5079594"/>
            <a:ext cx="5343525" cy="5078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sz="900" dirty="0">
                <a:solidFill>
                  <a:srgbClr val="C00000"/>
                </a:solidFill>
              </a:rPr>
              <a:t>덧셈의 의미</a:t>
            </a:r>
            <a:r>
              <a:rPr lang="en-US" altLang="ko-KR" sz="900" dirty="0">
                <a:solidFill>
                  <a:srgbClr val="C00000"/>
                </a:solidFill>
              </a:rPr>
              <a:t>: </a:t>
            </a:r>
            <a:r>
              <a:rPr lang="ko-KR" altLang="en-US" sz="900" dirty="0">
                <a:solidFill>
                  <a:srgbClr val="C00000"/>
                </a:solidFill>
              </a:rPr>
              <a:t>네 가지 경로의 </a:t>
            </a:r>
            <a:r>
              <a:rPr lang="ko-KR" altLang="en-US" sz="900" dirty="0" err="1">
                <a:solidFill>
                  <a:srgbClr val="C00000"/>
                </a:solidFill>
              </a:rPr>
              <a:t>특징맵을</a:t>
            </a:r>
            <a:r>
              <a:rPr lang="ko-KR" altLang="en-US" sz="900" dirty="0">
                <a:solidFill>
                  <a:srgbClr val="C00000"/>
                </a:solidFill>
              </a:rPr>
              <a:t> 결합하여 다양한 스케일과 형태의 정보를 통합하고</a:t>
            </a:r>
            <a:r>
              <a:rPr lang="en-US" altLang="ko-KR" sz="900" dirty="0">
                <a:solidFill>
                  <a:srgbClr val="C00000"/>
                </a:solidFill>
              </a:rPr>
              <a:t>, </a:t>
            </a:r>
            <a:r>
              <a:rPr lang="ko-KR" altLang="en-US" sz="900" dirty="0">
                <a:solidFill>
                  <a:srgbClr val="C00000"/>
                </a:solidFill>
              </a:rPr>
              <a:t>모델의 표현력을 높이는 역할을 합니다</a:t>
            </a:r>
            <a:r>
              <a:rPr lang="en-US" altLang="ko-KR" sz="900" dirty="0">
                <a:solidFill>
                  <a:srgbClr val="C00000"/>
                </a:solidFill>
              </a:rPr>
              <a:t>. </a:t>
            </a:r>
            <a:r>
              <a:rPr lang="ko-KR" altLang="en-US" sz="900" dirty="0">
                <a:solidFill>
                  <a:srgbClr val="C00000"/>
                </a:solidFill>
              </a:rPr>
              <a:t>이로 인해 모델은 입력 데이터에 대해 보다 풍부하고 복합적인 특징을 학습할 수 있습니다</a:t>
            </a:r>
            <a:r>
              <a:rPr lang="en-US" altLang="ko-KR" sz="900" dirty="0">
                <a:solidFill>
                  <a:srgbClr val="C00000"/>
                </a:solidFill>
              </a:rPr>
              <a:t>.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cxnSp>
        <p:nvCxnSpPr>
          <p:cNvPr id="162" name="직선 화살표 연결선 161"/>
          <p:cNvCxnSpPr>
            <a:stCxn id="159" idx="2"/>
          </p:cNvCxnSpPr>
          <p:nvPr/>
        </p:nvCxnSpPr>
        <p:spPr>
          <a:xfrm>
            <a:off x="7969383" y="5941286"/>
            <a:ext cx="0" cy="2953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오른쪽 화살표 164"/>
          <p:cNvSpPr/>
          <p:nvPr/>
        </p:nvSpPr>
        <p:spPr>
          <a:xfrm>
            <a:off x="4729981" y="918309"/>
            <a:ext cx="4085906" cy="1052715"/>
          </a:xfrm>
          <a:prstGeom prst="rightArrow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좀더 넓은 영역을 관찰</a:t>
            </a:r>
            <a:endParaRPr lang="ko-KR" altLang="en-US" dirty="0">
              <a:solidFill>
                <a:schemeClr val="accent1">
                  <a:lumMod val="50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387944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69208" y="314530"/>
            <a:ext cx="2861904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>
                <a:solidFill>
                  <a:srgbClr val="0E0585"/>
                </a:solidFill>
              </a:rPr>
              <a:t>class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OSBlock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end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54990" y="1455737"/>
            <a:ext cx="9099550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400" dirty="0" err="1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OSBlock</a:t>
            </a:r>
            <a:r>
              <a:rPr lang="ko-KR" altLang="en-US" sz="1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의 주요 기능</a:t>
            </a:r>
            <a:r>
              <a:rPr lang="en-US" altLang="ko-KR" sz="1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</a:p>
          <a:p>
            <a:endParaRPr lang="en-US" altLang="ko-KR" sz="1100" dirty="0"/>
          </a:p>
          <a:p>
            <a:r>
              <a:rPr lang="en-US" altLang="ko-KR" sz="1100" dirty="0"/>
              <a:t>    </a:t>
            </a:r>
            <a:r>
              <a:rPr lang="ko-KR" altLang="en-US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다양한 수용 영역의 학습</a:t>
            </a:r>
            <a:r>
              <a:rPr lang="en-US" altLang="ko-KR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</a:p>
          <a:p>
            <a:r>
              <a:rPr lang="en-US" altLang="ko-KR" sz="1100" dirty="0"/>
              <a:t>        </a:t>
            </a:r>
            <a:r>
              <a:rPr lang="en-US" altLang="ko-KR" sz="1100" dirty="0" err="1"/>
              <a:t>OSBlock</a:t>
            </a:r>
            <a:r>
              <a:rPr lang="ko-KR" altLang="en-US" sz="1100" dirty="0"/>
              <a:t>은 여러 개의 경량화된 </a:t>
            </a:r>
            <a:r>
              <a:rPr lang="en-US" altLang="ko-KR" sz="1100" dirty="0"/>
              <a:t>3x3 </a:t>
            </a:r>
            <a:r>
              <a:rPr lang="ko-KR" altLang="en-US" sz="1100" dirty="0" err="1"/>
              <a:t>컨볼루션</a:t>
            </a:r>
            <a:r>
              <a:rPr lang="en-US" altLang="ko-KR" sz="1100" dirty="0"/>
              <a:t>(LightConv3x3) </a:t>
            </a:r>
            <a:r>
              <a:rPr lang="ko-KR" altLang="en-US" sz="1100" dirty="0"/>
              <a:t>모듈을 사용하여 다양한 깊이와 경로를 통해 특징을 추출합니다</a:t>
            </a:r>
            <a:r>
              <a:rPr lang="en-US" altLang="ko-KR" sz="1100" dirty="0"/>
              <a:t>. </a:t>
            </a:r>
            <a:r>
              <a:rPr lang="ko-KR" altLang="en-US" sz="1100" dirty="0"/>
              <a:t>각 경로는 서로 다른 수의 </a:t>
            </a:r>
            <a:r>
              <a:rPr lang="en-US" altLang="ko-KR" sz="1100" dirty="0"/>
              <a:t>LightConv3x3 </a:t>
            </a:r>
            <a:r>
              <a:rPr lang="ko-KR" altLang="en-US" sz="1100" dirty="0"/>
              <a:t>레이어를 포함하여 다양한 공간적 수용 영역을 형성합니다</a:t>
            </a:r>
            <a:r>
              <a:rPr lang="en-US" altLang="ko-KR" sz="1100" dirty="0"/>
              <a:t>:</a:t>
            </a:r>
          </a:p>
          <a:p>
            <a:r>
              <a:rPr lang="en-US" altLang="ko-KR" sz="1100" dirty="0"/>
              <a:t>            conv2a: </a:t>
            </a:r>
            <a:r>
              <a:rPr lang="ko-KR" altLang="en-US" sz="1100" dirty="0"/>
              <a:t>단일 </a:t>
            </a:r>
            <a:r>
              <a:rPr lang="en-US" altLang="ko-KR" sz="1100" dirty="0"/>
              <a:t>LightConv3x3.</a:t>
            </a:r>
          </a:p>
          <a:p>
            <a:r>
              <a:rPr lang="en-US" altLang="ko-KR" sz="1100" dirty="0"/>
              <a:t>            conv2b: </a:t>
            </a:r>
            <a:r>
              <a:rPr lang="ko-KR" altLang="en-US" sz="1100" dirty="0"/>
              <a:t>두 개의 </a:t>
            </a:r>
            <a:r>
              <a:rPr lang="en-US" altLang="ko-KR" sz="1100" dirty="0"/>
              <a:t>LightConv3x3</a:t>
            </a:r>
            <a:r>
              <a:rPr lang="ko-KR" altLang="en-US" sz="1100" dirty="0"/>
              <a:t>을 순차적으로 연결</a:t>
            </a:r>
            <a:r>
              <a:rPr lang="en-US" altLang="ko-KR" sz="1100" dirty="0"/>
              <a:t>.</a:t>
            </a:r>
          </a:p>
          <a:p>
            <a:r>
              <a:rPr lang="en-US" altLang="ko-KR" sz="1100" dirty="0"/>
              <a:t>            conv2c: </a:t>
            </a:r>
            <a:r>
              <a:rPr lang="ko-KR" altLang="en-US" sz="1100" dirty="0"/>
              <a:t>세 개의 </a:t>
            </a:r>
            <a:r>
              <a:rPr lang="en-US" altLang="ko-KR" sz="1100" dirty="0"/>
              <a:t>LightConv3x3</a:t>
            </a:r>
            <a:r>
              <a:rPr lang="ko-KR" altLang="en-US" sz="1100" dirty="0"/>
              <a:t>을 순차적으로 연결</a:t>
            </a:r>
            <a:r>
              <a:rPr lang="en-US" altLang="ko-KR" sz="1100" dirty="0"/>
              <a:t>.</a:t>
            </a:r>
          </a:p>
          <a:p>
            <a:r>
              <a:rPr lang="en-US" altLang="ko-KR" sz="1100" dirty="0"/>
              <a:t>            conv2d: </a:t>
            </a:r>
            <a:r>
              <a:rPr lang="ko-KR" altLang="en-US" sz="1100" dirty="0"/>
              <a:t>네 개의 </a:t>
            </a:r>
            <a:r>
              <a:rPr lang="en-US" altLang="ko-KR" sz="1100" dirty="0"/>
              <a:t>LightConv3x3</a:t>
            </a:r>
            <a:r>
              <a:rPr lang="ko-KR" altLang="en-US" sz="1100" dirty="0"/>
              <a:t>을 순차적으로 연결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en-US" altLang="ko-KR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   </a:t>
            </a:r>
            <a:r>
              <a:rPr lang="ko-KR" altLang="en-US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채널 게이트를 통한 중요도 조절</a:t>
            </a:r>
            <a:r>
              <a:rPr lang="en-US" altLang="ko-KR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</a:p>
          <a:p>
            <a:r>
              <a:rPr lang="en-US" altLang="ko-KR" sz="1100" dirty="0"/>
              <a:t>        </a:t>
            </a:r>
            <a:r>
              <a:rPr lang="ko-KR" altLang="en-US" sz="1100" dirty="0"/>
              <a:t>각 경로에서 추출된 특징 </a:t>
            </a:r>
            <a:r>
              <a:rPr lang="ko-KR" altLang="en-US" sz="1100" dirty="0" err="1"/>
              <a:t>맵들은</a:t>
            </a:r>
            <a:r>
              <a:rPr lang="ko-KR" altLang="en-US" sz="1100" dirty="0"/>
              <a:t> </a:t>
            </a:r>
            <a:r>
              <a:rPr lang="en-US" altLang="ko-KR" sz="1100" dirty="0" err="1"/>
              <a:t>ChannelGate</a:t>
            </a:r>
            <a:r>
              <a:rPr lang="ko-KR" altLang="en-US" sz="1100" dirty="0"/>
              <a:t>를 통해 </a:t>
            </a:r>
            <a:r>
              <a:rPr lang="ko-KR" altLang="en-US" sz="1100" dirty="0" err="1"/>
              <a:t>채널별</a:t>
            </a:r>
            <a:r>
              <a:rPr lang="ko-KR" altLang="en-US" sz="1100" dirty="0"/>
              <a:t> 중요도를 조절합니다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ChannelGate</a:t>
            </a:r>
            <a:r>
              <a:rPr lang="ko-KR" altLang="en-US" sz="1100" dirty="0"/>
              <a:t>는 입력 특징 </a:t>
            </a:r>
            <a:r>
              <a:rPr lang="ko-KR" altLang="en-US" sz="1100" dirty="0" err="1"/>
              <a:t>맵의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채널별로</a:t>
            </a:r>
            <a:r>
              <a:rPr lang="ko-KR" altLang="en-US" sz="1100" dirty="0"/>
              <a:t> 가중치를 학습하여</a:t>
            </a:r>
            <a:r>
              <a:rPr lang="en-US" altLang="ko-KR" sz="1100" dirty="0"/>
              <a:t>, </a:t>
            </a:r>
            <a:r>
              <a:rPr lang="ko-KR" altLang="en-US" sz="1100" dirty="0"/>
              <a:t>중요도가 높은 채널의 정보를 강조하고</a:t>
            </a:r>
            <a:r>
              <a:rPr lang="en-US" altLang="ko-KR" sz="1100" dirty="0"/>
              <a:t>, </a:t>
            </a:r>
            <a:r>
              <a:rPr lang="ko-KR" altLang="en-US" sz="1100" dirty="0"/>
              <a:t>중요도가 낮은 채널의 기여를 억제합니다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en-US" altLang="ko-KR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   </a:t>
            </a:r>
            <a:r>
              <a:rPr lang="ko-KR" altLang="en-US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합성된 특징 맵</a:t>
            </a:r>
            <a:r>
              <a:rPr lang="en-US" altLang="ko-KR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</a:p>
          <a:p>
            <a:r>
              <a:rPr lang="en-US" altLang="ko-KR" sz="1100" dirty="0"/>
              <a:t>        conv2a, conv2b, conv2c, conv2d</a:t>
            </a:r>
            <a:r>
              <a:rPr lang="ko-KR" altLang="en-US" sz="1100" dirty="0"/>
              <a:t>로 생성된 특징 </a:t>
            </a:r>
            <a:r>
              <a:rPr lang="ko-KR" altLang="en-US" sz="1100" dirty="0" err="1"/>
              <a:t>맵들은</a:t>
            </a:r>
            <a:r>
              <a:rPr lang="ko-KR" altLang="en-US" sz="1100" dirty="0"/>
              <a:t> 모두 </a:t>
            </a:r>
            <a:r>
              <a:rPr lang="en-US" altLang="ko-KR" sz="1100" dirty="0" err="1"/>
              <a:t>ChannelGate</a:t>
            </a:r>
            <a:r>
              <a:rPr lang="ko-KR" altLang="en-US" sz="1100" dirty="0"/>
              <a:t>를 거친 후</a:t>
            </a:r>
            <a:r>
              <a:rPr lang="en-US" altLang="ko-KR" sz="1100" dirty="0"/>
              <a:t>, </a:t>
            </a:r>
            <a:r>
              <a:rPr lang="ko-KR" altLang="en-US" sz="1100" dirty="0"/>
              <a:t>이 값들을 더하여 통합된 특징 </a:t>
            </a:r>
            <a:r>
              <a:rPr lang="ko-KR" altLang="en-US" sz="1100" dirty="0" err="1"/>
              <a:t>맵을</a:t>
            </a:r>
            <a:r>
              <a:rPr lang="ko-KR" altLang="en-US" sz="1100" dirty="0"/>
              <a:t> 형성합니다</a:t>
            </a:r>
            <a:r>
              <a:rPr lang="en-US" altLang="ko-KR" sz="1100" dirty="0"/>
              <a:t>. </a:t>
            </a:r>
            <a:r>
              <a:rPr lang="ko-KR" altLang="en-US" sz="1100" dirty="0"/>
              <a:t>이를 통해 다양한 스케일의 정보를 하나의 통합된 표현으로 결합합니다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en-US" altLang="ko-KR" sz="1100" dirty="0"/>
              <a:t>    </a:t>
            </a:r>
            <a:r>
              <a:rPr lang="en-US" altLang="ko-KR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1x1 </a:t>
            </a:r>
            <a:r>
              <a:rPr lang="ko-KR" altLang="en-US" sz="1100" dirty="0" err="1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컨볼루션을</a:t>
            </a:r>
            <a:r>
              <a:rPr lang="ko-KR" altLang="en-US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통한 차원 조정</a:t>
            </a:r>
            <a:r>
              <a:rPr lang="en-US" altLang="ko-KR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</a:p>
          <a:p>
            <a:r>
              <a:rPr lang="en-US" altLang="ko-KR" sz="1100" dirty="0"/>
              <a:t>        </a:t>
            </a:r>
            <a:r>
              <a:rPr lang="ko-KR" altLang="en-US" sz="1100" dirty="0"/>
              <a:t>통합된 특징 </a:t>
            </a:r>
            <a:r>
              <a:rPr lang="ko-KR" altLang="en-US" sz="1100" dirty="0" err="1"/>
              <a:t>맵은</a:t>
            </a:r>
            <a:r>
              <a:rPr lang="ko-KR" altLang="en-US" sz="1100" dirty="0"/>
              <a:t> </a:t>
            </a:r>
            <a:r>
              <a:rPr lang="en-US" altLang="ko-KR" sz="1100" dirty="0"/>
              <a:t>Conv1x1Linear </a:t>
            </a:r>
            <a:r>
              <a:rPr lang="ko-KR" altLang="en-US" sz="1100" dirty="0"/>
              <a:t>레이어를 통과하여</a:t>
            </a:r>
            <a:r>
              <a:rPr lang="en-US" altLang="ko-KR" sz="1100" dirty="0"/>
              <a:t>, </a:t>
            </a:r>
            <a:r>
              <a:rPr lang="ko-KR" altLang="en-US" sz="1100" dirty="0"/>
              <a:t>원하는 출력 채널 수로 조정됩니다</a:t>
            </a:r>
            <a:r>
              <a:rPr lang="en-US" altLang="ko-KR" sz="1100" dirty="0"/>
              <a:t>. </a:t>
            </a:r>
            <a:r>
              <a:rPr lang="ko-KR" altLang="en-US" sz="1100" dirty="0"/>
              <a:t>이 레이어는 활성화 함수가 없는 </a:t>
            </a:r>
            <a:r>
              <a:rPr lang="en-US" altLang="ko-KR" sz="1100" dirty="0"/>
              <a:t>1x1 </a:t>
            </a:r>
            <a:r>
              <a:rPr lang="ko-KR" altLang="en-US" sz="1100" dirty="0" err="1"/>
              <a:t>컨볼루션으로</a:t>
            </a:r>
            <a:r>
              <a:rPr lang="ko-KR" altLang="en-US" sz="1100" dirty="0"/>
              <a:t> 구성되어 있어</a:t>
            </a:r>
            <a:r>
              <a:rPr lang="en-US" altLang="ko-KR" sz="1100" dirty="0"/>
              <a:t>, </a:t>
            </a:r>
            <a:r>
              <a:rPr lang="ko-KR" altLang="en-US" sz="1100" dirty="0"/>
              <a:t>특징을 선형적으로 변환합니다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en-US" altLang="ko-KR" sz="1100" dirty="0"/>
              <a:t>    </a:t>
            </a:r>
            <a:r>
              <a:rPr lang="ko-KR" altLang="en-US" sz="1100" dirty="0" err="1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잔차</a:t>
            </a:r>
            <a:r>
              <a:rPr lang="ko-KR" altLang="en-US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연결 </a:t>
            </a:r>
            <a:r>
              <a:rPr lang="en-US" altLang="ko-KR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(Residual Connection):</a:t>
            </a:r>
          </a:p>
          <a:p>
            <a:r>
              <a:rPr lang="en-US" altLang="ko-KR" sz="1100" dirty="0"/>
              <a:t>        </a:t>
            </a:r>
            <a:r>
              <a:rPr lang="ko-KR" altLang="en-US" sz="1100" dirty="0"/>
              <a:t>입력 </a:t>
            </a:r>
            <a:r>
              <a:rPr lang="ko-KR" altLang="en-US" sz="1100" dirty="0" err="1"/>
              <a:t>텐서와</a:t>
            </a:r>
            <a:r>
              <a:rPr lang="ko-KR" altLang="en-US" sz="1100" dirty="0"/>
              <a:t> 통합된 특징 </a:t>
            </a:r>
            <a:r>
              <a:rPr lang="ko-KR" altLang="en-US" sz="1100" dirty="0" err="1"/>
              <a:t>맵을</a:t>
            </a:r>
            <a:r>
              <a:rPr lang="ko-KR" altLang="en-US" sz="1100" dirty="0"/>
              <a:t> 합쳐서 최종 출력을 생성합니다</a:t>
            </a:r>
            <a:r>
              <a:rPr lang="en-US" altLang="ko-KR" sz="1100" dirty="0"/>
              <a:t>. </a:t>
            </a:r>
            <a:r>
              <a:rPr lang="ko-KR" altLang="en-US" sz="1100" dirty="0"/>
              <a:t>이는 </a:t>
            </a:r>
            <a:r>
              <a:rPr lang="ko-KR" altLang="en-US" sz="1100" dirty="0" err="1"/>
              <a:t>잔차</a:t>
            </a:r>
            <a:r>
              <a:rPr lang="ko-KR" altLang="en-US" sz="1100" dirty="0"/>
              <a:t> 연결을 통해 학습을 안정화하고</a:t>
            </a:r>
            <a:r>
              <a:rPr lang="en-US" altLang="ko-KR" sz="1100" dirty="0"/>
              <a:t>, </a:t>
            </a:r>
            <a:r>
              <a:rPr lang="ko-KR" altLang="en-US" sz="1100" dirty="0"/>
              <a:t>입력 정보를 유지하며 추가적인 특징을 학습하도록 돕습니다</a:t>
            </a:r>
            <a:r>
              <a:rPr lang="en-US" altLang="ko-KR" sz="1100" dirty="0"/>
              <a:t>.</a:t>
            </a:r>
          </a:p>
          <a:p>
            <a:r>
              <a:rPr lang="en-US" altLang="ko-KR" sz="1100" dirty="0"/>
              <a:t>        </a:t>
            </a:r>
            <a:r>
              <a:rPr lang="ko-KR" altLang="en-US" sz="1100" dirty="0"/>
              <a:t>만약 입력 채널 수와 출력 채널 수가 다르면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downsample</a:t>
            </a:r>
            <a:r>
              <a:rPr lang="en-US" altLang="ko-KR" sz="1100" dirty="0"/>
              <a:t> </a:t>
            </a:r>
            <a:r>
              <a:rPr lang="ko-KR" altLang="en-US" sz="1100" dirty="0"/>
              <a:t>레이어를 사용하여 입력의 채널 수를 출력의 채널 수와 맞춰줍니다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en-US" altLang="ko-KR" sz="1100" dirty="0"/>
              <a:t>    </a:t>
            </a:r>
            <a:r>
              <a:rPr lang="ko-KR" altLang="en-US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활성화 함수</a:t>
            </a:r>
            <a:r>
              <a:rPr lang="en-US" altLang="ko-KR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</a:p>
          <a:p>
            <a:r>
              <a:rPr lang="en-US" altLang="ko-KR" sz="1100" dirty="0"/>
              <a:t>        </a:t>
            </a:r>
            <a:r>
              <a:rPr lang="ko-KR" altLang="en-US" sz="1100" dirty="0"/>
              <a:t>마지막으로</a:t>
            </a:r>
            <a:r>
              <a:rPr lang="en-US" altLang="ko-KR" sz="1100" dirty="0"/>
              <a:t>, </a:t>
            </a:r>
            <a:r>
              <a:rPr lang="ko-KR" altLang="en-US" sz="1100" dirty="0"/>
              <a:t>합성된 출력에 </a:t>
            </a:r>
            <a:r>
              <a:rPr lang="en-US" altLang="ko-KR" sz="1100" dirty="0" err="1"/>
              <a:t>ReLU</a:t>
            </a:r>
            <a:r>
              <a:rPr lang="en-US" altLang="ko-KR" sz="1100" dirty="0"/>
              <a:t> </a:t>
            </a:r>
            <a:r>
              <a:rPr lang="ko-KR" altLang="en-US" sz="1100" dirty="0"/>
              <a:t>활성화 함수가 적용되어 비선형성이 추가됩니다</a:t>
            </a:r>
            <a:r>
              <a:rPr lang="en-US" altLang="ko-KR" sz="1100" dirty="0"/>
              <a:t>.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02641005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29573" y="314530"/>
            <a:ext cx="2541175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err="1">
                <a:solidFill>
                  <a:srgbClr val="0E0585"/>
                </a:solidFill>
              </a:rPr>
              <a:t>def</a:t>
            </a:r>
            <a:r>
              <a:rPr lang="en-US" altLang="ko-KR" sz="2400" b="1" dirty="0">
                <a:solidFill>
                  <a:srgbClr val="0E0585"/>
                </a:solidFill>
              </a:rPr>
              <a:t> _</a:t>
            </a:r>
            <a:r>
              <a:rPr lang="en-US" altLang="ko-KR" sz="2400" b="1" dirty="0" err="1">
                <a:solidFill>
                  <a:srgbClr val="0E0585"/>
                </a:solidFill>
              </a:rPr>
              <a:t>make_layer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746761" y="1856966"/>
            <a:ext cx="174498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OSBlock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46761" y="2703262"/>
            <a:ext cx="174498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OSBlock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746761" y="1182325"/>
            <a:ext cx="1744980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def</a:t>
            </a:r>
            <a:r>
              <a:rPr lang="en-US" altLang="ko-KR" sz="14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_</a:t>
            </a:r>
            <a:r>
              <a:rPr lang="en-US" altLang="ko-KR" sz="14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make_layer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8" name="직선 화살표 연결선 7"/>
          <p:cNvCxnSpPr>
            <a:stCxn id="6" idx="2"/>
            <a:endCxn id="4" idx="0"/>
          </p:cNvCxnSpPr>
          <p:nvPr/>
        </p:nvCxnSpPr>
        <p:spPr>
          <a:xfrm>
            <a:off x="1619251" y="1549601"/>
            <a:ext cx="0" cy="3073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/>
          <p:cNvCxnSpPr>
            <a:stCxn id="4" idx="2"/>
            <a:endCxn id="5" idx="0"/>
          </p:cNvCxnSpPr>
          <p:nvPr/>
        </p:nvCxnSpPr>
        <p:spPr>
          <a:xfrm>
            <a:off x="1619251" y="2224242"/>
            <a:ext cx="0" cy="479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타원 12"/>
          <p:cNvSpPr/>
          <p:nvPr/>
        </p:nvSpPr>
        <p:spPr>
          <a:xfrm>
            <a:off x="2648426" y="2276629"/>
            <a:ext cx="97155" cy="95096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/>
          <p:cNvSpPr/>
          <p:nvPr/>
        </p:nvSpPr>
        <p:spPr>
          <a:xfrm>
            <a:off x="2648425" y="2416204"/>
            <a:ext cx="97155" cy="95096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2648425" y="2555779"/>
            <a:ext cx="97155" cy="95096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2802991" y="2511300"/>
            <a:ext cx="142848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smtClean="0">
                <a:solidFill>
                  <a:schemeClr val="accent6">
                    <a:lumMod val="50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layer </a:t>
            </a:r>
            <a:r>
              <a:rPr lang="ko-KR" altLang="en-US" sz="1100" dirty="0" smtClean="0">
                <a:solidFill>
                  <a:schemeClr val="accent6">
                    <a:lumMod val="50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개수 만큼 추가</a:t>
            </a:r>
            <a:endParaRPr lang="en-US" altLang="ko-KR" sz="1100" dirty="0">
              <a:solidFill>
                <a:schemeClr val="accent6">
                  <a:lumMod val="50000"/>
                </a:schemeClr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1619252" y="1594080"/>
            <a:ext cx="102917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in_ch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1561839" y="2324177"/>
            <a:ext cx="102917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out_ch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1561839" y="3171749"/>
            <a:ext cx="102917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out_ch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2" name="순서도: 판단 21"/>
          <p:cNvSpPr/>
          <p:nvPr/>
        </p:nvSpPr>
        <p:spPr>
          <a:xfrm>
            <a:off x="756956" y="3549558"/>
            <a:ext cx="1724590" cy="537956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reduce_spatial_size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? True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3" name="직선 화살표 연결선 22"/>
          <p:cNvCxnSpPr>
            <a:stCxn id="5" idx="2"/>
            <a:endCxn id="22" idx="0"/>
          </p:cNvCxnSpPr>
          <p:nvPr/>
        </p:nvCxnSpPr>
        <p:spPr>
          <a:xfrm>
            <a:off x="1619251" y="3070538"/>
            <a:ext cx="0" cy="479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직사각형 26"/>
          <p:cNvSpPr/>
          <p:nvPr/>
        </p:nvSpPr>
        <p:spPr>
          <a:xfrm>
            <a:off x="1924444" y="3999754"/>
            <a:ext cx="87854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YES :default</a:t>
            </a:r>
            <a:endParaRPr lang="ko-KR" altLang="en-US" sz="1000" dirty="0"/>
          </a:p>
        </p:txBody>
      </p:sp>
      <p:sp>
        <p:nvSpPr>
          <p:cNvPr id="28" name="직사각형 27"/>
          <p:cNvSpPr/>
          <p:nvPr/>
        </p:nvSpPr>
        <p:spPr>
          <a:xfrm>
            <a:off x="2574178" y="3534570"/>
            <a:ext cx="49657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NO</a:t>
            </a:r>
            <a:endParaRPr lang="ko-KR" altLang="en-US" sz="1000" dirty="0"/>
          </a:p>
        </p:txBody>
      </p:sp>
      <p:sp>
        <p:nvSpPr>
          <p:cNvPr id="29" name="직사각형 28"/>
          <p:cNvSpPr/>
          <p:nvPr/>
        </p:nvSpPr>
        <p:spPr>
          <a:xfrm>
            <a:off x="736566" y="4434920"/>
            <a:ext cx="174498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Conv1x1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0" name="직선 화살표 연결선 29"/>
          <p:cNvCxnSpPr>
            <a:stCxn id="22" idx="2"/>
            <a:endCxn id="29" idx="0"/>
          </p:cNvCxnSpPr>
          <p:nvPr/>
        </p:nvCxnSpPr>
        <p:spPr>
          <a:xfrm flipH="1">
            <a:off x="1609056" y="4087514"/>
            <a:ext cx="10195" cy="347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직사각형 33"/>
          <p:cNvSpPr/>
          <p:nvPr/>
        </p:nvSpPr>
        <p:spPr>
          <a:xfrm>
            <a:off x="1715056" y="4181030"/>
            <a:ext cx="102917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out_ch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1715056" y="4823746"/>
            <a:ext cx="102917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out_ch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735910" y="5268258"/>
            <a:ext cx="174498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AvgPool1d(2,stride=2)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7" name="직선 화살표 연결선 36"/>
          <p:cNvCxnSpPr>
            <a:stCxn id="29" idx="2"/>
            <a:endCxn id="36" idx="0"/>
          </p:cNvCxnSpPr>
          <p:nvPr/>
        </p:nvCxnSpPr>
        <p:spPr>
          <a:xfrm flipH="1">
            <a:off x="1608400" y="4802196"/>
            <a:ext cx="656" cy="4660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/>
          <p:cNvSpPr/>
          <p:nvPr/>
        </p:nvSpPr>
        <p:spPr>
          <a:xfrm>
            <a:off x="2850230" y="4668548"/>
            <a:ext cx="329850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chemeClr val="accent6">
                    <a:lumMod val="50000"/>
                  </a:schemeClr>
                </a:solidFill>
                <a:latin typeface="+mn-ea"/>
              </a:rPr>
              <a:t>nn.AvgPool2d(2, stride=2</a:t>
            </a:r>
            <a:r>
              <a:rPr lang="en-US" altLang="ko-KR" sz="1000" dirty="0" smtClean="0">
                <a:solidFill>
                  <a:schemeClr val="accent6">
                    <a:lumMod val="50000"/>
                  </a:schemeClr>
                </a:solidFill>
                <a:latin typeface="+mn-ea"/>
              </a:rPr>
              <a:t>) </a:t>
            </a:r>
            <a:r>
              <a:rPr lang="ko-KR" altLang="en-US" sz="1000" dirty="0" smtClean="0">
                <a:solidFill>
                  <a:schemeClr val="accent6">
                    <a:lumMod val="50000"/>
                  </a:schemeClr>
                </a:solidFill>
                <a:latin typeface="+mn-ea"/>
              </a:rPr>
              <a:t>동작 </a:t>
            </a:r>
            <a:r>
              <a:rPr lang="ko-KR" altLang="en-US" sz="1000" dirty="0">
                <a:solidFill>
                  <a:schemeClr val="accent6">
                    <a:lumMod val="50000"/>
                  </a:schemeClr>
                </a:solidFill>
                <a:latin typeface="+mn-ea"/>
              </a:rPr>
              <a:t>방식</a:t>
            </a:r>
            <a:r>
              <a:rPr lang="en-US" altLang="ko-KR" sz="1000" dirty="0">
                <a:solidFill>
                  <a:schemeClr val="accent6">
                    <a:lumMod val="50000"/>
                  </a:schemeClr>
                </a:solidFill>
                <a:latin typeface="+mn-ea"/>
              </a:rPr>
              <a:t>:</a:t>
            </a:r>
          </a:p>
          <a:p>
            <a:endParaRPr lang="en-US" altLang="ko-KR" sz="1000" dirty="0">
              <a:latin typeface="+mn-ea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+mn-ea"/>
              </a:rPr>
              <a:t>    </a:t>
            </a:r>
            <a:r>
              <a:rPr lang="ko-KR" altLang="en-US" sz="1000" dirty="0">
                <a:latin typeface="+mn-ea"/>
              </a:rPr>
              <a:t>입력 </a:t>
            </a:r>
            <a:r>
              <a:rPr lang="ko-KR" altLang="en-US" sz="1000" dirty="0" err="1">
                <a:latin typeface="+mn-ea"/>
              </a:rPr>
              <a:t>텐서</a:t>
            </a:r>
            <a:r>
              <a:rPr lang="ko-KR" altLang="en-US" sz="1000" dirty="0">
                <a:latin typeface="+mn-ea"/>
              </a:rPr>
              <a:t> 크기</a:t>
            </a:r>
            <a:r>
              <a:rPr lang="en-US" altLang="ko-KR" sz="1000" dirty="0">
                <a:latin typeface="+mn-ea"/>
              </a:rPr>
              <a:t>: (N, C, H, W)</a:t>
            </a:r>
          </a:p>
          <a:p>
            <a:r>
              <a:rPr lang="en-US" altLang="ko-KR" sz="1000" dirty="0">
                <a:latin typeface="+mn-ea"/>
              </a:rPr>
              <a:t>        NN: </a:t>
            </a:r>
            <a:r>
              <a:rPr lang="ko-KR" altLang="en-US" sz="1000" dirty="0">
                <a:latin typeface="+mn-ea"/>
              </a:rPr>
              <a:t>배치 크기</a:t>
            </a:r>
          </a:p>
          <a:p>
            <a:r>
              <a:rPr lang="ko-KR" altLang="en-US" sz="1000" dirty="0">
                <a:latin typeface="+mn-ea"/>
              </a:rPr>
              <a:t>        </a:t>
            </a:r>
            <a:r>
              <a:rPr lang="en-US" altLang="ko-KR" sz="1000" dirty="0">
                <a:latin typeface="+mn-ea"/>
              </a:rPr>
              <a:t>CC: </a:t>
            </a:r>
            <a:r>
              <a:rPr lang="ko-KR" altLang="en-US" sz="1000" dirty="0">
                <a:latin typeface="+mn-ea"/>
              </a:rPr>
              <a:t>채널 수</a:t>
            </a:r>
          </a:p>
          <a:p>
            <a:r>
              <a:rPr lang="ko-KR" altLang="en-US" sz="1000" dirty="0">
                <a:latin typeface="+mn-ea"/>
              </a:rPr>
              <a:t>        </a:t>
            </a:r>
            <a:r>
              <a:rPr lang="en-US" altLang="ko-KR" sz="1000" dirty="0">
                <a:latin typeface="+mn-ea"/>
              </a:rPr>
              <a:t>HH: </a:t>
            </a:r>
            <a:r>
              <a:rPr lang="ko-KR" altLang="en-US" sz="1000" dirty="0">
                <a:latin typeface="+mn-ea"/>
              </a:rPr>
              <a:t>높이</a:t>
            </a:r>
          </a:p>
          <a:p>
            <a:r>
              <a:rPr lang="ko-KR" altLang="en-US" sz="1000" dirty="0">
                <a:latin typeface="+mn-ea"/>
              </a:rPr>
              <a:t>        </a:t>
            </a:r>
            <a:r>
              <a:rPr lang="en-US" altLang="ko-KR" sz="1000" dirty="0">
                <a:latin typeface="+mn-ea"/>
              </a:rPr>
              <a:t>WW: </a:t>
            </a:r>
            <a:r>
              <a:rPr lang="ko-KR" altLang="en-US" sz="1000" dirty="0">
                <a:latin typeface="+mn-ea"/>
              </a:rPr>
              <a:t>너비</a:t>
            </a:r>
          </a:p>
          <a:p>
            <a:endParaRPr lang="ko-KR" altLang="en-US" sz="1000" dirty="0">
              <a:latin typeface="+mn-ea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+mn-ea"/>
              </a:rPr>
              <a:t>    출력 </a:t>
            </a:r>
            <a:r>
              <a:rPr lang="ko-KR" altLang="en-US" sz="1000" dirty="0" err="1">
                <a:latin typeface="+mn-ea"/>
              </a:rPr>
              <a:t>텐서</a:t>
            </a:r>
            <a:r>
              <a:rPr lang="ko-KR" altLang="en-US" sz="1000" dirty="0">
                <a:latin typeface="+mn-ea"/>
              </a:rPr>
              <a:t> 크기</a:t>
            </a:r>
            <a:r>
              <a:rPr lang="en-US" altLang="ko-KR" sz="1000" dirty="0">
                <a:latin typeface="+mn-ea"/>
              </a:rPr>
              <a:t>: (N, C, H/2, W/2)</a:t>
            </a:r>
          </a:p>
          <a:p>
            <a:r>
              <a:rPr lang="en-US" altLang="ko-KR" sz="1000" dirty="0">
                <a:latin typeface="+mn-ea"/>
              </a:rPr>
              <a:t>        </a:t>
            </a:r>
            <a:r>
              <a:rPr lang="ko-KR" altLang="en-US" sz="1000" dirty="0">
                <a:latin typeface="+mn-ea"/>
              </a:rPr>
              <a:t>높이와 너비가 각각 </a:t>
            </a:r>
            <a:r>
              <a:rPr lang="en-US" altLang="ko-KR" sz="1000" dirty="0">
                <a:latin typeface="+mn-ea"/>
              </a:rPr>
              <a:t>2</a:t>
            </a:r>
            <a:r>
              <a:rPr lang="ko-KR" altLang="en-US" sz="1000" dirty="0">
                <a:latin typeface="+mn-ea"/>
              </a:rPr>
              <a:t>로 나뉘어 줄어듭니다</a:t>
            </a:r>
            <a:r>
              <a:rPr lang="en-US" altLang="ko-KR" sz="1000" dirty="0">
                <a:latin typeface="+mn-ea"/>
              </a:rPr>
              <a:t>.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2" name="모서리가 둥근 직사각형 41"/>
          <p:cNvSpPr/>
          <p:nvPr/>
        </p:nvSpPr>
        <p:spPr>
          <a:xfrm>
            <a:off x="577680" y="5955857"/>
            <a:ext cx="2061439" cy="447491"/>
          </a:xfrm>
          <a:prstGeom prst="roundRect">
            <a:avLst>
              <a:gd name="adj" fmla="val 50000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return </a:t>
            </a:r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nn.Sequential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(*layers)</a:t>
            </a:r>
          </a:p>
        </p:txBody>
      </p:sp>
      <p:cxnSp>
        <p:nvCxnSpPr>
          <p:cNvPr id="43" name="직선 화살표 연결선 42"/>
          <p:cNvCxnSpPr>
            <a:stCxn id="36" idx="2"/>
            <a:endCxn id="42" idx="0"/>
          </p:cNvCxnSpPr>
          <p:nvPr/>
        </p:nvCxnSpPr>
        <p:spPr>
          <a:xfrm>
            <a:off x="1608400" y="5635534"/>
            <a:ext cx="0" cy="3203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모서리가 둥근 직사각형 49"/>
          <p:cNvSpPr/>
          <p:nvPr/>
        </p:nvSpPr>
        <p:spPr>
          <a:xfrm>
            <a:off x="3259698" y="3594790"/>
            <a:ext cx="2061439" cy="447491"/>
          </a:xfrm>
          <a:prstGeom prst="roundRect">
            <a:avLst>
              <a:gd name="adj" fmla="val 50000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return </a:t>
            </a:r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nn.Sequential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(*layers)</a:t>
            </a:r>
          </a:p>
        </p:txBody>
      </p:sp>
      <p:cxnSp>
        <p:nvCxnSpPr>
          <p:cNvPr id="51" name="직선 화살표 연결선 50"/>
          <p:cNvCxnSpPr>
            <a:stCxn id="22" idx="3"/>
            <a:endCxn id="50" idx="1"/>
          </p:cNvCxnSpPr>
          <p:nvPr/>
        </p:nvCxnSpPr>
        <p:spPr>
          <a:xfrm>
            <a:off x="2481546" y="3818536"/>
            <a:ext cx="7781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연결선 54"/>
          <p:cNvCxnSpPr>
            <a:stCxn id="19" idx="3"/>
            <a:endCxn id="20" idx="3"/>
          </p:cNvCxnSpPr>
          <p:nvPr/>
        </p:nvCxnSpPr>
        <p:spPr>
          <a:xfrm flipH="1">
            <a:off x="2591013" y="1724885"/>
            <a:ext cx="57413" cy="730097"/>
          </a:xfrm>
          <a:prstGeom prst="bentConnector3">
            <a:avLst>
              <a:gd name="adj1" fmla="val -3079163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연결선 56"/>
          <p:cNvCxnSpPr/>
          <p:nvPr/>
        </p:nvCxnSpPr>
        <p:spPr>
          <a:xfrm flipH="1">
            <a:off x="2569024" y="2525184"/>
            <a:ext cx="57413" cy="730097"/>
          </a:xfrm>
          <a:prstGeom prst="bentConnector3">
            <a:avLst>
              <a:gd name="adj1" fmla="val -3079163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직사각형 57"/>
          <p:cNvSpPr/>
          <p:nvPr/>
        </p:nvSpPr>
        <p:spPr>
          <a:xfrm>
            <a:off x="4606892" y="1959128"/>
            <a:ext cx="142848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100" dirty="0" smtClean="0">
                <a:solidFill>
                  <a:schemeClr val="accent6">
                    <a:lumMod val="50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채널 증가</a:t>
            </a:r>
            <a:endParaRPr lang="en-US" altLang="ko-KR" sz="1100" dirty="0">
              <a:solidFill>
                <a:schemeClr val="accent6">
                  <a:lumMod val="50000"/>
                </a:schemeClr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59" name="직사각형 58"/>
          <p:cNvSpPr/>
          <p:nvPr/>
        </p:nvSpPr>
        <p:spPr>
          <a:xfrm>
            <a:off x="4606891" y="2756095"/>
            <a:ext cx="142848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100" dirty="0" smtClean="0">
                <a:solidFill>
                  <a:schemeClr val="accent6">
                    <a:lumMod val="50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채널 유지</a:t>
            </a:r>
            <a:endParaRPr lang="en-US" altLang="ko-KR" sz="1100" dirty="0">
              <a:solidFill>
                <a:schemeClr val="accent6">
                  <a:lumMod val="50000"/>
                </a:schemeClr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4348291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45540" y="314530"/>
            <a:ext cx="2509243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OSNet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634435" y="1130950"/>
            <a:ext cx="1975910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14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</a:t>
            </a:r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2220306" y="1643606"/>
            <a:ext cx="3791515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self.conv1 =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ConvLayer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(3, channels[0], 7, stride=2, padding=3, IN=IN)</a:t>
            </a:r>
          </a:p>
        </p:txBody>
      </p:sp>
      <p:cxnSp>
        <p:nvCxnSpPr>
          <p:cNvPr id="5" name="꺾인 연결선 4"/>
          <p:cNvCxnSpPr>
            <a:stCxn id="3" idx="2"/>
            <a:endCxn id="4" idx="1"/>
          </p:cNvCxnSpPr>
          <p:nvPr/>
        </p:nvCxnSpPr>
        <p:spPr>
          <a:xfrm rot="16200000" flipH="1">
            <a:off x="1756839" y="1363777"/>
            <a:ext cx="329018" cy="59791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7035235" y="1661399"/>
            <a:ext cx="1975910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Conv2d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8907215" y="3014835"/>
            <a:ext cx="1370260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BatchNorm2d</a:t>
            </a:r>
            <a:endParaRPr lang="en-US" altLang="ko-KR" sz="12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7300948" y="3632438"/>
            <a:ext cx="1444484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ReLU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5" name="직선 화살표 연결선 14"/>
          <p:cNvCxnSpPr>
            <a:stCxn id="12" idx="2"/>
            <a:endCxn id="37" idx="0"/>
          </p:cNvCxnSpPr>
          <p:nvPr/>
        </p:nvCxnSpPr>
        <p:spPr>
          <a:xfrm>
            <a:off x="8023190" y="2028675"/>
            <a:ext cx="0" cy="2241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표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7352672"/>
              </p:ext>
            </p:extLst>
          </p:nvPr>
        </p:nvGraphicFramePr>
        <p:xfrm>
          <a:off x="6978721" y="1182049"/>
          <a:ext cx="3459198" cy="2993964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459198">
                  <a:extLst>
                    <a:ext uri="{9D8B030D-6E8A-4147-A177-3AD203B41FA5}">
                      <a16:colId xmlns:a16="http://schemas.microsoft.com/office/drawing/2014/main" val="2590600746"/>
                    </a:ext>
                  </a:extLst>
                </a:gridCol>
              </a:tblGrid>
              <a:tr h="400344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kern="1200" dirty="0" err="1" smtClean="0">
                          <a:effectLst/>
                        </a:rPr>
                        <a:t>ConvLayer</a:t>
                      </a:r>
                      <a:endParaRPr lang="en-US" altLang="ko-KR" sz="12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890123"/>
                  </a:ext>
                </a:extLst>
              </a:tr>
              <a:tr h="2593620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7178603"/>
                  </a:ext>
                </a:extLst>
              </a:tr>
            </a:tbl>
          </a:graphicData>
        </a:graphic>
      </p:graphicFrame>
      <p:cxnSp>
        <p:nvCxnSpPr>
          <p:cNvPr id="20" name="구부러진 연결선 19"/>
          <p:cNvCxnSpPr>
            <a:stCxn id="19" idx="1"/>
            <a:endCxn id="4" idx="3"/>
          </p:cNvCxnSpPr>
          <p:nvPr/>
        </p:nvCxnSpPr>
        <p:spPr>
          <a:xfrm rot="10800000">
            <a:off x="6011821" y="1827245"/>
            <a:ext cx="966900" cy="851787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2220306" y="2232799"/>
            <a:ext cx="3791515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self.maxpool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nn.MaxPool2d(3, stride=2, padding=1)</a:t>
            </a:r>
          </a:p>
        </p:txBody>
      </p:sp>
      <p:cxnSp>
        <p:nvCxnSpPr>
          <p:cNvPr id="24" name="직선 화살표 연결선 23"/>
          <p:cNvCxnSpPr>
            <a:stCxn id="4" idx="2"/>
            <a:endCxn id="23" idx="0"/>
          </p:cNvCxnSpPr>
          <p:nvPr/>
        </p:nvCxnSpPr>
        <p:spPr>
          <a:xfrm>
            <a:off x="4116064" y="2010882"/>
            <a:ext cx="0" cy="2219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직사각형 26"/>
          <p:cNvSpPr/>
          <p:nvPr/>
        </p:nvSpPr>
        <p:spPr>
          <a:xfrm>
            <a:off x="6920511" y="4364706"/>
            <a:ext cx="3649841" cy="9387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nn.InstanceNorm2d</a:t>
            </a:r>
            <a:r>
              <a:rPr lang="ko-KR" altLang="en-US" sz="11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는 이미지의 각 채널을 독립적으로 </a:t>
            </a:r>
            <a:r>
              <a:rPr lang="ko-KR" altLang="en-US" sz="1100" dirty="0" err="1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정규화하여</a:t>
            </a:r>
            <a:r>
              <a:rPr lang="en-US" altLang="ko-KR" sz="11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스타일 정보를 효과적으로 제어하고 배치 크기에 의존하지 않는 학습을 가능하게 합니다</a:t>
            </a:r>
            <a:r>
              <a:rPr lang="en-US" altLang="ko-KR" sz="11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</a:t>
            </a:r>
            <a:r>
              <a:rPr lang="ko-KR" altLang="en-US" sz="11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이는 이미지 생성</a:t>
            </a:r>
            <a:r>
              <a:rPr lang="en-US" altLang="ko-KR" sz="11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스타일 전이 등 다양한 컴퓨터 비전 작업에서 중요한 역할을 합니다</a:t>
            </a:r>
            <a:r>
              <a:rPr lang="en-US" altLang="ko-KR" sz="11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</a:t>
            </a:r>
          </a:p>
        </p:txBody>
      </p:sp>
      <p:sp>
        <p:nvSpPr>
          <p:cNvPr id="29" name="직사각형 28"/>
          <p:cNvSpPr/>
          <p:nvPr/>
        </p:nvSpPr>
        <p:spPr>
          <a:xfrm>
            <a:off x="6920510" y="5239358"/>
            <a:ext cx="3649841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nn.BatchNorm2d</a:t>
            </a:r>
            <a:r>
              <a:rPr lang="ko-KR" altLang="en-US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는 주어진 배치</a:t>
            </a:r>
            <a:r>
              <a:rPr lang="en-US" altLang="ko-KR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(batch) </a:t>
            </a:r>
            <a:r>
              <a:rPr lang="ko-KR" altLang="en-US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내에서 동일한 채널에 대해 정규화를 수행합니다</a:t>
            </a:r>
            <a:r>
              <a:rPr lang="en-US" altLang="ko-KR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</a:t>
            </a:r>
            <a:r>
              <a:rPr lang="ko-KR" altLang="en-US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즉</a:t>
            </a:r>
            <a:r>
              <a:rPr lang="en-US" altLang="ko-KR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배치에 속한 모든 이미지를 사용하여 각 채널의 평균과 분산을 계산하고</a:t>
            </a:r>
            <a:r>
              <a:rPr lang="en-US" altLang="ko-KR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이를 이용해 </a:t>
            </a:r>
            <a:r>
              <a:rPr lang="ko-KR" altLang="en-US" sz="1100" dirty="0" err="1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정규화합니다</a:t>
            </a:r>
            <a:r>
              <a:rPr lang="en-US" altLang="ko-KR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</p:txBody>
      </p:sp>
      <p:sp>
        <p:nvSpPr>
          <p:cNvPr id="37" name="순서도: 판단 36"/>
          <p:cNvSpPr/>
          <p:nvPr/>
        </p:nvSpPr>
        <p:spPr>
          <a:xfrm>
            <a:off x="7160895" y="2252777"/>
            <a:ext cx="1724590" cy="537956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 == True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4" name="꺾인 연결선 43"/>
          <p:cNvCxnSpPr>
            <a:stCxn id="13" idx="2"/>
            <a:endCxn id="14" idx="3"/>
          </p:cNvCxnSpPr>
          <p:nvPr/>
        </p:nvCxnSpPr>
        <p:spPr>
          <a:xfrm rot="5400000">
            <a:off x="8951907" y="3175637"/>
            <a:ext cx="433965" cy="84691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/>
          <p:cNvSpPr/>
          <p:nvPr/>
        </p:nvSpPr>
        <p:spPr>
          <a:xfrm>
            <a:off x="7338060" y="3014835"/>
            <a:ext cx="1370260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InstanceNorm2d</a:t>
            </a:r>
          </a:p>
        </p:txBody>
      </p:sp>
      <p:cxnSp>
        <p:nvCxnSpPr>
          <p:cNvPr id="50" name="직선 화살표 연결선 49"/>
          <p:cNvCxnSpPr>
            <a:stCxn id="37" idx="2"/>
            <a:endCxn id="48" idx="0"/>
          </p:cNvCxnSpPr>
          <p:nvPr/>
        </p:nvCxnSpPr>
        <p:spPr>
          <a:xfrm>
            <a:off x="8023190" y="2790733"/>
            <a:ext cx="0" cy="2241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연결선 52"/>
          <p:cNvCxnSpPr>
            <a:stCxn id="37" idx="3"/>
            <a:endCxn id="13" idx="0"/>
          </p:cNvCxnSpPr>
          <p:nvPr/>
        </p:nvCxnSpPr>
        <p:spPr>
          <a:xfrm>
            <a:off x="8885485" y="2521755"/>
            <a:ext cx="706860" cy="49308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/>
          <p:cNvCxnSpPr>
            <a:stCxn id="48" idx="2"/>
            <a:endCxn id="14" idx="0"/>
          </p:cNvCxnSpPr>
          <p:nvPr/>
        </p:nvCxnSpPr>
        <p:spPr>
          <a:xfrm>
            <a:off x="8023190" y="3382111"/>
            <a:ext cx="0" cy="2503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/>
          <p:cNvSpPr/>
          <p:nvPr/>
        </p:nvSpPr>
        <p:spPr>
          <a:xfrm>
            <a:off x="3220678" y="447780"/>
            <a:ext cx="2570849" cy="13388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900" dirty="0"/>
              <a:t>model = </a:t>
            </a:r>
            <a:r>
              <a:rPr lang="en-US" altLang="ko-KR" sz="900" dirty="0" err="1"/>
              <a:t>OSNet</a:t>
            </a:r>
            <a:r>
              <a:rPr lang="en-US" altLang="ko-KR" sz="900" dirty="0"/>
              <a:t>(</a:t>
            </a:r>
          </a:p>
          <a:p>
            <a:r>
              <a:rPr lang="en-US" altLang="ko-KR" sz="900" dirty="0"/>
              <a:t>        </a:t>
            </a:r>
            <a:r>
              <a:rPr lang="en-US" altLang="ko-KR" sz="900" dirty="0" err="1"/>
              <a:t>num_classes</a:t>
            </a:r>
            <a:r>
              <a:rPr lang="en-US" altLang="ko-KR" sz="900" dirty="0"/>
              <a:t>,</a:t>
            </a:r>
          </a:p>
          <a:p>
            <a:r>
              <a:rPr lang="en-US" altLang="ko-KR" sz="900" dirty="0"/>
              <a:t>        blocks=[</a:t>
            </a:r>
            <a:r>
              <a:rPr lang="en-US" altLang="ko-KR" sz="900" dirty="0" err="1"/>
              <a:t>OSBlock</a:t>
            </a:r>
            <a:r>
              <a:rPr lang="en-US" altLang="ko-KR" sz="900" dirty="0"/>
              <a:t>, </a:t>
            </a:r>
            <a:r>
              <a:rPr lang="en-US" altLang="ko-KR" sz="900" dirty="0" err="1"/>
              <a:t>OSBlock</a:t>
            </a:r>
            <a:r>
              <a:rPr lang="en-US" altLang="ko-KR" sz="900" dirty="0"/>
              <a:t>, </a:t>
            </a:r>
            <a:r>
              <a:rPr lang="en-US" altLang="ko-KR" sz="900" dirty="0" err="1"/>
              <a:t>OSBlock</a:t>
            </a:r>
            <a:r>
              <a:rPr lang="en-US" altLang="ko-KR" sz="900" dirty="0"/>
              <a:t>],</a:t>
            </a:r>
          </a:p>
          <a:p>
            <a:r>
              <a:rPr lang="en-US" altLang="ko-KR" sz="900" dirty="0"/>
              <a:t>        layers=[2, 2, 2],</a:t>
            </a:r>
          </a:p>
          <a:p>
            <a:r>
              <a:rPr lang="en-US" altLang="ko-KR" sz="900" dirty="0"/>
              <a:t>        channels=[64, 256, 384, 512],</a:t>
            </a:r>
          </a:p>
          <a:p>
            <a:r>
              <a:rPr lang="en-US" altLang="ko-KR" sz="900" dirty="0"/>
              <a:t>        loss=loss,</a:t>
            </a:r>
          </a:p>
          <a:p>
            <a:r>
              <a:rPr lang="en-US" altLang="ko-KR" sz="900" dirty="0"/>
              <a:t>        IN=True,</a:t>
            </a:r>
          </a:p>
          <a:p>
            <a:r>
              <a:rPr lang="en-US" altLang="ko-KR" sz="900" dirty="0"/>
              <a:t>        **</a:t>
            </a:r>
            <a:r>
              <a:rPr lang="en-US" altLang="ko-KR" sz="900" dirty="0" err="1"/>
              <a:t>kwargs</a:t>
            </a:r>
            <a:endParaRPr lang="en-US" altLang="ko-KR" sz="900" dirty="0"/>
          </a:p>
          <a:p>
            <a:r>
              <a:rPr lang="en-US" altLang="ko-KR" sz="900" dirty="0"/>
              <a:t>    )</a:t>
            </a:r>
            <a:endParaRPr lang="ko-KR" altLang="en-US" sz="900" dirty="0"/>
          </a:p>
        </p:txBody>
      </p:sp>
      <p:cxnSp>
        <p:nvCxnSpPr>
          <p:cNvPr id="83" name="구부러진 연결선 82"/>
          <p:cNvCxnSpPr>
            <a:endCxn id="4" idx="0"/>
          </p:cNvCxnSpPr>
          <p:nvPr/>
        </p:nvCxnSpPr>
        <p:spPr>
          <a:xfrm rot="5400000">
            <a:off x="3840024" y="1190399"/>
            <a:ext cx="729247" cy="177166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직사각형 85"/>
          <p:cNvSpPr/>
          <p:nvPr/>
        </p:nvSpPr>
        <p:spPr>
          <a:xfrm>
            <a:off x="1338523" y="1991036"/>
            <a:ext cx="118942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3-&gt; 64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87" name="직사각형 86"/>
          <p:cNvSpPr/>
          <p:nvPr/>
        </p:nvSpPr>
        <p:spPr>
          <a:xfrm>
            <a:off x="2220303" y="2775799"/>
            <a:ext cx="3791515" cy="144445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self.conv2 = self._make_layer(</a:t>
            </a:r>
          </a:p>
          <a:p>
            <a:pPr algn="ctr"/>
            <a:r>
              <a:rPr lang="en-US" altLang="ko-KR" sz="105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blocks[0],</a:t>
            </a:r>
          </a:p>
          <a:p>
            <a:pPr algn="ctr"/>
            <a:r>
              <a:rPr lang="en-US" altLang="ko-KR" sz="105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layers[0],</a:t>
            </a:r>
          </a:p>
          <a:p>
            <a:pPr algn="ctr"/>
            <a:r>
              <a:rPr lang="en-US" altLang="ko-KR" sz="105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channels[0],</a:t>
            </a:r>
          </a:p>
          <a:p>
            <a:pPr algn="ctr"/>
            <a:r>
              <a:rPr lang="en-US" altLang="ko-KR" sz="105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channels[1],</a:t>
            </a:r>
          </a:p>
          <a:p>
            <a:pPr algn="ctr"/>
            <a:r>
              <a:rPr lang="en-US" altLang="ko-KR" sz="105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reduce_spatial_size=True,</a:t>
            </a:r>
          </a:p>
          <a:p>
            <a:pPr algn="ctr"/>
            <a:r>
              <a:rPr lang="en-US" altLang="ko-KR" sz="105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IN=IN</a:t>
            </a:r>
          </a:p>
          <a:p>
            <a:pPr algn="ctr"/>
            <a:r>
              <a:rPr lang="en-US" altLang="ko-KR" sz="105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88" name="직선 화살표 연결선 87"/>
          <p:cNvCxnSpPr>
            <a:stCxn id="23" idx="2"/>
            <a:endCxn id="87" idx="0"/>
          </p:cNvCxnSpPr>
          <p:nvPr/>
        </p:nvCxnSpPr>
        <p:spPr>
          <a:xfrm flipH="1">
            <a:off x="4116061" y="2600075"/>
            <a:ext cx="3" cy="1757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직사각형 93"/>
          <p:cNvSpPr/>
          <p:nvPr/>
        </p:nvSpPr>
        <p:spPr>
          <a:xfrm>
            <a:off x="2220303" y="4395979"/>
            <a:ext cx="3791515" cy="144445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self.conv3 = self._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make_layer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blocks[1],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layers[1],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channels[1],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channels[2],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reduce_spatial_size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=True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)</a:t>
            </a:r>
          </a:p>
        </p:txBody>
      </p:sp>
      <p:cxnSp>
        <p:nvCxnSpPr>
          <p:cNvPr id="95" name="직선 화살표 연결선 94"/>
          <p:cNvCxnSpPr>
            <a:stCxn id="87" idx="2"/>
            <a:endCxn id="94" idx="0"/>
          </p:cNvCxnSpPr>
          <p:nvPr/>
        </p:nvCxnSpPr>
        <p:spPr>
          <a:xfrm>
            <a:off x="4116061" y="4220255"/>
            <a:ext cx="0" cy="1757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직사각형 101"/>
          <p:cNvSpPr/>
          <p:nvPr/>
        </p:nvSpPr>
        <p:spPr>
          <a:xfrm>
            <a:off x="2220303" y="6008799"/>
            <a:ext cx="3791515" cy="144445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self.conv4 = self._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make_layer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blocks[2],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layers[2],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channels[2],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channels[3],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reduce_spatial_size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=False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)</a:t>
            </a:r>
          </a:p>
        </p:txBody>
      </p:sp>
      <p:cxnSp>
        <p:nvCxnSpPr>
          <p:cNvPr id="103" name="직선 화살표 연결선 102"/>
          <p:cNvCxnSpPr>
            <a:stCxn id="94" idx="2"/>
            <a:endCxn id="102" idx="0"/>
          </p:cNvCxnSpPr>
          <p:nvPr/>
        </p:nvCxnSpPr>
        <p:spPr>
          <a:xfrm>
            <a:off x="4116061" y="5840435"/>
            <a:ext cx="0" cy="1683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직사각형 115"/>
          <p:cNvSpPr/>
          <p:nvPr/>
        </p:nvSpPr>
        <p:spPr>
          <a:xfrm>
            <a:off x="303178" y="2530791"/>
            <a:ext cx="1938493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W, H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가 절반 정도 줄어 </a:t>
            </a:r>
            <a:r>
              <a:rPr lang="ko-KR" altLang="en-US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듬</a:t>
            </a:r>
            <a:endParaRPr lang="en-US" altLang="ko-KR" sz="1100" dirty="0" smtClean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17" name="직사각형 116"/>
          <p:cNvSpPr/>
          <p:nvPr/>
        </p:nvSpPr>
        <p:spPr>
          <a:xfrm>
            <a:off x="658689" y="2902784"/>
            <a:ext cx="1189421" cy="9387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64-&gt; 256</a:t>
            </a:r>
          </a:p>
          <a:p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AvgPool1d</a:t>
            </a:r>
            <a:r>
              <a:rPr lang="ko-KR" altLang="en-US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을 거치므로 </a:t>
            </a:r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W,H</a:t>
            </a:r>
            <a:r>
              <a:rPr lang="ko-KR" altLang="en-US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가 각각 </a:t>
            </a:r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W/2, H/2</a:t>
            </a:r>
            <a:r>
              <a:rPr lang="ko-KR" altLang="en-US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로 줄어든다</a:t>
            </a:r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18" name="직사각형 117"/>
          <p:cNvSpPr/>
          <p:nvPr/>
        </p:nvSpPr>
        <p:spPr>
          <a:xfrm>
            <a:off x="634435" y="5092014"/>
            <a:ext cx="118942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256-&gt; 384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19" name="직사각형 118"/>
          <p:cNvSpPr/>
          <p:nvPr/>
        </p:nvSpPr>
        <p:spPr>
          <a:xfrm>
            <a:off x="669824" y="6545932"/>
            <a:ext cx="118942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384-&gt; 512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1382854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499053" y="314530"/>
            <a:ext cx="2602218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OSNet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end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1987603" y="1470070"/>
            <a:ext cx="1568497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Conv1x1(channels[3], channels[3])</a:t>
            </a:r>
          </a:p>
        </p:txBody>
      </p:sp>
      <p:cxnSp>
        <p:nvCxnSpPr>
          <p:cNvPr id="36" name="직선 화살표 연결선 35"/>
          <p:cNvCxnSpPr>
            <a:endCxn id="35" idx="0"/>
          </p:cNvCxnSpPr>
          <p:nvPr/>
        </p:nvCxnSpPr>
        <p:spPr>
          <a:xfrm>
            <a:off x="2771852" y="1228099"/>
            <a:ext cx="0" cy="2419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순서도: 판단 41"/>
          <p:cNvSpPr/>
          <p:nvPr/>
        </p:nvSpPr>
        <p:spPr>
          <a:xfrm>
            <a:off x="1909557" y="2079317"/>
            <a:ext cx="1724590" cy="537956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pool == ‘</a:t>
            </a:r>
            <a:r>
              <a:rPr lang="en-US" altLang="ko-KR" sz="11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avg</a:t>
            </a:r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’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5" name="직선 화살표 연결선 44"/>
          <p:cNvCxnSpPr>
            <a:stCxn id="35" idx="2"/>
            <a:endCxn id="42" idx="0"/>
          </p:cNvCxnSpPr>
          <p:nvPr/>
        </p:nvCxnSpPr>
        <p:spPr>
          <a:xfrm>
            <a:off x="2771852" y="1837346"/>
            <a:ext cx="0" cy="2419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직사각형 48"/>
          <p:cNvSpPr/>
          <p:nvPr/>
        </p:nvSpPr>
        <p:spPr>
          <a:xfrm>
            <a:off x="4195734" y="2164657"/>
            <a:ext cx="1568497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nn.AdaptiveMaxPool2d(1)</a:t>
            </a:r>
          </a:p>
        </p:txBody>
      </p:sp>
      <p:cxnSp>
        <p:nvCxnSpPr>
          <p:cNvPr id="51" name="직선 화살표 연결선 50"/>
          <p:cNvCxnSpPr>
            <a:stCxn id="42" idx="3"/>
            <a:endCxn id="49" idx="1"/>
          </p:cNvCxnSpPr>
          <p:nvPr/>
        </p:nvCxnSpPr>
        <p:spPr>
          <a:xfrm>
            <a:off x="3634147" y="2348295"/>
            <a:ext cx="56158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직사각형 51"/>
          <p:cNvSpPr/>
          <p:nvPr/>
        </p:nvSpPr>
        <p:spPr>
          <a:xfrm>
            <a:off x="1985107" y="2871481"/>
            <a:ext cx="1568497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nn.AdaptiveAvgPool2d(1)</a:t>
            </a:r>
          </a:p>
        </p:txBody>
      </p:sp>
      <p:cxnSp>
        <p:nvCxnSpPr>
          <p:cNvPr id="54" name="직선 화살표 연결선 53"/>
          <p:cNvCxnSpPr>
            <a:stCxn id="42" idx="2"/>
            <a:endCxn id="52" idx="0"/>
          </p:cNvCxnSpPr>
          <p:nvPr/>
        </p:nvCxnSpPr>
        <p:spPr>
          <a:xfrm flipH="1">
            <a:off x="2769356" y="2617273"/>
            <a:ext cx="2496" cy="2542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55"/>
          <p:cNvSpPr/>
          <p:nvPr/>
        </p:nvSpPr>
        <p:spPr>
          <a:xfrm>
            <a:off x="3568724" y="2010255"/>
            <a:ext cx="49657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NO</a:t>
            </a:r>
            <a:endParaRPr lang="ko-KR" altLang="en-US" sz="1000" dirty="0"/>
          </a:p>
        </p:txBody>
      </p:sp>
      <p:sp>
        <p:nvSpPr>
          <p:cNvPr id="58" name="직사각형 57"/>
          <p:cNvSpPr/>
          <p:nvPr/>
        </p:nvSpPr>
        <p:spPr>
          <a:xfrm>
            <a:off x="2914442" y="2563224"/>
            <a:ext cx="96341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YES (default)</a:t>
            </a:r>
            <a:endParaRPr lang="ko-KR" altLang="en-US" sz="1000" dirty="0"/>
          </a:p>
        </p:txBody>
      </p:sp>
      <p:sp>
        <p:nvSpPr>
          <p:cNvPr id="59" name="직사각형 58"/>
          <p:cNvSpPr/>
          <p:nvPr/>
        </p:nvSpPr>
        <p:spPr>
          <a:xfrm>
            <a:off x="1985106" y="3513342"/>
            <a:ext cx="1568497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nn.Linear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self.feature_dim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num_classes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</a:t>
            </a:r>
          </a:p>
        </p:txBody>
      </p:sp>
      <p:cxnSp>
        <p:nvCxnSpPr>
          <p:cNvPr id="60" name="직선 화살표 연결선 59"/>
          <p:cNvCxnSpPr>
            <a:stCxn id="52" idx="2"/>
            <a:endCxn id="59" idx="0"/>
          </p:cNvCxnSpPr>
          <p:nvPr/>
        </p:nvCxnSpPr>
        <p:spPr>
          <a:xfrm flipH="1">
            <a:off x="2769355" y="3238757"/>
            <a:ext cx="1" cy="274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/>
          <p:cNvSpPr/>
          <p:nvPr/>
        </p:nvSpPr>
        <p:spPr>
          <a:xfrm>
            <a:off x="80842" y="3566175"/>
            <a:ext cx="218332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feature(512) -&gt;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num_classes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64" name="꺾인 연결선 63"/>
          <p:cNvCxnSpPr>
            <a:stCxn id="49" idx="2"/>
            <a:endCxn id="59" idx="3"/>
          </p:cNvCxnSpPr>
          <p:nvPr/>
        </p:nvCxnSpPr>
        <p:spPr>
          <a:xfrm rot="5400000">
            <a:off x="3684270" y="2401266"/>
            <a:ext cx="1165047" cy="142638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직사각형 66"/>
          <p:cNvSpPr/>
          <p:nvPr/>
        </p:nvSpPr>
        <p:spPr>
          <a:xfrm>
            <a:off x="1985105" y="4956254"/>
            <a:ext cx="1568497" cy="36727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sigmoid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68" name="순서도: 판단 67"/>
          <p:cNvSpPr/>
          <p:nvPr/>
        </p:nvSpPr>
        <p:spPr>
          <a:xfrm>
            <a:off x="1909557" y="4162847"/>
            <a:ext cx="1724590" cy="537956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training == False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69" name="직선 화살표 연결선 68"/>
          <p:cNvCxnSpPr>
            <a:stCxn id="68" idx="2"/>
            <a:endCxn id="67" idx="0"/>
          </p:cNvCxnSpPr>
          <p:nvPr/>
        </p:nvCxnSpPr>
        <p:spPr>
          <a:xfrm flipH="1">
            <a:off x="2769354" y="4700803"/>
            <a:ext cx="2498" cy="255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/>
          <p:cNvCxnSpPr>
            <a:stCxn id="59" idx="2"/>
            <a:endCxn id="68" idx="0"/>
          </p:cNvCxnSpPr>
          <p:nvPr/>
        </p:nvCxnSpPr>
        <p:spPr>
          <a:xfrm>
            <a:off x="2769355" y="3880618"/>
            <a:ext cx="2497" cy="282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직사각형 78"/>
          <p:cNvSpPr/>
          <p:nvPr/>
        </p:nvSpPr>
        <p:spPr>
          <a:xfrm>
            <a:off x="2853261" y="4700803"/>
            <a:ext cx="49657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YES</a:t>
            </a:r>
            <a:endParaRPr lang="ko-KR" altLang="en-US" sz="1000" dirty="0"/>
          </a:p>
        </p:txBody>
      </p:sp>
      <p:sp>
        <p:nvSpPr>
          <p:cNvPr id="80" name="직사각형 79"/>
          <p:cNvSpPr/>
          <p:nvPr/>
        </p:nvSpPr>
        <p:spPr>
          <a:xfrm>
            <a:off x="3162728" y="4062494"/>
            <a:ext cx="49657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NO</a:t>
            </a:r>
            <a:endParaRPr lang="ko-KR" altLang="en-US" sz="1000" dirty="0"/>
          </a:p>
        </p:txBody>
      </p:sp>
      <p:sp>
        <p:nvSpPr>
          <p:cNvPr id="81" name="모서리가 둥근 직사각형 80"/>
          <p:cNvSpPr/>
          <p:nvPr/>
        </p:nvSpPr>
        <p:spPr>
          <a:xfrm>
            <a:off x="1963926" y="5654136"/>
            <a:ext cx="1610853" cy="447491"/>
          </a:xfrm>
          <a:prstGeom prst="roundRect">
            <a:avLst>
              <a:gd name="adj" fmla="val 50000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return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84" name="직선 화살표 연결선 83"/>
          <p:cNvCxnSpPr>
            <a:stCxn id="67" idx="2"/>
            <a:endCxn id="81" idx="0"/>
          </p:cNvCxnSpPr>
          <p:nvPr/>
        </p:nvCxnSpPr>
        <p:spPr>
          <a:xfrm flipH="1">
            <a:off x="2769353" y="5323530"/>
            <a:ext cx="1" cy="3306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모서리가 둥근 직사각형 88"/>
          <p:cNvSpPr/>
          <p:nvPr/>
        </p:nvSpPr>
        <p:spPr>
          <a:xfrm>
            <a:off x="4492431" y="4208079"/>
            <a:ext cx="1610853" cy="447491"/>
          </a:xfrm>
          <a:prstGeom prst="roundRect">
            <a:avLst>
              <a:gd name="adj" fmla="val 50000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return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90" name="직선 화살표 연결선 89"/>
          <p:cNvCxnSpPr>
            <a:stCxn id="68" idx="3"/>
            <a:endCxn id="89" idx="1"/>
          </p:cNvCxnSpPr>
          <p:nvPr/>
        </p:nvCxnSpPr>
        <p:spPr>
          <a:xfrm>
            <a:off x="3634147" y="4431825"/>
            <a:ext cx="85828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8101180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63638" y="337390"/>
            <a:ext cx="4319290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>
                <a:solidFill>
                  <a:srgbClr val="0E0585"/>
                </a:solidFill>
              </a:rPr>
              <a:t>class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CrossEntropyLoss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cont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263638" y="1161506"/>
            <a:ext cx="987006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 err="1">
                <a:latin typeface="+mn-ea"/>
              </a:rPr>
              <a:t>CrossEntropyLoss</a:t>
            </a:r>
            <a:r>
              <a:rPr lang="en-US" altLang="ko-KR" sz="1200" dirty="0">
                <a:latin typeface="+mn-ea"/>
              </a:rPr>
              <a:t> </a:t>
            </a:r>
            <a:r>
              <a:rPr lang="ko-KR" altLang="en-US" sz="1200" dirty="0">
                <a:latin typeface="+mn-ea"/>
              </a:rPr>
              <a:t>클래스는 레이블 </a:t>
            </a:r>
            <a:r>
              <a:rPr lang="ko-KR" altLang="en-US" sz="1200" dirty="0" err="1">
                <a:latin typeface="+mn-ea"/>
              </a:rPr>
              <a:t>스무딩</a:t>
            </a:r>
            <a:r>
              <a:rPr lang="en-US" altLang="ko-KR" sz="1200" dirty="0">
                <a:latin typeface="+mn-ea"/>
              </a:rPr>
              <a:t>(Label Smoothing) </a:t>
            </a:r>
            <a:r>
              <a:rPr lang="ko-KR" altLang="en-US" sz="1200" dirty="0" err="1">
                <a:latin typeface="+mn-ea"/>
              </a:rPr>
              <a:t>정규화가</a:t>
            </a:r>
            <a:r>
              <a:rPr lang="ko-KR" altLang="en-US" sz="1200" dirty="0">
                <a:latin typeface="+mn-ea"/>
              </a:rPr>
              <a:t> 적용된 교차 엔트로피 손실</a:t>
            </a:r>
            <a:r>
              <a:rPr lang="en-US" altLang="ko-KR" sz="1200" dirty="0">
                <a:latin typeface="+mn-ea"/>
              </a:rPr>
              <a:t>(Cross Entropy Loss)</a:t>
            </a:r>
            <a:r>
              <a:rPr lang="ko-KR" altLang="en-US" sz="1200" dirty="0">
                <a:latin typeface="+mn-ea"/>
              </a:rPr>
              <a:t>을 구현한 사용자 정의 손실 </a:t>
            </a:r>
            <a:r>
              <a:rPr lang="ko-KR" altLang="en-US" sz="1200" dirty="0" smtClean="0">
                <a:latin typeface="+mn-ea"/>
              </a:rPr>
              <a:t>함수</a:t>
            </a:r>
            <a:r>
              <a:rPr lang="en-US" altLang="ko-KR" sz="1200" dirty="0" smtClean="0">
                <a:latin typeface="+mn-ea"/>
              </a:rPr>
              <a:t>. </a:t>
            </a:r>
            <a:r>
              <a:rPr lang="ko-KR" altLang="en-US" sz="1200" dirty="0">
                <a:latin typeface="+mn-ea"/>
              </a:rPr>
              <a:t>이 클래스는 모델의 출력과 실제 레이블 간의 손실을 계산하여 모델 학습에 사용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263638" y="1623171"/>
                <a:ext cx="9940065" cy="28899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ko-KR" altLang="en-US" sz="2000" dirty="0" smtClean="0"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레이블 </a:t>
                </a:r>
                <a:r>
                  <a:rPr lang="ko-KR" altLang="en-US" sz="2000" dirty="0" err="1"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스무딩</a:t>
                </a:r>
                <a:r>
                  <a:rPr lang="en-US" altLang="ko-KR" sz="2000" dirty="0"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(Label Smoothing)</a:t>
                </a:r>
              </a:p>
              <a:p>
                <a:endParaRPr lang="en-US" altLang="ko-KR" sz="1200" dirty="0"/>
              </a:p>
              <a:p>
                <a:r>
                  <a:rPr lang="en-US" altLang="ko-KR" sz="1200" dirty="0"/>
                  <a:t>    </a:t>
                </a:r>
                <a:r>
                  <a:rPr lang="ko-KR" altLang="en-US" sz="1200" dirty="0"/>
                  <a:t>레이블 </a:t>
                </a:r>
                <a:r>
                  <a:rPr lang="ko-KR" altLang="en-US" sz="1200" dirty="0" err="1"/>
                  <a:t>스무딩은</a:t>
                </a:r>
                <a:r>
                  <a:rPr lang="ko-KR" altLang="en-US" sz="1200" dirty="0"/>
                  <a:t> 모델이 지나치게 확신을 가지는 것을 방지하여 </a:t>
                </a:r>
                <a:r>
                  <a:rPr lang="ko-KR" altLang="en-US" sz="1200" dirty="0" err="1"/>
                  <a:t>과적합을</a:t>
                </a:r>
                <a:r>
                  <a:rPr lang="ko-KR" altLang="en-US" sz="1200" dirty="0"/>
                  <a:t> 줄이고 일반화 성능을 높이기 위해 </a:t>
                </a:r>
                <a:r>
                  <a:rPr lang="ko-KR" altLang="en-US" sz="1200" dirty="0" smtClean="0"/>
                  <a:t>사용됨</a:t>
                </a:r>
                <a:r>
                  <a:rPr lang="en-US" altLang="ko-KR" sz="1200" dirty="0" smtClean="0"/>
                  <a:t>.</a:t>
                </a:r>
                <a:endParaRPr lang="en-US" altLang="ko-KR" sz="1200" dirty="0"/>
              </a:p>
              <a:p>
                <a:r>
                  <a:rPr lang="en-US" altLang="ko-KR" sz="1200" dirty="0"/>
                  <a:t>    </a:t>
                </a:r>
                <a:r>
                  <a:rPr lang="ko-KR" altLang="en-US" sz="1200" dirty="0"/>
                  <a:t>일반적인 교차 엔트로피 손실은 정답 클래스에 </a:t>
                </a:r>
                <a:r>
                  <a:rPr lang="en-US" altLang="ko-KR" sz="1200" dirty="0"/>
                  <a:t>1, </a:t>
                </a:r>
                <a:r>
                  <a:rPr lang="ko-KR" altLang="en-US" sz="1200" dirty="0"/>
                  <a:t>나머지 클래스에 </a:t>
                </a:r>
                <a:r>
                  <a:rPr lang="en-US" altLang="ko-KR" sz="1200" dirty="0"/>
                  <a:t>0</a:t>
                </a:r>
                <a:r>
                  <a:rPr lang="ko-KR" altLang="en-US" sz="1200" dirty="0"/>
                  <a:t>을 할당하는 원</a:t>
                </a:r>
                <a:r>
                  <a:rPr lang="en-US" altLang="ko-KR" sz="1200" dirty="0"/>
                  <a:t>-</a:t>
                </a:r>
                <a:r>
                  <a:rPr lang="ko-KR" altLang="en-US" sz="1200" dirty="0" err="1"/>
                  <a:t>핫</a:t>
                </a:r>
                <a:r>
                  <a:rPr lang="ko-KR" altLang="en-US" sz="1200" dirty="0"/>
                  <a:t> </a:t>
                </a:r>
                <a:r>
                  <a:rPr lang="ko-KR" altLang="en-US" sz="1200" dirty="0" err="1"/>
                  <a:t>인코딩을</a:t>
                </a:r>
                <a:r>
                  <a:rPr lang="ko-KR" altLang="en-US" sz="1200" dirty="0"/>
                  <a:t> </a:t>
                </a:r>
                <a:r>
                  <a:rPr lang="ko-KR" altLang="en-US" sz="1200" dirty="0" smtClean="0"/>
                  <a:t>사용함</a:t>
                </a:r>
                <a:r>
                  <a:rPr lang="en-US" altLang="ko-KR" sz="1200" dirty="0" smtClean="0"/>
                  <a:t>. </a:t>
                </a:r>
                <a:r>
                  <a:rPr lang="ko-KR" altLang="en-US" sz="1200" dirty="0"/>
                  <a:t>반면</a:t>
                </a:r>
                <a:r>
                  <a:rPr lang="en-US" altLang="ko-KR" sz="1200" dirty="0"/>
                  <a:t>, </a:t>
                </a:r>
                <a:r>
                  <a:rPr lang="ko-KR" altLang="en-US" sz="1200" dirty="0"/>
                  <a:t>레이블 </a:t>
                </a:r>
                <a:r>
                  <a:rPr lang="ko-KR" altLang="en-US" sz="1200" dirty="0" err="1"/>
                  <a:t>스무딩은</a:t>
                </a:r>
                <a:r>
                  <a:rPr lang="ko-KR" altLang="en-US" sz="1200" dirty="0"/>
                  <a:t> 정답 클래스에 </a:t>
                </a:r>
                <a:r>
                  <a:rPr lang="en-US" altLang="ko-KR" sz="1200" dirty="0"/>
                  <a:t>1</a:t>
                </a:r>
                <a:r>
                  <a:rPr lang="ko-KR" altLang="en-US" sz="1200" dirty="0"/>
                  <a:t>이 아닌 </a:t>
                </a:r>
                <a14:m>
                  <m:oMath xmlns:m="http://schemas.openxmlformats.org/officeDocument/2006/math">
                    <m:r>
                      <a:rPr lang="en-US" altLang="ko-KR" sz="1200" b="0" i="1" smtClean="0">
                        <a:latin typeface="Cambria Math" panose="02040503050406030204" pitchFamily="18" charset="0"/>
                      </a:rPr>
                      <m:t>(1−</m:t>
                    </m:r>
                    <m:r>
                      <a:rPr lang="en-US" altLang="ko-KR" sz="12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200" dirty="0" smtClean="0"/>
                  <a:t>을 </a:t>
                </a:r>
                <a:r>
                  <a:rPr lang="ko-KR" altLang="en-US" sz="1200" dirty="0"/>
                  <a:t>할당하고</a:t>
                </a:r>
                <a:r>
                  <a:rPr lang="en-US" altLang="ko-KR" sz="1200" dirty="0"/>
                  <a:t>, </a:t>
                </a:r>
                <a:r>
                  <a:rPr lang="ko-KR" altLang="en-US" sz="1200" dirty="0"/>
                  <a:t>나머지 클래스에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num>
                      <m:den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den>
                    </m:f>
                  </m:oMath>
                </a14:m>
                <a:r>
                  <a:rPr lang="en-US" altLang="ko-KR" sz="1600" dirty="0" smtClean="0"/>
                  <a:t>​</a:t>
                </a:r>
                <a:r>
                  <a:rPr lang="ko-KR" altLang="en-US" sz="1200" dirty="0"/>
                  <a:t>을 할당합니다</a:t>
                </a:r>
                <a:r>
                  <a:rPr lang="en-US" altLang="ko-KR" sz="1200" dirty="0"/>
                  <a:t>. </a:t>
                </a:r>
                <a:r>
                  <a:rPr lang="ko-KR" altLang="en-US" sz="1200" dirty="0"/>
                  <a:t>여기서 </a:t>
                </a:r>
                <a14:m>
                  <m:oMath xmlns:m="http://schemas.openxmlformats.org/officeDocument/2006/math">
                    <m:r>
                      <a:rPr lang="en-US" altLang="ko-KR" sz="12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ko-KR" altLang="en-US" sz="1200" dirty="0" smtClean="0"/>
                  <a:t>는 </a:t>
                </a:r>
                <a:r>
                  <a:rPr lang="ko-KR" altLang="en-US" sz="1200" dirty="0"/>
                  <a:t>클래스의 개수</a:t>
                </a:r>
                <a:r>
                  <a:rPr lang="en-US" altLang="ko-KR" sz="1200" dirty="0"/>
                  <a:t>, </a:t>
                </a:r>
                <a:r>
                  <a:rPr lang="en-US" altLang="ko-KR" sz="1200" dirty="0" smtClean="0"/>
                  <a:t>ϵ</a:t>
                </a:r>
                <a:r>
                  <a:rPr lang="ko-KR" altLang="en-US" sz="1200" dirty="0"/>
                  <a:t>은 </a:t>
                </a:r>
                <a:r>
                  <a:rPr lang="ko-KR" altLang="en-US" sz="1200" dirty="0" err="1"/>
                  <a:t>스무딩</a:t>
                </a:r>
                <a:r>
                  <a:rPr lang="ko-KR" altLang="en-US" sz="1200" dirty="0"/>
                  <a:t> </a:t>
                </a:r>
                <a:r>
                  <a:rPr lang="ko-KR" altLang="en-US" sz="1200" dirty="0" err="1" smtClean="0"/>
                  <a:t>파라미터임</a:t>
                </a:r>
                <a:r>
                  <a:rPr lang="en-US" altLang="ko-KR" sz="1200" dirty="0" smtClean="0"/>
                  <a:t>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ko-K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</m:den>
                      </m:f>
                    </m:oMath>
                  </m:oMathPara>
                </a14:m>
                <a:endParaRPr lang="en-US" altLang="ko-KR" sz="1200" dirty="0" smtClean="0"/>
              </a:p>
              <a:p>
                <a:endParaRPr lang="en-US" altLang="ko-KR" sz="1200" dirty="0"/>
              </a:p>
              <a:p>
                <a:r>
                  <a:rPr lang="ko-KR" altLang="en-US" sz="1200" dirty="0"/>
                  <a:t>여기서</a:t>
                </a:r>
                <a:r>
                  <a:rPr lang="en-US" altLang="ko-KR" sz="1200" dirty="0"/>
                  <a:t>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sz="1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1200" dirty="0" smtClean="0"/>
                  <a:t>는 </a:t>
                </a:r>
                <a:r>
                  <a:rPr lang="ko-KR" altLang="en-US" sz="1200" dirty="0"/>
                  <a:t>변형된 레이블 </a:t>
                </a:r>
                <a:r>
                  <a:rPr lang="ko-KR" altLang="en-US" sz="1200" dirty="0" smtClean="0"/>
                  <a:t>값</a:t>
                </a:r>
                <a:r>
                  <a:rPr lang="en-US" altLang="ko-KR" sz="1200" dirty="0" smtClean="0"/>
                  <a:t>.</a:t>
                </a:r>
                <a:endParaRPr lang="en-US" altLang="ko-KR" sz="12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1200" dirty="0" smtClean="0"/>
                  <a:t>는 </a:t>
                </a:r>
                <a:r>
                  <a:rPr lang="ko-KR" altLang="en-US" sz="1200" dirty="0"/>
                  <a:t>원</a:t>
                </a:r>
                <a:r>
                  <a:rPr lang="en-US" altLang="ko-KR" sz="1200" dirty="0"/>
                  <a:t>-</a:t>
                </a:r>
                <a:r>
                  <a:rPr lang="ko-KR" altLang="en-US" sz="1200" dirty="0" err="1"/>
                  <a:t>핫</a:t>
                </a:r>
                <a:r>
                  <a:rPr lang="ko-KR" altLang="en-US" sz="1200" dirty="0"/>
                  <a:t> </a:t>
                </a:r>
                <a:r>
                  <a:rPr lang="ko-KR" altLang="en-US" sz="1200" dirty="0" err="1"/>
                  <a:t>인코딩된</a:t>
                </a:r>
                <a:r>
                  <a:rPr lang="ko-KR" altLang="en-US" sz="1200" dirty="0"/>
                  <a:t> 레이블 </a:t>
                </a:r>
                <a:r>
                  <a:rPr lang="ko-KR" altLang="en-US" sz="1200" dirty="0" smtClean="0"/>
                  <a:t>값 </a:t>
                </a:r>
                <a:r>
                  <a:rPr lang="en-US" altLang="ko-KR" sz="1200" dirty="0"/>
                  <a:t>(</a:t>
                </a:r>
                <a:r>
                  <a:rPr lang="ko-KR" altLang="en-US" sz="1200" dirty="0"/>
                  <a:t>정답 클래스에는 </a:t>
                </a:r>
                <a:r>
                  <a:rPr lang="en-US" altLang="ko-KR" sz="1200" dirty="0"/>
                  <a:t>1, </a:t>
                </a:r>
                <a:r>
                  <a:rPr lang="ko-KR" altLang="en-US" sz="1200" dirty="0"/>
                  <a:t>나머지에는 </a:t>
                </a:r>
                <a:r>
                  <a:rPr lang="en-US" altLang="ko-KR" sz="1200" dirty="0"/>
                  <a:t>0).</a:t>
                </a:r>
              </a:p>
              <a:p>
                <a14:m>
                  <m:oMath xmlns:m="http://schemas.openxmlformats.org/officeDocument/2006/math">
                    <m:r>
                      <a:rPr lang="en-US" altLang="ko-KR" sz="12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200" dirty="0"/>
                  <a:t>은 레이블 </a:t>
                </a:r>
                <a:r>
                  <a:rPr lang="ko-KR" altLang="en-US" sz="1200" dirty="0" err="1"/>
                  <a:t>스무딩</a:t>
                </a:r>
                <a:r>
                  <a:rPr lang="ko-KR" altLang="en-US" sz="1200" dirty="0"/>
                  <a:t> </a:t>
                </a:r>
                <a:r>
                  <a:rPr lang="ko-KR" altLang="en-US" sz="1200" dirty="0" err="1" smtClean="0"/>
                  <a:t>파라미터</a:t>
                </a:r>
                <a:endParaRPr lang="en-US" altLang="ko-KR" sz="1200" dirty="0"/>
              </a:p>
              <a:p>
                <a14:m>
                  <m:oMath xmlns:m="http://schemas.openxmlformats.org/officeDocument/2006/math">
                    <m:r>
                      <a:rPr lang="en-US" altLang="ko-K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en-US" altLang="ko-K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200" dirty="0"/>
                  <a:t>는 클래스의 개수입니다</a:t>
                </a:r>
                <a:r>
                  <a:rPr lang="en-US" altLang="ko-KR" sz="1200" dirty="0"/>
                  <a:t>.</a:t>
                </a:r>
              </a:p>
              <a:p>
                <a:endParaRPr lang="ko-KR" altLang="en-US" sz="12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638" y="1623171"/>
                <a:ext cx="9940065" cy="2889958"/>
              </a:xfrm>
              <a:prstGeom prst="rect">
                <a:avLst/>
              </a:prstGeom>
              <a:blipFill>
                <a:blip r:embed="rId2"/>
                <a:stretch>
                  <a:fillRect l="-552" t="-84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/>
              <p:cNvSpPr txBox="1"/>
              <p:nvPr/>
            </p:nvSpPr>
            <p:spPr>
              <a:xfrm>
                <a:off x="263638" y="4404471"/>
                <a:ext cx="9940065" cy="28167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ko-KR" altLang="en-US" sz="2000" dirty="0" smtClean="0"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손실 계산</a:t>
                </a:r>
                <a:endParaRPr lang="en-US" altLang="ko-KR" sz="2000" dirty="0"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  <a:p>
                <a:endParaRPr lang="en-US" altLang="ko-KR" sz="1200" dirty="0"/>
              </a:p>
              <a:p>
                <a:r>
                  <a:rPr lang="en-US" altLang="ko-KR" sz="1200" dirty="0"/>
                  <a:t>    </a:t>
                </a:r>
                <a:r>
                  <a:rPr lang="ko-KR" altLang="en-US" sz="1200" dirty="0"/>
                  <a:t>레이블 </a:t>
                </a:r>
                <a:r>
                  <a:rPr lang="ko-KR" altLang="en-US" sz="1200" dirty="0" err="1"/>
                  <a:t>스무딩이</a:t>
                </a:r>
                <a:r>
                  <a:rPr lang="ko-KR" altLang="en-US" sz="1200" dirty="0"/>
                  <a:t> 적용된 레이블과 로그 확률을 곱하고 이를 </a:t>
                </a:r>
                <a:r>
                  <a:rPr lang="ko-KR" altLang="en-US" sz="1200" dirty="0" err="1"/>
                  <a:t>평균내어</a:t>
                </a:r>
                <a:r>
                  <a:rPr lang="ko-KR" altLang="en-US" sz="1200" dirty="0"/>
                  <a:t> 최종 손실 값을 </a:t>
                </a:r>
                <a:r>
                  <a:rPr lang="ko-KR" altLang="en-US" sz="1200" dirty="0" smtClean="0"/>
                  <a:t>계산함</a:t>
                </a:r>
                <a:r>
                  <a:rPr lang="en-US" altLang="ko-KR" sz="1200" dirty="0" smtClean="0"/>
                  <a:t>.</a:t>
                </a:r>
                <a:endParaRPr lang="en-US" altLang="ko-KR" sz="1200" i="1" dirty="0" smtClean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b="0" i="1" dirty="0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altLang="ko-K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ko-KR" sz="12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ko-KR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en-US" altLang="ko-KR" sz="1200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lang="en-US" altLang="ko-K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2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altLang="ko-KR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ko-KR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 altLang="ko-KR" sz="1200" dirty="0" smtClean="0"/>
              </a:p>
              <a:p>
                <a:endParaRPr lang="en-US" altLang="ko-KR" sz="1200" dirty="0"/>
              </a:p>
              <a:p>
                <a:r>
                  <a:rPr lang="ko-KR" altLang="en-US" sz="1200" dirty="0"/>
                  <a:t>여기서</a:t>
                </a:r>
                <a:r>
                  <a:rPr lang="en-US" altLang="ko-KR" sz="1200" dirty="0"/>
                  <a:t>:</a:t>
                </a:r>
              </a:p>
              <a:p>
                <a14:m>
                  <m:oMath xmlns:m="http://schemas.openxmlformats.org/officeDocument/2006/math">
                    <m:r>
                      <a:rPr lang="en-US" altLang="ko-KR" sz="1200" i="1" dirty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ko-KR" sz="1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200" dirty="0"/>
                  <a:t>은 최종 손실 </a:t>
                </a:r>
                <a:r>
                  <a:rPr lang="ko-KR" altLang="en-US" sz="1200" dirty="0" smtClean="0"/>
                  <a:t>값</a:t>
                </a:r>
                <a:r>
                  <a:rPr lang="en-US" altLang="ko-KR" sz="1200" dirty="0" smtClean="0"/>
                  <a:t>.</a:t>
                </a:r>
                <a:endParaRPr lang="en-US" altLang="ko-KR" sz="1200" dirty="0"/>
              </a:p>
              <a:p>
                <a14:m>
                  <m:oMath xmlns:m="http://schemas.openxmlformats.org/officeDocument/2006/math">
                    <m:r>
                      <a:rPr lang="en-US" altLang="ko-KR" sz="12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ko-K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200" dirty="0"/>
                  <a:t>은 배치 </a:t>
                </a:r>
                <a:r>
                  <a:rPr lang="ko-KR" altLang="en-US" sz="1200" dirty="0" smtClean="0"/>
                  <a:t>크기</a:t>
                </a:r>
                <a:r>
                  <a:rPr lang="en-US" altLang="ko-KR" sz="1200" dirty="0" smtClean="0"/>
                  <a:t>.</a:t>
                </a:r>
                <a:endParaRPr lang="en-US" altLang="ko-KR" sz="1200" dirty="0"/>
              </a:p>
              <a:p>
                <a14:m>
                  <m:oMath xmlns:m="http://schemas.openxmlformats.org/officeDocument/2006/math">
                    <m:r>
                      <a:rPr lang="en-US" altLang="ko-KR" sz="12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altLang="ko-K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200" dirty="0"/>
                  <a:t>는 클래스의 </a:t>
                </a:r>
                <a:r>
                  <a:rPr lang="ko-KR" altLang="en-US" sz="1200" dirty="0" smtClean="0"/>
                  <a:t>개수</a:t>
                </a:r>
                <a:r>
                  <a:rPr lang="en-US" altLang="ko-KR" sz="1200" dirty="0" smtClean="0"/>
                  <a:t>.</a:t>
                </a:r>
                <a:endParaRPr lang="en-US" altLang="ko-KR" sz="12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sz="1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ko-KR" altLang="en-US" sz="1200" dirty="0"/>
                  <a:t>는 변형된 레이블의 </a:t>
                </a:r>
                <a:r>
                  <a:rPr lang="en-US" altLang="ko-KR" sz="1200" dirty="0" err="1"/>
                  <a:t>i</a:t>
                </a:r>
                <a:r>
                  <a:rPr lang="en-US" altLang="ko-KR" sz="1200" dirty="0" smtClean="0"/>
                  <a:t>-</a:t>
                </a:r>
                <a:r>
                  <a:rPr lang="ko-KR" altLang="en-US" sz="1200" dirty="0"/>
                  <a:t>번째 샘플에 대한 </a:t>
                </a:r>
                <a:r>
                  <a:rPr lang="en-US" altLang="ko-KR" sz="1200" dirty="0" smtClean="0"/>
                  <a:t>j-</a:t>
                </a:r>
                <a:r>
                  <a:rPr lang="ko-KR" altLang="en-US" sz="1200" dirty="0"/>
                  <a:t>번째 클래스 </a:t>
                </a:r>
                <a:r>
                  <a:rPr lang="ko-KR" altLang="en-US" sz="1200" dirty="0" smtClean="0"/>
                  <a:t>값</a:t>
                </a:r>
                <a:r>
                  <a:rPr lang="en-US" altLang="ko-KR" sz="1200" dirty="0" smtClean="0"/>
                  <a:t>.</a:t>
                </a:r>
                <a:endParaRPr lang="en-US" altLang="ko-KR" sz="12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ko-KR" sz="1200" dirty="0"/>
                  <a:t>​</a:t>
                </a:r>
                <a:r>
                  <a:rPr lang="ko-KR" altLang="en-US" sz="1200" dirty="0"/>
                  <a:t>는 </a:t>
                </a:r>
                <a:r>
                  <a:rPr lang="en-US" altLang="ko-KR" sz="1200" dirty="0" err="1" smtClean="0"/>
                  <a:t>i</a:t>
                </a:r>
                <a:r>
                  <a:rPr lang="en-US" altLang="ko-KR" sz="1200" dirty="0" smtClean="0"/>
                  <a:t>-</a:t>
                </a:r>
                <a:r>
                  <a:rPr lang="ko-KR" altLang="en-US" sz="1200" dirty="0"/>
                  <a:t>번째 샘플에 대한 </a:t>
                </a:r>
                <a:r>
                  <a:rPr lang="en-US" altLang="ko-KR" sz="1200" dirty="0" smtClean="0"/>
                  <a:t>j-</a:t>
                </a:r>
                <a:r>
                  <a:rPr lang="ko-KR" altLang="en-US" sz="1200" dirty="0"/>
                  <a:t>번째 클래스의 로그 </a:t>
                </a:r>
                <a:r>
                  <a:rPr lang="ko-KR" altLang="en-US" sz="1200" dirty="0" smtClean="0"/>
                  <a:t>확률 </a:t>
                </a:r>
                <a:r>
                  <a:rPr lang="en-US" altLang="ko-KR" sz="1200" dirty="0"/>
                  <a:t>(</a:t>
                </a:r>
                <a:r>
                  <a:rPr lang="en-US" altLang="ko-KR" sz="1200" dirty="0" err="1"/>
                  <a:t>LogSoftmax</a:t>
                </a:r>
                <a:r>
                  <a:rPr lang="ko-KR" altLang="en-US" sz="1200" dirty="0"/>
                  <a:t>의 결과</a:t>
                </a:r>
                <a:r>
                  <a:rPr lang="en-US" altLang="ko-KR" sz="1200" dirty="0"/>
                  <a:t>).</a:t>
                </a:r>
              </a:p>
              <a:p>
                <a:endParaRPr lang="ko-KR" altLang="en-US" sz="1200" dirty="0"/>
              </a:p>
            </p:txBody>
          </p:sp>
        </mc:Choice>
        <mc:Fallback xmlns="">
          <p:sp>
            <p:nvSpPr>
              <p:cNvPr id="29" name="Text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638" y="4404471"/>
                <a:ext cx="9940065" cy="2816733"/>
              </a:xfrm>
              <a:prstGeom prst="rect">
                <a:avLst/>
              </a:prstGeom>
              <a:blipFill>
                <a:blip r:embed="rId3"/>
                <a:stretch>
                  <a:fillRect l="-552" t="-108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687001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07569" y="322150"/>
            <a:ext cx="4221507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>
                <a:solidFill>
                  <a:srgbClr val="0E0585"/>
                </a:solidFill>
              </a:rPr>
              <a:t>class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CrossEntropyLoss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end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07569" y="1341231"/>
            <a:ext cx="9940065" cy="58708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코드 이해</a:t>
            </a:r>
            <a:endParaRPr lang="en-US" altLang="ko-KR" sz="2000" dirty="0"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1200" dirty="0"/>
          </a:p>
          <a:p>
            <a:r>
              <a:rPr lang="en-US" altLang="ko-KR" sz="1000" dirty="0" err="1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CDCAA"/>
                </a:solidFill>
                <a:latin typeface="Consolas" panose="020B0609020204030204" pitchFamily="49" charset="0"/>
              </a:rPr>
              <a:t>forward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00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000" dirty="0">
                <a:solidFill>
                  <a:srgbClr val="9CDCFE"/>
                </a:solidFill>
                <a:latin typeface="Consolas" panose="020B0609020204030204" pitchFamily="49" charset="0"/>
              </a:rPr>
              <a:t>inputs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000" dirty="0">
                <a:solidFill>
                  <a:srgbClr val="9CDCFE"/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"""</a:t>
            </a:r>
            <a:endParaRPr lang="en-US" altLang="ko-KR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Args</a:t>
            </a:r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:</a:t>
            </a:r>
            <a:endParaRPr lang="en-US" altLang="ko-KR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    inputs (</a:t>
            </a:r>
            <a:r>
              <a:rPr lang="en-US" altLang="ko-KR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torch.Tensor</a:t>
            </a:r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): prediction matrix (before </a:t>
            </a:r>
            <a:r>
              <a:rPr lang="en-US" altLang="ko-KR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softmax</a:t>
            </a:r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) with</a:t>
            </a:r>
            <a:endParaRPr lang="en-US" altLang="ko-KR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        shape (</a:t>
            </a:r>
            <a:r>
              <a:rPr lang="en-US" altLang="ko-KR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batch_size</a:t>
            </a:r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num_classes</a:t>
            </a:r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).</a:t>
            </a:r>
            <a:endParaRPr lang="en-US" altLang="ko-KR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    targets (</a:t>
            </a:r>
            <a:r>
              <a:rPr lang="en-US" altLang="ko-KR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torch.LongTensor</a:t>
            </a:r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): ground truth labels with shape (</a:t>
            </a:r>
            <a:r>
              <a:rPr lang="en-US" altLang="ko-KR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batch_size</a:t>
            </a:r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).</a:t>
            </a:r>
            <a:endParaRPr lang="en-US" altLang="ko-KR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        Each position contains the label index.</a:t>
            </a:r>
            <a:endParaRPr lang="en-US" altLang="ko-KR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"""</a:t>
            </a:r>
            <a:endParaRPr lang="en-US" altLang="ko-KR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log_probs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logsoftmax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00" dirty="0">
                <a:solidFill>
                  <a:srgbClr val="9CDCFE"/>
                </a:solidFill>
                <a:latin typeface="Consolas" panose="020B0609020204030204" pitchFamily="49" charset="0"/>
              </a:rPr>
              <a:t>inputs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00" dirty="0">
                <a:solidFill>
                  <a:srgbClr val="9CDCFE"/>
                </a:solidFill>
                <a:latin typeface="Consolas" panose="020B0609020204030204" pitchFamily="49" charset="0"/>
              </a:rPr>
              <a:t>zeros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torch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zeros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log_probs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.size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())</a:t>
            </a: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00" dirty="0">
                <a:solidFill>
                  <a:srgbClr val="9CDCFE"/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zeros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scatter</a:t>
            </a:r>
            <a:r>
              <a:rPr lang="en-US" altLang="ko-KR" sz="1000" dirty="0">
                <a:solidFill>
                  <a:srgbClr val="DCDCAA"/>
                </a:solidFill>
                <a:latin typeface="Consolas" panose="020B0609020204030204" pitchFamily="49" charset="0"/>
              </a:rPr>
              <a:t>_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.unsqueeze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).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data.cpu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(), </a:t>
            </a:r>
            <a:r>
              <a:rPr lang="en-US" altLang="ko-KR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use_gpu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000" dirty="0">
                <a:solidFill>
                  <a:srgbClr val="9CDCFE"/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cuda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00" dirty="0">
                <a:solidFill>
                  <a:srgbClr val="9CDCFE"/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altLang="ko-KR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eps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US" altLang="ko-KR" sz="1000" dirty="0">
                <a:solidFill>
                  <a:srgbClr val="DCDCAA"/>
                </a:solidFill>
                <a:latin typeface="Consolas" panose="020B0609020204030204" pitchFamily="49" charset="0"/>
              </a:rPr>
              <a:t>*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9CDCFE"/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CDCAA"/>
                </a:solidFill>
                <a:latin typeface="Consolas" panose="020B0609020204030204" pitchFamily="49" charset="0"/>
              </a:rPr>
              <a:t>+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eps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num_classes</a:t>
            </a:r>
            <a:endParaRPr lang="en-US" altLang="ko-KR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altLang="ko-KR" sz="1000" dirty="0">
                <a:solidFill>
                  <a:srgbClr val="DCDCAA"/>
                </a:solidFill>
                <a:latin typeface="Consolas" panose="020B0609020204030204" pitchFamily="49" charset="0"/>
              </a:rPr>
              <a:t>-</a:t>
            </a:r>
            <a:r>
              <a:rPr lang="en-US" altLang="ko-KR" sz="1000" dirty="0">
                <a:solidFill>
                  <a:srgbClr val="9CDCFE"/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CDCAA"/>
                </a:solidFill>
                <a:latin typeface="Consolas" panose="020B0609020204030204" pitchFamily="49" charset="0"/>
              </a:rPr>
              <a:t>*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log_probs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).mean(</a:t>
            </a:r>
            <a:r>
              <a:rPr lang="en-US" altLang="ko-KR" sz="10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).sum()</a:t>
            </a:r>
          </a:p>
          <a:p>
            <a:endParaRPr lang="en-US" altLang="ko-KR" sz="1200" dirty="0" smtClean="0"/>
          </a:p>
          <a:p>
            <a:r>
              <a:rPr lang="en-US" altLang="ko-KR" sz="1200" dirty="0"/>
              <a:t>targets = </a:t>
            </a:r>
            <a:r>
              <a:rPr lang="en-US" altLang="ko-KR" sz="1200" dirty="0" err="1"/>
              <a:t>zeros.scatter</a:t>
            </a:r>
            <a:r>
              <a:rPr lang="en-US" altLang="ko-KR" sz="1200" dirty="0"/>
              <a:t>_(1, </a:t>
            </a:r>
            <a:r>
              <a:rPr lang="en-US" altLang="ko-KR" sz="1200" dirty="0" err="1"/>
              <a:t>targets.unsqueeze</a:t>
            </a:r>
            <a:r>
              <a:rPr lang="en-US" altLang="ko-KR" sz="1200" dirty="0"/>
              <a:t>(1).</a:t>
            </a:r>
            <a:r>
              <a:rPr lang="en-US" altLang="ko-KR" sz="1200" dirty="0" err="1"/>
              <a:t>data.cpu</a:t>
            </a:r>
            <a:r>
              <a:rPr lang="en-US" altLang="ko-KR" sz="1200" dirty="0"/>
              <a:t>(), 1)</a:t>
            </a:r>
          </a:p>
          <a:p>
            <a:endParaRPr lang="en-US" altLang="ko-KR" sz="1200" dirty="0"/>
          </a:p>
          <a:p>
            <a:r>
              <a:rPr lang="ko-KR" altLang="en-US" sz="1050" dirty="0" smtClean="0"/>
              <a:t>역할</a:t>
            </a:r>
            <a:r>
              <a:rPr lang="en-US" altLang="ko-KR" sz="1050" dirty="0"/>
              <a:t>: </a:t>
            </a:r>
            <a:r>
              <a:rPr lang="ko-KR" altLang="en-US" sz="1050" dirty="0"/>
              <a:t>실제 레이블</a:t>
            </a:r>
            <a:r>
              <a:rPr lang="en-US" altLang="ko-KR" sz="1050" dirty="0"/>
              <a:t>(targets)</a:t>
            </a:r>
            <a:r>
              <a:rPr lang="ko-KR" altLang="en-US" sz="1050" dirty="0"/>
              <a:t>을 원</a:t>
            </a:r>
            <a:r>
              <a:rPr lang="en-US" altLang="ko-KR" sz="1050" dirty="0"/>
              <a:t>-</a:t>
            </a:r>
            <a:r>
              <a:rPr lang="ko-KR" altLang="en-US" sz="1050" dirty="0" err="1"/>
              <a:t>핫</a:t>
            </a:r>
            <a:r>
              <a:rPr lang="ko-KR" altLang="en-US" sz="1050" dirty="0"/>
              <a:t> </a:t>
            </a:r>
            <a:r>
              <a:rPr lang="ko-KR" altLang="en-US" sz="1050" dirty="0" err="1"/>
              <a:t>인코딩</a:t>
            </a:r>
            <a:r>
              <a:rPr lang="ko-KR" altLang="en-US" sz="1050" dirty="0"/>
              <a:t> 형태로 변환합니다</a:t>
            </a:r>
            <a:r>
              <a:rPr lang="en-US" altLang="ko-KR" sz="1050" dirty="0"/>
              <a:t>.</a:t>
            </a:r>
          </a:p>
          <a:p>
            <a:r>
              <a:rPr lang="ko-KR" altLang="en-US" sz="1050" dirty="0" smtClean="0"/>
              <a:t>작동 </a:t>
            </a:r>
            <a:r>
              <a:rPr lang="ko-KR" altLang="en-US" sz="1050" dirty="0"/>
              <a:t>방식</a:t>
            </a:r>
            <a:r>
              <a:rPr lang="en-US" altLang="ko-KR" sz="1050" dirty="0"/>
              <a:t>:</a:t>
            </a:r>
          </a:p>
          <a:p>
            <a:r>
              <a:rPr lang="en-US" altLang="ko-KR" sz="1050" dirty="0"/>
              <a:t>        targets</a:t>
            </a:r>
            <a:r>
              <a:rPr lang="ko-KR" altLang="en-US" sz="1050" dirty="0"/>
              <a:t>는 정답 레이블의 인덱스를 담고 있는 </a:t>
            </a:r>
            <a:r>
              <a:rPr lang="en-US" altLang="ko-KR" sz="1050" dirty="0"/>
              <a:t>1</a:t>
            </a:r>
            <a:r>
              <a:rPr lang="ko-KR" altLang="en-US" sz="1050" dirty="0"/>
              <a:t>차원 </a:t>
            </a:r>
            <a:r>
              <a:rPr lang="ko-KR" altLang="en-US" sz="1050" dirty="0" err="1"/>
              <a:t>텐서입니다</a:t>
            </a:r>
            <a:r>
              <a:rPr lang="en-US" altLang="ko-KR" sz="1050" dirty="0"/>
              <a:t>. </a:t>
            </a:r>
            <a:r>
              <a:rPr lang="ko-KR" altLang="en-US" sz="1050" dirty="0"/>
              <a:t>예를 들어</a:t>
            </a:r>
            <a:r>
              <a:rPr lang="en-US" altLang="ko-KR" sz="1050" dirty="0"/>
              <a:t>, [1, 0, 4]</a:t>
            </a:r>
            <a:r>
              <a:rPr lang="ko-KR" altLang="en-US" sz="1050" dirty="0"/>
              <a:t>와 같은 형태로 배치 크기만큼의 값을 가집니다</a:t>
            </a:r>
            <a:r>
              <a:rPr lang="en-US" altLang="ko-KR" sz="1050" dirty="0"/>
              <a:t>.</a:t>
            </a:r>
          </a:p>
          <a:p>
            <a:r>
              <a:rPr lang="en-US" altLang="ko-KR" sz="1050" dirty="0"/>
              <a:t>        </a:t>
            </a:r>
            <a:r>
              <a:rPr lang="en-US" altLang="ko-KR" sz="1050" dirty="0" err="1"/>
              <a:t>targets.unsqueeze</a:t>
            </a:r>
            <a:r>
              <a:rPr lang="en-US" altLang="ko-KR" sz="1050" dirty="0"/>
              <a:t>(1)</a:t>
            </a:r>
            <a:r>
              <a:rPr lang="ko-KR" altLang="en-US" sz="1050" dirty="0"/>
              <a:t>는 </a:t>
            </a:r>
            <a:r>
              <a:rPr lang="en-US" altLang="ko-KR" sz="1050" dirty="0"/>
              <a:t>targets</a:t>
            </a:r>
            <a:r>
              <a:rPr lang="ko-KR" altLang="en-US" sz="1050" dirty="0"/>
              <a:t>의 차원을 늘려 </a:t>
            </a:r>
            <a:r>
              <a:rPr lang="en-US" altLang="ko-KR" sz="1050" dirty="0"/>
              <a:t>(</a:t>
            </a:r>
            <a:r>
              <a:rPr lang="en-US" altLang="ko-KR" sz="1050" dirty="0" err="1"/>
              <a:t>batch_size</a:t>
            </a:r>
            <a:r>
              <a:rPr lang="en-US" altLang="ko-KR" sz="1050" dirty="0"/>
              <a:t>, 1) </a:t>
            </a:r>
            <a:r>
              <a:rPr lang="ko-KR" altLang="en-US" sz="1050" dirty="0"/>
              <a:t>형태로 만듭니다</a:t>
            </a:r>
            <a:r>
              <a:rPr lang="en-US" altLang="ko-KR" sz="1050" dirty="0"/>
              <a:t>. </a:t>
            </a:r>
            <a:r>
              <a:rPr lang="ko-KR" altLang="en-US" sz="1050" dirty="0"/>
              <a:t>이렇게 하면 각 레이블 인덱스를 </a:t>
            </a:r>
            <a:r>
              <a:rPr lang="en-US" altLang="ko-KR" sz="1050" dirty="0"/>
              <a:t>2</a:t>
            </a:r>
            <a:r>
              <a:rPr lang="ko-KR" altLang="en-US" sz="1050" dirty="0"/>
              <a:t>차원으로 변환하여 </a:t>
            </a:r>
            <a:r>
              <a:rPr lang="en-US" altLang="ko-KR" sz="1050" dirty="0"/>
              <a:t>.scatter_ </a:t>
            </a:r>
            <a:r>
              <a:rPr lang="ko-KR" altLang="en-US" sz="1050" dirty="0"/>
              <a:t>메서드가 사용할 수 있게 됩니다</a:t>
            </a:r>
            <a:r>
              <a:rPr lang="en-US" altLang="ko-KR" sz="1050" dirty="0"/>
              <a:t>.</a:t>
            </a:r>
          </a:p>
          <a:p>
            <a:r>
              <a:rPr lang="en-US" altLang="ko-KR" sz="1050" dirty="0"/>
              <a:t>        .</a:t>
            </a:r>
            <a:r>
              <a:rPr lang="en-US" altLang="ko-KR" sz="1050" dirty="0" err="1"/>
              <a:t>data.cpu</a:t>
            </a:r>
            <a:r>
              <a:rPr lang="en-US" altLang="ko-KR" sz="1050" dirty="0"/>
              <a:t>()</a:t>
            </a:r>
            <a:r>
              <a:rPr lang="ko-KR" altLang="en-US" sz="1050" dirty="0"/>
              <a:t>는 </a:t>
            </a:r>
            <a:r>
              <a:rPr lang="en-US" altLang="ko-KR" sz="1050" dirty="0"/>
              <a:t>targets</a:t>
            </a:r>
            <a:r>
              <a:rPr lang="ko-KR" altLang="en-US" sz="1050" dirty="0"/>
              <a:t>를 </a:t>
            </a:r>
            <a:r>
              <a:rPr lang="en-US" altLang="ko-KR" sz="1050" dirty="0"/>
              <a:t>CPU </a:t>
            </a:r>
            <a:r>
              <a:rPr lang="ko-KR" altLang="en-US" sz="1050" dirty="0"/>
              <a:t>메모리로 이동시키고</a:t>
            </a:r>
            <a:r>
              <a:rPr lang="en-US" altLang="ko-KR" sz="1050" dirty="0"/>
              <a:t>, .scatter_(1, </a:t>
            </a:r>
            <a:r>
              <a:rPr lang="en-US" altLang="ko-KR" sz="1050" dirty="0" err="1"/>
              <a:t>targets.unsqueeze</a:t>
            </a:r>
            <a:r>
              <a:rPr lang="en-US" altLang="ko-KR" sz="1050" dirty="0"/>
              <a:t>(1).</a:t>
            </a:r>
            <a:r>
              <a:rPr lang="en-US" altLang="ko-KR" sz="1050" dirty="0" err="1"/>
              <a:t>data.cpu</a:t>
            </a:r>
            <a:r>
              <a:rPr lang="en-US" altLang="ko-KR" sz="1050" dirty="0"/>
              <a:t>(), 1)</a:t>
            </a:r>
            <a:r>
              <a:rPr lang="ko-KR" altLang="en-US" sz="1050" dirty="0"/>
              <a:t>는 원</a:t>
            </a:r>
            <a:r>
              <a:rPr lang="en-US" altLang="ko-KR" sz="1050" dirty="0"/>
              <a:t>-</a:t>
            </a:r>
            <a:r>
              <a:rPr lang="ko-KR" altLang="en-US" sz="1050" dirty="0" err="1"/>
              <a:t>핫</a:t>
            </a:r>
            <a:r>
              <a:rPr lang="ko-KR" altLang="en-US" sz="1050" dirty="0"/>
              <a:t> </a:t>
            </a:r>
            <a:r>
              <a:rPr lang="ko-KR" altLang="en-US" sz="1050" dirty="0" err="1"/>
              <a:t>인코딩을</a:t>
            </a:r>
            <a:r>
              <a:rPr lang="ko-KR" altLang="en-US" sz="1050" dirty="0"/>
              <a:t> 수행합니다</a:t>
            </a:r>
            <a:r>
              <a:rPr lang="en-US" altLang="ko-KR" sz="1050" dirty="0"/>
              <a:t>:</a:t>
            </a:r>
          </a:p>
          <a:p>
            <a:r>
              <a:rPr lang="en-US" altLang="ko-KR" sz="1050" dirty="0"/>
              <a:t>            .scatter_</a:t>
            </a:r>
            <a:r>
              <a:rPr lang="ko-KR" altLang="en-US" sz="1050" dirty="0"/>
              <a:t>는 인덱스 기준으로 값을 할당하는 함수입니다</a:t>
            </a:r>
            <a:r>
              <a:rPr lang="en-US" altLang="ko-KR" sz="1050" dirty="0"/>
              <a:t>. </a:t>
            </a:r>
            <a:r>
              <a:rPr lang="ko-KR" altLang="en-US" sz="1050" dirty="0"/>
              <a:t>여기서 </a:t>
            </a:r>
            <a:r>
              <a:rPr lang="en-US" altLang="ko-KR" sz="1050" dirty="0"/>
              <a:t>1</a:t>
            </a:r>
            <a:r>
              <a:rPr lang="ko-KR" altLang="en-US" sz="1050" dirty="0"/>
              <a:t>은 차원을 나타내며</a:t>
            </a:r>
            <a:r>
              <a:rPr lang="en-US" altLang="ko-KR" sz="1050" dirty="0"/>
              <a:t>, </a:t>
            </a:r>
            <a:r>
              <a:rPr lang="ko-KR" altLang="en-US" sz="1050" dirty="0"/>
              <a:t>각 행</a:t>
            </a:r>
            <a:r>
              <a:rPr lang="en-US" altLang="ko-KR" sz="1050" dirty="0"/>
              <a:t>(</a:t>
            </a:r>
            <a:r>
              <a:rPr lang="ko-KR" altLang="en-US" sz="1050" dirty="0"/>
              <a:t>샘플</a:t>
            </a:r>
            <a:r>
              <a:rPr lang="en-US" altLang="ko-KR" sz="1050" dirty="0"/>
              <a:t>)</a:t>
            </a:r>
            <a:r>
              <a:rPr lang="ko-KR" altLang="en-US" sz="1050" dirty="0"/>
              <a:t>에 대해 해당 차원의 값을 </a:t>
            </a:r>
            <a:r>
              <a:rPr lang="en-US" altLang="ko-KR" sz="1050" dirty="0"/>
              <a:t>1</a:t>
            </a:r>
            <a:r>
              <a:rPr lang="ko-KR" altLang="en-US" sz="1050" dirty="0"/>
              <a:t>로 설정합니다</a:t>
            </a:r>
            <a:r>
              <a:rPr lang="en-US" altLang="ko-KR" sz="1050" dirty="0"/>
              <a:t>.</a:t>
            </a:r>
          </a:p>
          <a:p>
            <a:r>
              <a:rPr lang="en-US" altLang="ko-KR" sz="1050" dirty="0"/>
              <a:t>            </a:t>
            </a:r>
            <a:r>
              <a:rPr lang="ko-KR" altLang="en-US" sz="1050" dirty="0"/>
              <a:t>예를 들어</a:t>
            </a:r>
            <a:r>
              <a:rPr lang="en-US" altLang="ko-KR" sz="1050" dirty="0"/>
              <a:t>, targets</a:t>
            </a:r>
            <a:r>
              <a:rPr lang="ko-KR" altLang="en-US" sz="1050" dirty="0"/>
              <a:t>가 </a:t>
            </a:r>
            <a:r>
              <a:rPr lang="en-US" altLang="ko-KR" sz="1050" dirty="0"/>
              <a:t>[1, 0, 4]</a:t>
            </a:r>
            <a:r>
              <a:rPr lang="ko-KR" altLang="en-US" sz="1050" dirty="0"/>
              <a:t>일 경우</a:t>
            </a:r>
            <a:r>
              <a:rPr lang="en-US" altLang="ko-KR" sz="1050" dirty="0"/>
              <a:t>, </a:t>
            </a:r>
            <a:r>
              <a:rPr lang="ko-KR" altLang="en-US" sz="1050" dirty="0"/>
              <a:t>이 코드가 실행되면 </a:t>
            </a:r>
            <a:r>
              <a:rPr lang="en-US" altLang="ko-KR" sz="1050" dirty="0"/>
              <a:t>zeros</a:t>
            </a:r>
            <a:r>
              <a:rPr lang="ko-KR" altLang="en-US" sz="1050" dirty="0"/>
              <a:t>는 다음과 같은 형태로 변환됩니다</a:t>
            </a:r>
            <a:r>
              <a:rPr lang="en-US" altLang="ko-KR" sz="1050" dirty="0"/>
              <a:t>:</a:t>
            </a:r>
          </a:p>
          <a:p>
            <a:r>
              <a:rPr lang="ko-KR" altLang="en-US" sz="1050" dirty="0" smtClean="0"/>
              <a:t>결과</a:t>
            </a:r>
            <a:endParaRPr lang="en-US" altLang="ko-KR" sz="1050" dirty="0"/>
          </a:p>
          <a:p>
            <a:r>
              <a:rPr lang="en-US" altLang="ko-KR" sz="1050" dirty="0"/>
              <a:t>            [[0, 1, 0, 0, 0],</a:t>
            </a:r>
          </a:p>
          <a:p>
            <a:r>
              <a:rPr lang="en-US" altLang="ko-KR" sz="1050" dirty="0"/>
              <a:t>             [1, 0, 0, 0, 0],</a:t>
            </a:r>
          </a:p>
          <a:p>
            <a:r>
              <a:rPr lang="en-US" altLang="ko-KR" sz="1050" dirty="0"/>
              <a:t>             [0, 0, 0, 0, 1]]</a:t>
            </a:r>
          </a:p>
          <a:p>
            <a:r>
              <a:rPr lang="ko-KR" altLang="en-US" sz="1050" dirty="0" smtClean="0"/>
              <a:t>결과</a:t>
            </a:r>
            <a:r>
              <a:rPr lang="en-US" altLang="ko-KR" sz="1050" dirty="0"/>
              <a:t>: targets</a:t>
            </a:r>
            <a:r>
              <a:rPr lang="ko-KR" altLang="en-US" sz="1050" dirty="0"/>
              <a:t>는 원</a:t>
            </a:r>
            <a:r>
              <a:rPr lang="en-US" altLang="ko-KR" sz="1050" dirty="0"/>
              <a:t>-</a:t>
            </a:r>
            <a:r>
              <a:rPr lang="ko-KR" altLang="en-US" sz="1050" dirty="0" err="1"/>
              <a:t>핫</a:t>
            </a:r>
            <a:r>
              <a:rPr lang="ko-KR" altLang="en-US" sz="1050" dirty="0"/>
              <a:t> </a:t>
            </a:r>
            <a:r>
              <a:rPr lang="ko-KR" altLang="en-US" sz="1050" dirty="0" err="1"/>
              <a:t>인코딩된</a:t>
            </a:r>
            <a:r>
              <a:rPr lang="ko-KR" altLang="en-US" sz="1050" dirty="0"/>
              <a:t> 형태의 </a:t>
            </a:r>
            <a:r>
              <a:rPr lang="ko-KR" altLang="en-US" sz="1050" dirty="0" err="1"/>
              <a:t>텐서로</a:t>
            </a:r>
            <a:r>
              <a:rPr lang="en-US" altLang="ko-KR" sz="1050" dirty="0"/>
              <a:t>, </a:t>
            </a:r>
            <a:r>
              <a:rPr lang="ko-KR" altLang="en-US" sz="1050" dirty="0"/>
              <a:t>각 샘플에 대해 정답 클래스 위치에 </a:t>
            </a:r>
            <a:r>
              <a:rPr lang="en-US" altLang="ko-KR" sz="1050" dirty="0"/>
              <a:t>1</a:t>
            </a:r>
            <a:r>
              <a:rPr lang="ko-KR" altLang="en-US" sz="1050" dirty="0"/>
              <a:t>이 할당된 형태가 됩니다</a:t>
            </a:r>
            <a:r>
              <a:rPr lang="en-US" altLang="ko-KR" sz="1050" dirty="0"/>
              <a:t>.</a:t>
            </a:r>
          </a:p>
          <a:p>
            <a:endParaRPr lang="en-US" altLang="ko-KR" sz="1050" dirty="0"/>
          </a:p>
          <a:p>
            <a:r>
              <a:rPr lang="ko-KR" altLang="en-US" sz="1050" dirty="0"/>
              <a:t>이 코드 전체의 목적은 </a:t>
            </a:r>
            <a:r>
              <a:rPr lang="ko-KR" altLang="en-US" sz="1050" dirty="0" err="1"/>
              <a:t>예측값의</a:t>
            </a:r>
            <a:r>
              <a:rPr lang="ko-KR" altLang="en-US" sz="1050" dirty="0"/>
              <a:t> 로그 확률을 구하고</a:t>
            </a:r>
            <a:r>
              <a:rPr lang="en-US" altLang="ko-KR" sz="1050" dirty="0"/>
              <a:t>, </a:t>
            </a:r>
            <a:r>
              <a:rPr lang="ko-KR" altLang="en-US" sz="1050" dirty="0"/>
              <a:t>실제 레이블을 원</a:t>
            </a:r>
            <a:r>
              <a:rPr lang="en-US" altLang="ko-KR" sz="1050" dirty="0"/>
              <a:t>-</a:t>
            </a:r>
            <a:r>
              <a:rPr lang="ko-KR" altLang="en-US" sz="1050" dirty="0" err="1"/>
              <a:t>핫</a:t>
            </a:r>
            <a:r>
              <a:rPr lang="ko-KR" altLang="en-US" sz="1050" dirty="0"/>
              <a:t> 인코딩하여 교차 엔트로피 손실 계산에 사용할 수 있는 형태로 변환하는 것입니다</a:t>
            </a:r>
            <a:r>
              <a:rPr lang="en-US" altLang="ko-KR" sz="1050" dirty="0"/>
              <a:t>.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67904794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/>
        </p:nvSpPr>
        <p:spPr>
          <a:xfrm>
            <a:off x="708045" y="422371"/>
            <a:ext cx="80021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ko-KR" altLang="en-US" sz="2400" b="1" dirty="0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논문</a:t>
            </a:r>
            <a:endParaRPr lang="en-US" altLang="ko-KR" sz="2400" b="1" dirty="0">
              <a:ln w="0"/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72" name="직선 연결선 71"/>
          <p:cNvCxnSpPr/>
          <p:nvPr/>
        </p:nvCxnSpPr>
        <p:spPr>
          <a:xfrm flipV="1">
            <a:off x="11670974" y="1369270"/>
            <a:ext cx="0" cy="5736096"/>
          </a:xfrm>
          <a:prstGeom prst="line">
            <a:avLst/>
          </a:prstGeom>
          <a:ln w="28575">
            <a:solidFill>
              <a:schemeClr val="accent4">
                <a:lumMod val="40000"/>
                <a:lumOff val="6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/>
          <p:cNvSpPr/>
          <p:nvPr/>
        </p:nvSpPr>
        <p:spPr>
          <a:xfrm>
            <a:off x="708045" y="1369270"/>
            <a:ext cx="139685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68288" indent="-268288">
              <a:spcBef>
                <a:spcPts val="1200"/>
              </a:spcBef>
              <a:buFont typeface="Wingdings" pitchFamily="2" charset="2"/>
              <a:buChar char="l"/>
            </a:pPr>
            <a:r>
              <a:rPr lang="en-US" altLang="ko-KR" sz="2400" b="1" dirty="0" err="1" smtClean="0">
                <a:ln w="0"/>
                <a:solidFill>
                  <a:prstClr val="black"/>
                </a:solidFill>
                <a:latin typeface="Arial" pitchFamily="34" charset="0"/>
              </a:rPr>
              <a:t>OSNet</a:t>
            </a:r>
            <a:endParaRPr lang="en-US" altLang="ko-KR" sz="2400" b="1" dirty="0">
              <a:ln w="0"/>
              <a:solidFill>
                <a:prstClr val="black"/>
              </a:solidFill>
              <a:latin typeface="Arial" pitchFamily="34" charset="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647" y="2077022"/>
            <a:ext cx="2982526" cy="232082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647" y="4892246"/>
            <a:ext cx="4692318" cy="184341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3466" y="2077022"/>
            <a:ext cx="4533943" cy="3587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747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/>
        </p:nvSpPr>
        <p:spPr>
          <a:xfrm>
            <a:off x="708045" y="422371"/>
            <a:ext cx="80021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ko-KR" altLang="en-US" sz="2400" b="1" dirty="0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논문</a:t>
            </a:r>
            <a:endParaRPr lang="en-US" altLang="ko-KR" sz="2400" b="1" dirty="0">
              <a:ln w="0"/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72" name="직선 연결선 71"/>
          <p:cNvCxnSpPr/>
          <p:nvPr/>
        </p:nvCxnSpPr>
        <p:spPr>
          <a:xfrm flipV="1">
            <a:off x="11670974" y="1369270"/>
            <a:ext cx="0" cy="5736096"/>
          </a:xfrm>
          <a:prstGeom prst="line">
            <a:avLst/>
          </a:prstGeom>
          <a:ln w="28575">
            <a:solidFill>
              <a:schemeClr val="accent4">
                <a:lumMod val="40000"/>
                <a:lumOff val="6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/>
          <p:cNvSpPr/>
          <p:nvPr/>
        </p:nvSpPr>
        <p:spPr>
          <a:xfrm>
            <a:off x="708045" y="1369270"/>
            <a:ext cx="20973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68288" indent="-268288">
              <a:spcBef>
                <a:spcPts val="1200"/>
              </a:spcBef>
              <a:buFont typeface="Wingdings" pitchFamily="2" charset="2"/>
              <a:buChar char="l"/>
            </a:pPr>
            <a:r>
              <a:rPr lang="en-US" altLang="ko-KR" sz="2400" b="1" dirty="0" err="1" smtClean="0">
                <a:ln w="0"/>
                <a:solidFill>
                  <a:prstClr val="black"/>
                </a:solidFill>
                <a:latin typeface="Arial" pitchFamily="34" charset="0"/>
              </a:rPr>
              <a:t>OSNet</a:t>
            </a:r>
            <a:r>
              <a:rPr lang="en-US" altLang="ko-KR" sz="2400" b="1" dirty="0" smtClean="0">
                <a:ln w="0"/>
                <a:solidFill>
                  <a:prstClr val="black"/>
                </a:solidFill>
                <a:latin typeface="Arial" pitchFamily="34" charset="0"/>
              </a:rPr>
              <a:t> </a:t>
            </a:r>
            <a:r>
              <a:rPr lang="ko-KR" altLang="en-US" sz="2400" b="1" dirty="0" smtClean="0">
                <a:ln w="0"/>
                <a:solidFill>
                  <a:prstClr val="black"/>
                </a:solidFill>
                <a:latin typeface="Arial" pitchFamily="34" charset="0"/>
              </a:rPr>
              <a:t>구조</a:t>
            </a:r>
            <a:endParaRPr lang="en-US" altLang="ko-KR" sz="2400" b="1" dirty="0">
              <a:ln w="0"/>
              <a:solidFill>
                <a:prstClr val="black"/>
              </a:solidFill>
              <a:latin typeface="Arial" pitchFamily="34" charset="0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623" y="1913704"/>
            <a:ext cx="5849166" cy="502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755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427905" y="314530"/>
            <a:ext cx="3225785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self </a:t>
            </a:r>
            <a:r>
              <a:rPr lang="ko-KR" altLang="en-US" sz="2400" b="1" dirty="0" smtClean="0">
                <a:solidFill>
                  <a:srgbClr val="0E0585"/>
                </a:solidFill>
              </a:rPr>
              <a:t>질문 </a:t>
            </a:r>
            <a:r>
              <a:rPr lang="ko-KR" altLang="en-US" sz="2400" b="1" dirty="0" smtClean="0">
                <a:solidFill>
                  <a:srgbClr val="0E0585"/>
                </a:solidFill>
              </a:rPr>
              <a:t>리스트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cont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직사각형 26"/>
              <p:cNvSpPr/>
              <p:nvPr/>
            </p:nvSpPr>
            <p:spPr>
              <a:xfrm>
                <a:off x="722910" y="1493704"/>
                <a:ext cx="6302730" cy="401398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ko-KR" sz="1100" dirty="0" smtClean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1. </a:t>
                </a:r>
                <a:r>
                  <a:rPr lang="ko-KR" altLang="en-US" sz="1100" dirty="0" smtClean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실질적 훈련은 어떤 함수에서  수행되나</a:t>
                </a:r>
                <a:r>
                  <a:rPr lang="en-US" altLang="ko-KR" sz="1100" dirty="0" smtClean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?</a:t>
                </a:r>
              </a:p>
              <a:p>
                <a:r>
                  <a:rPr lang="en-US" altLang="ko-KR" sz="1100" dirty="0" smtClean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     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class engine run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함수에서 수행이 되고 내부적으로 </a:t>
                </a:r>
                <a:r>
                  <a:rPr lang="en-US" altLang="ko-KR" sz="1100" dirty="0" err="1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self.train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함수가 수행된다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</a:t>
                </a:r>
              </a:p>
              <a:p>
                <a:pPr lvl="0"/>
                <a:endParaRPr lang="en-US" altLang="ko-KR" sz="1100" dirty="0" smtClean="0">
                  <a:solidFill>
                    <a:srgbClr val="0070C0"/>
                  </a:solidFill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  <a:p>
                <a:pPr lvl="0"/>
                <a:endParaRPr lang="en-US" altLang="ko-KR" sz="1100" dirty="0">
                  <a:solidFill>
                    <a:srgbClr val="0070C0"/>
                  </a:solidFill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  <a:p>
                <a:pPr lvl="0"/>
                <a:r>
                  <a:rPr lang="en-US" altLang="ko-KR" sz="11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2. </a:t>
                </a:r>
                <a:r>
                  <a:rPr lang="en-US" altLang="ko-KR" sz="1100" dirty="0" err="1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OSBlock</a:t>
                </a:r>
                <a:r>
                  <a:rPr lang="ko-KR" altLang="en-US" sz="11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의 초기화는 어디에서 이루어지나</a:t>
                </a:r>
                <a:r>
                  <a:rPr lang="en-US" altLang="ko-KR" sz="1100" dirty="0" smtClea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?</a:t>
                </a:r>
                <a:endParaRPr lang="en-US" altLang="ko-KR" sz="1100" dirty="0">
                  <a:solidFill>
                    <a:prstClr val="black">
                      <a:lumMod val="75000"/>
                      <a:lumOff val="25000"/>
                    </a:prstClr>
                  </a:solidFill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  <a:p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  </a:t>
                </a:r>
                <a:r>
                  <a:rPr lang="en-US" altLang="ko-KR" sz="1100" dirty="0" err="1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def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_</a:t>
                </a:r>
                <a:r>
                  <a:rPr lang="en-US" altLang="ko-KR" sz="1100" dirty="0" err="1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make_layer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함수에서 </a:t>
                </a:r>
                <a:r>
                  <a:rPr lang="en-US" altLang="ko-KR" sz="1100" dirty="0" err="1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layers.append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(block(</a:t>
                </a:r>
                <a:r>
                  <a:rPr lang="en-US" altLang="ko-KR" sz="1100" dirty="0" err="1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in_channels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, </a:t>
                </a:r>
                <a:r>
                  <a:rPr lang="en-US" altLang="ko-KR" sz="1100" dirty="0" err="1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out_channels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, IN=IN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)) </a:t>
                </a:r>
                <a:r>
                  <a:rPr lang="ko-KR" altLang="en-US" sz="1100" dirty="0" err="1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호출시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이루어진다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처음 </a:t>
                </a:r>
                <a:r>
                  <a:rPr lang="en-US" altLang="ko-KR" sz="1100" dirty="0" err="1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OSBlock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을 </a:t>
                </a:r>
                <a:r>
                  <a:rPr lang="ko-KR" altLang="en-US" sz="1100" dirty="0" err="1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지날때만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channel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이 증가하고 그 이후로는 유지한다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</a:t>
                </a:r>
              </a:p>
              <a:p>
                <a:endParaRPr lang="en-US" altLang="ko-KR" sz="1100" dirty="0">
                  <a:solidFill>
                    <a:srgbClr val="0070C0"/>
                  </a:solidFill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  <a:p>
                <a:r>
                  <a:rPr lang="en-US" altLang="ko-KR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3. stack t</a:t>
                </a:r>
                <a:r>
                  <a:rPr lang="ko-KR" altLang="en-US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가 </a:t>
                </a:r>
                <a:r>
                  <a:rPr lang="ko-KR" altLang="en-US" sz="1100" dirty="0" err="1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있을때</a:t>
                </a:r>
                <a:r>
                  <a:rPr lang="ko-KR" altLang="en-US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en-US" altLang="ko-KR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Lite 3x3 layers</a:t>
                </a:r>
                <a:r>
                  <a:rPr lang="ko-KR" altLang="en-US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에 대하여 </a:t>
                </a:r>
                <a:r>
                  <a:rPr lang="ko-KR" altLang="en-US" sz="1100" dirty="0" err="1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수용영역</a:t>
                </a:r>
                <a:r>
                  <a:rPr lang="en-US" altLang="ko-KR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(receptive field) </a:t>
                </a:r>
                <a:r>
                  <a:rPr lang="ko-KR" altLang="en-US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크기가 </a:t>
                </a:r>
                <a:r>
                  <a:rPr lang="en-US" altLang="ko-KR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(2t+1)(2t+1)</a:t>
                </a:r>
                <a:r>
                  <a:rPr lang="ko-KR" altLang="en-US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이란 의미는</a:t>
                </a:r>
                <a:r>
                  <a:rPr lang="en-US" altLang="ko-KR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?</a:t>
                </a:r>
              </a:p>
              <a:p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Lite 3x3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을 지날 때 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3x3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커널이므로 한 점이 만들어지기 위해서는 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3x3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영역을 커버한다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</a:t>
                </a:r>
              </a:p>
              <a:p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그러므로 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t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개가 쌓이면 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(2t+1)(2t+1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)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영역이 된다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</a:t>
                </a:r>
              </a:p>
              <a:p>
                <a:endParaRPr lang="en-US" altLang="ko-KR" sz="1100" dirty="0">
                  <a:solidFill>
                    <a:srgbClr val="0070C0"/>
                  </a:solidFill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  <a:p>
                <a:r>
                  <a:rPr lang="en-US" altLang="ko-KR" sz="11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4.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altLang="ko-K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accPr>
                      <m:e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𝑥</m:t>
                        </m:r>
                      </m:e>
                    </m:acc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경기천년바탕 Regular" panose="02020503020101020101" pitchFamily="18" charset="-127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𝑡</m:t>
                        </m:r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=1</m:t>
                        </m:r>
                      </m:sub>
                      <m:sup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𝑇</m:t>
                        </m:r>
                      </m:sup>
                      <m:e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𝐺</m:t>
                        </m:r>
                        <m:d>
                          <m:dPr>
                            <m:ctrlPr>
                              <a:rPr lang="en-US" altLang="ko-K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ko-KR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경기천년바탕 Regular" panose="02020503020101020101" pitchFamily="18" charset="-127"/>
                                  </a:rPr>
                                </m:ctrlPr>
                              </m:sSupPr>
                              <m:e>
                                <m:r>
                                  <a:rPr lang="en-US" altLang="ko-KR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경기천년바탕 Regular" panose="02020503020101020101" pitchFamily="18" charset="-127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altLang="ko-KR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경기천년바탕 Regular" panose="02020503020101020101" pitchFamily="18" charset="-127"/>
                                  </a:rPr>
                                  <m:t>𝑡</m:t>
                                </m:r>
                              </m:sup>
                            </m:sSup>
                          </m:e>
                        </m:d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⊙</m:t>
                        </m:r>
                        <m:sSup>
                          <m:sSupPr>
                            <m:ctrlPr>
                              <a:rPr lang="en-US" altLang="ko-K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ko-K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 </m:t>
                        </m:r>
                      </m:e>
                    </m:nary>
                  </m:oMath>
                </a14:m>
                <a:r>
                  <a:rPr lang="en-US" altLang="ko-KR" sz="14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subjected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sSupPr>
                      <m:e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𝑥</m:t>
                        </m:r>
                      </m:e>
                      <m:sup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𝑡</m:t>
                        </m:r>
                      </m:sup>
                    </m:sSup>
                    <m:r>
                      <a:rPr lang="en-US" altLang="ko-K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≜</m:t>
                    </m:r>
                    <m:sSup>
                      <m:sSupPr>
                        <m:ctrlPr>
                          <a:rPr lang="en-US" altLang="ko-K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4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ko-KR" altLang="en-US" sz="11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의 의미는</a:t>
                </a:r>
                <a:r>
                  <a:rPr lang="en-US" altLang="ko-KR" sz="11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?</a:t>
                </a:r>
              </a:p>
              <a:p>
                <a:r>
                  <a:rPr lang="en-US" altLang="ko-KR" sz="11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10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sSupPr>
                      <m:e>
                        <m: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𝑥</m:t>
                        </m:r>
                      </m:e>
                      <m:sup>
                        <m: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𝑡</m:t>
                        </m:r>
                      </m:sup>
                    </m:sSup>
                    <m:r>
                      <a:rPr lang="en-US" altLang="ko-KR" sz="11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≜</m:t>
                    </m:r>
                    <m:sSup>
                      <m:sSupPr>
                        <m:ctrlP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altLang="ko-KR" sz="11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altLang="ko-KR" sz="11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altLang="ko-KR" sz="11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는 입력 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x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가 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Lite 3x3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을 통과한 결과 값이고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1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경기천년바탕 Regular" panose="02020503020101020101" pitchFamily="18" charset="-127"/>
                      </a:rPr>
                      <m:t>𝐺</m:t>
                    </m:r>
                    <m:d>
                      <m:dPr>
                        <m:ctrlP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1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</m:ctrlPr>
                          </m:sSupPr>
                          <m:e>
                            <m:r>
                              <a:rPr lang="en-US" altLang="ko-KR" sz="11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ko-KR" sz="11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sSupPr>
                      <m:e>
                        <m: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𝑥</m:t>
                        </m:r>
                      </m:e>
                      <m:sup>
                        <m: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의 채널 깊이에 대한 가중치 벡터이고 그 모든 합을 더한 것을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accPr>
                      <m:e>
                        <m: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로 정의 하였다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즉 </a:t>
                </a:r>
                <a:r>
                  <a:rPr lang="en-US" altLang="ko-KR" sz="1100" dirty="0" err="1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OSBlock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을 통과한 값이다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</a:t>
                </a:r>
              </a:p>
              <a:p>
                <a:endParaRPr lang="en-US" altLang="ko-KR" sz="1100" dirty="0">
                  <a:solidFill>
                    <a:srgbClr val="0070C0"/>
                  </a:solidFill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  <a:p>
                <a:r>
                  <a:rPr lang="en-US" altLang="ko-KR" sz="11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5.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fPr>
                      <m:num>
                        <m:r>
                          <a:rPr lang="ko-KR" altLang="en-US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𝜕</m:t>
                        </m:r>
                        <m:r>
                          <a:rPr lang="en-US" altLang="ko-K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num>
                      <m:den>
                        <m:r>
                          <a:rPr lang="ko-KR" altLang="en-US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𝜕</m:t>
                        </m:r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𝐺</m:t>
                        </m:r>
                      </m:den>
                    </m:f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경기천년바탕 Regular" panose="02020503020101020101" pitchFamily="18" charset="-127"/>
                      </a:rPr>
                      <m:t>=</m:t>
                    </m:r>
                    <m:f>
                      <m:fPr>
                        <m:ctrlP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fPr>
                      <m:num>
                        <m:r>
                          <a:rPr lang="ko-KR" alt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𝜕</m:t>
                        </m:r>
                        <m: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num>
                      <m:den>
                        <m:r>
                          <a:rPr lang="ko-KR" alt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𝜕</m:t>
                        </m:r>
                        <m:acc>
                          <m:accPr>
                            <m:chr m:val="̃"/>
                            <m:ctrlPr>
                              <a:rPr lang="ko-KR" altLang="en-US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</m:ctrlPr>
                          </m:accPr>
                          <m:e>
                            <m:r>
                              <a:rPr lang="en-US" altLang="ko-K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𝑥</m:t>
                            </m:r>
                          </m:e>
                        </m:acc>
                      </m:den>
                    </m:f>
                    <m:f>
                      <m:fPr>
                        <m:ctrlP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fPr>
                      <m:num>
                        <m:r>
                          <a:rPr lang="ko-KR" alt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𝜕</m:t>
                        </m:r>
                        <m:acc>
                          <m:accPr>
                            <m:chr m:val="̃"/>
                            <m:ctrlPr>
                              <a:rPr lang="ko-KR" altLang="en-US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</m:ctrlPr>
                          </m:accPr>
                          <m:e>
                            <m:r>
                              <a:rPr lang="en-US" altLang="ko-K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𝑥</m:t>
                            </m:r>
                          </m:e>
                        </m:acc>
                      </m:num>
                      <m:den>
                        <m:r>
                          <a:rPr lang="ko-KR" alt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𝜕</m:t>
                        </m:r>
                        <m: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𝐺</m:t>
                        </m:r>
                      </m:den>
                    </m:f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경기천년바탕 Regular" panose="02020503020101020101" pitchFamily="18" charset="-127"/>
                      </a:rPr>
                      <m:t>=</m:t>
                    </m:r>
                    <m:f>
                      <m:fPr>
                        <m:ctrlP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fPr>
                      <m:num>
                        <m:r>
                          <a:rPr lang="ko-KR" alt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𝜕</m:t>
                        </m:r>
                        <m: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num>
                      <m:den>
                        <m:r>
                          <a:rPr lang="ko-KR" alt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𝜕</m:t>
                        </m:r>
                        <m:acc>
                          <m:accPr>
                            <m:chr m:val="̃"/>
                            <m:ctrlPr>
                              <a:rPr lang="ko-KR" altLang="en-US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</m:ctrlPr>
                          </m:accPr>
                          <m:e>
                            <m:r>
                              <a:rPr lang="en-US" altLang="ko-K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𝑥</m:t>
                            </m:r>
                          </m:e>
                        </m:acc>
                      </m:den>
                    </m:f>
                  </m:oMath>
                </a14:m>
                <a:r>
                  <a:rPr lang="en-US" altLang="ko-KR" sz="14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(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altLang="ko-KR" sz="14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1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𝑡</m:t>
                        </m:r>
                        <m:r>
                          <a:rPr lang="en-US" altLang="ko-KR" sz="1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=1</m:t>
                        </m:r>
                      </m:sub>
                      <m:sup>
                        <m:r>
                          <a:rPr lang="en-US" altLang="ko-KR" sz="1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𝑇</m:t>
                        </m:r>
                      </m:sup>
                      <m:e>
                        <m:sSup>
                          <m:sSupPr>
                            <m:ctrlPr>
                              <a:rPr lang="en-US" altLang="ko-KR" sz="1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</m:ctrlPr>
                          </m:sSupPr>
                          <m:e>
                            <m:r>
                              <a:rPr lang="en-US" altLang="ko-KR" sz="14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ko-KR" sz="14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𝑡</m:t>
                            </m:r>
                          </m:sup>
                        </m:sSup>
                        <m:r>
                          <a:rPr lang="en-US" altLang="ko-KR" sz="1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altLang="ko-KR" sz="11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 </a:t>
                </a:r>
                <a:r>
                  <a:rPr lang="ko-KR" altLang="en-US" sz="11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의 의미는</a:t>
                </a:r>
                <a:r>
                  <a:rPr lang="en-US" altLang="ko-KR" sz="11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?</a:t>
                </a:r>
              </a:p>
              <a:p>
                <a:endParaRPr lang="en-US" altLang="ko-KR" sz="1100" dirty="0" smtClean="0">
                  <a:solidFill>
                    <a:srgbClr val="0070C0"/>
                  </a:solidFill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  <a:p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AG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에 들어가는 </a:t>
                </a:r>
                <a:r>
                  <a:rPr lang="ko-KR" altLang="en-US" sz="1100" dirty="0" err="1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파라미터는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en-US" altLang="ko-KR" sz="1100" dirty="0" err="1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OSBlock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의 개수 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T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와 관계가 없다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그러므로 좀 더 확장 가능하다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</a:t>
                </a:r>
              </a:p>
              <a:p>
                <a:r>
                  <a:rPr lang="ko-KR" altLang="en-US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공통 게이트 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GG</a:t>
                </a:r>
                <a:r>
                  <a:rPr lang="ko-KR" altLang="en-US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를 사용하면 모든 스트림의 </a:t>
                </a:r>
                <a:r>
                  <a:rPr lang="ko-KR" altLang="en-US" sz="1100" dirty="0" err="1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수퍼비전</a:t>
                </a:r>
                <a:r>
                  <a:rPr lang="ko-KR" altLang="en-US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신호가 통합되어 모델 학습이 효과적으로 안내되지만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, </a:t>
                </a:r>
                <a:r>
                  <a:rPr lang="ko-KR" altLang="en-US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개별 게이트를 사용할 경우 각 스트림이 독립적으로 학습되어 </a:t>
                </a:r>
                <a:r>
                  <a:rPr lang="ko-KR" altLang="en-US" sz="1100" dirty="0" err="1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수퍼비전</a:t>
                </a:r>
                <a:r>
                  <a:rPr lang="ko-KR" altLang="en-US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신호가 분산되게 됩니다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 </a:t>
                </a:r>
                <a:r>
                  <a:rPr lang="ko-KR" altLang="en-US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따라서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, </a:t>
                </a:r>
                <a:r>
                  <a:rPr lang="ko-KR" altLang="en-US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공통 게이트의 사용은 스트림 간 균형 잡힌 학습을 유도하는 데 중요한 역할을 합니다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</a:t>
                </a:r>
                <a:endParaRPr lang="en-US" altLang="ko-KR" sz="1100" dirty="0" smtClean="0">
                  <a:solidFill>
                    <a:srgbClr val="0070C0"/>
                  </a:solidFill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</p:txBody>
          </p:sp>
        </mc:Choice>
        <mc:Fallback xmlns="">
          <p:sp>
            <p:nvSpPr>
              <p:cNvPr id="27" name="직사각형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910" y="1493704"/>
                <a:ext cx="6302730" cy="4013984"/>
              </a:xfrm>
              <a:prstGeom prst="rect">
                <a:avLst/>
              </a:prstGeom>
              <a:blipFill>
                <a:blip r:embed="rId2"/>
                <a:stretch>
                  <a:fillRect b="-3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263499"/>
              </p:ext>
            </p:extLst>
          </p:nvPr>
        </p:nvGraphicFramePr>
        <p:xfrm>
          <a:off x="7025640" y="1493704"/>
          <a:ext cx="235458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70916">
                  <a:extLst>
                    <a:ext uri="{9D8B030D-6E8A-4147-A177-3AD203B41FA5}">
                      <a16:colId xmlns:a16="http://schemas.microsoft.com/office/drawing/2014/main" val="3640456308"/>
                    </a:ext>
                  </a:extLst>
                </a:gridCol>
                <a:gridCol w="470916">
                  <a:extLst>
                    <a:ext uri="{9D8B030D-6E8A-4147-A177-3AD203B41FA5}">
                      <a16:colId xmlns:a16="http://schemas.microsoft.com/office/drawing/2014/main" val="1212387443"/>
                    </a:ext>
                  </a:extLst>
                </a:gridCol>
                <a:gridCol w="470916">
                  <a:extLst>
                    <a:ext uri="{9D8B030D-6E8A-4147-A177-3AD203B41FA5}">
                      <a16:colId xmlns:a16="http://schemas.microsoft.com/office/drawing/2014/main" val="468940793"/>
                    </a:ext>
                  </a:extLst>
                </a:gridCol>
                <a:gridCol w="470916">
                  <a:extLst>
                    <a:ext uri="{9D8B030D-6E8A-4147-A177-3AD203B41FA5}">
                      <a16:colId xmlns:a16="http://schemas.microsoft.com/office/drawing/2014/main" val="2442823535"/>
                    </a:ext>
                  </a:extLst>
                </a:gridCol>
                <a:gridCol w="470916">
                  <a:extLst>
                    <a:ext uri="{9D8B030D-6E8A-4147-A177-3AD203B41FA5}">
                      <a16:colId xmlns:a16="http://schemas.microsoft.com/office/drawing/2014/main" val="41387780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6056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32526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140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1042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671924"/>
                  </a:ext>
                </a:extLst>
              </a:tr>
            </a:tbl>
          </a:graphicData>
        </a:graphic>
      </p:graphicFrame>
      <p:graphicFrame>
        <p:nvGraphicFramePr>
          <p:cNvPr id="30" name="표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5196777"/>
              </p:ext>
            </p:extLst>
          </p:nvPr>
        </p:nvGraphicFramePr>
        <p:xfrm>
          <a:off x="8488680" y="3528244"/>
          <a:ext cx="1412748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70916">
                  <a:extLst>
                    <a:ext uri="{9D8B030D-6E8A-4147-A177-3AD203B41FA5}">
                      <a16:colId xmlns:a16="http://schemas.microsoft.com/office/drawing/2014/main" val="3640456308"/>
                    </a:ext>
                  </a:extLst>
                </a:gridCol>
                <a:gridCol w="470916">
                  <a:extLst>
                    <a:ext uri="{9D8B030D-6E8A-4147-A177-3AD203B41FA5}">
                      <a16:colId xmlns:a16="http://schemas.microsoft.com/office/drawing/2014/main" val="1212387443"/>
                    </a:ext>
                  </a:extLst>
                </a:gridCol>
                <a:gridCol w="470916">
                  <a:extLst>
                    <a:ext uri="{9D8B030D-6E8A-4147-A177-3AD203B41FA5}">
                      <a16:colId xmlns:a16="http://schemas.microsoft.com/office/drawing/2014/main" val="4689407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056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32526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014079"/>
                  </a:ext>
                </a:extLst>
              </a:tr>
            </a:tbl>
          </a:graphicData>
        </a:graphic>
      </p:graphicFrame>
      <p:cxnSp>
        <p:nvCxnSpPr>
          <p:cNvPr id="31" name="직선 화살표 연결선 30"/>
          <p:cNvCxnSpPr/>
          <p:nvPr/>
        </p:nvCxnSpPr>
        <p:spPr>
          <a:xfrm>
            <a:off x="8467185" y="2621280"/>
            <a:ext cx="473615" cy="13004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/>
          <p:cNvCxnSpPr/>
          <p:nvPr/>
        </p:nvCxnSpPr>
        <p:spPr>
          <a:xfrm>
            <a:off x="8432800" y="1493704"/>
            <a:ext cx="508000" cy="20345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/>
          <p:cNvCxnSpPr/>
          <p:nvPr/>
        </p:nvCxnSpPr>
        <p:spPr>
          <a:xfrm>
            <a:off x="7025639" y="2621280"/>
            <a:ext cx="1463041" cy="13004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/>
          <p:cNvCxnSpPr/>
          <p:nvPr/>
        </p:nvCxnSpPr>
        <p:spPr>
          <a:xfrm>
            <a:off x="7025639" y="1493704"/>
            <a:ext cx="1463041" cy="20345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표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643059"/>
              </p:ext>
            </p:extLst>
          </p:nvPr>
        </p:nvGraphicFramePr>
        <p:xfrm>
          <a:off x="9813509" y="5262852"/>
          <a:ext cx="470916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70916">
                  <a:extLst>
                    <a:ext uri="{9D8B030D-6E8A-4147-A177-3AD203B41FA5}">
                      <a16:colId xmlns:a16="http://schemas.microsoft.com/office/drawing/2014/main" val="36404563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056343"/>
                  </a:ext>
                </a:extLst>
              </a:tr>
            </a:tbl>
          </a:graphicData>
        </a:graphic>
      </p:graphicFrame>
      <p:cxnSp>
        <p:nvCxnSpPr>
          <p:cNvPr id="11" name="직선 화살표 연결선 10"/>
          <p:cNvCxnSpPr/>
          <p:nvPr/>
        </p:nvCxnSpPr>
        <p:spPr>
          <a:xfrm>
            <a:off x="9910827" y="3528244"/>
            <a:ext cx="373598" cy="1734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/>
          <p:cNvCxnSpPr/>
          <p:nvPr/>
        </p:nvCxnSpPr>
        <p:spPr>
          <a:xfrm>
            <a:off x="8498078" y="3516906"/>
            <a:ext cx="1284538" cy="17459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/>
          <p:cNvCxnSpPr/>
          <p:nvPr/>
        </p:nvCxnSpPr>
        <p:spPr>
          <a:xfrm>
            <a:off x="8498078" y="4640764"/>
            <a:ext cx="1315431" cy="9929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/>
          <p:cNvCxnSpPr/>
          <p:nvPr/>
        </p:nvCxnSpPr>
        <p:spPr>
          <a:xfrm>
            <a:off x="9910826" y="4640764"/>
            <a:ext cx="373599" cy="9929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88131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5580" y="314530"/>
            <a:ext cx="2469169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self </a:t>
            </a:r>
            <a:r>
              <a:rPr lang="ko-KR" altLang="en-US" sz="2400" b="1" dirty="0" smtClean="0">
                <a:solidFill>
                  <a:srgbClr val="0E0585"/>
                </a:solidFill>
              </a:rPr>
              <a:t>질문 리스트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950428" y="1420037"/>
            <a:ext cx="5343525" cy="447814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5.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OSNet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에서 </a:t>
            </a:r>
            <a:r>
              <a:rPr lang="en-US" altLang="ko-KR" sz="800" dirty="0" err="1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two_stepped_transfer_learning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의 기능은</a:t>
            </a:r>
            <a:r>
              <a:rPr lang="en-US" altLang="ko-KR" sz="8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?</a:t>
            </a:r>
          </a:p>
          <a:p>
            <a:endParaRPr lang="en-US" altLang="ko-KR" sz="500" dirty="0" smtClean="0">
              <a:solidFill>
                <a:schemeClr val="tx1">
                  <a:lumMod val="75000"/>
                  <a:lumOff val="25000"/>
                </a:schemeClr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r>
              <a:rPr lang="en-US" altLang="ko-KR" sz="800" dirty="0" err="1"/>
              <a:t>OSNet</a:t>
            </a:r>
            <a:r>
              <a:rPr lang="en-US" altLang="ko-KR" sz="800" dirty="0"/>
              <a:t>(Omni-Scale Network)</a:t>
            </a:r>
            <a:r>
              <a:rPr lang="ko-KR" altLang="en-US" sz="800" dirty="0"/>
              <a:t>은 사람 </a:t>
            </a:r>
            <a:r>
              <a:rPr lang="ko-KR" altLang="en-US" sz="800" dirty="0" err="1"/>
              <a:t>재식별</a:t>
            </a:r>
            <a:r>
              <a:rPr lang="en-US" altLang="ko-KR" sz="800" dirty="0"/>
              <a:t>(Person Re-Identification)</a:t>
            </a:r>
            <a:r>
              <a:rPr lang="ko-KR" altLang="en-US" sz="800" dirty="0"/>
              <a:t>을 위한 고성능 신경망 구조로</a:t>
            </a:r>
            <a:r>
              <a:rPr lang="en-US" altLang="ko-KR" sz="800" dirty="0"/>
              <a:t>, </a:t>
            </a:r>
            <a:r>
              <a:rPr lang="ko-KR" altLang="en-US" sz="800" dirty="0"/>
              <a:t>다양한 스케일의 특징을 효과적으로 결합하여 사람의 이미지를 인식하는 데 최적화되어 있습니다</a:t>
            </a:r>
            <a:r>
              <a:rPr lang="en-US" altLang="ko-KR" sz="800" dirty="0"/>
              <a:t>. </a:t>
            </a:r>
            <a:r>
              <a:rPr lang="en-US" altLang="ko-KR" sz="800" b="1" dirty="0"/>
              <a:t>Two-Stepped Transfer Learning</a:t>
            </a:r>
            <a:r>
              <a:rPr lang="ko-KR" altLang="en-US" sz="800" dirty="0"/>
              <a:t>은 </a:t>
            </a:r>
            <a:r>
              <a:rPr lang="en-US" altLang="ko-KR" sz="800" dirty="0" err="1"/>
              <a:t>OSNet</a:t>
            </a:r>
            <a:r>
              <a:rPr lang="ko-KR" altLang="en-US" sz="800" dirty="0"/>
              <a:t>과 같은 </a:t>
            </a:r>
            <a:r>
              <a:rPr lang="ko-KR" altLang="en-US" sz="800" dirty="0" err="1"/>
              <a:t>딥러닝</a:t>
            </a:r>
            <a:r>
              <a:rPr lang="ko-KR" altLang="en-US" sz="800" dirty="0"/>
              <a:t> 모델에서 성능을 높이기 위해 사용되는 학습 방법 중 하나입니다</a:t>
            </a:r>
            <a:r>
              <a:rPr lang="en-US" altLang="ko-KR" sz="800" dirty="0"/>
              <a:t>. </a:t>
            </a:r>
            <a:r>
              <a:rPr lang="ko-KR" altLang="en-US" sz="800" dirty="0"/>
              <a:t>이 방법은 일반적인 </a:t>
            </a:r>
            <a:r>
              <a:rPr lang="en-US" altLang="ko-KR" sz="800" dirty="0"/>
              <a:t>Transfer Learning</a:t>
            </a:r>
            <a:r>
              <a:rPr lang="ko-KR" altLang="en-US" sz="800" dirty="0"/>
              <a:t>을 두 단계로 나누어 진행함으로써 모델의 성능을 최적화하는 것을 목표로 합니다</a:t>
            </a:r>
            <a:r>
              <a:rPr lang="en-US" altLang="ko-KR" sz="800" dirty="0"/>
              <a:t>.</a:t>
            </a:r>
          </a:p>
          <a:p>
            <a:r>
              <a:rPr lang="en-US" altLang="ko-KR" sz="800" b="1" dirty="0"/>
              <a:t>Two-Stepped Transfer Learning</a:t>
            </a:r>
            <a:r>
              <a:rPr lang="ko-KR" altLang="en-US" sz="800" b="1" dirty="0"/>
              <a:t>의 기능과 목적</a:t>
            </a:r>
            <a:r>
              <a:rPr lang="en-US" altLang="ko-KR" sz="800" b="1" dirty="0"/>
              <a:t>:</a:t>
            </a:r>
          </a:p>
          <a:p>
            <a:r>
              <a:rPr lang="en-US" altLang="ko-KR" sz="800" b="1" dirty="0"/>
              <a:t>1</a:t>
            </a:r>
            <a:r>
              <a:rPr lang="ko-KR" altLang="en-US" sz="800" b="1" dirty="0"/>
              <a:t>단계</a:t>
            </a:r>
            <a:r>
              <a:rPr lang="en-US" altLang="ko-KR" sz="800" b="1" dirty="0"/>
              <a:t>: </a:t>
            </a:r>
            <a:r>
              <a:rPr lang="ko-KR" altLang="en-US" sz="800" b="1" dirty="0"/>
              <a:t>일반적 특징 학습 </a:t>
            </a:r>
            <a:r>
              <a:rPr lang="en-US" altLang="ko-KR" sz="800" b="1" dirty="0"/>
              <a:t>(General Feature Learning)</a:t>
            </a:r>
            <a:r>
              <a:rPr lang="en-US" altLang="ko-KR" sz="800" dirty="0"/>
              <a:t>:</a:t>
            </a:r>
          </a:p>
          <a:p>
            <a:pPr lvl="1"/>
            <a:r>
              <a:rPr lang="ko-KR" altLang="en-US" sz="800" dirty="0"/>
              <a:t>첫 번째 단계에서는 모델이 대규모의 일반적인 </a:t>
            </a:r>
            <a:r>
              <a:rPr lang="ko-KR" altLang="en-US" sz="800" dirty="0" err="1"/>
              <a:t>데이터셋</a:t>
            </a:r>
            <a:r>
              <a:rPr lang="en-US" altLang="ko-KR" sz="800" dirty="0"/>
              <a:t>(</a:t>
            </a:r>
            <a:r>
              <a:rPr lang="ko-KR" altLang="en-US" sz="800" dirty="0"/>
              <a:t>예</a:t>
            </a:r>
            <a:r>
              <a:rPr lang="en-US" altLang="ko-KR" sz="800" dirty="0"/>
              <a:t>: ImageNet)</a:t>
            </a:r>
            <a:r>
              <a:rPr lang="ko-KR" altLang="en-US" sz="800" dirty="0"/>
              <a:t>에서 사전 학습된 가중치를 사용하여 일반적인 시각적 특징을 학습합니다</a:t>
            </a:r>
            <a:r>
              <a:rPr lang="en-US" altLang="ko-KR" sz="800" dirty="0"/>
              <a:t>.</a:t>
            </a:r>
          </a:p>
          <a:p>
            <a:pPr lvl="1"/>
            <a:r>
              <a:rPr lang="ko-KR" altLang="en-US" sz="800" dirty="0"/>
              <a:t>이 단계는 모델이 다양한 객체의 일반적인 특징을 학습하여 기초적인 시각적 이해를 높이도록 도와줍니다</a:t>
            </a:r>
            <a:r>
              <a:rPr lang="en-US" altLang="ko-KR" sz="800" dirty="0"/>
              <a:t>.</a:t>
            </a:r>
          </a:p>
          <a:p>
            <a:pPr lvl="1"/>
            <a:r>
              <a:rPr lang="ko-KR" altLang="en-US" sz="800" dirty="0"/>
              <a:t>이 과정에서 모델은 다양한 카테고리의 이미지에 대한 기본적인 패턴 인식을 강화합니다</a:t>
            </a:r>
            <a:r>
              <a:rPr lang="en-US" altLang="ko-KR" sz="800" dirty="0"/>
              <a:t>.</a:t>
            </a:r>
          </a:p>
          <a:p>
            <a:r>
              <a:rPr lang="en-US" altLang="ko-KR" sz="800" b="1" dirty="0"/>
              <a:t>2</a:t>
            </a:r>
            <a:r>
              <a:rPr lang="ko-KR" altLang="en-US" sz="800" b="1" dirty="0"/>
              <a:t>단계</a:t>
            </a:r>
            <a:r>
              <a:rPr lang="en-US" altLang="ko-KR" sz="800" b="1" dirty="0"/>
              <a:t>: </a:t>
            </a:r>
            <a:r>
              <a:rPr lang="ko-KR" altLang="en-US" sz="800" b="1" dirty="0"/>
              <a:t>특정 도메인 적응 </a:t>
            </a:r>
            <a:r>
              <a:rPr lang="en-US" altLang="ko-KR" sz="800" b="1" dirty="0"/>
              <a:t>(Domain-Specific Adaptation)</a:t>
            </a:r>
            <a:r>
              <a:rPr lang="en-US" altLang="ko-KR" sz="800" dirty="0"/>
              <a:t>:</a:t>
            </a:r>
          </a:p>
          <a:p>
            <a:pPr lvl="1"/>
            <a:r>
              <a:rPr lang="ko-KR" altLang="en-US" sz="800" dirty="0"/>
              <a:t>두 번째 단계에서는 첫 번째 단계에서 학습한 일반적인 특징을 바탕으로</a:t>
            </a:r>
            <a:r>
              <a:rPr lang="en-US" altLang="ko-KR" sz="800" dirty="0"/>
              <a:t>, </a:t>
            </a:r>
            <a:r>
              <a:rPr lang="ko-KR" altLang="en-US" sz="800" dirty="0"/>
              <a:t>특정한 </a:t>
            </a:r>
            <a:r>
              <a:rPr lang="ko-KR" altLang="en-US" sz="800" dirty="0" err="1"/>
              <a:t>재식별</a:t>
            </a:r>
            <a:r>
              <a:rPr lang="ko-KR" altLang="en-US" sz="800" dirty="0"/>
              <a:t> 작업에 적합하도록 모델을 미세 조정</a:t>
            </a:r>
            <a:r>
              <a:rPr lang="en-US" altLang="ko-KR" sz="800" dirty="0"/>
              <a:t>(Fine-Tuning)</a:t>
            </a:r>
            <a:r>
              <a:rPr lang="ko-KR" altLang="en-US" sz="800" dirty="0"/>
              <a:t>합니다</a:t>
            </a:r>
            <a:r>
              <a:rPr lang="en-US" altLang="ko-KR" sz="800" dirty="0"/>
              <a:t>.</a:t>
            </a:r>
          </a:p>
          <a:p>
            <a:pPr lvl="1"/>
            <a:r>
              <a:rPr lang="ko-KR" altLang="en-US" sz="800" dirty="0"/>
              <a:t>이 단계에서는 사람 </a:t>
            </a:r>
            <a:r>
              <a:rPr lang="ko-KR" altLang="en-US" sz="800" dirty="0" err="1"/>
              <a:t>재식별에</a:t>
            </a:r>
            <a:r>
              <a:rPr lang="ko-KR" altLang="en-US" sz="800" dirty="0"/>
              <a:t> 특화된 </a:t>
            </a:r>
            <a:r>
              <a:rPr lang="ko-KR" altLang="en-US" sz="800" dirty="0" err="1"/>
              <a:t>데이터셋</a:t>
            </a:r>
            <a:r>
              <a:rPr lang="en-US" altLang="ko-KR" sz="800" dirty="0"/>
              <a:t>(</a:t>
            </a:r>
            <a:r>
              <a:rPr lang="ko-KR" altLang="en-US" sz="800" dirty="0"/>
              <a:t>예</a:t>
            </a:r>
            <a:r>
              <a:rPr lang="en-US" altLang="ko-KR" sz="800" dirty="0"/>
              <a:t>: Market-1501, </a:t>
            </a:r>
            <a:r>
              <a:rPr lang="en-US" altLang="ko-KR" sz="800" dirty="0" err="1"/>
              <a:t>DukeMTMC-reID</a:t>
            </a:r>
            <a:r>
              <a:rPr lang="en-US" altLang="ko-KR" sz="800" dirty="0"/>
              <a:t>)</a:t>
            </a:r>
            <a:r>
              <a:rPr lang="ko-KR" altLang="en-US" sz="800" dirty="0"/>
              <a:t>을 사용하여 모델이 해당 도메인의 특징에 더욱 최적화되도록 합니다</a:t>
            </a:r>
            <a:r>
              <a:rPr lang="en-US" altLang="ko-KR" sz="800" dirty="0"/>
              <a:t>.</a:t>
            </a:r>
          </a:p>
          <a:p>
            <a:pPr lvl="1"/>
            <a:r>
              <a:rPr lang="ko-KR" altLang="en-US" sz="800" dirty="0"/>
              <a:t>모델은 사람의 이미지에서 중요한 세부사항</a:t>
            </a:r>
            <a:r>
              <a:rPr lang="en-US" altLang="ko-KR" sz="800" dirty="0"/>
              <a:t>, </a:t>
            </a:r>
            <a:r>
              <a:rPr lang="ko-KR" altLang="en-US" sz="800" dirty="0"/>
              <a:t>예를 들어 옷의 색상</a:t>
            </a:r>
            <a:r>
              <a:rPr lang="en-US" altLang="ko-KR" sz="800" dirty="0"/>
              <a:t>, </a:t>
            </a:r>
            <a:r>
              <a:rPr lang="ko-KR" altLang="en-US" sz="800" dirty="0"/>
              <a:t>패턴</a:t>
            </a:r>
            <a:r>
              <a:rPr lang="en-US" altLang="ko-KR" sz="800" dirty="0"/>
              <a:t>, </a:t>
            </a:r>
            <a:r>
              <a:rPr lang="ko-KR" altLang="en-US" sz="800" dirty="0"/>
              <a:t>포즈 등을 학습하게 됩니다</a:t>
            </a:r>
            <a:r>
              <a:rPr lang="en-US" altLang="ko-KR" sz="800" dirty="0"/>
              <a:t>.</a:t>
            </a:r>
          </a:p>
          <a:p>
            <a:r>
              <a:rPr lang="ko-KR" altLang="en-US" sz="800" b="1" dirty="0"/>
              <a:t>주요 기능 및 장점</a:t>
            </a:r>
            <a:r>
              <a:rPr lang="en-US" altLang="ko-KR" sz="800" b="1" dirty="0"/>
              <a:t>:</a:t>
            </a:r>
          </a:p>
          <a:p>
            <a:r>
              <a:rPr lang="ko-KR" altLang="en-US" sz="800" b="1" dirty="0"/>
              <a:t>성능 향상</a:t>
            </a:r>
            <a:r>
              <a:rPr lang="en-US" altLang="ko-KR" sz="800" dirty="0"/>
              <a:t>: </a:t>
            </a:r>
            <a:r>
              <a:rPr lang="ko-KR" altLang="en-US" sz="800" dirty="0"/>
              <a:t>두 단계로 나누어 학습함으로써</a:t>
            </a:r>
            <a:r>
              <a:rPr lang="en-US" altLang="ko-KR" sz="800" dirty="0"/>
              <a:t>, </a:t>
            </a:r>
            <a:r>
              <a:rPr lang="ko-KR" altLang="en-US" sz="800" dirty="0"/>
              <a:t>모델이 처음부터 학습하지 않아도 되므로 학습 속도가 빨라지고</a:t>
            </a:r>
            <a:r>
              <a:rPr lang="en-US" altLang="ko-KR" sz="800" dirty="0"/>
              <a:t>, </a:t>
            </a:r>
            <a:r>
              <a:rPr lang="ko-KR" altLang="en-US" sz="800" dirty="0"/>
              <a:t>성능이 향상됩니다</a:t>
            </a:r>
            <a:r>
              <a:rPr lang="en-US" altLang="ko-KR" sz="800" dirty="0"/>
              <a:t>.</a:t>
            </a:r>
          </a:p>
          <a:p>
            <a:r>
              <a:rPr lang="ko-KR" altLang="en-US" sz="800" b="1" dirty="0"/>
              <a:t>효율적인 학습</a:t>
            </a:r>
            <a:r>
              <a:rPr lang="en-US" altLang="ko-KR" sz="800" dirty="0"/>
              <a:t>: </a:t>
            </a:r>
            <a:r>
              <a:rPr lang="ko-KR" altLang="en-US" sz="800" dirty="0"/>
              <a:t>사전 학습된 가중치를 활용함으로써 데이터의 효율적인 사용이 가능하고</a:t>
            </a:r>
            <a:r>
              <a:rPr lang="en-US" altLang="ko-KR" sz="800" dirty="0"/>
              <a:t>, </a:t>
            </a:r>
            <a:r>
              <a:rPr lang="ko-KR" altLang="en-US" sz="800" dirty="0"/>
              <a:t>적은 데이터로도 좋은 성능을 낼 수 있습니다</a:t>
            </a:r>
            <a:r>
              <a:rPr lang="en-US" altLang="ko-KR" sz="800" dirty="0"/>
              <a:t>.</a:t>
            </a:r>
          </a:p>
          <a:p>
            <a:r>
              <a:rPr lang="ko-KR" altLang="en-US" sz="800" b="1" dirty="0"/>
              <a:t>특정 도메인에 최적화</a:t>
            </a:r>
            <a:r>
              <a:rPr lang="en-US" altLang="ko-KR" sz="800" dirty="0"/>
              <a:t>: </a:t>
            </a:r>
            <a:r>
              <a:rPr lang="ko-KR" altLang="en-US" sz="800" dirty="0"/>
              <a:t>두 번째 단계에서 특정 도메인에 맞춘 학습이 이루어지므로</a:t>
            </a:r>
            <a:r>
              <a:rPr lang="en-US" altLang="ko-KR" sz="800" dirty="0"/>
              <a:t>, </a:t>
            </a:r>
            <a:r>
              <a:rPr lang="ko-KR" altLang="en-US" sz="800" dirty="0" err="1"/>
              <a:t>재식별</a:t>
            </a:r>
            <a:r>
              <a:rPr lang="ko-KR" altLang="en-US" sz="800" dirty="0"/>
              <a:t> 작업과 같은 특정한 응용에서 높은 정확도를 달성할 수 있습니다</a:t>
            </a:r>
            <a:r>
              <a:rPr lang="en-US" altLang="ko-KR" sz="800" dirty="0"/>
              <a:t>.</a:t>
            </a:r>
          </a:p>
          <a:p>
            <a:r>
              <a:rPr lang="ko-KR" altLang="en-US" sz="800" b="1" dirty="0"/>
              <a:t>적용 시의 고려 사항</a:t>
            </a:r>
            <a:r>
              <a:rPr lang="en-US" altLang="ko-KR" sz="800" b="1" dirty="0"/>
              <a:t>:</a:t>
            </a:r>
          </a:p>
          <a:p>
            <a:r>
              <a:rPr lang="ko-KR" altLang="en-US" sz="800" b="1" dirty="0"/>
              <a:t>사전 학습된 모델 선택</a:t>
            </a:r>
            <a:r>
              <a:rPr lang="en-US" altLang="ko-KR" sz="800" dirty="0"/>
              <a:t>: </a:t>
            </a:r>
            <a:r>
              <a:rPr lang="ko-KR" altLang="en-US" sz="800" dirty="0"/>
              <a:t>첫 번째 단계에서 사용하는 사전 학습된 모델이 도메인 적응을 잘 할 수 있는 기반이 되는지 확인이 필요합니다</a:t>
            </a:r>
            <a:r>
              <a:rPr lang="en-US" altLang="ko-KR" sz="800" dirty="0"/>
              <a:t>.</a:t>
            </a:r>
          </a:p>
          <a:p>
            <a:r>
              <a:rPr lang="ko-KR" altLang="en-US" sz="800" b="1" dirty="0"/>
              <a:t>데이터 품질과 양</a:t>
            </a:r>
            <a:r>
              <a:rPr lang="en-US" altLang="ko-KR" sz="800" dirty="0"/>
              <a:t>: </a:t>
            </a:r>
            <a:r>
              <a:rPr lang="ko-KR" altLang="en-US" sz="800" dirty="0"/>
              <a:t>두 번째 단계에서 사용하는 도메인 </a:t>
            </a:r>
            <a:r>
              <a:rPr lang="ko-KR" altLang="en-US" sz="800" dirty="0" err="1"/>
              <a:t>데이터셋의</a:t>
            </a:r>
            <a:r>
              <a:rPr lang="ko-KR" altLang="en-US" sz="800" dirty="0"/>
              <a:t> 품질과 양은 최종 모델 성능에 큰 영향을 미칩니다</a:t>
            </a:r>
            <a:r>
              <a:rPr lang="en-US" altLang="ko-KR" sz="800" dirty="0"/>
              <a:t>.</a:t>
            </a:r>
          </a:p>
          <a:p>
            <a:r>
              <a:rPr lang="ko-KR" altLang="en-US" sz="800" b="1" dirty="0"/>
              <a:t>적절한 미세 조정</a:t>
            </a:r>
            <a:r>
              <a:rPr lang="en-US" altLang="ko-KR" sz="800" dirty="0"/>
              <a:t>: </a:t>
            </a:r>
            <a:r>
              <a:rPr lang="ko-KR" altLang="en-US" sz="800" dirty="0"/>
              <a:t>두 번째 단계에서의 </a:t>
            </a:r>
            <a:r>
              <a:rPr lang="ko-KR" altLang="en-US" sz="800" dirty="0" err="1"/>
              <a:t>학습률과</a:t>
            </a:r>
            <a:r>
              <a:rPr lang="ko-KR" altLang="en-US" sz="800" dirty="0"/>
              <a:t> </a:t>
            </a:r>
            <a:r>
              <a:rPr lang="ko-KR" altLang="en-US" sz="800" dirty="0" err="1"/>
              <a:t>하이퍼파라미터</a:t>
            </a:r>
            <a:r>
              <a:rPr lang="ko-KR" altLang="en-US" sz="800" dirty="0"/>
              <a:t> 조정이 중요합니다</a:t>
            </a:r>
            <a:r>
              <a:rPr lang="en-US" altLang="ko-KR" sz="800" dirty="0"/>
              <a:t>. </a:t>
            </a:r>
            <a:r>
              <a:rPr lang="ko-KR" altLang="en-US" sz="800" dirty="0"/>
              <a:t>잘못 설정하면 모델이 오버피팅되거나 성능이 떨어질 수 있습니다</a:t>
            </a:r>
            <a:r>
              <a:rPr lang="en-US" altLang="ko-KR" sz="800" dirty="0"/>
              <a:t>.</a:t>
            </a:r>
          </a:p>
          <a:p>
            <a:r>
              <a:rPr lang="ko-KR" altLang="en-US" sz="800" dirty="0"/>
              <a:t>결론적으로</a:t>
            </a:r>
            <a:r>
              <a:rPr lang="en-US" altLang="ko-KR" sz="800" dirty="0"/>
              <a:t>, </a:t>
            </a:r>
            <a:r>
              <a:rPr lang="en-US" altLang="ko-KR" sz="800" b="1" dirty="0"/>
              <a:t>Two-Stepped Transfer Learning</a:t>
            </a:r>
            <a:r>
              <a:rPr lang="ko-KR" altLang="en-US" sz="800" dirty="0"/>
              <a:t>은 </a:t>
            </a:r>
            <a:r>
              <a:rPr lang="en-US" altLang="ko-KR" sz="800" dirty="0" err="1"/>
              <a:t>OSNet</a:t>
            </a:r>
            <a:r>
              <a:rPr lang="ko-KR" altLang="en-US" sz="800" dirty="0"/>
              <a:t>과 같은 모델에서 일반적인 특징 학습과 도메인 특화 학습을 분리하여</a:t>
            </a:r>
            <a:r>
              <a:rPr lang="en-US" altLang="ko-KR" sz="800" dirty="0"/>
              <a:t>, </a:t>
            </a:r>
            <a:r>
              <a:rPr lang="ko-KR" altLang="en-US" sz="800" dirty="0"/>
              <a:t>최적의 </a:t>
            </a:r>
            <a:r>
              <a:rPr lang="ko-KR" altLang="en-US" sz="800" dirty="0" err="1"/>
              <a:t>재식별</a:t>
            </a:r>
            <a:r>
              <a:rPr lang="ko-KR" altLang="en-US" sz="800" dirty="0"/>
              <a:t> 성능을 달성하기 위한 전략입니다</a:t>
            </a:r>
            <a:r>
              <a:rPr lang="en-US" altLang="ko-KR" sz="800" dirty="0"/>
              <a:t>. </a:t>
            </a:r>
            <a:r>
              <a:rPr lang="ko-KR" altLang="en-US" sz="800" dirty="0"/>
              <a:t>이 방법은 모델이 사람 </a:t>
            </a:r>
            <a:r>
              <a:rPr lang="ko-KR" altLang="en-US" sz="800" dirty="0" err="1"/>
              <a:t>재식별</a:t>
            </a:r>
            <a:r>
              <a:rPr lang="ko-KR" altLang="en-US" sz="800" dirty="0"/>
              <a:t> 작업에 맞춤화되도록 </a:t>
            </a:r>
            <a:r>
              <a:rPr lang="ko-KR" altLang="en-US" sz="800" dirty="0" smtClean="0"/>
              <a:t>도와줍니다</a:t>
            </a:r>
            <a:r>
              <a:rPr lang="en-US" altLang="ko-KR" sz="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9044196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44481" y="352923"/>
            <a:ext cx="3008354" cy="498228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r>
              <a:rPr lang="en-US" altLang="ko-KR" sz="2590" b="1" dirty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End-of-Document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609003" y="3108172"/>
            <a:ext cx="5489516" cy="12881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7771" b="1" dirty="0">
                <a:solidFill>
                  <a:srgbClr val="0E0585"/>
                </a:solidFill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3658110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49611</TotalTime>
  <Words>4230</Words>
  <Application>Microsoft Office PowerPoint</Application>
  <PresentationFormat>사용자 지정</PresentationFormat>
  <Paragraphs>510</Paragraphs>
  <Slides>26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6" baseType="lpstr">
      <vt:lpstr>KoPub돋움체 Bold</vt:lpstr>
      <vt:lpstr>Consolas</vt:lpstr>
      <vt:lpstr>맑은 고딕</vt:lpstr>
      <vt:lpstr>Symbol</vt:lpstr>
      <vt:lpstr>경기천년바탕 Bold</vt:lpstr>
      <vt:lpstr>경기천년바탕 Regular</vt:lpstr>
      <vt:lpstr>Arial</vt:lpstr>
      <vt:lpstr>Wingdings</vt:lpstr>
      <vt:lpstr>Cambria Math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비즈니스아츠</dc:creator>
  <cp:lastModifiedBy>headway</cp:lastModifiedBy>
  <cp:revision>2755</cp:revision>
  <cp:lastPrinted>2023-05-19T04:59:04Z</cp:lastPrinted>
  <dcterms:created xsi:type="dcterms:W3CDTF">2019-01-23T01:28:59Z</dcterms:created>
  <dcterms:modified xsi:type="dcterms:W3CDTF">2024-09-12T01:56:53Z</dcterms:modified>
</cp:coreProperties>
</file>